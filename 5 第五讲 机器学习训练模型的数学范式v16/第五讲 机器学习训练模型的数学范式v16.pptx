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6" r:id="rId2"/>
    <p:sldId id="326" r:id="rId3"/>
    <p:sldId id="308" r:id="rId4"/>
    <p:sldId id="307" r:id="rId5"/>
    <p:sldId id="309" r:id="rId6"/>
    <p:sldId id="328" r:id="rId7"/>
    <p:sldId id="390" r:id="rId8"/>
    <p:sldId id="391" r:id="rId9"/>
    <p:sldId id="327" r:id="rId10"/>
    <p:sldId id="330" r:id="rId11"/>
    <p:sldId id="387" r:id="rId12"/>
    <p:sldId id="329" r:id="rId13"/>
    <p:sldId id="332" r:id="rId14"/>
    <p:sldId id="334" r:id="rId15"/>
    <p:sldId id="333" r:id="rId16"/>
    <p:sldId id="335" r:id="rId17"/>
    <p:sldId id="337" r:id="rId18"/>
    <p:sldId id="331" r:id="rId19"/>
    <p:sldId id="336" r:id="rId20"/>
    <p:sldId id="338" r:id="rId21"/>
    <p:sldId id="341" r:id="rId22"/>
    <p:sldId id="340" r:id="rId23"/>
    <p:sldId id="343" r:id="rId24"/>
    <p:sldId id="344" r:id="rId25"/>
    <p:sldId id="346" r:id="rId26"/>
    <p:sldId id="345" r:id="rId27"/>
    <p:sldId id="342" r:id="rId28"/>
    <p:sldId id="347" r:id="rId29"/>
    <p:sldId id="348" r:id="rId30"/>
    <p:sldId id="349" r:id="rId31"/>
    <p:sldId id="350" r:id="rId32"/>
    <p:sldId id="353" r:id="rId33"/>
    <p:sldId id="354" r:id="rId34"/>
    <p:sldId id="355" r:id="rId35"/>
    <p:sldId id="356" r:id="rId36"/>
    <p:sldId id="357" r:id="rId37"/>
    <p:sldId id="392" r:id="rId38"/>
    <p:sldId id="386" r:id="rId39"/>
    <p:sldId id="363" r:id="rId40"/>
    <p:sldId id="360" r:id="rId41"/>
    <p:sldId id="364" r:id="rId42"/>
    <p:sldId id="368" r:id="rId43"/>
    <p:sldId id="367" r:id="rId44"/>
    <p:sldId id="366" r:id="rId45"/>
    <p:sldId id="369" r:id="rId46"/>
    <p:sldId id="365" r:id="rId47"/>
    <p:sldId id="373" r:id="rId48"/>
    <p:sldId id="374" r:id="rId49"/>
    <p:sldId id="372" r:id="rId50"/>
    <p:sldId id="371" r:id="rId51"/>
    <p:sldId id="393" r:id="rId52"/>
    <p:sldId id="375" r:id="rId53"/>
    <p:sldId id="376" r:id="rId54"/>
    <p:sldId id="377" r:id="rId55"/>
    <p:sldId id="378" r:id="rId56"/>
    <p:sldId id="380" r:id="rId57"/>
    <p:sldId id="388" r:id="rId58"/>
    <p:sldId id="382" r:id="rId59"/>
    <p:sldId id="381" r:id="rId60"/>
    <p:sldId id="379" r:id="rId61"/>
    <p:sldId id="384" r:id="rId62"/>
    <p:sldId id="385" r:id="rId63"/>
    <p:sldId id="352" r:id="rId64"/>
    <p:sldId id="300" r:id="rId6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91" autoAdjust="0"/>
    <p:restoredTop sz="68531" autoAdjust="0"/>
  </p:normalViewPr>
  <p:slideViewPr>
    <p:cSldViewPr snapToGrid="0">
      <p:cViewPr varScale="1">
        <p:scale>
          <a:sx n="78" d="100"/>
          <a:sy n="78" d="100"/>
        </p:scale>
        <p:origin x="13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24957-F043-4A67-B583-2D01282B6A0B}" type="datetimeFigureOut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35FCC-DBA1-4D6B-AA09-F4D87A578E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18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896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535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911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075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405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556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345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040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602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152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816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29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100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5471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7670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6018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977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1780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8703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2423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2506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5484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5621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3064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797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7291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226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6283-0BA8-496B-9B7D-D96FB8E1B44C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512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08D13-BB64-4037-B97D-FF22DD47A0CB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8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68B49-0ECD-448C-A632-FE3651B055C5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86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836D5-9F28-45D8-ADBE-206FC78C7B09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902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E147-4129-4A3B-9383-F6D8D5D66529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20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08601-C1EA-4621-8063-CE081694931B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93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272A-059B-492D-BDA6-34038D12BFFC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149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C416-A810-4C40-AAEA-43CEF40E7D28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580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B66C-B0E7-4B0D-8701-3A4381D3D4E4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447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7771C-B7CC-4728-BF6A-1EFDFB48FB08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75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2258E-8B9C-411C-B898-65BED14876C9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64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FFD79-FADF-4760-B260-9E78EEDF2DE0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D5434-05AA-4028-98DA-4ABF0C3BEA2A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Picture 12" descr="幻灯片子页-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" y="3657600"/>
            <a:ext cx="4500563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255" y="173282"/>
            <a:ext cx="1672741" cy="418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925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image" Target="../media/image10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12.png"/><Relationship Id="rId7" Type="http://schemas.openxmlformats.org/officeDocument/2006/relationships/image" Target="../media/image14.w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10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12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3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26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1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9.png"/><Relationship Id="rId7" Type="http://schemas.openxmlformats.org/officeDocument/2006/relationships/oleObject" Target="../embeddings/oleObject30.bin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24.wmf"/><Relationship Id="rId4" Type="http://schemas.openxmlformats.org/officeDocument/2006/relationships/image" Target="../media/image16.png"/><Relationship Id="rId9" Type="http://schemas.openxmlformats.org/officeDocument/2006/relationships/oleObject" Target="../embeddings/oleObject3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28.wmf"/><Relationship Id="rId3" Type="http://schemas.openxmlformats.org/officeDocument/2006/relationships/oleObject" Target="../embeddings/oleObject34.bin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38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27.wmf"/><Relationship Id="rId5" Type="http://schemas.openxmlformats.org/officeDocument/2006/relationships/image" Target="../media/image23.png"/><Relationship Id="rId15" Type="http://schemas.openxmlformats.org/officeDocument/2006/relationships/image" Target="../media/image29.wmf"/><Relationship Id="rId10" Type="http://schemas.openxmlformats.org/officeDocument/2006/relationships/oleObject" Target="../embeddings/oleObject37.bin"/><Relationship Id="rId4" Type="http://schemas.openxmlformats.org/officeDocument/2006/relationships/image" Target="../media/image22.wmf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3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33.wmf"/><Relationship Id="rId3" Type="http://schemas.openxmlformats.org/officeDocument/2006/relationships/oleObject" Target="../embeddings/oleObject40.bin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44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32.wmf"/><Relationship Id="rId5" Type="http://schemas.openxmlformats.org/officeDocument/2006/relationships/image" Target="../media/image23.png"/><Relationship Id="rId10" Type="http://schemas.openxmlformats.org/officeDocument/2006/relationships/oleObject" Target="../embeddings/oleObject43.bin"/><Relationship Id="rId4" Type="http://schemas.openxmlformats.org/officeDocument/2006/relationships/image" Target="../media/image22.wmf"/><Relationship Id="rId9" Type="http://schemas.openxmlformats.org/officeDocument/2006/relationships/image" Target="../media/image31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oleObject" Target="../embeddings/oleObject45.bin"/><Relationship Id="rId7" Type="http://schemas.openxmlformats.org/officeDocument/2006/relationships/image" Target="../media/image3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34.wmf"/><Relationship Id="rId5" Type="http://schemas.openxmlformats.org/officeDocument/2006/relationships/image" Target="../media/image23.png"/><Relationship Id="rId10" Type="http://schemas.openxmlformats.org/officeDocument/2006/relationships/oleObject" Target="../embeddings/oleObject47.bin"/><Relationship Id="rId4" Type="http://schemas.openxmlformats.org/officeDocument/2006/relationships/image" Target="../media/image22.wmf"/><Relationship Id="rId9" Type="http://schemas.openxmlformats.org/officeDocument/2006/relationships/image" Target="../media/image3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37.wmf"/><Relationship Id="rId3" Type="http://schemas.openxmlformats.org/officeDocument/2006/relationships/oleObject" Target="../embeddings/oleObject48.bin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52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36.wmf"/><Relationship Id="rId5" Type="http://schemas.openxmlformats.org/officeDocument/2006/relationships/image" Target="../media/image23.png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51.bin"/><Relationship Id="rId4" Type="http://schemas.openxmlformats.org/officeDocument/2006/relationships/image" Target="../media/image22.wmf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5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55.bin"/><Relationship Id="rId18" Type="http://schemas.openxmlformats.org/officeDocument/2006/relationships/oleObject" Target="../embeddings/oleObject58.bin"/><Relationship Id="rId3" Type="http://schemas.openxmlformats.org/officeDocument/2006/relationships/oleObject" Target="../embeddings/oleObject50.bin"/><Relationship Id="rId21" Type="http://schemas.openxmlformats.org/officeDocument/2006/relationships/oleObject" Target="../embeddings/oleObject6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57.bin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1.wmf"/><Relationship Id="rId20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10" Type="http://schemas.openxmlformats.org/officeDocument/2006/relationships/image" Target="../media/image38.wmf"/><Relationship Id="rId19" Type="http://schemas.openxmlformats.org/officeDocument/2006/relationships/image" Target="../media/image42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40.wmf"/><Relationship Id="rId22" Type="http://schemas.openxmlformats.org/officeDocument/2006/relationships/image" Target="../media/image4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44.wmf"/><Relationship Id="rId3" Type="http://schemas.openxmlformats.org/officeDocument/2006/relationships/oleObject" Target="../embeddings/oleObject61.bin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46.wmf"/><Relationship Id="rId2" Type="http://schemas.openxmlformats.org/officeDocument/2006/relationships/notesSlide" Target="../notesSlides/notesSlide15.xml"/><Relationship Id="rId16" Type="http://schemas.openxmlformats.org/officeDocument/2006/relationships/oleObject" Target="../embeddings/oleObject6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36.wmf"/><Relationship Id="rId5" Type="http://schemas.openxmlformats.org/officeDocument/2006/relationships/image" Target="../media/image23.png"/><Relationship Id="rId15" Type="http://schemas.openxmlformats.org/officeDocument/2006/relationships/image" Target="../media/image45.wmf"/><Relationship Id="rId10" Type="http://schemas.openxmlformats.org/officeDocument/2006/relationships/oleObject" Target="../embeddings/oleObject51.bin"/><Relationship Id="rId4" Type="http://schemas.openxmlformats.org/officeDocument/2006/relationships/image" Target="../media/image22.wmf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6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22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22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0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48.png"/><Relationship Id="rId4" Type="http://schemas.openxmlformats.org/officeDocument/2006/relationships/image" Target="../media/image49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image" Target="../media/image21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0.bin"/><Relationship Id="rId12" Type="http://schemas.openxmlformats.org/officeDocument/2006/relationships/oleObject" Target="../embeddings/oleObject72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51.wmf"/><Relationship Id="rId5" Type="http://schemas.openxmlformats.org/officeDocument/2006/relationships/image" Target="../media/image48.png"/><Relationship Id="rId10" Type="http://schemas.openxmlformats.org/officeDocument/2006/relationships/oleObject" Target="../embeddings/oleObject71.bin"/><Relationship Id="rId4" Type="http://schemas.openxmlformats.org/officeDocument/2006/relationships/image" Target="../media/image49.wmf"/><Relationship Id="rId9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image" Target="../media/image21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0.bin"/><Relationship Id="rId12" Type="http://schemas.openxmlformats.org/officeDocument/2006/relationships/oleObject" Target="../embeddings/oleObject73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51.wmf"/><Relationship Id="rId5" Type="http://schemas.openxmlformats.org/officeDocument/2006/relationships/image" Target="../media/image48.png"/><Relationship Id="rId10" Type="http://schemas.openxmlformats.org/officeDocument/2006/relationships/oleObject" Target="../embeddings/oleObject71.bin"/><Relationship Id="rId4" Type="http://schemas.openxmlformats.org/officeDocument/2006/relationships/image" Target="../media/image49.wmf"/><Relationship Id="rId9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0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51.wmf"/><Relationship Id="rId5" Type="http://schemas.openxmlformats.org/officeDocument/2006/relationships/image" Target="../media/image48.png"/><Relationship Id="rId10" Type="http://schemas.openxmlformats.org/officeDocument/2006/relationships/oleObject" Target="../embeddings/oleObject71.bin"/><Relationship Id="rId4" Type="http://schemas.openxmlformats.org/officeDocument/2006/relationships/image" Target="../media/image49.wmf"/><Relationship Id="rId9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0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51.wmf"/><Relationship Id="rId5" Type="http://schemas.openxmlformats.org/officeDocument/2006/relationships/image" Target="../media/image48.png"/><Relationship Id="rId10" Type="http://schemas.openxmlformats.org/officeDocument/2006/relationships/oleObject" Target="../embeddings/oleObject71.bin"/><Relationship Id="rId4" Type="http://schemas.openxmlformats.org/officeDocument/2006/relationships/image" Target="../media/image49.wmf"/><Relationship Id="rId9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0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51.wmf"/><Relationship Id="rId5" Type="http://schemas.openxmlformats.org/officeDocument/2006/relationships/image" Target="../media/image48.png"/><Relationship Id="rId10" Type="http://schemas.openxmlformats.org/officeDocument/2006/relationships/oleObject" Target="../embeddings/oleObject71.bin"/><Relationship Id="rId4" Type="http://schemas.openxmlformats.org/officeDocument/2006/relationships/image" Target="../media/image49.wmf"/><Relationship Id="rId9" Type="http://schemas.openxmlformats.org/officeDocument/2006/relationships/image" Target="../media/image1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0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51.wmf"/><Relationship Id="rId5" Type="http://schemas.openxmlformats.org/officeDocument/2006/relationships/image" Target="../media/image48.png"/><Relationship Id="rId10" Type="http://schemas.openxmlformats.org/officeDocument/2006/relationships/oleObject" Target="../embeddings/oleObject71.bin"/><Relationship Id="rId4" Type="http://schemas.openxmlformats.org/officeDocument/2006/relationships/image" Target="../media/image49.wmf"/><Relationship Id="rId9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6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75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12" Type="http://schemas.openxmlformats.org/officeDocument/2006/relationships/image" Target="../media/image56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6.bin"/><Relationship Id="rId11" Type="http://schemas.openxmlformats.org/officeDocument/2006/relationships/oleObject" Target="../embeddings/oleObject78.bin"/><Relationship Id="rId5" Type="http://schemas.openxmlformats.org/officeDocument/2006/relationships/image" Target="../media/image52.wmf"/><Relationship Id="rId10" Type="http://schemas.openxmlformats.org/officeDocument/2006/relationships/image" Target="../media/image55.png"/><Relationship Id="rId4" Type="http://schemas.openxmlformats.org/officeDocument/2006/relationships/oleObject" Target="../embeddings/oleObject75.bin"/><Relationship Id="rId9" Type="http://schemas.openxmlformats.org/officeDocument/2006/relationships/image" Target="../media/image54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57.png"/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12" Type="http://schemas.openxmlformats.org/officeDocument/2006/relationships/image" Target="../media/image35.wmf"/><Relationship Id="rId2" Type="http://schemas.openxmlformats.org/officeDocument/2006/relationships/oleObject" Target="../embeddings/oleObject74.bin"/><Relationship Id="rId16" Type="http://schemas.openxmlformats.org/officeDocument/2006/relationships/oleObject" Target="../embeddings/oleObject8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6.bin"/><Relationship Id="rId11" Type="http://schemas.openxmlformats.org/officeDocument/2006/relationships/oleObject" Target="../embeddings/oleObject79.bin"/><Relationship Id="rId5" Type="http://schemas.openxmlformats.org/officeDocument/2006/relationships/image" Target="../media/image52.wmf"/><Relationship Id="rId15" Type="http://schemas.openxmlformats.org/officeDocument/2006/relationships/image" Target="../media/image56.wmf"/><Relationship Id="rId10" Type="http://schemas.openxmlformats.org/officeDocument/2006/relationships/image" Target="../media/image55.png"/><Relationship Id="rId4" Type="http://schemas.openxmlformats.org/officeDocument/2006/relationships/oleObject" Target="../embeddings/oleObject75.bin"/><Relationship Id="rId9" Type="http://schemas.openxmlformats.org/officeDocument/2006/relationships/image" Target="../media/image54.wmf"/><Relationship Id="rId14" Type="http://schemas.openxmlformats.org/officeDocument/2006/relationships/oleObject" Target="../embeddings/oleObject78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57.png"/><Relationship Id="rId18" Type="http://schemas.openxmlformats.org/officeDocument/2006/relationships/oleObject" Target="../embeddings/oleObject82.bin"/><Relationship Id="rId3" Type="http://schemas.openxmlformats.org/officeDocument/2006/relationships/image" Target="../media/image51.wmf"/><Relationship Id="rId21" Type="http://schemas.openxmlformats.org/officeDocument/2006/relationships/image" Target="../media/image59.wmf"/><Relationship Id="rId7" Type="http://schemas.openxmlformats.org/officeDocument/2006/relationships/image" Target="../media/image53.wmf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81.bin"/><Relationship Id="rId2" Type="http://schemas.openxmlformats.org/officeDocument/2006/relationships/oleObject" Target="../embeddings/oleObject74.bin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6.bin"/><Relationship Id="rId11" Type="http://schemas.openxmlformats.org/officeDocument/2006/relationships/oleObject" Target="../embeddings/oleObject79.bin"/><Relationship Id="rId5" Type="http://schemas.openxmlformats.org/officeDocument/2006/relationships/image" Target="../media/image52.wmf"/><Relationship Id="rId15" Type="http://schemas.openxmlformats.org/officeDocument/2006/relationships/image" Target="../media/image56.wmf"/><Relationship Id="rId23" Type="http://schemas.openxmlformats.org/officeDocument/2006/relationships/image" Target="../media/image60.wmf"/><Relationship Id="rId10" Type="http://schemas.openxmlformats.org/officeDocument/2006/relationships/image" Target="../media/image55.png"/><Relationship Id="rId19" Type="http://schemas.openxmlformats.org/officeDocument/2006/relationships/image" Target="../media/image58.w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54.wmf"/><Relationship Id="rId14" Type="http://schemas.openxmlformats.org/officeDocument/2006/relationships/oleObject" Target="../embeddings/oleObject78.bin"/><Relationship Id="rId22" Type="http://schemas.openxmlformats.org/officeDocument/2006/relationships/oleObject" Target="../embeddings/oleObject84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57.png"/><Relationship Id="rId18" Type="http://schemas.openxmlformats.org/officeDocument/2006/relationships/oleObject" Target="../embeddings/oleObject82.bin"/><Relationship Id="rId26" Type="http://schemas.openxmlformats.org/officeDocument/2006/relationships/oleObject" Target="../embeddings/oleObject86.bin"/><Relationship Id="rId3" Type="http://schemas.openxmlformats.org/officeDocument/2006/relationships/image" Target="../media/image51.wmf"/><Relationship Id="rId21" Type="http://schemas.openxmlformats.org/officeDocument/2006/relationships/image" Target="../media/image59.wmf"/><Relationship Id="rId7" Type="http://schemas.openxmlformats.org/officeDocument/2006/relationships/image" Target="../media/image53.wmf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81.bin"/><Relationship Id="rId25" Type="http://schemas.openxmlformats.org/officeDocument/2006/relationships/image" Target="../media/image61.wmf"/><Relationship Id="rId2" Type="http://schemas.openxmlformats.org/officeDocument/2006/relationships/oleObject" Target="../embeddings/oleObject74.bin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3.bin"/><Relationship Id="rId29" Type="http://schemas.openxmlformats.org/officeDocument/2006/relationships/image" Target="../media/image63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6.bin"/><Relationship Id="rId11" Type="http://schemas.openxmlformats.org/officeDocument/2006/relationships/oleObject" Target="../embeddings/oleObject79.bin"/><Relationship Id="rId24" Type="http://schemas.openxmlformats.org/officeDocument/2006/relationships/oleObject" Target="../embeddings/oleObject85.bin"/><Relationship Id="rId5" Type="http://schemas.openxmlformats.org/officeDocument/2006/relationships/image" Target="../media/image52.wmf"/><Relationship Id="rId15" Type="http://schemas.openxmlformats.org/officeDocument/2006/relationships/image" Target="../media/image56.wmf"/><Relationship Id="rId23" Type="http://schemas.openxmlformats.org/officeDocument/2006/relationships/image" Target="../media/image60.wmf"/><Relationship Id="rId28" Type="http://schemas.openxmlformats.org/officeDocument/2006/relationships/oleObject" Target="../embeddings/oleObject87.bin"/><Relationship Id="rId10" Type="http://schemas.openxmlformats.org/officeDocument/2006/relationships/image" Target="../media/image55.png"/><Relationship Id="rId19" Type="http://schemas.openxmlformats.org/officeDocument/2006/relationships/image" Target="../media/image58.wmf"/><Relationship Id="rId31" Type="http://schemas.openxmlformats.org/officeDocument/2006/relationships/image" Target="../media/image64.e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54.wmf"/><Relationship Id="rId14" Type="http://schemas.openxmlformats.org/officeDocument/2006/relationships/oleObject" Target="../embeddings/oleObject78.bin"/><Relationship Id="rId22" Type="http://schemas.openxmlformats.org/officeDocument/2006/relationships/oleObject" Target="../embeddings/oleObject84.bin"/><Relationship Id="rId27" Type="http://schemas.openxmlformats.org/officeDocument/2006/relationships/image" Target="../media/image62.wmf"/><Relationship Id="rId30" Type="http://schemas.openxmlformats.org/officeDocument/2006/relationships/oleObject" Target="../embeddings/oleObject88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68.wmf"/><Relationship Id="rId18" Type="http://schemas.openxmlformats.org/officeDocument/2006/relationships/oleObject" Target="../embeddings/oleObject97.bin"/><Relationship Id="rId3" Type="http://schemas.openxmlformats.org/officeDocument/2006/relationships/image" Target="../media/image53.wmf"/><Relationship Id="rId21" Type="http://schemas.openxmlformats.org/officeDocument/2006/relationships/image" Target="../media/image72.wmf"/><Relationship Id="rId7" Type="http://schemas.openxmlformats.org/officeDocument/2006/relationships/image" Target="../media/image65.wmf"/><Relationship Id="rId12" Type="http://schemas.openxmlformats.org/officeDocument/2006/relationships/oleObject" Target="../embeddings/oleObject94.bin"/><Relationship Id="rId17" Type="http://schemas.openxmlformats.org/officeDocument/2006/relationships/image" Target="../media/image70.wmf"/><Relationship Id="rId2" Type="http://schemas.openxmlformats.org/officeDocument/2006/relationships/oleObject" Target="../embeddings/oleObject89.bin"/><Relationship Id="rId16" Type="http://schemas.openxmlformats.org/officeDocument/2006/relationships/oleObject" Target="../embeddings/oleObject96.bin"/><Relationship Id="rId20" Type="http://schemas.openxmlformats.org/officeDocument/2006/relationships/oleObject" Target="../embeddings/oleObject9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67.wmf"/><Relationship Id="rId5" Type="http://schemas.openxmlformats.org/officeDocument/2006/relationships/image" Target="../media/image58.wmf"/><Relationship Id="rId15" Type="http://schemas.openxmlformats.org/officeDocument/2006/relationships/image" Target="../media/image69.wmf"/><Relationship Id="rId10" Type="http://schemas.openxmlformats.org/officeDocument/2006/relationships/oleObject" Target="../embeddings/oleObject93.bin"/><Relationship Id="rId19" Type="http://schemas.openxmlformats.org/officeDocument/2006/relationships/image" Target="../media/image71.wmf"/><Relationship Id="rId4" Type="http://schemas.openxmlformats.org/officeDocument/2006/relationships/oleObject" Target="../embeddings/oleObject90.bin"/><Relationship Id="rId9" Type="http://schemas.openxmlformats.org/officeDocument/2006/relationships/image" Target="../media/image66.wmf"/><Relationship Id="rId14" Type="http://schemas.openxmlformats.org/officeDocument/2006/relationships/oleObject" Target="../embeddings/oleObject95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12.png"/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5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9.png"/><Relationship Id="rId7" Type="http://schemas.openxmlformats.org/officeDocument/2006/relationships/oleObject" Target="../embeddings/oleObject30.bin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24.wmf"/><Relationship Id="rId4" Type="http://schemas.openxmlformats.org/officeDocument/2006/relationships/image" Target="../media/image16.png"/><Relationship Id="rId9" Type="http://schemas.openxmlformats.org/officeDocument/2006/relationships/oleObject" Target="../embeddings/oleObject31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9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23.png"/><Relationship Id="rId10" Type="http://schemas.openxmlformats.org/officeDocument/2006/relationships/image" Target="../media/image51.wmf"/><Relationship Id="rId4" Type="http://schemas.openxmlformats.org/officeDocument/2006/relationships/image" Target="../media/image48.png"/><Relationship Id="rId9" Type="http://schemas.openxmlformats.org/officeDocument/2006/relationships/oleObject" Target="../embeddings/oleObject71.bin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73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3" Type="http://schemas.openxmlformats.org/officeDocument/2006/relationships/image" Target="../media/image23.png"/><Relationship Id="rId7" Type="http://schemas.openxmlformats.org/officeDocument/2006/relationships/image" Target="../media/image74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75.wmf"/><Relationship Id="rId5" Type="http://schemas.openxmlformats.org/officeDocument/2006/relationships/image" Target="../media/image73.wmf"/><Relationship Id="rId10" Type="http://schemas.openxmlformats.org/officeDocument/2006/relationships/oleObject" Target="../embeddings/oleObject104.bin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35.w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3.bin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101.bin"/><Relationship Id="rId10" Type="http://schemas.openxmlformats.org/officeDocument/2006/relationships/image" Target="../media/image75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106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587345" cy="2387600"/>
          </a:xfrm>
        </p:spPr>
        <p:txBody>
          <a:bodyPr/>
          <a:lstStyle/>
          <a:p>
            <a:r>
              <a:rPr lang="zh-CN" altLang="en-US" b="1" dirty="0"/>
              <a:t>第五讲 机器学习训练模型的数学范式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郑子杰 韩思瑶</a:t>
            </a:r>
            <a:endParaRPr lang="en-US" altLang="zh-CN" dirty="0"/>
          </a:p>
          <a:p>
            <a:r>
              <a:rPr lang="zh-CN" altLang="en-US" dirty="0"/>
              <a:t>北京市十一学校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396418" y="6444476"/>
            <a:ext cx="5936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封面设计：； 所有课件可以用来教学使用，未经允许不得以盈利为目的进行分享</a:t>
            </a:r>
          </a:p>
        </p:txBody>
      </p:sp>
    </p:spTree>
    <p:extLst>
      <p:ext uri="{BB962C8B-B14F-4D97-AF65-F5344CB8AC3E}">
        <p14:creationId xmlns:p14="http://schemas.microsoft.com/office/powerpoint/2010/main" val="2965943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机器学习的基本流程 </a:t>
            </a:r>
            <a:r>
              <a:rPr lang="en-US" altLang="zh-CN" sz="3600" b="1" dirty="0"/>
              <a:t>Process 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Machine Learning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流程图: 磁盘 5"/>
          <p:cNvSpPr/>
          <p:nvPr/>
        </p:nvSpPr>
        <p:spPr>
          <a:xfrm>
            <a:off x="1736978" y="440963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磁盘 6"/>
          <p:cNvSpPr/>
          <p:nvPr/>
        </p:nvSpPr>
        <p:spPr>
          <a:xfrm>
            <a:off x="1736978" y="424337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磁盘 7"/>
          <p:cNvSpPr/>
          <p:nvPr/>
        </p:nvSpPr>
        <p:spPr>
          <a:xfrm>
            <a:off x="1736978" y="407712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磁盘 8"/>
          <p:cNvSpPr/>
          <p:nvPr/>
        </p:nvSpPr>
        <p:spPr>
          <a:xfrm>
            <a:off x="1736978" y="391086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磁盘 9"/>
          <p:cNvSpPr/>
          <p:nvPr/>
        </p:nvSpPr>
        <p:spPr>
          <a:xfrm>
            <a:off x="1736978" y="374461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磁盘 10"/>
          <p:cNvSpPr/>
          <p:nvPr/>
        </p:nvSpPr>
        <p:spPr>
          <a:xfrm>
            <a:off x="1736978" y="357835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磁盘 11"/>
          <p:cNvSpPr/>
          <p:nvPr/>
        </p:nvSpPr>
        <p:spPr>
          <a:xfrm>
            <a:off x="1736978" y="341210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磁盘 12"/>
          <p:cNvSpPr/>
          <p:nvPr/>
        </p:nvSpPr>
        <p:spPr>
          <a:xfrm>
            <a:off x="1736978" y="324584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磁盘 13"/>
          <p:cNvSpPr/>
          <p:nvPr/>
        </p:nvSpPr>
        <p:spPr>
          <a:xfrm>
            <a:off x="1736978" y="307959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磁盘 14"/>
          <p:cNvSpPr/>
          <p:nvPr/>
        </p:nvSpPr>
        <p:spPr>
          <a:xfrm>
            <a:off x="1736978" y="291333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936607" y="4647249"/>
            <a:ext cx="673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数据</a:t>
            </a:r>
            <a:endParaRPr lang="en-US" altLang="zh-CN" b="1" dirty="0"/>
          </a:p>
          <a:p>
            <a:pPr algn="ctr"/>
            <a:r>
              <a:rPr lang="en-US" altLang="zh-CN" b="1" dirty="0"/>
              <a:t>Data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6648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机器学习的基本流程 </a:t>
            </a:r>
            <a:r>
              <a:rPr lang="en-US" altLang="zh-CN" sz="3600" b="1" dirty="0"/>
              <a:t>Process 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Machine Learning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流程图: 磁盘 5"/>
          <p:cNvSpPr/>
          <p:nvPr/>
        </p:nvSpPr>
        <p:spPr>
          <a:xfrm>
            <a:off x="1736978" y="440963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磁盘 6"/>
          <p:cNvSpPr/>
          <p:nvPr/>
        </p:nvSpPr>
        <p:spPr>
          <a:xfrm>
            <a:off x="1736978" y="424337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磁盘 7"/>
          <p:cNvSpPr/>
          <p:nvPr/>
        </p:nvSpPr>
        <p:spPr>
          <a:xfrm>
            <a:off x="1736978" y="407712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磁盘 8"/>
          <p:cNvSpPr/>
          <p:nvPr/>
        </p:nvSpPr>
        <p:spPr>
          <a:xfrm>
            <a:off x="1736978" y="391086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磁盘 9"/>
          <p:cNvSpPr/>
          <p:nvPr/>
        </p:nvSpPr>
        <p:spPr>
          <a:xfrm>
            <a:off x="1736978" y="374461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磁盘 10"/>
          <p:cNvSpPr/>
          <p:nvPr/>
        </p:nvSpPr>
        <p:spPr>
          <a:xfrm>
            <a:off x="1736978" y="357835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磁盘 11"/>
          <p:cNvSpPr/>
          <p:nvPr/>
        </p:nvSpPr>
        <p:spPr>
          <a:xfrm>
            <a:off x="1736978" y="341210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磁盘 12"/>
          <p:cNvSpPr/>
          <p:nvPr/>
        </p:nvSpPr>
        <p:spPr>
          <a:xfrm>
            <a:off x="1736978" y="324584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磁盘 13"/>
          <p:cNvSpPr/>
          <p:nvPr/>
        </p:nvSpPr>
        <p:spPr>
          <a:xfrm>
            <a:off x="1736978" y="307959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磁盘 14"/>
          <p:cNvSpPr/>
          <p:nvPr/>
        </p:nvSpPr>
        <p:spPr>
          <a:xfrm>
            <a:off x="1736978" y="291333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936607" y="4647249"/>
            <a:ext cx="673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数据</a:t>
            </a:r>
            <a:endParaRPr lang="en-US" altLang="zh-CN" b="1" dirty="0"/>
          </a:p>
          <a:p>
            <a:pPr algn="ctr"/>
            <a:r>
              <a:rPr lang="en-US" altLang="zh-CN" b="1" dirty="0"/>
              <a:t>Data</a:t>
            </a:r>
            <a:endParaRPr lang="zh-CN" altLang="en-US" dirty="0"/>
          </a:p>
        </p:txBody>
      </p:sp>
      <p:sp>
        <p:nvSpPr>
          <p:cNvPr id="23" name="流程图: 磁盘 22"/>
          <p:cNvSpPr/>
          <p:nvPr/>
        </p:nvSpPr>
        <p:spPr>
          <a:xfrm>
            <a:off x="4959488" y="231868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磁盘 23"/>
          <p:cNvSpPr/>
          <p:nvPr/>
        </p:nvSpPr>
        <p:spPr>
          <a:xfrm>
            <a:off x="4959488" y="2152428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磁盘 24"/>
          <p:cNvSpPr/>
          <p:nvPr/>
        </p:nvSpPr>
        <p:spPr>
          <a:xfrm>
            <a:off x="4959488" y="198617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流程图: 磁盘 62"/>
          <p:cNvSpPr/>
          <p:nvPr/>
        </p:nvSpPr>
        <p:spPr>
          <a:xfrm>
            <a:off x="4959488" y="574208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流程图: 磁盘 63"/>
          <p:cNvSpPr/>
          <p:nvPr/>
        </p:nvSpPr>
        <p:spPr>
          <a:xfrm>
            <a:off x="4959488" y="557582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流程图: 磁盘 64"/>
          <p:cNvSpPr/>
          <p:nvPr/>
        </p:nvSpPr>
        <p:spPr>
          <a:xfrm>
            <a:off x="4959488" y="540957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流程图: 磁盘 65"/>
          <p:cNvSpPr/>
          <p:nvPr/>
        </p:nvSpPr>
        <p:spPr>
          <a:xfrm>
            <a:off x="4959488" y="524331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流程图: 磁盘 66"/>
          <p:cNvSpPr/>
          <p:nvPr/>
        </p:nvSpPr>
        <p:spPr>
          <a:xfrm>
            <a:off x="4959488" y="507706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流程图: 磁盘 67"/>
          <p:cNvSpPr/>
          <p:nvPr/>
        </p:nvSpPr>
        <p:spPr>
          <a:xfrm>
            <a:off x="4959488" y="491080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流程图: 磁盘 68"/>
          <p:cNvSpPr/>
          <p:nvPr/>
        </p:nvSpPr>
        <p:spPr>
          <a:xfrm>
            <a:off x="4959488" y="474455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右箭头 72"/>
          <p:cNvSpPr/>
          <p:nvPr/>
        </p:nvSpPr>
        <p:spPr>
          <a:xfrm rot="20218143">
            <a:off x="3261924" y="2675200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907276" y="1746134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假装的“新数据”</a:t>
            </a:r>
            <a:endParaRPr lang="en-US" altLang="zh-CN" b="1" dirty="0"/>
          </a:p>
          <a:p>
            <a:pPr algn="ctr"/>
            <a:r>
              <a:rPr lang="en-US" altLang="zh-CN" b="1" dirty="0"/>
              <a:t>Fake New Data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4892093" y="2581585"/>
            <a:ext cx="13484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测试集</a:t>
            </a:r>
            <a:endParaRPr lang="en-US" altLang="zh-CN" b="1" dirty="0"/>
          </a:p>
          <a:p>
            <a:pPr algn="ctr"/>
            <a:r>
              <a:rPr lang="en-US" altLang="zh-CN" b="1" dirty="0"/>
              <a:t>Testing Set</a:t>
            </a:r>
            <a:endParaRPr lang="zh-CN" altLang="en-US" dirty="0"/>
          </a:p>
        </p:txBody>
      </p:sp>
      <p:sp>
        <p:nvSpPr>
          <p:cNvPr id="77" name="矩形 76"/>
          <p:cNvSpPr/>
          <p:nvPr/>
        </p:nvSpPr>
        <p:spPr>
          <a:xfrm>
            <a:off x="4844804" y="5997284"/>
            <a:ext cx="14430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训练集</a:t>
            </a:r>
            <a:endParaRPr lang="en-US" altLang="zh-CN" b="1" dirty="0"/>
          </a:p>
          <a:p>
            <a:pPr algn="ctr"/>
            <a:r>
              <a:rPr lang="en-US" altLang="zh-CN" b="1" dirty="0"/>
              <a:t>Training Set</a:t>
            </a:r>
            <a:endParaRPr lang="zh-CN" altLang="en-US" dirty="0"/>
          </a:p>
        </p:txBody>
      </p:sp>
      <p:sp>
        <p:nvSpPr>
          <p:cNvPr id="78" name="矩形 77"/>
          <p:cNvSpPr/>
          <p:nvPr/>
        </p:nvSpPr>
        <p:spPr>
          <a:xfrm>
            <a:off x="2907276" y="5006452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剩下的“老数据”</a:t>
            </a:r>
            <a:endParaRPr lang="en-US" altLang="zh-CN" b="1" dirty="0"/>
          </a:p>
          <a:p>
            <a:pPr algn="ctr"/>
            <a:r>
              <a:rPr lang="en-US" altLang="zh-CN" b="1" dirty="0"/>
              <a:t>Rest Old Data</a:t>
            </a:r>
            <a:endParaRPr lang="zh-CN" altLang="en-US" dirty="0"/>
          </a:p>
        </p:txBody>
      </p:sp>
      <p:sp>
        <p:nvSpPr>
          <p:cNvPr id="79" name="右箭头 78"/>
          <p:cNvSpPr/>
          <p:nvPr/>
        </p:nvSpPr>
        <p:spPr>
          <a:xfrm rot="1641280">
            <a:off x="3262989" y="4510312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11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机器学习的基本流程 </a:t>
            </a:r>
            <a:r>
              <a:rPr lang="en-US" altLang="zh-CN" sz="3600" b="1" dirty="0"/>
              <a:t>Process 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Machine Learning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流程图: 磁盘 5"/>
          <p:cNvSpPr/>
          <p:nvPr/>
        </p:nvSpPr>
        <p:spPr>
          <a:xfrm>
            <a:off x="1736978" y="440963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磁盘 6"/>
          <p:cNvSpPr/>
          <p:nvPr/>
        </p:nvSpPr>
        <p:spPr>
          <a:xfrm>
            <a:off x="1736978" y="424337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磁盘 7"/>
          <p:cNvSpPr/>
          <p:nvPr/>
        </p:nvSpPr>
        <p:spPr>
          <a:xfrm>
            <a:off x="1736978" y="407712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磁盘 8"/>
          <p:cNvSpPr/>
          <p:nvPr/>
        </p:nvSpPr>
        <p:spPr>
          <a:xfrm>
            <a:off x="1736978" y="391086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磁盘 9"/>
          <p:cNvSpPr/>
          <p:nvPr/>
        </p:nvSpPr>
        <p:spPr>
          <a:xfrm>
            <a:off x="1736978" y="374461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磁盘 10"/>
          <p:cNvSpPr/>
          <p:nvPr/>
        </p:nvSpPr>
        <p:spPr>
          <a:xfrm>
            <a:off x="1736978" y="357835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磁盘 11"/>
          <p:cNvSpPr/>
          <p:nvPr/>
        </p:nvSpPr>
        <p:spPr>
          <a:xfrm>
            <a:off x="1736978" y="341210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磁盘 12"/>
          <p:cNvSpPr/>
          <p:nvPr/>
        </p:nvSpPr>
        <p:spPr>
          <a:xfrm>
            <a:off x="1736978" y="324584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磁盘 13"/>
          <p:cNvSpPr/>
          <p:nvPr/>
        </p:nvSpPr>
        <p:spPr>
          <a:xfrm>
            <a:off x="1736978" y="307959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磁盘 14"/>
          <p:cNvSpPr/>
          <p:nvPr/>
        </p:nvSpPr>
        <p:spPr>
          <a:xfrm>
            <a:off x="1736978" y="291333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936607" y="4647249"/>
            <a:ext cx="673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数据</a:t>
            </a:r>
            <a:endParaRPr lang="en-US" altLang="zh-CN" b="1" dirty="0"/>
          </a:p>
          <a:p>
            <a:pPr algn="ctr"/>
            <a:r>
              <a:rPr lang="en-US" altLang="zh-CN" b="1" dirty="0"/>
              <a:t>Data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013276" y="4910858"/>
            <a:ext cx="7120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</a:t>
            </a:r>
            <a:endParaRPr lang="en-US" altLang="zh-CN" b="1" dirty="0"/>
          </a:p>
          <a:p>
            <a:pPr algn="ctr"/>
            <a:r>
              <a:rPr lang="en-US" altLang="zh-CN" b="1" dirty="0"/>
              <a:t>Train</a:t>
            </a:r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8102623" y="2871214"/>
            <a:ext cx="2159635" cy="2304610"/>
            <a:chOff x="4449907" y="3191494"/>
            <a:chExt cx="2159635" cy="2304610"/>
          </a:xfrm>
        </p:grpSpPr>
        <p:grpSp>
          <p:nvGrpSpPr>
            <p:cNvPr id="18" name="组合 17"/>
            <p:cNvGrpSpPr/>
            <p:nvPr/>
          </p:nvGrpSpPr>
          <p:grpSpPr>
            <a:xfrm>
              <a:off x="4449907" y="3191494"/>
              <a:ext cx="2159635" cy="1905240"/>
              <a:chOff x="7411085" y="4840845"/>
              <a:chExt cx="2159635" cy="1905240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7947660" y="5070873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7947660" y="5532836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947660" y="5994799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8488680" y="4840845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8488680" y="5299473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8488680" y="57661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8488680" y="62233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029700" y="5528073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5" name="直接箭头连接符 34"/>
              <p:cNvCxnSpPr>
                <a:endCxn id="27" idx="2"/>
              </p:cNvCxnSpPr>
              <p:nvPr/>
            </p:nvCxnSpPr>
            <p:spPr>
              <a:xfrm>
                <a:off x="7415530" y="51851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>
                <a:off x="7415530" y="56423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>
                <a:off x="7415530" y="6109099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9239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>
                <a:endCxn id="28" idx="2"/>
              </p:cNvCxnSpPr>
              <p:nvPr/>
            </p:nvCxnSpPr>
            <p:spPr>
              <a:xfrm flipV="1">
                <a:off x="7411085" y="5647136"/>
                <a:ext cx="536575" cy="4460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>
                <a:endCxn id="28" idx="2"/>
              </p:cNvCxnSpPr>
              <p:nvPr/>
            </p:nvCxnSpPr>
            <p:spPr>
              <a:xfrm>
                <a:off x="7415530" y="5188348"/>
                <a:ext cx="532130" cy="4587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>
                <a:endCxn id="29" idx="2"/>
              </p:cNvCxnSpPr>
              <p:nvPr/>
            </p:nvCxnSpPr>
            <p:spPr>
              <a:xfrm>
                <a:off x="7411085" y="5201050"/>
                <a:ext cx="536575" cy="9080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4572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endCxn id="29" idx="2"/>
              </p:cNvCxnSpPr>
              <p:nvPr/>
            </p:nvCxnSpPr>
            <p:spPr>
              <a:xfrm>
                <a:off x="7411085" y="5658249"/>
                <a:ext cx="536575" cy="45085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>
                <a:stCxn id="27" idx="6"/>
                <a:endCxn id="30" idx="2"/>
              </p:cNvCxnSpPr>
              <p:nvPr/>
            </p:nvCxnSpPr>
            <p:spPr>
              <a:xfrm flipV="1">
                <a:off x="8176260" y="4955145"/>
                <a:ext cx="312420" cy="23002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27" idx="6"/>
                <a:endCxn id="31" idx="2"/>
              </p:cNvCxnSpPr>
              <p:nvPr/>
            </p:nvCxnSpPr>
            <p:spPr>
              <a:xfrm>
                <a:off x="8176260" y="51851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>
                <a:stCxn id="27" idx="6"/>
                <a:endCxn id="32" idx="2"/>
              </p:cNvCxnSpPr>
              <p:nvPr/>
            </p:nvCxnSpPr>
            <p:spPr>
              <a:xfrm>
                <a:off x="8176260" y="51851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>
                <a:stCxn id="27" idx="6"/>
                <a:endCxn id="33" idx="2"/>
              </p:cNvCxnSpPr>
              <p:nvPr/>
            </p:nvCxnSpPr>
            <p:spPr>
              <a:xfrm>
                <a:off x="8176260" y="5185173"/>
                <a:ext cx="312420" cy="11525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/>
              <p:cNvCxnSpPr>
                <a:stCxn id="28" idx="6"/>
                <a:endCxn id="30" idx="2"/>
              </p:cNvCxnSpPr>
              <p:nvPr/>
            </p:nvCxnSpPr>
            <p:spPr>
              <a:xfrm flipV="1">
                <a:off x="8176260" y="4955145"/>
                <a:ext cx="312420" cy="69199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/>
              <p:cNvCxnSpPr>
                <a:stCxn id="28" idx="6"/>
                <a:endCxn id="31" idx="2"/>
              </p:cNvCxnSpPr>
              <p:nvPr/>
            </p:nvCxnSpPr>
            <p:spPr>
              <a:xfrm flipV="1">
                <a:off x="8176260" y="5413773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>
                <a:stCxn id="28" idx="6"/>
                <a:endCxn id="32" idx="2"/>
              </p:cNvCxnSpPr>
              <p:nvPr/>
            </p:nvCxnSpPr>
            <p:spPr>
              <a:xfrm>
                <a:off x="8176260" y="5647136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>
                <a:stCxn id="28" idx="6"/>
                <a:endCxn id="33" idx="2"/>
              </p:cNvCxnSpPr>
              <p:nvPr/>
            </p:nvCxnSpPr>
            <p:spPr>
              <a:xfrm>
                <a:off x="8176260" y="5647136"/>
                <a:ext cx="312420" cy="6905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>
                <a:stCxn id="29" idx="6"/>
                <a:endCxn id="30" idx="2"/>
              </p:cNvCxnSpPr>
              <p:nvPr/>
            </p:nvCxnSpPr>
            <p:spPr>
              <a:xfrm flipV="1">
                <a:off x="8176260" y="4955145"/>
                <a:ext cx="312420" cy="11539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/>
              <p:cNvCxnSpPr>
                <a:stCxn id="29" idx="6"/>
                <a:endCxn id="31" idx="2"/>
              </p:cNvCxnSpPr>
              <p:nvPr/>
            </p:nvCxnSpPr>
            <p:spPr>
              <a:xfrm flipV="1">
                <a:off x="8176260" y="54137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/>
              <p:cNvCxnSpPr>
                <a:stCxn id="29" idx="6"/>
                <a:endCxn id="32" idx="2"/>
              </p:cNvCxnSpPr>
              <p:nvPr/>
            </p:nvCxnSpPr>
            <p:spPr>
              <a:xfrm flipV="1">
                <a:off x="8176260" y="5880499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/>
              <p:cNvCxnSpPr>
                <a:endCxn id="33" idx="2"/>
              </p:cNvCxnSpPr>
              <p:nvPr/>
            </p:nvCxnSpPr>
            <p:spPr>
              <a:xfrm>
                <a:off x="8176260" y="6113863"/>
                <a:ext cx="312420" cy="2238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>
                <a:stCxn id="33" idx="6"/>
                <a:endCxn id="34" idx="3"/>
              </p:cNvCxnSpPr>
              <p:nvPr/>
            </p:nvCxnSpPr>
            <p:spPr>
              <a:xfrm flipV="1">
                <a:off x="8717280" y="5723195"/>
                <a:ext cx="345898" cy="6145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/>
              <p:cNvCxnSpPr>
                <a:stCxn id="32" idx="6"/>
                <a:endCxn id="34" idx="2"/>
              </p:cNvCxnSpPr>
              <p:nvPr/>
            </p:nvCxnSpPr>
            <p:spPr>
              <a:xfrm flipV="1">
                <a:off x="8717280" y="5642373"/>
                <a:ext cx="312420" cy="2381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/>
              <p:cNvCxnSpPr>
                <a:stCxn id="31" idx="6"/>
                <a:endCxn id="34" idx="2"/>
              </p:cNvCxnSpPr>
              <p:nvPr/>
            </p:nvCxnSpPr>
            <p:spPr>
              <a:xfrm>
                <a:off x="8717280" y="54137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/>
              <p:cNvCxnSpPr>
                <a:stCxn id="30" idx="6"/>
                <a:endCxn id="34" idx="1"/>
              </p:cNvCxnSpPr>
              <p:nvPr/>
            </p:nvCxnSpPr>
            <p:spPr>
              <a:xfrm>
                <a:off x="8717280" y="4955145"/>
                <a:ext cx="345898" cy="60640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/>
              <p:cNvCxnSpPr>
                <a:stCxn id="34" idx="6"/>
              </p:cNvCxnSpPr>
              <p:nvPr/>
            </p:nvCxnSpPr>
            <p:spPr>
              <a:xfrm>
                <a:off x="9258300" y="5642373"/>
                <a:ext cx="3124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矩形 60"/>
              <p:cNvSpPr/>
              <p:nvPr/>
            </p:nvSpPr>
            <p:spPr>
              <a:xfrm>
                <a:off x="7981656" y="6438308"/>
                <a:ext cx="18473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zh-CN" alt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4912744" y="4849773"/>
              <a:ext cx="85953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/>
                <a:t>模型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Model</a:t>
              </a:r>
              <a:endParaRPr lang="zh-CN" altLang="en-US" dirty="0"/>
            </a:p>
          </p:txBody>
        </p:sp>
      </p:grpSp>
      <p:sp>
        <p:nvSpPr>
          <p:cNvPr id="23" name="流程图: 磁盘 22"/>
          <p:cNvSpPr/>
          <p:nvPr/>
        </p:nvSpPr>
        <p:spPr>
          <a:xfrm>
            <a:off x="4959488" y="231868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磁盘 23"/>
          <p:cNvSpPr/>
          <p:nvPr/>
        </p:nvSpPr>
        <p:spPr>
          <a:xfrm>
            <a:off x="4959488" y="2152428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磁盘 24"/>
          <p:cNvSpPr/>
          <p:nvPr/>
        </p:nvSpPr>
        <p:spPr>
          <a:xfrm>
            <a:off x="4959488" y="198617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流程图: 磁盘 62"/>
          <p:cNvSpPr/>
          <p:nvPr/>
        </p:nvSpPr>
        <p:spPr>
          <a:xfrm>
            <a:off x="4959488" y="574208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流程图: 磁盘 63"/>
          <p:cNvSpPr/>
          <p:nvPr/>
        </p:nvSpPr>
        <p:spPr>
          <a:xfrm>
            <a:off x="4959488" y="557582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流程图: 磁盘 64"/>
          <p:cNvSpPr/>
          <p:nvPr/>
        </p:nvSpPr>
        <p:spPr>
          <a:xfrm>
            <a:off x="4959488" y="540957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流程图: 磁盘 65"/>
          <p:cNvSpPr/>
          <p:nvPr/>
        </p:nvSpPr>
        <p:spPr>
          <a:xfrm>
            <a:off x="4959488" y="524331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流程图: 磁盘 66"/>
          <p:cNvSpPr/>
          <p:nvPr/>
        </p:nvSpPr>
        <p:spPr>
          <a:xfrm>
            <a:off x="4959488" y="507706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流程图: 磁盘 67"/>
          <p:cNvSpPr/>
          <p:nvPr/>
        </p:nvSpPr>
        <p:spPr>
          <a:xfrm>
            <a:off x="4959488" y="491080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流程图: 磁盘 68"/>
          <p:cNvSpPr/>
          <p:nvPr/>
        </p:nvSpPr>
        <p:spPr>
          <a:xfrm>
            <a:off x="4959488" y="474455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右箭头 72"/>
          <p:cNvSpPr/>
          <p:nvPr/>
        </p:nvSpPr>
        <p:spPr>
          <a:xfrm rot="20218143">
            <a:off x="3261924" y="2675200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907276" y="1746134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假装的“新数据”</a:t>
            </a:r>
            <a:endParaRPr lang="en-US" altLang="zh-CN" b="1" dirty="0"/>
          </a:p>
          <a:p>
            <a:pPr algn="ctr"/>
            <a:r>
              <a:rPr lang="en-US" altLang="zh-CN" b="1" dirty="0"/>
              <a:t>Fake New Data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4892093" y="2581585"/>
            <a:ext cx="13484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测试集</a:t>
            </a:r>
            <a:endParaRPr lang="en-US" altLang="zh-CN" b="1" dirty="0"/>
          </a:p>
          <a:p>
            <a:pPr algn="ctr"/>
            <a:r>
              <a:rPr lang="en-US" altLang="zh-CN" b="1" dirty="0"/>
              <a:t>Testing Set</a:t>
            </a:r>
            <a:endParaRPr lang="zh-CN" altLang="en-US" dirty="0"/>
          </a:p>
        </p:txBody>
      </p:sp>
      <p:sp>
        <p:nvSpPr>
          <p:cNvPr id="77" name="矩形 76"/>
          <p:cNvSpPr/>
          <p:nvPr/>
        </p:nvSpPr>
        <p:spPr>
          <a:xfrm>
            <a:off x="4844804" y="5997284"/>
            <a:ext cx="14430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训练集</a:t>
            </a:r>
            <a:endParaRPr lang="en-US" altLang="zh-CN" b="1" dirty="0"/>
          </a:p>
          <a:p>
            <a:pPr algn="ctr"/>
            <a:r>
              <a:rPr lang="en-US" altLang="zh-CN" b="1" dirty="0"/>
              <a:t>Training Set</a:t>
            </a:r>
            <a:endParaRPr lang="zh-CN" altLang="en-US" dirty="0"/>
          </a:p>
        </p:txBody>
      </p:sp>
      <p:sp>
        <p:nvSpPr>
          <p:cNvPr id="78" name="矩形 77"/>
          <p:cNvSpPr/>
          <p:nvPr/>
        </p:nvSpPr>
        <p:spPr>
          <a:xfrm>
            <a:off x="2907276" y="5006452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剩下的“老数据”</a:t>
            </a:r>
            <a:endParaRPr lang="en-US" altLang="zh-CN" b="1" dirty="0"/>
          </a:p>
          <a:p>
            <a:pPr algn="ctr"/>
            <a:r>
              <a:rPr lang="en-US" altLang="zh-CN" b="1" dirty="0"/>
              <a:t>Rest Old Data</a:t>
            </a:r>
            <a:endParaRPr lang="zh-CN" altLang="en-US" dirty="0"/>
          </a:p>
        </p:txBody>
      </p:sp>
      <p:sp>
        <p:nvSpPr>
          <p:cNvPr id="79" name="右箭头 78"/>
          <p:cNvSpPr/>
          <p:nvPr/>
        </p:nvSpPr>
        <p:spPr>
          <a:xfrm rot="1641280">
            <a:off x="3262989" y="4510312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右箭头 79"/>
          <p:cNvSpPr/>
          <p:nvPr/>
        </p:nvSpPr>
        <p:spPr>
          <a:xfrm rot="20218143">
            <a:off x="6589844" y="4550189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89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机器学习的基本流程 </a:t>
            </a:r>
            <a:r>
              <a:rPr lang="en-US" altLang="zh-CN" sz="3600" b="1" dirty="0"/>
              <a:t>Process 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Machine Learning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流程图: 磁盘 5"/>
          <p:cNvSpPr/>
          <p:nvPr/>
        </p:nvSpPr>
        <p:spPr>
          <a:xfrm>
            <a:off x="1736978" y="440963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磁盘 6"/>
          <p:cNvSpPr/>
          <p:nvPr/>
        </p:nvSpPr>
        <p:spPr>
          <a:xfrm>
            <a:off x="1736978" y="424337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磁盘 7"/>
          <p:cNvSpPr/>
          <p:nvPr/>
        </p:nvSpPr>
        <p:spPr>
          <a:xfrm>
            <a:off x="1736978" y="407712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磁盘 8"/>
          <p:cNvSpPr/>
          <p:nvPr/>
        </p:nvSpPr>
        <p:spPr>
          <a:xfrm>
            <a:off x="1736978" y="391086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磁盘 9"/>
          <p:cNvSpPr/>
          <p:nvPr/>
        </p:nvSpPr>
        <p:spPr>
          <a:xfrm>
            <a:off x="1736978" y="374461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磁盘 10"/>
          <p:cNvSpPr/>
          <p:nvPr/>
        </p:nvSpPr>
        <p:spPr>
          <a:xfrm>
            <a:off x="1736978" y="357835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磁盘 11"/>
          <p:cNvSpPr/>
          <p:nvPr/>
        </p:nvSpPr>
        <p:spPr>
          <a:xfrm>
            <a:off x="1736978" y="341210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磁盘 12"/>
          <p:cNvSpPr/>
          <p:nvPr/>
        </p:nvSpPr>
        <p:spPr>
          <a:xfrm>
            <a:off x="1736978" y="324584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磁盘 13"/>
          <p:cNvSpPr/>
          <p:nvPr/>
        </p:nvSpPr>
        <p:spPr>
          <a:xfrm>
            <a:off x="1736978" y="307959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磁盘 14"/>
          <p:cNvSpPr/>
          <p:nvPr/>
        </p:nvSpPr>
        <p:spPr>
          <a:xfrm>
            <a:off x="1736978" y="291333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936607" y="4647249"/>
            <a:ext cx="673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数据</a:t>
            </a:r>
            <a:endParaRPr lang="en-US" altLang="zh-CN" b="1" dirty="0"/>
          </a:p>
          <a:p>
            <a:pPr algn="ctr"/>
            <a:r>
              <a:rPr lang="en-US" altLang="zh-CN" b="1" dirty="0"/>
              <a:t>Data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013276" y="4910858"/>
            <a:ext cx="7120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</a:t>
            </a:r>
            <a:endParaRPr lang="en-US" altLang="zh-CN" b="1" dirty="0"/>
          </a:p>
          <a:p>
            <a:pPr algn="ctr"/>
            <a:r>
              <a:rPr lang="en-US" altLang="zh-CN" b="1" dirty="0"/>
              <a:t>Train</a:t>
            </a:r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8102623" y="2871214"/>
            <a:ext cx="2159635" cy="2304610"/>
            <a:chOff x="4449907" y="3191494"/>
            <a:chExt cx="2159635" cy="2304610"/>
          </a:xfrm>
        </p:grpSpPr>
        <p:grpSp>
          <p:nvGrpSpPr>
            <p:cNvPr id="18" name="组合 17"/>
            <p:cNvGrpSpPr/>
            <p:nvPr/>
          </p:nvGrpSpPr>
          <p:grpSpPr>
            <a:xfrm>
              <a:off x="4449907" y="3191494"/>
              <a:ext cx="2159635" cy="1905240"/>
              <a:chOff x="7411085" y="4840845"/>
              <a:chExt cx="2159635" cy="1905240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7947660" y="5070873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7947660" y="5532836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947660" y="5994799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8488680" y="4840845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8488680" y="5299473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8488680" y="57661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8488680" y="62233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029700" y="5528073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5" name="直接箭头连接符 34"/>
              <p:cNvCxnSpPr>
                <a:endCxn id="27" idx="2"/>
              </p:cNvCxnSpPr>
              <p:nvPr/>
            </p:nvCxnSpPr>
            <p:spPr>
              <a:xfrm>
                <a:off x="7415530" y="51851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>
                <a:off x="7415530" y="56423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>
                <a:off x="7415530" y="6109099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9239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>
                <a:endCxn id="28" idx="2"/>
              </p:cNvCxnSpPr>
              <p:nvPr/>
            </p:nvCxnSpPr>
            <p:spPr>
              <a:xfrm flipV="1">
                <a:off x="7411085" y="5647136"/>
                <a:ext cx="536575" cy="4460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>
                <a:endCxn id="28" idx="2"/>
              </p:cNvCxnSpPr>
              <p:nvPr/>
            </p:nvCxnSpPr>
            <p:spPr>
              <a:xfrm>
                <a:off x="7415530" y="5188348"/>
                <a:ext cx="532130" cy="4587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>
                <a:endCxn id="29" idx="2"/>
              </p:cNvCxnSpPr>
              <p:nvPr/>
            </p:nvCxnSpPr>
            <p:spPr>
              <a:xfrm>
                <a:off x="7411085" y="5201050"/>
                <a:ext cx="536575" cy="9080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4572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endCxn id="29" idx="2"/>
              </p:cNvCxnSpPr>
              <p:nvPr/>
            </p:nvCxnSpPr>
            <p:spPr>
              <a:xfrm>
                <a:off x="7411085" y="5658249"/>
                <a:ext cx="536575" cy="45085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>
                <a:stCxn id="27" idx="6"/>
                <a:endCxn id="30" idx="2"/>
              </p:cNvCxnSpPr>
              <p:nvPr/>
            </p:nvCxnSpPr>
            <p:spPr>
              <a:xfrm flipV="1">
                <a:off x="8176260" y="4955145"/>
                <a:ext cx="312420" cy="23002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27" idx="6"/>
                <a:endCxn id="31" idx="2"/>
              </p:cNvCxnSpPr>
              <p:nvPr/>
            </p:nvCxnSpPr>
            <p:spPr>
              <a:xfrm>
                <a:off x="8176260" y="51851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>
                <a:stCxn id="27" idx="6"/>
                <a:endCxn id="32" idx="2"/>
              </p:cNvCxnSpPr>
              <p:nvPr/>
            </p:nvCxnSpPr>
            <p:spPr>
              <a:xfrm>
                <a:off x="8176260" y="51851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>
                <a:stCxn id="27" idx="6"/>
                <a:endCxn id="33" idx="2"/>
              </p:cNvCxnSpPr>
              <p:nvPr/>
            </p:nvCxnSpPr>
            <p:spPr>
              <a:xfrm>
                <a:off x="8176260" y="5185173"/>
                <a:ext cx="312420" cy="11525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/>
              <p:cNvCxnSpPr>
                <a:stCxn id="28" idx="6"/>
                <a:endCxn id="30" idx="2"/>
              </p:cNvCxnSpPr>
              <p:nvPr/>
            </p:nvCxnSpPr>
            <p:spPr>
              <a:xfrm flipV="1">
                <a:off x="8176260" y="4955145"/>
                <a:ext cx="312420" cy="69199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/>
              <p:cNvCxnSpPr>
                <a:stCxn id="28" idx="6"/>
                <a:endCxn id="31" idx="2"/>
              </p:cNvCxnSpPr>
              <p:nvPr/>
            </p:nvCxnSpPr>
            <p:spPr>
              <a:xfrm flipV="1">
                <a:off x="8176260" y="5413773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>
                <a:stCxn id="28" idx="6"/>
                <a:endCxn id="32" idx="2"/>
              </p:cNvCxnSpPr>
              <p:nvPr/>
            </p:nvCxnSpPr>
            <p:spPr>
              <a:xfrm>
                <a:off x="8176260" y="5647136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>
                <a:stCxn id="28" idx="6"/>
                <a:endCxn id="33" idx="2"/>
              </p:cNvCxnSpPr>
              <p:nvPr/>
            </p:nvCxnSpPr>
            <p:spPr>
              <a:xfrm>
                <a:off x="8176260" y="5647136"/>
                <a:ext cx="312420" cy="6905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>
                <a:stCxn id="29" idx="6"/>
                <a:endCxn id="30" idx="2"/>
              </p:cNvCxnSpPr>
              <p:nvPr/>
            </p:nvCxnSpPr>
            <p:spPr>
              <a:xfrm flipV="1">
                <a:off x="8176260" y="4955145"/>
                <a:ext cx="312420" cy="11539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/>
              <p:cNvCxnSpPr>
                <a:stCxn id="29" idx="6"/>
                <a:endCxn id="31" idx="2"/>
              </p:cNvCxnSpPr>
              <p:nvPr/>
            </p:nvCxnSpPr>
            <p:spPr>
              <a:xfrm flipV="1">
                <a:off x="8176260" y="54137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/>
              <p:cNvCxnSpPr>
                <a:stCxn id="29" idx="6"/>
                <a:endCxn id="32" idx="2"/>
              </p:cNvCxnSpPr>
              <p:nvPr/>
            </p:nvCxnSpPr>
            <p:spPr>
              <a:xfrm flipV="1">
                <a:off x="8176260" y="5880499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/>
              <p:cNvCxnSpPr>
                <a:endCxn id="33" idx="2"/>
              </p:cNvCxnSpPr>
              <p:nvPr/>
            </p:nvCxnSpPr>
            <p:spPr>
              <a:xfrm>
                <a:off x="8176260" y="6113863"/>
                <a:ext cx="312420" cy="2238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>
                <a:stCxn id="33" idx="6"/>
                <a:endCxn id="34" idx="3"/>
              </p:cNvCxnSpPr>
              <p:nvPr/>
            </p:nvCxnSpPr>
            <p:spPr>
              <a:xfrm flipV="1">
                <a:off x="8717280" y="5723195"/>
                <a:ext cx="345898" cy="6145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/>
              <p:cNvCxnSpPr>
                <a:stCxn id="32" idx="6"/>
                <a:endCxn id="34" idx="2"/>
              </p:cNvCxnSpPr>
              <p:nvPr/>
            </p:nvCxnSpPr>
            <p:spPr>
              <a:xfrm flipV="1">
                <a:off x="8717280" y="5642373"/>
                <a:ext cx="312420" cy="2381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/>
              <p:cNvCxnSpPr>
                <a:stCxn id="31" idx="6"/>
                <a:endCxn id="34" idx="2"/>
              </p:cNvCxnSpPr>
              <p:nvPr/>
            </p:nvCxnSpPr>
            <p:spPr>
              <a:xfrm>
                <a:off x="8717280" y="54137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/>
              <p:cNvCxnSpPr>
                <a:stCxn id="30" idx="6"/>
                <a:endCxn id="34" idx="1"/>
              </p:cNvCxnSpPr>
              <p:nvPr/>
            </p:nvCxnSpPr>
            <p:spPr>
              <a:xfrm>
                <a:off x="8717280" y="4955145"/>
                <a:ext cx="345898" cy="60640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/>
              <p:cNvCxnSpPr>
                <a:stCxn id="34" idx="6"/>
              </p:cNvCxnSpPr>
              <p:nvPr/>
            </p:nvCxnSpPr>
            <p:spPr>
              <a:xfrm>
                <a:off x="9258300" y="5642373"/>
                <a:ext cx="3124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矩形 60"/>
              <p:cNvSpPr/>
              <p:nvPr/>
            </p:nvSpPr>
            <p:spPr>
              <a:xfrm>
                <a:off x="7981656" y="6438308"/>
                <a:ext cx="18473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zh-CN" alt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4912744" y="4849773"/>
              <a:ext cx="85953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/>
                <a:t>模型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Model</a:t>
              </a:r>
              <a:endParaRPr lang="zh-CN" altLang="en-US" dirty="0"/>
            </a:p>
          </p:txBody>
        </p:sp>
      </p:grpSp>
      <p:sp>
        <p:nvSpPr>
          <p:cNvPr id="22" name="矩形 21"/>
          <p:cNvSpPr/>
          <p:nvPr/>
        </p:nvSpPr>
        <p:spPr>
          <a:xfrm>
            <a:off x="7078999" y="1957785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</a:t>
            </a:r>
            <a:endParaRPr lang="en-US" altLang="zh-CN" b="1" dirty="0"/>
          </a:p>
          <a:p>
            <a:pPr algn="ctr"/>
            <a:r>
              <a:rPr lang="en-US" altLang="zh-CN" b="1" dirty="0"/>
              <a:t>Test</a:t>
            </a:r>
            <a:endParaRPr lang="zh-CN" altLang="en-US" dirty="0"/>
          </a:p>
        </p:txBody>
      </p:sp>
      <p:sp>
        <p:nvSpPr>
          <p:cNvPr id="23" name="流程图: 磁盘 22"/>
          <p:cNvSpPr/>
          <p:nvPr/>
        </p:nvSpPr>
        <p:spPr>
          <a:xfrm>
            <a:off x="4959488" y="231868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磁盘 23"/>
          <p:cNvSpPr/>
          <p:nvPr/>
        </p:nvSpPr>
        <p:spPr>
          <a:xfrm>
            <a:off x="4959488" y="2152428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磁盘 24"/>
          <p:cNvSpPr/>
          <p:nvPr/>
        </p:nvSpPr>
        <p:spPr>
          <a:xfrm>
            <a:off x="4959488" y="198617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流程图: 磁盘 62"/>
          <p:cNvSpPr/>
          <p:nvPr/>
        </p:nvSpPr>
        <p:spPr>
          <a:xfrm>
            <a:off x="4959488" y="574208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流程图: 磁盘 63"/>
          <p:cNvSpPr/>
          <p:nvPr/>
        </p:nvSpPr>
        <p:spPr>
          <a:xfrm>
            <a:off x="4959488" y="557582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流程图: 磁盘 64"/>
          <p:cNvSpPr/>
          <p:nvPr/>
        </p:nvSpPr>
        <p:spPr>
          <a:xfrm>
            <a:off x="4959488" y="540957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流程图: 磁盘 65"/>
          <p:cNvSpPr/>
          <p:nvPr/>
        </p:nvSpPr>
        <p:spPr>
          <a:xfrm>
            <a:off x="4959488" y="524331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流程图: 磁盘 66"/>
          <p:cNvSpPr/>
          <p:nvPr/>
        </p:nvSpPr>
        <p:spPr>
          <a:xfrm>
            <a:off x="4959488" y="507706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流程图: 磁盘 67"/>
          <p:cNvSpPr/>
          <p:nvPr/>
        </p:nvSpPr>
        <p:spPr>
          <a:xfrm>
            <a:off x="4959488" y="491080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流程图: 磁盘 68"/>
          <p:cNvSpPr/>
          <p:nvPr/>
        </p:nvSpPr>
        <p:spPr>
          <a:xfrm>
            <a:off x="4959488" y="474455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右箭头 72"/>
          <p:cNvSpPr/>
          <p:nvPr/>
        </p:nvSpPr>
        <p:spPr>
          <a:xfrm rot="20218143">
            <a:off x="3261924" y="2675200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907276" y="1746134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假装的“新数据”</a:t>
            </a:r>
            <a:endParaRPr lang="en-US" altLang="zh-CN" b="1" dirty="0"/>
          </a:p>
          <a:p>
            <a:pPr algn="ctr"/>
            <a:r>
              <a:rPr lang="en-US" altLang="zh-CN" b="1" dirty="0"/>
              <a:t>Fake New Data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4892093" y="2581585"/>
            <a:ext cx="13484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测试集</a:t>
            </a:r>
            <a:endParaRPr lang="en-US" altLang="zh-CN" b="1" dirty="0"/>
          </a:p>
          <a:p>
            <a:pPr algn="ctr"/>
            <a:r>
              <a:rPr lang="en-US" altLang="zh-CN" b="1" dirty="0"/>
              <a:t>Testing Set</a:t>
            </a:r>
            <a:endParaRPr lang="zh-CN" altLang="en-US" dirty="0"/>
          </a:p>
        </p:txBody>
      </p:sp>
      <p:sp>
        <p:nvSpPr>
          <p:cNvPr id="77" name="矩形 76"/>
          <p:cNvSpPr/>
          <p:nvPr/>
        </p:nvSpPr>
        <p:spPr>
          <a:xfrm>
            <a:off x="4844804" y="5997284"/>
            <a:ext cx="14430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训练集</a:t>
            </a:r>
            <a:endParaRPr lang="en-US" altLang="zh-CN" b="1" dirty="0"/>
          </a:p>
          <a:p>
            <a:pPr algn="ctr"/>
            <a:r>
              <a:rPr lang="en-US" altLang="zh-CN" b="1" dirty="0"/>
              <a:t>Training Set</a:t>
            </a:r>
            <a:endParaRPr lang="zh-CN" altLang="en-US" dirty="0"/>
          </a:p>
        </p:txBody>
      </p:sp>
      <p:sp>
        <p:nvSpPr>
          <p:cNvPr id="78" name="矩形 77"/>
          <p:cNvSpPr/>
          <p:nvPr/>
        </p:nvSpPr>
        <p:spPr>
          <a:xfrm>
            <a:off x="2907276" y="5006452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剩下的“老数据”</a:t>
            </a:r>
            <a:endParaRPr lang="en-US" altLang="zh-CN" b="1" dirty="0"/>
          </a:p>
          <a:p>
            <a:pPr algn="ctr"/>
            <a:r>
              <a:rPr lang="en-US" altLang="zh-CN" b="1" dirty="0"/>
              <a:t>Rest Old Data</a:t>
            </a:r>
            <a:endParaRPr lang="zh-CN" altLang="en-US" dirty="0"/>
          </a:p>
        </p:txBody>
      </p:sp>
      <p:sp>
        <p:nvSpPr>
          <p:cNvPr id="79" name="右箭头 78"/>
          <p:cNvSpPr/>
          <p:nvPr/>
        </p:nvSpPr>
        <p:spPr>
          <a:xfrm rot="1641280">
            <a:off x="3262989" y="4510312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右箭头 79"/>
          <p:cNvSpPr/>
          <p:nvPr/>
        </p:nvSpPr>
        <p:spPr>
          <a:xfrm rot="20218143">
            <a:off x="6589844" y="4550189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右箭头 81"/>
          <p:cNvSpPr/>
          <p:nvPr/>
        </p:nvSpPr>
        <p:spPr>
          <a:xfrm rot="12384537">
            <a:off x="6578310" y="2706208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048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机器学习的基本流程 </a:t>
            </a:r>
            <a:r>
              <a:rPr lang="en-US" altLang="zh-CN" sz="3600" b="1" dirty="0"/>
              <a:t>Process 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Machine Learning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流程图: 磁盘 5"/>
          <p:cNvSpPr/>
          <p:nvPr/>
        </p:nvSpPr>
        <p:spPr>
          <a:xfrm>
            <a:off x="1736978" y="440963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磁盘 6"/>
          <p:cNvSpPr/>
          <p:nvPr/>
        </p:nvSpPr>
        <p:spPr>
          <a:xfrm>
            <a:off x="1736978" y="424337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磁盘 7"/>
          <p:cNvSpPr/>
          <p:nvPr/>
        </p:nvSpPr>
        <p:spPr>
          <a:xfrm>
            <a:off x="1736978" y="407712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磁盘 8"/>
          <p:cNvSpPr/>
          <p:nvPr/>
        </p:nvSpPr>
        <p:spPr>
          <a:xfrm>
            <a:off x="1736978" y="391086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磁盘 9"/>
          <p:cNvSpPr/>
          <p:nvPr/>
        </p:nvSpPr>
        <p:spPr>
          <a:xfrm>
            <a:off x="1736978" y="374461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磁盘 10"/>
          <p:cNvSpPr/>
          <p:nvPr/>
        </p:nvSpPr>
        <p:spPr>
          <a:xfrm>
            <a:off x="1736978" y="357835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磁盘 11"/>
          <p:cNvSpPr/>
          <p:nvPr/>
        </p:nvSpPr>
        <p:spPr>
          <a:xfrm>
            <a:off x="1736978" y="341210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磁盘 12"/>
          <p:cNvSpPr/>
          <p:nvPr/>
        </p:nvSpPr>
        <p:spPr>
          <a:xfrm>
            <a:off x="1736978" y="324584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磁盘 13"/>
          <p:cNvSpPr/>
          <p:nvPr/>
        </p:nvSpPr>
        <p:spPr>
          <a:xfrm>
            <a:off x="1736978" y="307959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磁盘 14"/>
          <p:cNvSpPr/>
          <p:nvPr/>
        </p:nvSpPr>
        <p:spPr>
          <a:xfrm>
            <a:off x="1736978" y="291333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936607" y="4647249"/>
            <a:ext cx="673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数据</a:t>
            </a:r>
            <a:endParaRPr lang="en-US" altLang="zh-CN" b="1" dirty="0"/>
          </a:p>
          <a:p>
            <a:pPr algn="ctr"/>
            <a:r>
              <a:rPr lang="en-US" altLang="zh-CN" b="1" dirty="0"/>
              <a:t>Data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013276" y="4910858"/>
            <a:ext cx="7120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</a:t>
            </a:r>
            <a:endParaRPr lang="en-US" altLang="zh-CN" b="1" dirty="0"/>
          </a:p>
          <a:p>
            <a:pPr algn="ctr"/>
            <a:r>
              <a:rPr lang="en-US" altLang="zh-CN" b="1" dirty="0"/>
              <a:t>Train</a:t>
            </a:r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8102623" y="2871214"/>
            <a:ext cx="2159635" cy="2304610"/>
            <a:chOff x="4449907" y="3191494"/>
            <a:chExt cx="2159635" cy="2304610"/>
          </a:xfrm>
        </p:grpSpPr>
        <p:grpSp>
          <p:nvGrpSpPr>
            <p:cNvPr id="18" name="组合 17"/>
            <p:cNvGrpSpPr/>
            <p:nvPr/>
          </p:nvGrpSpPr>
          <p:grpSpPr>
            <a:xfrm>
              <a:off x="4449907" y="3191494"/>
              <a:ext cx="2159635" cy="1905240"/>
              <a:chOff x="7411085" y="4840845"/>
              <a:chExt cx="2159635" cy="1905240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7947660" y="5070873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7947660" y="5532836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947660" y="5994799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8488680" y="4840845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8488680" y="5299473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8488680" y="57661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8488680" y="62233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029700" y="5528073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5" name="直接箭头连接符 34"/>
              <p:cNvCxnSpPr>
                <a:endCxn id="27" idx="2"/>
              </p:cNvCxnSpPr>
              <p:nvPr/>
            </p:nvCxnSpPr>
            <p:spPr>
              <a:xfrm>
                <a:off x="7415530" y="51851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>
                <a:off x="7415530" y="56423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>
                <a:off x="7415530" y="6109099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9239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>
                <a:endCxn id="28" idx="2"/>
              </p:cNvCxnSpPr>
              <p:nvPr/>
            </p:nvCxnSpPr>
            <p:spPr>
              <a:xfrm flipV="1">
                <a:off x="7411085" y="5647136"/>
                <a:ext cx="536575" cy="4460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>
                <a:endCxn id="28" idx="2"/>
              </p:cNvCxnSpPr>
              <p:nvPr/>
            </p:nvCxnSpPr>
            <p:spPr>
              <a:xfrm>
                <a:off x="7415530" y="5188348"/>
                <a:ext cx="532130" cy="4587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>
                <a:endCxn id="29" idx="2"/>
              </p:cNvCxnSpPr>
              <p:nvPr/>
            </p:nvCxnSpPr>
            <p:spPr>
              <a:xfrm>
                <a:off x="7411085" y="5201050"/>
                <a:ext cx="536575" cy="9080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4572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endCxn id="29" idx="2"/>
              </p:cNvCxnSpPr>
              <p:nvPr/>
            </p:nvCxnSpPr>
            <p:spPr>
              <a:xfrm>
                <a:off x="7411085" y="5658249"/>
                <a:ext cx="536575" cy="45085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>
                <a:stCxn id="27" idx="6"/>
                <a:endCxn id="30" idx="2"/>
              </p:cNvCxnSpPr>
              <p:nvPr/>
            </p:nvCxnSpPr>
            <p:spPr>
              <a:xfrm flipV="1">
                <a:off x="8176260" y="4955145"/>
                <a:ext cx="312420" cy="23002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27" idx="6"/>
                <a:endCxn id="31" idx="2"/>
              </p:cNvCxnSpPr>
              <p:nvPr/>
            </p:nvCxnSpPr>
            <p:spPr>
              <a:xfrm>
                <a:off x="8176260" y="51851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>
                <a:stCxn id="27" idx="6"/>
                <a:endCxn id="32" idx="2"/>
              </p:cNvCxnSpPr>
              <p:nvPr/>
            </p:nvCxnSpPr>
            <p:spPr>
              <a:xfrm>
                <a:off x="8176260" y="51851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>
                <a:stCxn id="27" idx="6"/>
                <a:endCxn id="33" idx="2"/>
              </p:cNvCxnSpPr>
              <p:nvPr/>
            </p:nvCxnSpPr>
            <p:spPr>
              <a:xfrm>
                <a:off x="8176260" y="5185173"/>
                <a:ext cx="312420" cy="11525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/>
              <p:cNvCxnSpPr>
                <a:stCxn id="28" idx="6"/>
                <a:endCxn id="30" idx="2"/>
              </p:cNvCxnSpPr>
              <p:nvPr/>
            </p:nvCxnSpPr>
            <p:spPr>
              <a:xfrm flipV="1">
                <a:off x="8176260" y="4955145"/>
                <a:ext cx="312420" cy="69199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/>
              <p:cNvCxnSpPr>
                <a:stCxn id="28" idx="6"/>
                <a:endCxn id="31" idx="2"/>
              </p:cNvCxnSpPr>
              <p:nvPr/>
            </p:nvCxnSpPr>
            <p:spPr>
              <a:xfrm flipV="1">
                <a:off x="8176260" y="5413773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>
                <a:stCxn id="28" idx="6"/>
                <a:endCxn id="32" idx="2"/>
              </p:cNvCxnSpPr>
              <p:nvPr/>
            </p:nvCxnSpPr>
            <p:spPr>
              <a:xfrm>
                <a:off x="8176260" y="5647136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>
                <a:stCxn id="28" idx="6"/>
                <a:endCxn id="33" idx="2"/>
              </p:cNvCxnSpPr>
              <p:nvPr/>
            </p:nvCxnSpPr>
            <p:spPr>
              <a:xfrm>
                <a:off x="8176260" y="5647136"/>
                <a:ext cx="312420" cy="6905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>
                <a:stCxn id="29" idx="6"/>
                <a:endCxn id="30" idx="2"/>
              </p:cNvCxnSpPr>
              <p:nvPr/>
            </p:nvCxnSpPr>
            <p:spPr>
              <a:xfrm flipV="1">
                <a:off x="8176260" y="4955145"/>
                <a:ext cx="312420" cy="11539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/>
              <p:cNvCxnSpPr>
                <a:stCxn id="29" idx="6"/>
                <a:endCxn id="31" idx="2"/>
              </p:cNvCxnSpPr>
              <p:nvPr/>
            </p:nvCxnSpPr>
            <p:spPr>
              <a:xfrm flipV="1">
                <a:off x="8176260" y="54137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/>
              <p:cNvCxnSpPr>
                <a:stCxn id="29" idx="6"/>
                <a:endCxn id="32" idx="2"/>
              </p:cNvCxnSpPr>
              <p:nvPr/>
            </p:nvCxnSpPr>
            <p:spPr>
              <a:xfrm flipV="1">
                <a:off x="8176260" y="5880499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/>
              <p:cNvCxnSpPr>
                <a:endCxn id="33" idx="2"/>
              </p:cNvCxnSpPr>
              <p:nvPr/>
            </p:nvCxnSpPr>
            <p:spPr>
              <a:xfrm>
                <a:off x="8176260" y="6113863"/>
                <a:ext cx="312420" cy="2238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>
                <a:stCxn id="33" idx="6"/>
                <a:endCxn id="34" idx="3"/>
              </p:cNvCxnSpPr>
              <p:nvPr/>
            </p:nvCxnSpPr>
            <p:spPr>
              <a:xfrm flipV="1">
                <a:off x="8717280" y="5723195"/>
                <a:ext cx="345898" cy="6145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/>
              <p:cNvCxnSpPr>
                <a:stCxn id="32" idx="6"/>
                <a:endCxn id="34" idx="2"/>
              </p:cNvCxnSpPr>
              <p:nvPr/>
            </p:nvCxnSpPr>
            <p:spPr>
              <a:xfrm flipV="1">
                <a:off x="8717280" y="5642373"/>
                <a:ext cx="312420" cy="2381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/>
              <p:cNvCxnSpPr>
                <a:stCxn id="31" idx="6"/>
                <a:endCxn id="34" idx="2"/>
              </p:cNvCxnSpPr>
              <p:nvPr/>
            </p:nvCxnSpPr>
            <p:spPr>
              <a:xfrm>
                <a:off x="8717280" y="54137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/>
              <p:cNvCxnSpPr>
                <a:stCxn id="30" idx="6"/>
                <a:endCxn id="34" idx="1"/>
              </p:cNvCxnSpPr>
              <p:nvPr/>
            </p:nvCxnSpPr>
            <p:spPr>
              <a:xfrm>
                <a:off x="8717280" y="4955145"/>
                <a:ext cx="345898" cy="60640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/>
              <p:cNvCxnSpPr>
                <a:stCxn id="34" idx="6"/>
              </p:cNvCxnSpPr>
              <p:nvPr/>
            </p:nvCxnSpPr>
            <p:spPr>
              <a:xfrm>
                <a:off x="9258300" y="5642373"/>
                <a:ext cx="3124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矩形 60"/>
              <p:cNvSpPr/>
              <p:nvPr/>
            </p:nvSpPr>
            <p:spPr>
              <a:xfrm>
                <a:off x="7981656" y="6438308"/>
                <a:ext cx="18473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zh-CN" alt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4912744" y="4849773"/>
              <a:ext cx="85953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/>
                <a:t>模型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Model</a:t>
              </a:r>
              <a:endParaRPr lang="zh-CN" altLang="en-US" dirty="0"/>
            </a:p>
          </p:txBody>
        </p:sp>
      </p:grpSp>
      <p:sp>
        <p:nvSpPr>
          <p:cNvPr id="22" name="矩形 21"/>
          <p:cNvSpPr/>
          <p:nvPr/>
        </p:nvSpPr>
        <p:spPr>
          <a:xfrm>
            <a:off x="7078999" y="1957785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</a:t>
            </a:r>
            <a:endParaRPr lang="en-US" altLang="zh-CN" b="1" dirty="0"/>
          </a:p>
          <a:p>
            <a:pPr algn="ctr"/>
            <a:r>
              <a:rPr lang="en-US" altLang="zh-CN" b="1" dirty="0"/>
              <a:t>Test</a:t>
            </a:r>
            <a:endParaRPr lang="zh-CN" altLang="en-US" dirty="0"/>
          </a:p>
        </p:txBody>
      </p:sp>
      <p:sp>
        <p:nvSpPr>
          <p:cNvPr id="23" name="流程图: 磁盘 22"/>
          <p:cNvSpPr/>
          <p:nvPr/>
        </p:nvSpPr>
        <p:spPr>
          <a:xfrm>
            <a:off x="4959488" y="231868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磁盘 23"/>
          <p:cNvSpPr/>
          <p:nvPr/>
        </p:nvSpPr>
        <p:spPr>
          <a:xfrm>
            <a:off x="4959488" y="2152428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磁盘 24"/>
          <p:cNvSpPr/>
          <p:nvPr/>
        </p:nvSpPr>
        <p:spPr>
          <a:xfrm>
            <a:off x="4959488" y="198617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流程图: 磁盘 62"/>
          <p:cNvSpPr/>
          <p:nvPr/>
        </p:nvSpPr>
        <p:spPr>
          <a:xfrm>
            <a:off x="4959488" y="574208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流程图: 磁盘 63"/>
          <p:cNvSpPr/>
          <p:nvPr/>
        </p:nvSpPr>
        <p:spPr>
          <a:xfrm>
            <a:off x="4959488" y="557582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流程图: 磁盘 64"/>
          <p:cNvSpPr/>
          <p:nvPr/>
        </p:nvSpPr>
        <p:spPr>
          <a:xfrm>
            <a:off x="4959488" y="540957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流程图: 磁盘 65"/>
          <p:cNvSpPr/>
          <p:nvPr/>
        </p:nvSpPr>
        <p:spPr>
          <a:xfrm>
            <a:off x="4959488" y="524331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流程图: 磁盘 66"/>
          <p:cNvSpPr/>
          <p:nvPr/>
        </p:nvSpPr>
        <p:spPr>
          <a:xfrm>
            <a:off x="4959488" y="507706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流程图: 磁盘 67"/>
          <p:cNvSpPr/>
          <p:nvPr/>
        </p:nvSpPr>
        <p:spPr>
          <a:xfrm>
            <a:off x="4959488" y="491080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流程图: 磁盘 68"/>
          <p:cNvSpPr/>
          <p:nvPr/>
        </p:nvSpPr>
        <p:spPr>
          <a:xfrm>
            <a:off x="4959488" y="474455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右箭头 72"/>
          <p:cNvSpPr/>
          <p:nvPr/>
        </p:nvSpPr>
        <p:spPr>
          <a:xfrm rot="20218143">
            <a:off x="3261924" y="2675200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907276" y="1746134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假装的“新数据”</a:t>
            </a:r>
            <a:endParaRPr lang="en-US" altLang="zh-CN" b="1" dirty="0"/>
          </a:p>
          <a:p>
            <a:pPr algn="ctr"/>
            <a:r>
              <a:rPr lang="en-US" altLang="zh-CN" b="1" dirty="0"/>
              <a:t>Fake New Data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4892093" y="2581585"/>
            <a:ext cx="13484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测试集</a:t>
            </a:r>
            <a:endParaRPr lang="en-US" altLang="zh-CN" b="1" dirty="0"/>
          </a:p>
          <a:p>
            <a:pPr algn="ctr"/>
            <a:r>
              <a:rPr lang="en-US" altLang="zh-CN" b="1" dirty="0"/>
              <a:t>Testing Set</a:t>
            </a:r>
            <a:endParaRPr lang="zh-CN" altLang="en-US" dirty="0"/>
          </a:p>
        </p:txBody>
      </p:sp>
      <p:sp>
        <p:nvSpPr>
          <p:cNvPr id="77" name="矩形 76"/>
          <p:cNvSpPr/>
          <p:nvPr/>
        </p:nvSpPr>
        <p:spPr>
          <a:xfrm>
            <a:off x="4844804" y="5997284"/>
            <a:ext cx="14430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训练集</a:t>
            </a:r>
            <a:endParaRPr lang="en-US" altLang="zh-CN" b="1" dirty="0"/>
          </a:p>
          <a:p>
            <a:pPr algn="ctr"/>
            <a:r>
              <a:rPr lang="en-US" altLang="zh-CN" b="1" dirty="0"/>
              <a:t>Training Set</a:t>
            </a:r>
            <a:endParaRPr lang="zh-CN" altLang="en-US" dirty="0"/>
          </a:p>
        </p:txBody>
      </p:sp>
      <p:sp>
        <p:nvSpPr>
          <p:cNvPr id="78" name="矩形 77"/>
          <p:cNvSpPr/>
          <p:nvPr/>
        </p:nvSpPr>
        <p:spPr>
          <a:xfrm>
            <a:off x="2907276" y="5006452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剩下的“老数据”</a:t>
            </a:r>
            <a:endParaRPr lang="en-US" altLang="zh-CN" b="1" dirty="0"/>
          </a:p>
          <a:p>
            <a:pPr algn="ctr"/>
            <a:r>
              <a:rPr lang="en-US" altLang="zh-CN" b="1" dirty="0"/>
              <a:t>Rest Old Data</a:t>
            </a:r>
            <a:endParaRPr lang="zh-CN" altLang="en-US" dirty="0"/>
          </a:p>
        </p:txBody>
      </p:sp>
      <p:sp>
        <p:nvSpPr>
          <p:cNvPr id="79" name="右箭头 78"/>
          <p:cNvSpPr/>
          <p:nvPr/>
        </p:nvSpPr>
        <p:spPr>
          <a:xfrm rot="1641280">
            <a:off x="3262989" y="4510312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右箭头 79"/>
          <p:cNvSpPr/>
          <p:nvPr/>
        </p:nvSpPr>
        <p:spPr>
          <a:xfrm rot="20218143">
            <a:off x="6589844" y="4550189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右箭头 81"/>
          <p:cNvSpPr/>
          <p:nvPr/>
        </p:nvSpPr>
        <p:spPr>
          <a:xfrm rot="12384537">
            <a:off x="6578310" y="2706208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604689" y="2743200"/>
            <a:ext cx="3977967" cy="290958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213567" y="5187857"/>
            <a:ext cx="1243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怎么训练？</a:t>
            </a:r>
          </a:p>
        </p:txBody>
      </p:sp>
    </p:spTree>
    <p:extLst>
      <p:ext uri="{BB962C8B-B14F-4D97-AF65-F5344CB8AC3E}">
        <p14:creationId xmlns:p14="http://schemas.microsoft.com/office/powerpoint/2010/main" val="376061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机器学习的基本流程 </a:t>
            </a:r>
            <a:r>
              <a:rPr lang="en-US" altLang="zh-CN" sz="3600" b="1" dirty="0"/>
              <a:t>Process 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Machine Learning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7</a:t>
            </a:fld>
            <a:endParaRPr lang="zh-CN" altLang="en-US" dirty="0"/>
          </a:p>
        </p:txBody>
      </p:sp>
      <p:pic>
        <p:nvPicPr>
          <p:cNvPr id="1026" name="Picture 2" descr="purple flower in tilt shift le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616" y="3210924"/>
            <a:ext cx="2039112" cy="203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838200" y="1427192"/>
            <a:ext cx="98133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</a:rPr>
              <a:t>例：</a:t>
            </a:r>
            <a:r>
              <a:rPr lang="zh-CN" altLang="en-US" dirty="0">
                <a:latin typeface="arial" panose="020B0604020202020204" pitchFamily="34" charset="0"/>
              </a:rPr>
              <a:t>鸢尾花数据集是常用的分类实验数据集，由</a:t>
            </a:r>
            <a:r>
              <a:rPr lang="en-US" altLang="zh-CN" dirty="0" err="1">
                <a:latin typeface="arial" panose="020B0604020202020204" pitchFamily="34" charset="0"/>
              </a:rPr>
              <a:t>Fisher1936</a:t>
            </a:r>
            <a:r>
              <a:rPr lang="zh-CN" altLang="en-US" dirty="0">
                <a:latin typeface="arial" panose="020B0604020202020204" pitchFamily="34" charset="0"/>
              </a:rPr>
              <a:t>收集整理。</a:t>
            </a:r>
            <a:r>
              <a:rPr lang="en-US" altLang="zh-CN" dirty="0">
                <a:latin typeface="arial" panose="020B0604020202020204" pitchFamily="34" charset="0"/>
              </a:rPr>
              <a:t>Iris</a:t>
            </a:r>
            <a:r>
              <a:rPr lang="zh-CN" altLang="en-US" dirty="0">
                <a:latin typeface="arial" panose="020B0604020202020204" pitchFamily="34" charset="0"/>
              </a:rPr>
              <a:t>也称鸢尾花卉数据集，是一类多重变量分析的数据集。数据集包含</a:t>
            </a:r>
            <a:r>
              <a:rPr lang="en-US" altLang="zh-CN" b="1" dirty="0">
                <a:latin typeface="arial" panose="020B0604020202020204" pitchFamily="34" charset="0"/>
              </a:rPr>
              <a:t>150</a:t>
            </a:r>
            <a:r>
              <a:rPr lang="zh-CN" altLang="en-US" b="1" dirty="0">
                <a:latin typeface="arial" panose="020B0604020202020204" pitchFamily="34" charset="0"/>
              </a:rPr>
              <a:t>个数据样本，分为</a:t>
            </a:r>
            <a:r>
              <a:rPr lang="en-US" altLang="zh-CN" b="1" dirty="0">
                <a:latin typeface="arial" panose="020B0604020202020204" pitchFamily="34" charset="0"/>
              </a:rPr>
              <a:t>3</a:t>
            </a:r>
            <a:r>
              <a:rPr lang="zh-CN" altLang="en-US" b="1" dirty="0">
                <a:latin typeface="arial" panose="020B0604020202020204" pitchFamily="34" charset="0"/>
              </a:rPr>
              <a:t>类，每类</a:t>
            </a:r>
            <a:r>
              <a:rPr lang="en-US" altLang="zh-CN" b="1" dirty="0">
                <a:latin typeface="arial" panose="020B0604020202020204" pitchFamily="34" charset="0"/>
              </a:rPr>
              <a:t>50</a:t>
            </a:r>
            <a:r>
              <a:rPr lang="zh-CN" altLang="en-US" b="1" dirty="0">
                <a:latin typeface="arial" panose="020B0604020202020204" pitchFamily="34" charset="0"/>
              </a:rPr>
              <a:t>个数据</a:t>
            </a:r>
            <a:r>
              <a:rPr lang="zh-CN" altLang="en-US" dirty="0">
                <a:latin typeface="arial" panose="020B0604020202020204" pitchFamily="34" charset="0"/>
              </a:rPr>
              <a:t>，每个数据包含</a:t>
            </a:r>
            <a:r>
              <a:rPr lang="en-US" altLang="zh-CN" dirty="0">
                <a:latin typeface="arial" panose="020B0604020202020204" pitchFamily="34" charset="0"/>
              </a:rPr>
              <a:t>4</a:t>
            </a:r>
            <a:r>
              <a:rPr lang="zh-CN" altLang="en-US" dirty="0">
                <a:latin typeface="arial" panose="020B0604020202020204" pitchFamily="34" charset="0"/>
              </a:rPr>
              <a:t>个属性。可通过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花萼长度，花萼宽度，花瓣长度，花瓣宽度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</a:rPr>
              <a:t>4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个属性</a:t>
            </a:r>
            <a:r>
              <a:rPr lang="zh-CN" altLang="en-US" dirty="0">
                <a:latin typeface="arial" panose="020B0604020202020204" pitchFamily="34" charset="0"/>
              </a:rPr>
              <a:t>预测鸢尾花卉属于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（</a:t>
            </a:r>
            <a:r>
              <a:rPr lang="en-US" altLang="zh-CN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Sentosa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0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，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Versicolor 1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，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Virginia 2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）</a:t>
            </a:r>
            <a:r>
              <a:rPr lang="zh-CN" altLang="en-US" dirty="0">
                <a:latin typeface="arial" panose="020B0604020202020204" pitchFamily="34" charset="0"/>
              </a:rPr>
              <a:t>三个种类中的哪一类。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38200" y="6459865"/>
            <a:ext cx="315022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dirty="0"/>
              <a:t>本页图片来源：https://unsplash.dogedoge.com/</a:t>
            </a:r>
          </a:p>
        </p:txBody>
      </p:sp>
    </p:spTree>
    <p:extLst>
      <p:ext uri="{BB962C8B-B14F-4D97-AF65-F5344CB8AC3E}">
        <p14:creationId xmlns:p14="http://schemas.microsoft.com/office/powerpoint/2010/main" val="703544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机器学习的基本流程 </a:t>
            </a:r>
            <a:r>
              <a:rPr lang="en-US" altLang="zh-CN" sz="3600" b="1" dirty="0"/>
              <a:t>Process 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Machine Learning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23544" y="1506022"/>
            <a:ext cx="98054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</a:rPr>
              <a:t>例：</a:t>
            </a:r>
            <a:r>
              <a:rPr lang="en-US" altLang="zh-CN" dirty="0">
                <a:latin typeface="arial" panose="020B0604020202020204" pitchFamily="34" charset="0"/>
              </a:rPr>
              <a:t>iris</a:t>
            </a:r>
            <a:r>
              <a:rPr lang="zh-CN" altLang="en-US" dirty="0">
                <a:latin typeface="arial" panose="020B0604020202020204" pitchFamily="34" charset="0"/>
              </a:rPr>
              <a:t>数据集  </a:t>
            </a:r>
            <a:r>
              <a:rPr lang="en-US" altLang="zh-CN" dirty="0">
                <a:latin typeface="arial" panose="020B0604020202020204" pitchFamily="34" charset="0"/>
              </a:rPr>
              <a:t>iris dataset</a:t>
            </a:r>
            <a:endParaRPr lang="en-US" altLang="zh-CN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172" y="2382060"/>
            <a:ext cx="4677428" cy="346758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F8AF56B-8A6F-4AEB-AA40-3E5BD57B0881}"/>
              </a:ext>
            </a:extLst>
          </p:cNvPr>
          <p:cNvSpPr/>
          <p:nvPr/>
        </p:nvSpPr>
        <p:spPr>
          <a:xfrm flipV="1">
            <a:off x="4707016" y="2382060"/>
            <a:ext cx="3315319" cy="202644"/>
          </a:xfrm>
          <a:prstGeom prst="rect">
            <a:avLst/>
          </a:prstGeom>
          <a:noFill/>
          <a:ln w="444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93569" y="1574787"/>
            <a:ext cx="2231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4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个属性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  <a:p>
            <a:pPr algn="ctr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4 Features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8AF56B-8A6F-4AEB-AA40-3E5BD57B0881}"/>
              </a:ext>
            </a:extLst>
          </p:cNvPr>
          <p:cNvSpPr/>
          <p:nvPr/>
        </p:nvSpPr>
        <p:spPr>
          <a:xfrm flipV="1">
            <a:off x="8058911" y="2382060"/>
            <a:ext cx="551690" cy="202644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42810" y="1574786"/>
            <a:ext cx="2425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个标签</a:t>
            </a:r>
            <a:r>
              <a:rPr lang="en-US" altLang="zh-CN" b="1" dirty="0">
                <a:solidFill>
                  <a:srgbClr val="C00000"/>
                </a:solidFill>
              </a:rPr>
              <a:t> 1 Label </a:t>
            </a:r>
          </a:p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用来标记种类 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8AF56B-8A6F-4AEB-AA40-3E5BD57B0881}"/>
              </a:ext>
            </a:extLst>
          </p:cNvPr>
          <p:cNvSpPr/>
          <p:nvPr/>
        </p:nvSpPr>
        <p:spPr>
          <a:xfrm flipV="1">
            <a:off x="4044248" y="2382060"/>
            <a:ext cx="626191" cy="3823668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828800" y="3284854"/>
            <a:ext cx="20677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B050"/>
                </a:solidFill>
              </a:rPr>
              <a:t>序号 </a:t>
            </a:r>
            <a:r>
              <a:rPr lang="en-US" altLang="zh-CN" b="1" dirty="0">
                <a:solidFill>
                  <a:srgbClr val="00B050"/>
                </a:solidFill>
              </a:rPr>
              <a:t>Index</a:t>
            </a:r>
            <a:r>
              <a:rPr lang="zh-CN" altLang="en-US" b="1" dirty="0">
                <a:solidFill>
                  <a:srgbClr val="00B050"/>
                </a:solidFill>
              </a:rPr>
              <a:t> </a:t>
            </a:r>
            <a:r>
              <a:rPr lang="en-US" altLang="zh-CN" b="1" dirty="0">
                <a:solidFill>
                  <a:srgbClr val="00B050"/>
                </a:solidFill>
              </a:rPr>
              <a:t>0-149</a:t>
            </a:r>
            <a:r>
              <a:rPr lang="zh-CN" altLang="en-US" b="1" dirty="0">
                <a:solidFill>
                  <a:srgbClr val="00B050"/>
                </a:solidFill>
              </a:rPr>
              <a:t>，一共</a:t>
            </a:r>
            <a:r>
              <a:rPr lang="en-US" altLang="zh-CN" b="1" dirty="0">
                <a:solidFill>
                  <a:srgbClr val="00B050"/>
                </a:solidFill>
              </a:rPr>
              <a:t>150</a:t>
            </a:r>
            <a:r>
              <a:rPr lang="zh-CN" altLang="en-US" b="1" dirty="0">
                <a:solidFill>
                  <a:srgbClr val="00B050"/>
                </a:solidFill>
              </a:rPr>
              <a:t>个样本</a:t>
            </a:r>
            <a:endParaRPr lang="en-US" altLang="zh-CN" b="1" dirty="0">
              <a:solidFill>
                <a:srgbClr val="00B050"/>
              </a:solidFill>
            </a:endParaRPr>
          </a:p>
          <a:p>
            <a:pPr algn="ctr"/>
            <a:endParaRPr lang="en-US" altLang="zh-CN" b="1" dirty="0">
              <a:solidFill>
                <a:srgbClr val="00B05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174463" y="5843020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484102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机器学习训练模型的数学范式 </a:t>
            </a:r>
            <a:r>
              <a:rPr lang="en-US" altLang="zh-CN" sz="3600" dirty="0"/>
              <a:t>Mathematical Paradigm</a:t>
            </a:r>
            <a:endParaRPr lang="zh-CN" altLang="en-US" sz="36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38200" y="1776907"/>
            <a:ext cx="107360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① 用训练数据建立一个模型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751017"/>
              </p:ext>
            </p:extLst>
          </p:nvPr>
        </p:nvGraphicFramePr>
        <p:xfrm>
          <a:off x="1427163" y="2230438"/>
          <a:ext cx="1096962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53800" progId="Equation.DSMT4">
                  <p:embed/>
                </p:oleObj>
              </mc:Choice>
              <mc:Fallback>
                <p:oleObj name="Equation" r:id="rId3" imgW="609480" imgH="2538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7163" y="2230438"/>
                        <a:ext cx="1096962" cy="487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3928129"/>
            <a:ext cx="107360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② 一个模型要是对新数据有效，首先</a:t>
            </a:r>
            <a:r>
              <a:rPr lang="zh-CN" altLang="en-US" b="1" dirty="0">
                <a:solidFill>
                  <a:srgbClr val="C00000"/>
                </a:solidFill>
              </a:rPr>
              <a:t>对老数据的“拟合”过关</a:t>
            </a:r>
            <a:r>
              <a:rPr lang="zh-CN" altLang="en-US" b="1" dirty="0"/>
              <a:t>吧！</a:t>
            </a:r>
            <a:endParaRPr lang="en-US" altLang="zh-CN" b="1" dirty="0"/>
          </a:p>
          <a:p>
            <a:r>
              <a:rPr lang="en-US" altLang="zh-CN" b="1" dirty="0"/>
              <a:t>     </a:t>
            </a:r>
          </a:p>
        </p:txBody>
      </p:sp>
      <p:sp>
        <p:nvSpPr>
          <p:cNvPr id="9" name="矩形 8"/>
          <p:cNvSpPr/>
          <p:nvPr/>
        </p:nvSpPr>
        <p:spPr>
          <a:xfrm>
            <a:off x="2621280" y="2298930"/>
            <a:ext cx="30380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决策函数 </a:t>
            </a:r>
            <a:r>
              <a:rPr lang="en-US" altLang="zh-CN" b="1" dirty="0">
                <a:solidFill>
                  <a:srgbClr val="C00000"/>
                </a:solidFill>
              </a:rPr>
              <a:t>Decision Function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993028"/>
              </p:ext>
            </p:extLst>
          </p:nvPr>
        </p:nvGraphicFramePr>
        <p:xfrm>
          <a:off x="2165350" y="2895764"/>
          <a:ext cx="228600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720" imgH="139680" progId="Equation.DSMT4">
                  <p:embed/>
                </p:oleObj>
              </mc:Choice>
              <mc:Fallback>
                <p:oleObj name="Equation" r:id="rId5" imgW="126720" imgH="1396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65350" y="2895764"/>
                        <a:ext cx="228600" cy="268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2621280" y="2845242"/>
            <a:ext cx="14959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特征 </a:t>
            </a:r>
            <a:r>
              <a:rPr lang="en-US" altLang="zh-CN" b="1" dirty="0">
                <a:solidFill>
                  <a:srgbClr val="C00000"/>
                </a:solidFill>
              </a:rPr>
              <a:t>Feature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8105432"/>
              </p:ext>
            </p:extLst>
          </p:nvPr>
        </p:nvGraphicFramePr>
        <p:xfrm>
          <a:off x="2165350" y="3356568"/>
          <a:ext cx="2508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80" imgH="164880" progId="Equation.DSMT4">
                  <p:embed/>
                </p:oleObj>
              </mc:Choice>
              <mc:Fallback>
                <p:oleObj name="Equation" r:id="rId7" imgW="139680" imgH="1648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65350" y="3356568"/>
                        <a:ext cx="250825" cy="31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2621280" y="3330652"/>
            <a:ext cx="1266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标签 </a:t>
            </a:r>
            <a:r>
              <a:rPr lang="en-US" altLang="zh-CN" b="1" dirty="0">
                <a:solidFill>
                  <a:srgbClr val="C00000"/>
                </a:solidFill>
              </a:rPr>
              <a:t>Label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610600" y="1623519"/>
            <a:ext cx="2159635" cy="2304610"/>
            <a:chOff x="4449907" y="3191494"/>
            <a:chExt cx="2159635" cy="2304610"/>
          </a:xfrm>
        </p:grpSpPr>
        <p:grpSp>
          <p:nvGrpSpPr>
            <p:cNvPr id="16" name="组合 15"/>
            <p:cNvGrpSpPr/>
            <p:nvPr/>
          </p:nvGrpSpPr>
          <p:grpSpPr>
            <a:xfrm>
              <a:off x="4449907" y="3191494"/>
              <a:ext cx="2159635" cy="1905240"/>
              <a:chOff x="7411085" y="4840845"/>
              <a:chExt cx="2159635" cy="190524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7947660" y="5070873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7947660" y="5532836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7947660" y="5994799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8488680" y="4840845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8488680" y="5299473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8488680" y="57661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8488680" y="62233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9029700" y="5528073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6" name="直接箭头连接符 25"/>
              <p:cNvCxnSpPr>
                <a:endCxn id="18" idx="2"/>
              </p:cNvCxnSpPr>
              <p:nvPr/>
            </p:nvCxnSpPr>
            <p:spPr>
              <a:xfrm>
                <a:off x="7415530" y="51851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/>
              <p:cNvCxnSpPr/>
              <p:nvPr/>
            </p:nvCxnSpPr>
            <p:spPr>
              <a:xfrm>
                <a:off x="7415530" y="56423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/>
              <p:cNvCxnSpPr/>
              <p:nvPr/>
            </p:nvCxnSpPr>
            <p:spPr>
              <a:xfrm>
                <a:off x="7415530" y="6109099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/>
              <p:cNvCxnSpPr>
                <a:endCxn id="18" idx="2"/>
              </p:cNvCxnSpPr>
              <p:nvPr/>
            </p:nvCxnSpPr>
            <p:spPr>
              <a:xfrm flipV="1">
                <a:off x="7415530" y="5185173"/>
                <a:ext cx="532130" cy="9239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/>
              <p:cNvCxnSpPr>
                <a:endCxn id="19" idx="2"/>
              </p:cNvCxnSpPr>
              <p:nvPr/>
            </p:nvCxnSpPr>
            <p:spPr>
              <a:xfrm flipV="1">
                <a:off x="7411085" y="5647136"/>
                <a:ext cx="536575" cy="4460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>
                <a:endCxn id="19" idx="2"/>
              </p:cNvCxnSpPr>
              <p:nvPr/>
            </p:nvCxnSpPr>
            <p:spPr>
              <a:xfrm>
                <a:off x="7415530" y="5188348"/>
                <a:ext cx="532130" cy="4587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/>
              <p:cNvCxnSpPr>
                <a:endCxn id="20" idx="2"/>
              </p:cNvCxnSpPr>
              <p:nvPr/>
            </p:nvCxnSpPr>
            <p:spPr>
              <a:xfrm>
                <a:off x="7411085" y="5201050"/>
                <a:ext cx="536575" cy="9080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/>
              <p:cNvCxnSpPr>
                <a:endCxn id="18" idx="2"/>
              </p:cNvCxnSpPr>
              <p:nvPr/>
            </p:nvCxnSpPr>
            <p:spPr>
              <a:xfrm flipV="1">
                <a:off x="7415530" y="5185173"/>
                <a:ext cx="532130" cy="4572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>
                <a:endCxn id="20" idx="2"/>
              </p:cNvCxnSpPr>
              <p:nvPr/>
            </p:nvCxnSpPr>
            <p:spPr>
              <a:xfrm>
                <a:off x="7411085" y="5658249"/>
                <a:ext cx="536575" cy="45085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>
                <a:stCxn id="18" idx="6"/>
                <a:endCxn id="21" idx="2"/>
              </p:cNvCxnSpPr>
              <p:nvPr/>
            </p:nvCxnSpPr>
            <p:spPr>
              <a:xfrm flipV="1">
                <a:off x="8176260" y="4955145"/>
                <a:ext cx="312420" cy="23002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>
                <a:stCxn id="18" idx="6"/>
                <a:endCxn id="22" idx="2"/>
              </p:cNvCxnSpPr>
              <p:nvPr/>
            </p:nvCxnSpPr>
            <p:spPr>
              <a:xfrm>
                <a:off x="8176260" y="51851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>
                <a:stCxn id="18" idx="6"/>
                <a:endCxn id="23" idx="2"/>
              </p:cNvCxnSpPr>
              <p:nvPr/>
            </p:nvCxnSpPr>
            <p:spPr>
              <a:xfrm>
                <a:off x="8176260" y="51851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stCxn id="18" idx="6"/>
                <a:endCxn id="24" idx="2"/>
              </p:cNvCxnSpPr>
              <p:nvPr/>
            </p:nvCxnSpPr>
            <p:spPr>
              <a:xfrm>
                <a:off x="8176260" y="5185173"/>
                <a:ext cx="312420" cy="11525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>
                <a:stCxn id="19" idx="6"/>
                <a:endCxn id="21" idx="2"/>
              </p:cNvCxnSpPr>
              <p:nvPr/>
            </p:nvCxnSpPr>
            <p:spPr>
              <a:xfrm flipV="1">
                <a:off x="8176260" y="4955145"/>
                <a:ext cx="312420" cy="69199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>
                <a:stCxn id="19" idx="6"/>
                <a:endCxn id="22" idx="2"/>
              </p:cNvCxnSpPr>
              <p:nvPr/>
            </p:nvCxnSpPr>
            <p:spPr>
              <a:xfrm flipV="1">
                <a:off x="8176260" y="5413773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>
                <a:stCxn id="19" idx="6"/>
                <a:endCxn id="23" idx="2"/>
              </p:cNvCxnSpPr>
              <p:nvPr/>
            </p:nvCxnSpPr>
            <p:spPr>
              <a:xfrm>
                <a:off x="8176260" y="5647136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>
                <a:stCxn id="19" idx="6"/>
                <a:endCxn id="24" idx="2"/>
              </p:cNvCxnSpPr>
              <p:nvPr/>
            </p:nvCxnSpPr>
            <p:spPr>
              <a:xfrm>
                <a:off x="8176260" y="5647136"/>
                <a:ext cx="312420" cy="6905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stCxn id="20" idx="6"/>
                <a:endCxn id="21" idx="2"/>
              </p:cNvCxnSpPr>
              <p:nvPr/>
            </p:nvCxnSpPr>
            <p:spPr>
              <a:xfrm flipV="1">
                <a:off x="8176260" y="4955145"/>
                <a:ext cx="312420" cy="11539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>
                <a:stCxn id="20" idx="6"/>
                <a:endCxn id="22" idx="2"/>
              </p:cNvCxnSpPr>
              <p:nvPr/>
            </p:nvCxnSpPr>
            <p:spPr>
              <a:xfrm flipV="1">
                <a:off x="8176260" y="54137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20" idx="6"/>
                <a:endCxn id="23" idx="2"/>
              </p:cNvCxnSpPr>
              <p:nvPr/>
            </p:nvCxnSpPr>
            <p:spPr>
              <a:xfrm flipV="1">
                <a:off x="8176260" y="5880499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>
                <a:endCxn id="24" idx="2"/>
              </p:cNvCxnSpPr>
              <p:nvPr/>
            </p:nvCxnSpPr>
            <p:spPr>
              <a:xfrm>
                <a:off x="8176260" y="6113863"/>
                <a:ext cx="312420" cy="2238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>
                <a:stCxn id="24" idx="6"/>
                <a:endCxn id="25" idx="3"/>
              </p:cNvCxnSpPr>
              <p:nvPr/>
            </p:nvCxnSpPr>
            <p:spPr>
              <a:xfrm flipV="1">
                <a:off x="8717280" y="5723195"/>
                <a:ext cx="345898" cy="6145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/>
              <p:cNvCxnSpPr>
                <a:stCxn id="23" idx="6"/>
                <a:endCxn id="25" idx="2"/>
              </p:cNvCxnSpPr>
              <p:nvPr/>
            </p:nvCxnSpPr>
            <p:spPr>
              <a:xfrm flipV="1">
                <a:off x="8717280" y="5642373"/>
                <a:ext cx="312420" cy="2381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/>
              <p:cNvCxnSpPr>
                <a:stCxn id="22" idx="6"/>
                <a:endCxn id="25" idx="2"/>
              </p:cNvCxnSpPr>
              <p:nvPr/>
            </p:nvCxnSpPr>
            <p:spPr>
              <a:xfrm>
                <a:off x="8717280" y="54137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>
                <a:stCxn id="21" idx="6"/>
                <a:endCxn id="25" idx="1"/>
              </p:cNvCxnSpPr>
              <p:nvPr/>
            </p:nvCxnSpPr>
            <p:spPr>
              <a:xfrm>
                <a:off x="8717280" y="4955145"/>
                <a:ext cx="345898" cy="60640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>
                <a:stCxn id="25" idx="6"/>
              </p:cNvCxnSpPr>
              <p:nvPr/>
            </p:nvCxnSpPr>
            <p:spPr>
              <a:xfrm>
                <a:off x="9258300" y="5642373"/>
                <a:ext cx="3124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矩形 51"/>
              <p:cNvSpPr/>
              <p:nvPr/>
            </p:nvSpPr>
            <p:spPr>
              <a:xfrm>
                <a:off x="7981656" y="6438308"/>
                <a:ext cx="18473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zh-CN" alt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17" name="矩形 16"/>
            <p:cNvSpPr/>
            <p:nvPr/>
          </p:nvSpPr>
          <p:spPr>
            <a:xfrm>
              <a:off x="4912744" y="4849773"/>
              <a:ext cx="85953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/>
                <a:t>模型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Model</a:t>
              </a:r>
              <a:endParaRPr lang="zh-CN" altLang="en-US" dirty="0"/>
            </a:p>
          </p:txBody>
        </p:sp>
      </p:grpSp>
      <p:graphicFrame>
        <p:nvGraphicFramePr>
          <p:cNvPr id="53" name="对象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807076"/>
              </p:ext>
            </p:extLst>
          </p:nvPr>
        </p:nvGraphicFramePr>
        <p:xfrm>
          <a:off x="8225790" y="2280147"/>
          <a:ext cx="228600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720" imgH="139680" progId="Equation.DSMT4">
                  <p:embed/>
                </p:oleObj>
              </mc:Choice>
              <mc:Fallback>
                <p:oleObj name="Equation" r:id="rId5" imgW="126720" imgH="13968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25790" y="2280147"/>
                        <a:ext cx="228600" cy="268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741587"/>
              </p:ext>
            </p:extLst>
          </p:nvPr>
        </p:nvGraphicFramePr>
        <p:xfrm>
          <a:off x="10873422" y="2255541"/>
          <a:ext cx="2508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80" imgH="164880" progId="Equation.DSMT4">
                  <p:embed/>
                </p:oleObj>
              </mc:Choice>
              <mc:Fallback>
                <p:oleObj name="Equation" r:id="rId7" imgW="139680" imgH="16488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873422" y="2255541"/>
                        <a:ext cx="250825" cy="31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022287"/>
              </p:ext>
            </p:extLst>
          </p:nvPr>
        </p:nvGraphicFramePr>
        <p:xfrm>
          <a:off x="9829739" y="3339919"/>
          <a:ext cx="66198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8280" imgH="253800" progId="Equation.DSMT4">
                  <p:embed/>
                </p:oleObj>
              </mc:Choice>
              <mc:Fallback>
                <p:oleObj name="Equation" r:id="rId9" imgW="368280" imgH="2538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829739" y="3339919"/>
                        <a:ext cx="661988" cy="487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D2DE34C-7073-2B25-27BF-FD4216D069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854204"/>
              </p:ext>
            </p:extLst>
          </p:nvPr>
        </p:nvGraphicFramePr>
        <p:xfrm>
          <a:off x="6651072" y="2947805"/>
          <a:ext cx="2334977" cy="491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06360" imgH="253800" progId="Equation.DSMT4">
                  <p:embed/>
                </p:oleObj>
              </mc:Choice>
              <mc:Fallback>
                <p:oleObj name="Equation" r:id="rId11" imgW="12063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51072" y="2947805"/>
                        <a:ext cx="2334977" cy="4915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 descr="表格&#10;&#10;中度可信度描述已自动生成">
            <a:extLst>
              <a:ext uri="{FF2B5EF4-FFF2-40B4-BE49-F238E27FC236}">
                <a16:creationId xmlns:a16="http://schemas.microsoft.com/office/drawing/2014/main" id="{CAAAF1BA-4242-E07E-31B7-0AB44FC249B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839" y="3948694"/>
            <a:ext cx="2782583" cy="278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861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38200" y="1690688"/>
            <a:ext cx="107360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b="1" dirty="0"/>
              <a:t>什么叫</a:t>
            </a:r>
            <a:r>
              <a:rPr lang="zh-CN" altLang="en-US" sz="2800" b="1" dirty="0">
                <a:solidFill>
                  <a:srgbClr val="C00000"/>
                </a:solidFill>
              </a:rPr>
              <a:t>“拟合”过关</a:t>
            </a:r>
            <a:r>
              <a:rPr lang="zh-CN" altLang="en-US" sz="2800" b="1" dirty="0"/>
              <a:t>？</a:t>
            </a:r>
            <a:endParaRPr lang="en-US" altLang="zh-CN" sz="2800" b="1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0B7AC35C-8EA2-414E-A534-D342CA03559A}"/>
              </a:ext>
            </a:extLst>
          </p:cNvPr>
          <p:cNvSpPr txBox="1">
            <a:spLocks/>
          </p:cNvSpPr>
          <p:nvPr/>
        </p:nvSpPr>
        <p:spPr>
          <a:xfrm>
            <a:off x="739346" y="365125"/>
            <a:ext cx="11353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机器学习训练模型的数学范式 </a:t>
            </a:r>
            <a:r>
              <a:rPr lang="en-US" altLang="zh-CN" sz="3600" dirty="0"/>
              <a:t>Mathematical Paradigm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650663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78D9F-3607-4568-ACCD-3B4755798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 </a:t>
            </a:r>
            <a:r>
              <a:rPr lang="en-US" altLang="zh-CN" b="1" dirty="0"/>
              <a:t>Content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8F8C92-E48F-435F-8F9A-6E579860B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案例：新冠疫情预测 </a:t>
            </a:r>
            <a:r>
              <a:rPr lang="en-US" altLang="zh-CN" sz="3200" b="1" dirty="0"/>
              <a:t>Covid-19 Prediction</a:t>
            </a:r>
          </a:p>
          <a:p>
            <a:endParaRPr lang="en-US" altLang="zh-CN" sz="3200" b="1" dirty="0"/>
          </a:p>
          <a:p>
            <a:r>
              <a:rPr lang="zh-CN" altLang="en-US" sz="3200" b="1" dirty="0"/>
              <a:t>机器学习的数学范式 </a:t>
            </a:r>
            <a:r>
              <a:rPr lang="en-US" altLang="zh-CN" sz="3200" b="1" dirty="0"/>
              <a:t>Mathematical Paradigm</a:t>
            </a:r>
            <a:endParaRPr lang="zh-CN" altLang="en-US" sz="32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604854-A6B6-4801-82D0-E453A3833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349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68255" y="1373696"/>
            <a:ext cx="101315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我们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从美国疾病预防控制中心的官网下载了</a:t>
            </a:r>
            <a:r>
              <a:rPr lang="en-US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2020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三月下旬</a:t>
            </a:r>
            <a:r>
              <a:rPr lang="en-US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CDC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报告的全美每日感染人数的报告。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任务：根据</a:t>
            </a:r>
            <a:r>
              <a:rPr lang="en-US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月份数据（训练集）</a:t>
            </a:r>
            <a:r>
              <a:rPr lang="zh-CN" altLang="en-US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建立模型，</a:t>
            </a:r>
            <a:r>
              <a:rPr lang="zh-CN" altLang="zh-CN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预测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美国</a:t>
            </a:r>
            <a:r>
              <a:rPr lang="en-US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（测试集）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的新冠感染人数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变化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347144-4EBB-4BC3-B0B2-C2D9EFAA2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511" y="3583245"/>
            <a:ext cx="1336626" cy="2521526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56" y="3023329"/>
            <a:ext cx="4963714" cy="308144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917126" y="2960509"/>
            <a:ext cx="9899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日期</a:t>
            </a:r>
            <a:r>
              <a:rPr lang="en-US" altLang="zh-CN" b="1" dirty="0">
                <a:solidFill>
                  <a:srgbClr val="C00000"/>
                </a:solidFill>
              </a:rPr>
              <a:t>Date</a:t>
            </a:r>
          </a:p>
        </p:txBody>
      </p:sp>
      <p:sp>
        <p:nvSpPr>
          <p:cNvPr id="9" name="矩形 8"/>
          <p:cNvSpPr/>
          <p:nvPr/>
        </p:nvSpPr>
        <p:spPr>
          <a:xfrm>
            <a:off x="2995824" y="2960510"/>
            <a:ext cx="18473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日新增人数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>
                <a:solidFill>
                  <a:srgbClr val="C00000"/>
                </a:solidFill>
              </a:rPr>
              <a:t>Daily Infections</a:t>
            </a:r>
          </a:p>
        </p:txBody>
      </p:sp>
      <p:sp>
        <p:nvSpPr>
          <p:cNvPr id="11" name="矩形 10"/>
          <p:cNvSpPr/>
          <p:nvPr/>
        </p:nvSpPr>
        <p:spPr>
          <a:xfrm rot="16200000">
            <a:off x="4285773" y="4007797"/>
            <a:ext cx="18473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日新增人数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>
                <a:solidFill>
                  <a:srgbClr val="C00000"/>
                </a:solidFill>
              </a:rPr>
              <a:t>Daily Infections</a:t>
            </a:r>
          </a:p>
        </p:txBody>
      </p:sp>
      <p:sp>
        <p:nvSpPr>
          <p:cNvPr id="14" name="矩形 13"/>
          <p:cNvSpPr/>
          <p:nvPr/>
        </p:nvSpPr>
        <p:spPr>
          <a:xfrm>
            <a:off x="10323019" y="5254654"/>
            <a:ext cx="6767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日期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>
                <a:solidFill>
                  <a:srgbClr val="C00000"/>
                </a:solidFill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54893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68255" y="1373696"/>
            <a:ext cx="101315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我们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从美国疾病预防控制中心的官网下载了</a:t>
            </a:r>
            <a:r>
              <a:rPr lang="en-US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2020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三月下旬</a:t>
            </a:r>
            <a:r>
              <a:rPr lang="en-US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CDC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报告的全美每日感染人数的报告。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任务：根据</a:t>
            </a:r>
            <a:r>
              <a:rPr lang="en-US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月份数据（训练集）</a:t>
            </a:r>
            <a:r>
              <a:rPr lang="zh-CN" altLang="en-US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建立模型，</a:t>
            </a:r>
            <a:r>
              <a:rPr lang="zh-CN" altLang="zh-CN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预测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美国</a:t>
            </a:r>
            <a:r>
              <a:rPr lang="en-US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（测试集）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的新冠感染人数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变化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347144-4EBB-4BC3-B0B2-C2D9EFAA2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278" y="3527894"/>
            <a:ext cx="1336626" cy="2521526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286" y="2967978"/>
            <a:ext cx="4963714" cy="308144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748893" y="2905158"/>
            <a:ext cx="9899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日期</a:t>
            </a:r>
            <a:r>
              <a:rPr lang="en-US" altLang="zh-CN" b="1" dirty="0">
                <a:solidFill>
                  <a:srgbClr val="C00000"/>
                </a:solidFill>
              </a:rPr>
              <a:t>Date</a:t>
            </a:r>
          </a:p>
        </p:txBody>
      </p:sp>
      <p:sp>
        <p:nvSpPr>
          <p:cNvPr id="9" name="矩形 8"/>
          <p:cNvSpPr/>
          <p:nvPr/>
        </p:nvSpPr>
        <p:spPr>
          <a:xfrm>
            <a:off x="2827591" y="2905159"/>
            <a:ext cx="18473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日新增人数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>
                <a:solidFill>
                  <a:srgbClr val="C00000"/>
                </a:solidFill>
              </a:rPr>
              <a:t>Daily Infections</a:t>
            </a:r>
          </a:p>
        </p:txBody>
      </p:sp>
      <p:sp>
        <p:nvSpPr>
          <p:cNvPr id="11" name="矩形 10"/>
          <p:cNvSpPr/>
          <p:nvPr/>
        </p:nvSpPr>
        <p:spPr>
          <a:xfrm rot="16200000">
            <a:off x="4117540" y="3952446"/>
            <a:ext cx="18473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日新增人数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>
                <a:solidFill>
                  <a:srgbClr val="C00000"/>
                </a:solidFill>
              </a:rPr>
              <a:t>Daily Infections</a:t>
            </a:r>
          </a:p>
        </p:txBody>
      </p:sp>
      <p:sp>
        <p:nvSpPr>
          <p:cNvPr id="14" name="矩形 13"/>
          <p:cNvSpPr/>
          <p:nvPr/>
        </p:nvSpPr>
        <p:spPr>
          <a:xfrm>
            <a:off x="10178567" y="5274836"/>
            <a:ext cx="8175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日期</a:t>
            </a:r>
            <a:r>
              <a:rPr lang="en-US" altLang="zh-CN" b="1" dirty="0">
                <a:solidFill>
                  <a:srgbClr val="C00000"/>
                </a:solidFill>
              </a:rPr>
              <a:t>Date</a:t>
            </a:r>
          </a:p>
        </p:txBody>
      </p:sp>
      <p:sp>
        <p:nvSpPr>
          <p:cNvPr id="12" name="任意多边形 11"/>
          <p:cNvSpPr/>
          <p:nvPr/>
        </p:nvSpPr>
        <p:spPr>
          <a:xfrm>
            <a:off x="6357600" y="3242420"/>
            <a:ext cx="3645278" cy="2304105"/>
          </a:xfrm>
          <a:custGeom>
            <a:avLst/>
            <a:gdLst>
              <a:gd name="connsiteX0" fmla="*/ 0 w 4135581"/>
              <a:gd name="connsiteY0" fmla="*/ 2608118 h 2608118"/>
              <a:gd name="connsiteX1" fmla="*/ 259772 w 4135581"/>
              <a:gd name="connsiteY1" fmla="*/ 2587337 h 2608118"/>
              <a:gd name="connsiteX2" fmla="*/ 363681 w 4135581"/>
              <a:gd name="connsiteY2" fmla="*/ 2566555 h 2608118"/>
              <a:gd name="connsiteX3" fmla="*/ 436418 w 4135581"/>
              <a:gd name="connsiteY3" fmla="*/ 2556164 h 2608118"/>
              <a:gd name="connsiteX4" fmla="*/ 540327 w 4135581"/>
              <a:gd name="connsiteY4" fmla="*/ 2535382 h 2608118"/>
              <a:gd name="connsiteX5" fmla="*/ 592281 w 4135581"/>
              <a:gd name="connsiteY5" fmla="*/ 2514600 h 2608118"/>
              <a:gd name="connsiteX6" fmla="*/ 685800 w 4135581"/>
              <a:gd name="connsiteY6" fmla="*/ 2493818 h 2608118"/>
              <a:gd name="connsiteX7" fmla="*/ 737754 w 4135581"/>
              <a:gd name="connsiteY7" fmla="*/ 2473037 h 2608118"/>
              <a:gd name="connsiteX8" fmla="*/ 820881 w 4135581"/>
              <a:gd name="connsiteY8" fmla="*/ 2452255 h 2608118"/>
              <a:gd name="connsiteX9" fmla="*/ 914400 w 4135581"/>
              <a:gd name="connsiteY9" fmla="*/ 2410691 h 2608118"/>
              <a:gd name="connsiteX10" fmla="*/ 976745 w 4135581"/>
              <a:gd name="connsiteY10" fmla="*/ 2389909 h 2608118"/>
              <a:gd name="connsiteX11" fmla="*/ 1039090 w 4135581"/>
              <a:gd name="connsiteY11" fmla="*/ 2348346 h 2608118"/>
              <a:gd name="connsiteX12" fmla="*/ 1070263 w 4135581"/>
              <a:gd name="connsiteY12" fmla="*/ 2327564 h 2608118"/>
              <a:gd name="connsiteX13" fmla="*/ 1122218 w 4135581"/>
              <a:gd name="connsiteY13" fmla="*/ 2317173 h 2608118"/>
              <a:gd name="connsiteX14" fmla="*/ 1163781 w 4135581"/>
              <a:gd name="connsiteY14" fmla="*/ 2296391 h 2608118"/>
              <a:gd name="connsiteX15" fmla="*/ 1194954 w 4135581"/>
              <a:gd name="connsiteY15" fmla="*/ 2275609 h 2608118"/>
              <a:gd name="connsiteX16" fmla="*/ 1226127 w 4135581"/>
              <a:gd name="connsiteY16" fmla="*/ 2265218 h 2608118"/>
              <a:gd name="connsiteX17" fmla="*/ 1278081 w 4135581"/>
              <a:gd name="connsiteY17" fmla="*/ 2244437 h 2608118"/>
              <a:gd name="connsiteX18" fmla="*/ 1340427 w 4135581"/>
              <a:gd name="connsiteY18" fmla="*/ 2182091 h 2608118"/>
              <a:gd name="connsiteX19" fmla="*/ 1371600 w 4135581"/>
              <a:gd name="connsiteY19" fmla="*/ 2140527 h 2608118"/>
              <a:gd name="connsiteX20" fmla="*/ 1413163 w 4135581"/>
              <a:gd name="connsiteY20" fmla="*/ 2109355 h 2608118"/>
              <a:gd name="connsiteX21" fmla="*/ 1496290 w 4135581"/>
              <a:gd name="connsiteY21" fmla="*/ 2026227 h 2608118"/>
              <a:gd name="connsiteX22" fmla="*/ 1589809 w 4135581"/>
              <a:gd name="connsiteY22" fmla="*/ 1963882 h 2608118"/>
              <a:gd name="connsiteX23" fmla="*/ 1631372 w 4135581"/>
              <a:gd name="connsiteY23" fmla="*/ 1911927 h 2608118"/>
              <a:gd name="connsiteX24" fmla="*/ 1672936 w 4135581"/>
              <a:gd name="connsiteY24" fmla="*/ 1870364 h 2608118"/>
              <a:gd name="connsiteX25" fmla="*/ 1704109 w 4135581"/>
              <a:gd name="connsiteY25" fmla="*/ 1828800 h 2608118"/>
              <a:gd name="connsiteX26" fmla="*/ 1735281 w 4135581"/>
              <a:gd name="connsiteY26" fmla="*/ 1808018 h 2608118"/>
              <a:gd name="connsiteX27" fmla="*/ 1766454 w 4135581"/>
              <a:gd name="connsiteY27" fmla="*/ 1776846 h 2608118"/>
              <a:gd name="connsiteX28" fmla="*/ 1984663 w 4135581"/>
              <a:gd name="connsiteY28" fmla="*/ 1652155 h 2608118"/>
              <a:gd name="connsiteX29" fmla="*/ 2015836 w 4135581"/>
              <a:gd name="connsiteY29" fmla="*/ 1641764 h 2608118"/>
              <a:gd name="connsiteX30" fmla="*/ 2098963 w 4135581"/>
              <a:gd name="connsiteY30" fmla="*/ 1579418 h 2608118"/>
              <a:gd name="connsiteX31" fmla="*/ 2130136 w 4135581"/>
              <a:gd name="connsiteY31" fmla="*/ 1569027 h 2608118"/>
              <a:gd name="connsiteX32" fmla="*/ 2161309 w 4135581"/>
              <a:gd name="connsiteY32" fmla="*/ 1548246 h 2608118"/>
              <a:gd name="connsiteX33" fmla="*/ 2202872 w 4135581"/>
              <a:gd name="connsiteY33" fmla="*/ 1517073 h 2608118"/>
              <a:gd name="connsiteX34" fmla="*/ 2234045 w 4135581"/>
              <a:gd name="connsiteY34" fmla="*/ 1496291 h 2608118"/>
              <a:gd name="connsiteX35" fmla="*/ 2296390 w 4135581"/>
              <a:gd name="connsiteY35" fmla="*/ 1444337 h 2608118"/>
              <a:gd name="connsiteX36" fmla="*/ 2348345 w 4135581"/>
              <a:gd name="connsiteY36" fmla="*/ 1413164 h 2608118"/>
              <a:gd name="connsiteX37" fmla="*/ 2410690 w 4135581"/>
              <a:gd name="connsiteY37" fmla="*/ 1361209 h 2608118"/>
              <a:gd name="connsiteX38" fmla="*/ 2452254 w 4135581"/>
              <a:gd name="connsiteY38" fmla="*/ 1340427 h 2608118"/>
              <a:gd name="connsiteX39" fmla="*/ 2504209 w 4135581"/>
              <a:gd name="connsiteY39" fmla="*/ 1309255 h 2608118"/>
              <a:gd name="connsiteX40" fmla="*/ 2566554 w 4135581"/>
              <a:gd name="connsiteY40" fmla="*/ 1288473 h 2608118"/>
              <a:gd name="connsiteX41" fmla="*/ 2670463 w 4135581"/>
              <a:gd name="connsiteY41" fmla="*/ 1257300 h 2608118"/>
              <a:gd name="connsiteX42" fmla="*/ 2763981 w 4135581"/>
              <a:gd name="connsiteY42" fmla="*/ 1194955 h 2608118"/>
              <a:gd name="connsiteX43" fmla="*/ 2815936 w 4135581"/>
              <a:gd name="connsiteY43" fmla="*/ 1174173 h 2608118"/>
              <a:gd name="connsiteX44" fmla="*/ 2857500 w 4135581"/>
              <a:gd name="connsiteY44" fmla="*/ 1143000 h 2608118"/>
              <a:gd name="connsiteX45" fmla="*/ 2940627 w 4135581"/>
              <a:gd name="connsiteY45" fmla="*/ 1101437 h 2608118"/>
              <a:gd name="connsiteX46" fmla="*/ 2982190 w 4135581"/>
              <a:gd name="connsiteY46" fmla="*/ 1070264 h 2608118"/>
              <a:gd name="connsiteX47" fmla="*/ 3200400 w 4135581"/>
              <a:gd name="connsiteY47" fmla="*/ 945573 h 2608118"/>
              <a:gd name="connsiteX48" fmla="*/ 3293918 w 4135581"/>
              <a:gd name="connsiteY48" fmla="*/ 872837 h 2608118"/>
              <a:gd name="connsiteX49" fmla="*/ 3325090 w 4135581"/>
              <a:gd name="connsiteY49" fmla="*/ 862446 h 2608118"/>
              <a:gd name="connsiteX50" fmla="*/ 3439390 w 4135581"/>
              <a:gd name="connsiteY50" fmla="*/ 779318 h 2608118"/>
              <a:gd name="connsiteX51" fmla="*/ 3543300 w 4135581"/>
              <a:gd name="connsiteY51" fmla="*/ 665018 h 2608118"/>
              <a:gd name="connsiteX52" fmla="*/ 3574472 w 4135581"/>
              <a:gd name="connsiteY52" fmla="*/ 644237 h 2608118"/>
              <a:gd name="connsiteX53" fmla="*/ 3605645 w 4135581"/>
              <a:gd name="connsiteY53" fmla="*/ 602673 h 2608118"/>
              <a:gd name="connsiteX54" fmla="*/ 3688772 w 4135581"/>
              <a:gd name="connsiteY54" fmla="*/ 519546 h 2608118"/>
              <a:gd name="connsiteX55" fmla="*/ 3719945 w 4135581"/>
              <a:gd name="connsiteY55" fmla="*/ 446809 h 2608118"/>
              <a:gd name="connsiteX56" fmla="*/ 3730336 w 4135581"/>
              <a:gd name="connsiteY56" fmla="*/ 415637 h 2608118"/>
              <a:gd name="connsiteX57" fmla="*/ 3792681 w 4135581"/>
              <a:gd name="connsiteY57" fmla="*/ 290946 h 2608118"/>
              <a:gd name="connsiteX58" fmla="*/ 3813463 w 4135581"/>
              <a:gd name="connsiteY58" fmla="*/ 207818 h 2608118"/>
              <a:gd name="connsiteX59" fmla="*/ 3823854 w 4135581"/>
              <a:gd name="connsiteY59" fmla="*/ 103909 h 2608118"/>
              <a:gd name="connsiteX60" fmla="*/ 3855027 w 4135581"/>
              <a:gd name="connsiteY60" fmla="*/ 93518 h 2608118"/>
              <a:gd name="connsiteX61" fmla="*/ 3958936 w 4135581"/>
              <a:gd name="connsiteY61" fmla="*/ 83127 h 2608118"/>
              <a:gd name="connsiteX62" fmla="*/ 4052454 w 4135581"/>
              <a:gd name="connsiteY62" fmla="*/ 62346 h 2608118"/>
              <a:gd name="connsiteX63" fmla="*/ 4104409 w 4135581"/>
              <a:gd name="connsiteY63" fmla="*/ 20782 h 2608118"/>
              <a:gd name="connsiteX64" fmla="*/ 4135581 w 4135581"/>
              <a:gd name="connsiteY64" fmla="*/ 0 h 2608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4135581" h="2608118">
                <a:moveTo>
                  <a:pt x="0" y="2608118"/>
                </a:moveTo>
                <a:cubicBezTo>
                  <a:pt x="86591" y="2601191"/>
                  <a:pt x="175498" y="2608405"/>
                  <a:pt x="259772" y="2587337"/>
                </a:cubicBezTo>
                <a:cubicBezTo>
                  <a:pt x="314867" y="2573563"/>
                  <a:pt x="297441" y="2576746"/>
                  <a:pt x="363681" y="2566555"/>
                </a:cubicBezTo>
                <a:cubicBezTo>
                  <a:pt x="387888" y="2562831"/>
                  <a:pt x="412299" y="2560420"/>
                  <a:pt x="436418" y="2556164"/>
                </a:cubicBezTo>
                <a:cubicBezTo>
                  <a:pt x="471203" y="2550025"/>
                  <a:pt x="540327" y="2535382"/>
                  <a:pt x="540327" y="2535382"/>
                </a:cubicBezTo>
                <a:cubicBezTo>
                  <a:pt x="557645" y="2528455"/>
                  <a:pt x="574586" y="2520498"/>
                  <a:pt x="592281" y="2514600"/>
                </a:cubicBezTo>
                <a:cubicBezTo>
                  <a:pt x="664217" y="2490621"/>
                  <a:pt x="603470" y="2518517"/>
                  <a:pt x="685800" y="2493818"/>
                </a:cubicBezTo>
                <a:cubicBezTo>
                  <a:pt x="703665" y="2488459"/>
                  <a:pt x="719889" y="2478396"/>
                  <a:pt x="737754" y="2473037"/>
                </a:cubicBezTo>
                <a:cubicBezTo>
                  <a:pt x="791966" y="2456774"/>
                  <a:pt x="778215" y="2470541"/>
                  <a:pt x="820881" y="2452255"/>
                </a:cubicBezTo>
                <a:cubicBezTo>
                  <a:pt x="912346" y="2413055"/>
                  <a:pt x="808064" y="2449359"/>
                  <a:pt x="914400" y="2410691"/>
                </a:cubicBezTo>
                <a:cubicBezTo>
                  <a:pt x="934987" y="2403205"/>
                  <a:pt x="958518" y="2402060"/>
                  <a:pt x="976745" y="2389909"/>
                </a:cubicBezTo>
                <a:lnTo>
                  <a:pt x="1039090" y="2348346"/>
                </a:lnTo>
                <a:cubicBezTo>
                  <a:pt x="1049481" y="2341419"/>
                  <a:pt x="1058017" y="2330013"/>
                  <a:pt x="1070263" y="2327564"/>
                </a:cubicBezTo>
                <a:lnTo>
                  <a:pt x="1122218" y="2317173"/>
                </a:lnTo>
                <a:cubicBezTo>
                  <a:pt x="1136072" y="2310246"/>
                  <a:pt x="1150332" y="2304076"/>
                  <a:pt x="1163781" y="2296391"/>
                </a:cubicBezTo>
                <a:cubicBezTo>
                  <a:pt x="1174624" y="2290195"/>
                  <a:pt x="1183784" y="2281194"/>
                  <a:pt x="1194954" y="2275609"/>
                </a:cubicBezTo>
                <a:cubicBezTo>
                  <a:pt x="1204751" y="2270711"/>
                  <a:pt x="1215871" y="2269064"/>
                  <a:pt x="1226127" y="2265218"/>
                </a:cubicBezTo>
                <a:cubicBezTo>
                  <a:pt x="1243591" y="2258669"/>
                  <a:pt x="1260763" y="2251364"/>
                  <a:pt x="1278081" y="2244437"/>
                </a:cubicBezTo>
                <a:cubicBezTo>
                  <a:pt x="1298863" y="2223655"/>
                  <a:pt x="1322793" y="2205603"/>
                  <a:pt x="1340427" y="2182091"/>
                </a:cubicBezTo>
                <a:cubicBezTo>
                  <a:pt x="1350818" y="2168236"/>
                  <a:pt x="1359354" y="2152773"/>
                  <a:pt x="1371600" y="2140527"/>
                </a:cubicBezTo>
                <a:cubicBezTo>
                  <a:pt x="1383846" y="2128281"/>
                  <a:pt x="1400397" y="2121057"/>
                  <a:pt x="1413163" y="2109355"/>
                </a:cubicBezTo>
                <a:cubicBezTo>
                  <a:pt x="1442050" y="2082875"/>
                  <a:pt x="1461240" y="2043751"/>
                  <a:pt x="1496290" y="2026227"/>
                </a:cubicBezTo>
                <a:cubicBezTo>
                  <a:pt x="1539798" y="2004474"/>
                  <a:pt x="1551378" y="2002313"/>
                  <a:pt x="1589809" y="1963882"/>
                </a:cubicBezTo>
                <a:cubicBezTo>
                  <a:pt x="1605491" y="1948200"/>
                  <a:pt x="1616638" y="1928503"/>
                  <a:pt x="1631372" y="1911927"/>
                </a:cubicBezTo>
                <a:cubicBezTo>
                  <a:pt x="1644389" y="1897283"/>
                  <a:pt x="1660034" y="1885109"/>
                  <a:pt x="1672936" y="1870364"/>
                </a:cubicBezTo>
                <a:cubicBezTo>
                  <a:pt x="1684340" y="1857331"/>
                  <a:pt x="1691863" y="1841046"/>
                  <a:pt x="1704109" y="1828800"/>
                </a:cubicBezTo>
                <a:cubicBezTo>
                  <a:pt x="1712939" y="1819969"/>
                  <a:pt x="1725687" y="1816013"/>
                  <a:pt x="1735281" y="1808018"/>
                </a:cubicBezTo>
                <a:cubicBezTo>
                  <a:pt x="1746570" y="1798611"/>
                  <a:pt x="1754345" y="1785171"/>
                  <a:pt x="1766454" y="1776846"/>
                </a:cubicBezTo>
                <a:cubicBezTo>
                  <a:pt x="1790309" y="1760446"/>
                  <a:pt x="1934881" y="1668749"/>
                  <a:pt x="1984663" y="1652155"/>
                </a:cubicBezTo>
                <a:cubicBezTo>
                  <a:pt x="1995054" y="1648691"/>
                  <a:pt x="2006039" y="1646662"/>
                  <a:pt x="2015836" y="1641764"/>
                </a:cubicBezTo>
                <a:cubicBezTo>
                  <a:pt x="2047942" y="1625711"/>
                  <a:pt x="2068371" y="1598538"/>
                  <a:pt x="2098963" y="1579418"/>
                </a:cubicBezTo>
                <a:cubicBezTo>
                  <a:pt x="2108251" y="1573613"/>
                  <a:pt x="2120339" y="1573925"/>
                  <a:pt x="2130136" y="1569027"/>
                </a:cubicBezTo>
                <a:cubicBezTo>
                  <a:pt x="2141306" y="1563442"/>
                  <a:pt x="2151147" y="1555505"/>
                  <a:pt x="2161309" y="1548246"/>
                </a:cubicBezTo>
                <a:cubicBezTo>
                  <a:pt x="2175401" y="1538180"/>
                  <a:pt x="2188780" y="1527139"/>
                  <a:pt x="2202872" y="1517073"/>
                </a:cubicBezTo>
                <a:cubicBezTo>
                  <a:pt x="2213034" y="1509814"/>
                  <a:pt x="2224187" y="1503958"/>
                  <a:pt x="2234045" y="1496291"/>
                </a:cubicBezTo>
                <a:cubicBezTo>
                  <a:pt x="2255398" y="1479683"/>
                  <a:pt x="2274512" y="1460248"/>
                  <a:pt x="2296390" y="1444337"/>
                </a:cubicBezTo>
                <a:cubicBezTo>
                  <a:pt x="2312724" y="1432458"/>
                  <a:pt x="2332188" y="1425282"/>
                  <a:pt x="2348345" y="1413164"/>
                </a:cubicBezTo>
                <a:cubicBezTo>
                  <a:pt x="2417114" y="1361587"/>
                  <a:pt x="2342845" y="1399978"/>
                  <a:pt x="2410690" y="1361209"/>
                </a:cubicBezTo>
                <a:cubicBezTo>
                  <a:pt x="2424139" y="1353524"/>
                  <a:pt x="2438713" y="1347949"/>
                  <a:pt x="2452254" y="1340427"/>
                </a:cubicBezTo>
                <a:cubicBezTo>
                  <a:pt x="2469909" y="1330619"/>
                  <a:pt x="2485823" y="1317612"/>
                  <a:pt x="2504209" y="1309255"/>
                </a:cubicBezTo>
                <a:cubicBezTo>
                  <a:pt x="2524151" y="1300190"/>
                  <a:pt x="2546215" y="1296609"/>
                  <a:pt x="2566554" y="1288473"/>
                </a:cubicBezTo>
                <a:cubicBezTo>
                  <a:pt x="2634907" y="1261132"/>
                  <a:pt x="2600219" y="1271349"/>
                  <a:pt x="2670463" y="1257300"/>
                </a:cubicBezTo>
                <a:cubicBezTo>
                  <a:pt x="2821337" y="1181863"/>
                  <a:pt x="2571827" y="1310247"/>
                  <a:pt x="2763981" y="1194955"/>
                </a:cubicBezTo>
                <a:cubicBezTo>
                  <a:pt x="2779975" y="1185358"/>
                  <a:pt x="2799631" y="1183231"/>
                  <a:pt x="2815936" y="1174173"/>
                </a:cubicBezTo>
                <a:cubicBezTo>
                  <a:pt x="2831075" y="1165762"/>
                  <a:pt x="2842541" y="1151726"/>
                  <a:pt x="2857500" y="1143000"/>
                </a:cubicBezTo>
                <a:cubicBezTo>
                  <a:pt x="2884260" y="1127390"/>
                  <a:pt x="2913868" y="1117047"/>
                  <a:pt x="2940627" y="1101437"/>
                </a:cubicBezTo>
                <a:cubicBezTo>
                  <a:pt x="2955586" y="1092711"/>
                  <a:pt x="2967548" y="1079512"/>
                  <a:pt x="2982190" y="1070264"/>
                </a:cubicBezTo>
                <a:cubicBezTo>
                  <a:pt x="3115784" y="985889"/>
                  <a:pt x="3100042" y="995752"/>
                  <a:pt x="3200400" y="945573"/>
                </a:cubicBezTo>
                <a:cubicBezTo>
                  <a:pt x="3238266" y="907705"/>
                  <a:pt x="3237985" y="903911"/>
                  <a:pt x="3293918" y="872837"/>
                </a:cubicBezTo>
                <a:cubicBezTo>
                  <a:pt x="3303492" y="867518"/>
                  <a:pt x="3314699" y="865910"/>
                  <a:pt x="3325090" y="862446"/>
                </a:cubicBezTo>
                <a:cubicBezTo>
                  <a:pt x="3363190" y="834737"/>
                  <a:pt x="3411123" y="817006"/>
                  <a:pt x="3439390" y="779318"/>
                </a:cubicBezTo>
                <a:cubicBezTo>
                  <a:pt x="3469674" y="738940"/>
                  <a:pt x="3500811" y="693343"/>
                  <a:pt x="3543300" y="665018"/>
                </a:cubicBezTo>
                <a:lnTo>
                  <a:pt x="3574472" y="644237"/>
                </a:lnTo>
                <a:cubicBezTo>
                  <a:pt x="3584863" y="630382"/>
                  <a:pt x="3593399" y="614919"/>
                  <a:pt x="3605645" y="602673"/>
                </a:cubicBezTo>
                <a:cubicBezTo>
                  <a:pt x="3710409" y="497909"/>
                  <a:pt x="3613617" y="619753"/>
                  <a:pt x="3688772" y="519546"/>
                </a:cubicBezTo>
                <a:cubicBezTo>
                  <a:pt x="3713139" y="446444"/>
                  <a:pt x="3681426" y="536685"/>
                  <a:pt x="3719945" y="446809"/>
                </a:cubicBezTo>
                <a:cubicBezTo>
                  <a:pt x="3724260" y="436742"/>
                  <a:pt x="3726123" y="425747"/>
                  <a:pt x="3730336" y="415637"/>
                </a:cubicBezTo>
                <a:cubicBezTo>
                  <a:pt x="3769200" y="322365"/>
                  <a:pt x="3755823" y="346234"/>
                  <a:pt x="3792681" y="290946"/>
                </a:cubicBezTo>
                <a:cubicBezTo>
                  <a:pt x="3799608" y="263237"/>
                  <a:pt x="3810621" y="236238"/>
                  <a:pt x="3813463" y="207818"/>
                </a:cubicBezTo>
                <a:cubicBezTo>
                  <a:pt x="3816927" y="173182"/>
                  <a:pt x="3811958" y="136622"/>
                  <a:pt x="3823854" y="103909"/>
                </a:cubicBezTo>
                <a:cubicBezTo>
                  <a:pt x="3827597" y="93615"/>
                  <a:pt x="3844201" y="95184"/>
                  <a:pt x="3855027" y="93518"/>
                </a:cubicBezTo>
                <a:cubicBezTo>
                  <a:pt x="3889431" y="88225"/>
                  <a:pt x="3924432" y="87727"/>
                  <a:pt x="3958936" y="83127"/>
                </a:cubicBezTo>
                <a:cubicBezTo>
                  <a:pt x="3987211" y="79357"/>
                  <a:pt x="4024228" y="69403"/>
                  <a:pt x="4052454" y="62346"/>
                </a:cubicBezTo>
                <a:cubicBezTo>
                  <a:pt x="4087487" y="9796"/>
                  <a:pt x="4054218" y="45878"/>
                  <a:pt x="4104409" y="20782"/>
                </a:cubicBezTo>
                <a:cubicBezTo>
                  <a:pt x="4115579" y="15197"/>
                  <a:pt x="4135581" y="0"/>
                  <a:pt x="4135581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139287"/>
              </p:ext>
            </p:extLst>
          </p:nvPr>
        </p:nvGraphicFramePr>
        <p:xfrm>
          <a:off x="7616880" y="3812473"/>
          <a:ext cx="974185" cy="433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480" imgH="253800" progId="Equation.DSMT4">
                  <p:embed/>
                </p:oleObj>
              </mc:Choice>
              <mc:Fallback>
                <p:oleObj name="Equation" r:id="rId4" imgW="609480" imgH="2538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16880" y="3812473"/>
                        <a:ext cx="974185" cy="433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357599" y="3059541"/>
            <a:ext cx="3352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随便画一条：</a:t>
            </a:r>
            <a:r>
              <a:rPr lang="en-US" altLang="zh-CN" b="1" dirty="0"/>
              <a:t>Draw Randomly </a:t>
            </a:r>
            <a:endParaRPr lang="zh-CN" altLang="en-US" b="1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95209"/>
              </p:ext>
            </p:extLst>
          </p:nvPr>
        </p:nvGraphicFramePr>
        <p:xfrm>
          <a:off x="10807891" y="5471983"/>
          <a:ext cx="31157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39680" progId="Equation.DSMT4">
                  <p:embed/>
                </p:oleObj>
              </mc:Choice>
              <mc:Fallback>
                <p:oleObj name="Equation" r:id="rId6" imgW="126720" imgH="13968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807891" y="5471983"/>
                        <a:ext cx="311573" cy="36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006855"/>
              </p:ext>
            </p:extLst>
          </p:nvPr>
        </p:nvGraphicFramePr>
        <p:xfrm>
          <a:off x="5300194" y="2967978"/>
          <a:ext cx="367982" cy="461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" imgH="164880" progId="Equation.DSMT4">
                  <p:embed/>
                </p:oleObj>
              </mc:Choice>
              <mc:Fallback>
                <p:oleObj name="Equation" r:id="rId8" imgW="139680" imgH="16488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00194" y="2967978"/>
                        <a:ext cx="367982" cy="4619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6275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14</a:t>
            </a:fld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979263" y="2482798"/>
            <a:ext cx="6118531" cy="3081442"/>
            <a:chOff x="5224692" y="3492885"/>
            <a:chExt cx="6118531" cy="3081442"/>
          </a:xfrm>
        </p:grpSpPr>
        <p:pic>
          <p:nvPicPr>
            <p:cNvPr id="7" name="图片 6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9913" y="3492885"/>
              <a:ext cx="4963714" cy="3081442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/>
          </p:nvGrpSpPr>
          <p:grpSpPr>
            <a:xfrm>
              <a:off x="5224692" y="3492885"/>
              <a:ext cx="6118531" cy="2921660"/>
              <a:chOff x="5224692" y="3492885"/>
              <a:chExt cx="6118531" cy="2921660"/>
            </a:xfrm>
          </p:grpSpPr>
          <p:sp>
            <p:nvSpPr>
              <p:cNvPr id="11" name="矩形 10"/>
              <p:cNvSpPr/>
              <p:nvPr/>
            </p:nvSpPr>
            <p:spPr>
              <a:xfrm rot="16200000">
                <a:off x="4624167" y="4477353"/>
                <a:ext cx="184738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C00000"/>
                    </a:solidFill>
                  </a:rPr>
                  <a:t>日新增人数</a:t>
                </a:r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r>
                  <a:rPr lang="en-US" altLang="zh-CN" b="1" dirty="0">
                    <a:solidFill>
                      <a:srgbClr val="C00000"/>
                    </a:solidFill>
                  </a:rPr>
                  <a:t>Daily Infections</a:t>
                </a: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0416543" y="5768214"/>
                <a:ext cx="81751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C00000"/>
                    </a:solidFill>
                  </a:rPr>
                  <a:t>日期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Date</a:t>
                </a:r>
              </a:p>
            </p:txBody>
          </p:sp>
          <p:sp>
            <p:nvSpPr>
              <p:cNvPr id="12" name="任意多边形 11"/>
              <p:cNvSpPr/>
              <p:nvPr/>
            </p:nvSpPr>
            <p:spPr>
              <a:xfrm>
                <a:off x="6864227" y="3767327"/>
                <a:ext cx="3645278" cy="2304105"/>
              </a:xfrm>
              <a:custGeom>
                <a:avLst/>
                <a:gdLst>
                  <a:gd name="connsiteX0" fmla="*/ 0 w 4135581"/>
                  <a:gd name="connsiteY0" fmla="*/ 2608118 h 2608118"/>
                  <a:gd name="connsiteX1" fmla="*/ 259772 w 4135581"/>
                  <a:gd name="connsiteY1" fmla="*/ 2587337 h 2608118"/>
                  <a:gd name="connsiteX2" fmla="*/ 363681 w 4135581"/>
                  <a:gd name="connsiteY2" fmla="*/ 2566555 h 2608118"/>
                  <a:gd name="connsiteX3" fmla="*/ 436418 w 4135581"/>
                  <a:gd name="connsiteY3" fmla="*/ 2556164 h 2608118"/>
                  <a:gd name="connsiteX4" fmla="*/ 540327 w 4135581"/>
                  <a:gd name="connsiteY4" fmla="*/ 2535382 h 2608118"/>
                  <a:gd name="connsiteX5" fmla="*/ 592281 w 4135581"/>
                  <a:gd name="connsiteY5" fmla="*/ 2514600 h 2608118"/>
                  <a:gd name="connsiteX6" fmla="*/ 685800 w 4135581"/>
                  <a:gd name="connsiteY6" fmla="*/ 2493818 h 2608118"/>
                  <a:gd name="connsiteX7" fmla="*/ 737754 w 4135581"/>
                  <a:gd name="connsiteY7" fmla="*/ 2473037 h 2608118"/>
                  <a:gd name="connsiteX8" fmla="*/ 820881 w 4135581"/>
                  <a:gd name="connsiteY8" fmla="*/ 2452255 h 2608118"/>
                  <a:gd name="connsiteX9" fmla="*/ 914400 w 4135581"/>
                  <a:gd name="connsiteY9" fmla="*/ 2410691 h 2608118"/>
                  <a:gd name="connsiteX10" fmla="*/ 976745 w 4135581"/>
                  <a:gd name="connsiteY10" fmla="*/ 2389909 h 2608118"/>
                  <a:gd name="connsiteX11" fmla="*/ 1039090 w 4135581"/>
                  <a:gd name="connsiteY11" fmla="*/ 2348346 h 2608118"/>
                  <a:gd name="connsiteX12" fmla="*/ 1070263 w 4135581"/>
                  <a:gd name="connsiteY12" fmla="*/ 2327564 h 2608118"/>
                  <a:gd name="connsiteX13" fmla="*/ 1122218 w 4135581"/>
                  <a:gd name="connsiteY13" fmla="*/ 2317173 h 2608118"/>
                  <a:gd name="connsiteX14" fmla="*/ 1163781 w 4135581"/>
                  <a:gd name="connsiteY14" fmla="*/ 2296391 h 2608118"/>
                  <a:gd name="connsiteX15" fmla="*/ 1194954 w 4135581"/>
                  <a:gd name="connsiteY15" fmla="*/ 2275609 h 2608118"/>
                  <a:gd name="connsiteX16" fmla="*/ 1226127 w 4135581"/>
                  <a:gd name="connsiteY16" fmla="*/ 2265218 h 2608118"/>
                  <a:gd name="connsiteX17" fmla="*/ 1278081 w 4135581"/>
                  <a:gd name="connsiteY17" fmla="*/ 2244437 h 2608118"/>
                  <a:gd name="connsiteX18" fmla="*/ 1340427 w 4135581"/>
                  <a:gd name="connsiteY18" fmla="*/ 2182091 h 2608118"/>
                  <a:gd name="connsiteX19" fmla="*/ 1371600 w 4135581"/>
                  <a:gd name="connsiteY19" fmla="*/ 2140527 h 2608118"/>
                  <a:gd name="connsiteX20" fmla="*/ 1413163 w 4135581"/>
                  <a:gd name="connsiteY20" fmla="*/ 2109355 h 2608118"/>
                  <a:gd name="connsiteX21" fmla="*/ 1496290 w 4135581"/>
                  <a:gd name="connsiteY21" fmla="*/ 2026227 h 2608118"/>
                  <a:gd name="connsiteX22" fmla="*/ 1589809 w 4135581"/>
                  <a:gd name="connsiteY22" fmla="*/ 1963882 h 2608118"/>
                  <a:gd name="connsiteX23" fmla="*/ 1631372 w 4135581"/>
                  <a:gd name="connsiteY23" fmla="*/ 1911927 h 2608118"/>
                  <a:gd name="connsiteX24" fmla="*/ 1672936 w 4135581"/>
                  <a:gd name="connsiteY24" fmla="*/ 1870364 h 2608118"/>
                  <a:gd name="connsiteX25" fmla="*/ 1704109 w 4135581"/>
                  <a:gd name="connsiteY25" fmla="*/ 1828800 h 2608118"/>
                  <a:gd name="connsiteX26" fmla="*/ 1735281 w 4135581"/>
                  <a:gd name="connsiteY26" fmla="*/ 1808018 h 2608118"/>
                  <a:gd name="connsiteX27" fmla="*/ 1766454 w 4135581"/>
                  <a:gd name="connsiteY27" fmla="*/ 1776846 h 2608118"/>
                  <a:gd name="connsiteX28" fmla="*/ 1984663 w 4135581"/>
                  <a:gd name="connsiteY28" fmla="*/ 1652155 h 2608118"/>
                  <a:gd name="connsiteX29" fmla="*/ 2015836 w 4135581"/>
                  <a:gd name="connsiteY29" fmla="*/ 1641764 h 2608118"/>
                  <a:gd name="connsiteX30" fmla="*/ 2098963 w 4135581"/>
                  <a:gd name="connsiteY30" fmla="*/ 1579418 h 2608118"/>
                  <a:gd name="connsiteX31" fmla="*/ 2130136 w 4135581"/>
                  <a:gd name="connsiteY31" fmla="*/ 1569027 h 2608118"/>
                  <a:gd name="connsiteX32" fmla="*/ 2161309 w 4135581"/>
                  <a:gd name="connsiteY32" fmla="*/ 1548246 h 2608118"/>
                  <a:gd name="connsiteX33" fmla="*/ 2202872 w 4135581"/>
                  <a:gd name="connsiteY33" fmla="*/ 1517073 h 2608118"/>
                  <a:gd name="connsiteX34" fmla="*/ 2234045 w 4135581"/>
                  <a:gd name="connsiteY34" fmla="*/ 1496291 h 2608118"/>
                  <a:gd name="connsiteX35" fmla="*/ 2296390 w 4135581"/>
                  <a:gd name="connsiteY35" fmla="*/ 1444337 h 2608118"/>
                  <a:gd name="connsiteX36" fmla="*/ 2348345 w 4135581"/>
                  <a:gd name="connsiteY36" fmla="*/ 1413164 h 2608118"/>
                  <a:gd name="connsiteX37" fmla="*/ 2410690 w 4135581"/>
                  <a:gd name="connsiteY37" fmla="*/ 1361209 h 2608118"/>
                  <a:gd name="connsiteX38" fmla="*/ 2452254 w 4135581"/>
                  <a:gd name="connsiteY38" fmla="*/ 1340427 h 2608118"/>
                  <a:gd name="connsiteX39" fmla="*/ 2504209 w 4135581"/>
                  <a:gd name="connsiteY39" fmla="*/ 1309255 h 2608118"/>
                  <a:gd name="connsiteX40" fmla="*/ 2566554 w 4135581"/>
                  <a:gd name="connsiteY40" fmla="*/ 1288473 h 2608118"/>
                  <a:gd name="connsiteX41" fmla="*/ 2670463 w 4135581"/>
                  <a:gd name="connsiteY41" fmla="*/ 1257300 h 2608118"/>
                  <a:gd name="connsiteX42" fmla="*/ 2763981 w 4135581"/>
                  <a:gd name="connsiteY42" fmla="*/ 1194955 h 2608118"/>
                  <a:gd name="connsiteX43" fmla="*/ 2815936 w 4135581"/>
                  <a:gd name="connsiteY43" fmla="*/ 1174173 h 2608118"/>
                  <a:gd name="connsiteX44" fmla="*/ 2857500 w 4135581"/>
                  <a:gd name="connsiteY44" fmla="*/ 1143000 h 2608118"/>
                  <a:gd name="connsiteX45" fmla="*/ 2940627 w 4135581"/>
                  <a:gd name="connsiteY45" fmla="*/ 1101437 h 2608118"/>
                  <a:gd name="connsiteX46" fmla="*/ 2982190 w 4135581"/>
                  <a:gd name="connsiteY46" fmla="*/ 1070264 h 2608118"/>
                  <a:gd name="connsiteX47" fmla="*/ 3200400 w 4135581"/>
                  <a:gd name="connsiteY47" fmla="*/ 945573 h 2608118"/>
                  <a:gd name="connsiteX48" fmla="*/ 3293918 w 4135581"/>
                  <a:gd name="connsiteY48" fmla="*/ 872837 h 2608118"/>
                  <a:gd name="connsiteX49" fmla="*/ 3325090 w 4135581"/>
                  <a:gd name="connsiteY49" fmla="*/ 862446 h 2608118"/>
                  <a:gd name="connsiteX50" fmla="*/ 3439390 w 4135581"/>
                  <a:gd name="connsiteY50" fmla="*/ 779318 h 2608118"/>
                  <a:gd name="connsiteX51" fmla="*/ 3543300 w 4135581"/>
                  <a:gd name="connsiteY51" fmla="*/ 665018 h 2608118"/>
                  <a:gd name="connsiteX52" fmla="*/ 3574472 w 4135581"/>
                  <a:gd name="connsiteY52" fmla="*/ 644237 h 2608118"/>
                  <a:gd name="connsiteX53" fmla="*/ 3605645 w 4135581"/>
                  <a:gd name="connsiteY53" fmla="*/ 602673 h 2608118"/>
                  <a:gd name="connsiteX54" fmla="*/ 3688772 w 4135581"/>
                  <a:gd name="connsiteY54" fmla="*/ 519546 h 2608118"/>
                  <a:gd name="connsiteX55" fmla="*/ 3719945 w 4135581"/>
                  <a:gd name="connsiteY55" fmla="*/ 446809 h 2608118"/>
                  <a:gd name="connsiteX56" fmla="*/ 3730336 w 4135581"/>
                  <a:gd name="connsiteY56" fmla="*/ 415637 h 2608118"/>
                  <a:gd name="connsiteX57" fmla="*/ 3792681 w 4135581"/>
                  <a:gd name="connsiteY57" fmla="*/ 290946 h 2608118"/>
                  <a:gd name="connsiteX58" fmla="*/ 3813463 w 4135581"/>
                  <a:gd name="connsiteY58" fmla="*/ 207818 h 2608118"/>
                  <a:gd name="connsiteX59" fmla="*/ 3823854 w 4135581"/>
                  <a:gd name="connsiteY59" fmla="*/ 103909 h 2608118"/>
                  <a:gd name="connsiteX60" fmla="*/ 3855027 w 4135581"/>
                  <a:gd name="connsiteY60" fmla="*/ 93518 h 2608118"/>
                  <a:gd name="connsiteX61" fmla="*/ 3958936 w 4135581"/>
                  <a:gd name="connsiteY61" fmla="*/ 83127 h 2608118"/>
                  <a:gd name="connsiteX62" fmla="*/ 4052454 w 4135581"/>
                  <a:gd name="connsiteY62" fmla="*/ 62346 h 2608118"/>
                  <a:gd name="connsiteX63" fmla="*/ 4104409 w 4135581"/>
                  <a:gd name="connsiteY63" fmla="*/ 20782 h 2608118"/>
                  <a:gd name="connsiteX64" fmla="*/ 4135581 w 4135581"/>
                  <a:gd name="connsiteY64" fmla="*/ 0 h 2608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4135581" h="2608118">
                    <a:moveTo>
                      <a:pt x="0" y="2608118"/>
                    </a:moveTo>
                    <a:cubicBezTo>
                      <a:pt x="86591" y="2601191"/>
                      <a:pt x="175498" y="2608405"/>
                      <a:pt x="259772" y="2587337"/>
                    </a:cubicBezTo>
                    <a:cubicBezTo>
                      <a:pt x="314867" y="2573563"/>
                      <a:pt x="297441" y="2576746"/>
                      <a:pt x="363681" y="2566555"/>
                    </a:cubicBezTo>
                    <a:cubicBezTo>
                      <a:pt x="387888" y="2562831"/>
                      <a:pt x="412299" y="2560420"/>
                      <a:pt x="436418" y="2556164"/>
                    </a:cubicBezTo>
                    <a:cubicBezTo>
                      <a:pt x="471203" y="2550025"/>
                      <a:pt x="540327" y="2535382"/>
                      <a:pt x="540327" y="2535382"/>
                    </a:cubicBezTo>
                    <a:cubicBezTo>
                      <a:pt x="557645" y="2528455"/>
                      <a:pt x="574586" y="2520498"/>
                      <a:pt x="592281" y="2514600"/>
                    </a:cubicBezTo>
                    <a:cubicBezTo>
                      <a:pt x="664217" y="2490621"/>
                      <a:pt x="603470" y="2518517"/>
                      <a:pt x="685800" y="2493818"/>
                    </a:cubicBezTo>
                    <a:cubicBezTo>
                      <a:pt x="703665" y="2488459"/>
                      <a:pt x="719889" y="2478396"/>
                      <a:pt x="737754" y="2473037"/>
                    </a:cubicBezTo>
                    <a:cubicBezTo>
                      <a:pt x="791966" y="2456774"/>
                      <a:pt x="778215" y="2470541"/>
                      <a:pt x="820881" y="2452255"/>
                    </a:cubicBezTo>
                    <a:cubicBezTo>
                      <a:pt x="912346" y="2413055"/>
                      <a:pt x="808064" y="2449359"/>
                      <a:pt x="914400" y="2410691"/>
                    </a:cubicBezTo>
                    <a:cubicBezTo>
                      <a:pt x="934987" y="2403205"/>
                      <a:pt x="958518" y="2402060"/>
                      <a:pt x="976745" y="2389909"/>
                    </a:cubicBezTo>
                    <a:lnTo>
                      <a:pt x="1039090" y="2348346"/>
                    </a:lnTo>
                    <a:cubicBezTo>
                      <a:pt x="1049481" y="2341419"/>
                      <a:pt x="1058017" y="2330013"/>
                      <a:pt x="1070263" y="2327564"/>
                    </a:cubicBezTo>
                    <a:lnTo>
                      <a:pt x="1122218" y="2317173"/>
                    </a:lnTo>
                    <a:cubicBezTo>
                      <a:pt x="1136072" y="2310246"/>
                      <a:pt x="1150332" y="2304076"/>
                      <a:pt x="1163781" y="2296391"/>
                    </a:cubicBezTo>
                    <a:cubicBezTo>
                      <a:pt x="1174624" y="2290195"/>
                      <a:pt x="1183784" y="2281194"/>
                      <a:pt x="1194954" y="2275609"/>
                    </a:cubicBezTo>
                    <a:cubicBezTo>
                      <a:pt x="1204751" y="2270711"/>
                      <a:pt x="1215871" y="2269064"/>
                      <a:pt x="1226127" y="2265218"/>
                    </a:cubicBezTo>
                    <a:cubicBezTo>
                      <a:pt x="1243591" y="2258669"/>
                      <a:pt x="1260763" y="2251364"/>
                      <a:pt x="1278081" y="2244437"/>
                    </a:cubicBezTo>
                    <a:cubicBezTo>
                      <a:pt x="1298863" y="2223655"/>
                      <a:pt x="1322793" y="2205603"/>
                      <a:pt x="1340427" y="2182091"/>
                    </a:cubicBezTo>
                    <a:cubicBezTo>
                      <a:pt x="1350818" y="2168236"/>
                      <a:pt x="1359354" y="2152773"/>
                      <a:pt x="1371600" y="2140527"/>
                    </a:cubicBezTo>
                    <a:cubicBezTo>
                      <a:pt x="1383846" y="2128281"/>
                      <a:pt x="1400397" y="2121057"/>
                      <a:pt x="1413163" y="2109355"/>
                    </a:cubicBezTo>
                    <a:cubicBezTo>
                      <a:pt x="1442050" y="2082875"/>
                      <a:pt x="1461240" y="2043751"/>
                      <a:pt x="1496290" y="2026227"/>
                    </a:cubicBezTo>
                    <a:cubicBezTo>
                      <a:pt x="1539798" y="2004474"/>
                      <a:pt x="1551378" y="2002313"/>
                      <a:pt x="1589809" y="1963882"/>
                    </a:cubicBezTo>
                    <a:cubicBezTo>
                      <a:pt x="1605491" y="1948200"/>
                      <a:pt x="1616638" y="1928503"/>
                      <a:pt x="1631372" y="1911927"/>
                    </a:cubicBezTo>
                    <a:cubicBezTo>
                      <a:pt x="1644389" y="1897283"/>
                      <a:pt x="1660034" y="1885109"/>
                      <a:pt x="1672936" y="1870364"/>
                    </a:cubicBezTo>
                    <a:cubicBezTo>
                      <a:pt x="1684340" y="1857331"/>
                      <a:pt x="1691863" y="1841046"/>
                      <a:pt x="1704109" y="1828800"/>
                    </a:cubicBezTo>
                    <a:cubicBezTo>
                      <a:pt x="1712939" y="1819969"/>
                      <a:pt x="1725687" y="1816013"/>
                      <a:pt x="1735281" y="1808018"/>
                    </a:cubicBezTo>
                    <a:cubicBezTo>
                      <a:pt x="1746570" y="1798611"/>
                      <a:pt x="1754345" y="1785171"/>
                      <a:pt x="1766454" y="1776846"/>
                    </a:cubicBezTo>
                    <a:cubicBezTo>
                      <a:pt x="1790309" y="1760446"/>
                      <a:pt x="1934881" y="1668749"/>
                      <a:pt x="1984663" y="1652155"/>
                    </a:cubicBezTo>
                    <a:cubicBezTo>
                      <a:pt x="1995054" y="1648691"/>
                      <a:pt x="2006039" y="1646662"/>
                      <a:pt x="2015836" y="1641764"/>
                    </a:cubicBezTo>
                    <a:cubicBezTo>
                      <a:pt x="2047942" y="1625711"/>
                      <a:pt x="2068371" y="1598538"/>
                      <a:pt x="2098963" y="1579418"/>
                    </a:cubicBezTo>
                    <a:cubicBezTo>
                      <a:pt x="2108251" y="1573613"/>
                      <a:pt x="2120339" y="1573925"/>
                      <a:pt x="2130136" y="1569027"/>
                    </a:cubicBezTo>
                    <a:cubicBezTo>
                      <a:pt x="2141306" y="1563442"/>
                      <a:pt x="2151147" y="1555505"/>
                      <a:pt x="2161309" y="1548246"/>
                    </a:cubicBezTo>
                    <a:cubicBezTo>
                      <a:pt x="2175401" y="1538180"/>
                      <a:pt x="2188780" y="1527139"/>
                      <a:pt x="2202872" y="1517073"/>
                    </a:cubicBezTo>
                    <a:cubicBezTo>
                      <a:pt x="2213034" y="1509814"/>
                      <a:pt x="2224187" y="1503958"/>
                      <a:pt x="2234045" y="1496291"/>
                    </a:cubicBezTo>
                    <a:cubicBezTo>
                      <a:pt x="2255398" y="1479683"/>
                      <a:pt x="2274512" y="1460248"/>
                      <a:pt x="2296390" y="1444337"/>
                    </a:cubicBezTo>
                    <a:cubicBezTo>
                      <a:pt x="2312724" y="1432458"/>
                      <a:pt x="2332188" y="1425282"/>
                      <a:pt x="2348345" y="1413164"/>
                    </a:cubicBezTo>
                    <a:cubicBezTo>
                      <a:pt x="2417114" y="1361587"/>
                      <a:pt x="2342845" y="1399978"/>
                      <a:pt x="2410690" y="1361209"/>
                    </a:cubicBezTo>
                    <a:cubicBezTo>
                      <a:pt x="2424139" y="1353524"/>
                      <a:pt x="2438713" y="1347949"/>
                      <a:pt x="2452254" y="1340427"/>
                    </a:cubicBezTo>
                    <a:cubicBezTo>
                      <a:pt x="2469909" y="1330619"/>
                      <a:pt x="2485823" y="1317612"/>
                      <a:pt x="2504209" y="1309255"/>
                    </a:cubicBezTo>
                    <a:cubicBezTo>
                      <a:pt x="2524151" y="1300190"/>
                      <a:pt x="2546215" y="1296609"/>
                      <a:pt x="2566554" y="1288473"/>
                    </a:cubicBezTo>
                    <a:cubicBezTo>
                      <a:pt x="2634907" y="1261132"/>
                      <a:pt x="2600219" y="1271349"/>
                      <a:pt x="2670463" y="1257300"/>
                    </a:cubicBezTo>
                    <a:cubicBezTo>
                      <a:pt x="2821337" y="1181863"/>
                      <a:pt x="2571827" y="1310247"/>
                      <a:pt x="2763981" y="1194955"/>
                    </a:cubicBezTo>
                    <a:cubicBezTo>
                      <a:pt x="2779975" y="1185358"/>
                      <a:pt x="2799631" y="1183231"/>
                      <a:pt x="2815936" y="1174173"/>
                    </a:cubicBezTo>
                    <a:cubicBezTo>
                      <a:pt x="2831075" y="1165762"/>
                      <a:pt x="2842541" y="1151726"/>
                      <a:pt x="2857500" y="1143000"/>
                    </a:cubicBezTo>
                    <a:cubicBezTo>
                      <a:pt x="2884260" y="1127390"/>
                      <a:pt x="2913868" y="1117047"/>
                      <a:pt x="2940627" y="1101437"/>
                    </a:cubicBezTo>
                    <a:cubicBezTo>
                      <a:pt x="2955586" y="1092711"/>
                      <a:pt x="2967548" y="1079512"/>
                      <a:pt x="2982190" y="1070264"/>
                    </a:cubicBezTo>
                    <a:cubicBezTo>
                      <a:pt x="3115784" y="985889"/>
                      <a:pt x="3100042" y="995752"/>
                      <a:pt x="3200400" y="945573"/>
                    </a:cubicBezTo>
                    <a:cubicBezTo>
                      <a:pt x="3238266" y="907705"/>
                      <a:pt x="3237985" y="903911"/>
                      <a:pt x="3293918" y="872837"/>
                    </a:cubicBezTo>
                    <a:cubicBezTo>
                      <a:pt x="3303492" y="867518"/>
                      <a:pt x="3314699" y="865910"/>
                      <a:pt x="3325090" y="862446"/>
                    </a:cubicBezTo>
                    <a:cubicBezTo>
                      <a:pt x="3363190" y="834737"/>
                      <a:pt x="3411123" y="817006"/>
                      <a:pt x="3439390" y="779318"/>
                    </a:cubicBezTo>
                    <a:cubicBezTo>
                      <a:pt x="3469674" y="738940"/>
                      <a:pt x="3500811" y="693343"/>
                      <a:pt x="3543300" y="665018"/>
                    </a:cubicBezTo>
                    <a:lnTo>
                      <a:pt x="3574472" y="644237"/>
                    </a:lnTo>
                    <a:cubicBezTo>
                      <a:pt x="3584863" y="630382"/>
                      <a:pt x="3593399" y="614919"/>
                      <a:pt x="3605645" y="602673"/>
                    </a:cubicBezTo>
                    <a:cubicBezTo>
                      <a:pt x="3710409" y="497909"/>
                      <a:pt x="3613617" y="619753"/>
                      <a:pt x="3688772" y="519546"/>
                    </a:cubicBezTo>
                    <a:cubicBezTo>
                      <a:pt x="3713139" y="446444"/>
                      <a:pt x="3681426" y="536685"/>
                      <a:pt x="3719945" y="446809"/>
                    </a:cubicBezTo>
                    <a:cubicBezTo>
                      <a:pt x="3724260" y="436742"/>
                      <a:pt x="3726123" y="425747"/>
                      <a:pt x="3730336" y="415637"/>
                    </a:cubicBezTo>
                    <a:cubicBezTo>
                      <a:pt x="3769200" y="322365"/>
                      <a:pt x="3755823" y="346234"/>
                      <a:pt x="3792681" y="290946"/>
                    </a:cubicBezTo>
                    <a:cubicBezTo>
                      <a:pt x="3799608" y="263237"/>
                      <a:pt x="3810621" y="236238"/>
                      <a:pt x="3813463" y="207818"/>
                    </a:cubicBezTo>
                    <a:cubicBezTo>
                      <a:pt x="3816927" y="173182"/>
                      <a:pt x="3811958" y="136622"/>
                      <a:pt x="3823854" y="103909"/>
                    </a:cubicBezTo>
                    <a:cubicBezTo>
                      <a:pt x="3827597" y="93615"/>
                      <a:pt x="3844201" y="95184"/>
                      <a:pt x="3855027" y="93518"/>
                    </a:cubicBezTo>
                    <a:cubicBezTo>
                      <a:pt x="3889431" y="88225"/>
                      <a:pt x="3924432" y="87727"/>
                      <a:pt x="3958936" y="83127"/>
                    </a:cubicBezTo>
                    <a:cubicBezTo>
                      <a:pt x="3987211" y="79357"/>
                      <a:pt x="4024228" y="69403"/>
                      <a:pt x="4052454" y="62346"/>
                    </a:cubicBezTo>
                    <a:cubicBezTo>
                      <a:pt x="4087487" y="9796"/>
                      <a:pt x="4054218" y="45878"/>
                      <a:pt x="4104409" y="20782"/>
                    </a:cubicBezTo>
                    <a:cubicBezTo>
                      <a:pt x="4115579" y="15197"/>
                      <a:pt x="4135581" y="0"/>
                      <a:pt x="4135581" y="0"/>
                    </a:cubicBez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3" name="对象 12"/>
              <p:cNvGraphicFramePr>
                <a:graphicFrameLocks noChangeAspect="1"/>
              </p:cNvGraphicFramePr>
              <p:nvPr/>
            </p:nvGraphicFramePr>
            <p:xfrm>
              <a:off x="8123507" y="4337380"/>
              <a:ext cx="974185" cy="4335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609480" imgH="253800" progId="Equation.DSMT4">
                      <p:embed/>
                    </p:oleObj>
                  </mc:Choice>
                  <mc:Fallback>
                    <p:oleObj name="Equation" r:id="rId3" imgW="609480" imgH="253800" progId="Equation.DSMT4">
                      <p:embed/>
                      <p:pic>
                        <p:nvPicPr>
                          <p:cNvPr id="13" name="对象 1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8123507" y="4337380"/>
                            <a:ext cx="974185" cy="43354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" name="文本框 2"/>
              <p:cNvSpPr txBox="1"/>
              <p:nvPr/>
            </p:nvSpPr>
            <p:spPr>
              <a:xfrm>
                <a:off x="6864226" y="3584448"/>
                <a:ext cx="33526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随便画一条：</a:t>
                </a:r>
                <a:r>
                  <a:rPr lang="en-US" altLang="zh-CN" b="1" dirty="0"/>
                  <a:t>Draw Randomly </a:t>
                </a:r>
                <a:endParaRPr lang="zh-CN" altLang="en-US" b="1" dirty="0"/>
              </a:p>
            </p:txBody>
          </p:sp>
          <p:graphicFrame>
            <p:nvGraphicFramePr>
              <p:cNvPr id="15" name="对象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36868167"/>
                  </p:ext>
                </p:extLst>
              </p:nvPr>
            </p:nvGraphicFramePr>
            <p:xfrm>
              <a:off x="10989143" y="5872031"/>
              <a:ext cx="354080" cy="4149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26720" imgH="139680" progId="Equation.DSMT4">
                      <p:embed/>
                    </p:oleObj>
                  </mc:Choice>
                  <mc:Fallback>
                    <p:oleObj name="Equation" r:id="rId5" imgW="126720" imgH="139680" progId="Equation.DSMT4">
                      <p:embed/>
                      <p:pic>
                        <p:nvPicPr>
                          <p:cNvPr id="15" name="对象 14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0989143" y="5872031"/>
                            <a:ext cx="354080" cy="4149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/>
              <p:cNvGraphicFramePr>
                <a:graphicFrameLocks noChangeAspect="1"/>
              </p:cNvGraphicFramePr>
              <p:nvPr/>
            </p:nvGraphicFramePr>
            <p:xfrm>
              <a:off x="5806821" y="3492885"/>
              <a:ext cx="400728" cy="5030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39680" imgH="164880" progId="Equation.DSMT4">
                      <p:embed/>
                    </p:oleObj>
                  </mc:Choice>
                  <mc:Fallback>
                    <p:oleObj name="Equation" r:id="rId7" imgW="139680" imgH="164880" progId="Equation.DSMT4">
                      <p:embed/>
                      <p:pic>
                        <p:nvPicPr>
                          <p:cNvPr id="16" name="对象 15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806821" y="3492885"/>
                            <a:ext cx="400728" cy="50304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8" name="矩形 17"/>
          <p:cNvSpPr/>
          <p:nvPr/>
        </p:nvSpPr>
        <p:spPr>
          <a:xfrm>
            <a:off x="838200" y="1657454"/>
            <a:ext cx="42811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第零种建立模型方法：随便画一条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130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15</a:t>
            </a:fld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979263" y="2482798"/>
            <a:ext cx="6121552" cy="3081442"/>
            <a:chOff x="5224692" y="3492885"/>
            <a:chExt cx="6121552" cy="3081442"/>
          </a:xfrm>
        </p:grpSpPr>
        <p:pic>
          <p:nvPicPr>
            <p:cNvPr id="7" name="图片 6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9913" y="3492885"/>
              <a:ext cx="4963714" cy="3081442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/>
          </p:nvGrpSpPr>
          <p:grpSpPr>
            <a:xfrm>
              <a:off x="5224692" y="3492885"/>
              <a:ext cx="6121552" cy="2921660"/>
              <a:chOff x="5224692" y="3492885"/>
              <a:chExt cx="6121552" cy="2921660"/>
            </a:xfrm>
          </p:grpSpPr>
          <p:sp>
            <p:nvSpPr>
              <p:cNvPr id="11" name="矩形 10"/>
              <p:cNvSpPr/>
              <p:nvPr/>
            </p:nvSpPr>
            <p:spPr>
              <a:xfrm rot="16200000">
                <a:off x="4624167" y="4477353"/>
                <a:ext cx="184738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C00000"/>
                    </a:solidFill>
                  </a:rPr>
                  <a:t>日新增人数</a:t>
                </a:r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r>
                  <a:rPr lang="en-US" altLang="zh-CN" b="1" dirty="0">
                    <a:solidFill>
                      <a:srgbClr val="C00000"/>
                    </a:solidFill>
                  </a:rPr>
                  <a:t>Daily Infections</a:t>
                </a: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0416543" y="5768214"/>
                <a:ext cx="81751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C00000"/>
                    </a:solidFill>
                  </a:rPr>
                  <a:t>日期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Date</a:t>
                </a:r>
              </a:p>
            </p:txBody>
          </p:sp>
          <p:sp>
            <p:nvSpPr>
              <p:cNvPr id="12" name="任意多边形 11"/>
              <p:cNvSpPr/>
              <p:nvPr/>
            </p:nvSpPr>
            <p:spPr>
              <a:xfrm>
                <a:off x="6864227" y="3767327"/>
                <a:ext cx="3645278" cy="2304105"/>
              </a:xfrm>
              <a:custGeom>
                <a:avLst/>
                <a:gdLst>
                  <a:gd name="connsiteX0" fmla="*/ 0 w 4135581"/>
                  <a:gd name="connsiteY0" fmla="*/ 2608118 h 2608118"/>
                  <a:gd name="connsiteX1" fmla="*/ 259772 w 4135581"/>
                  <a:gd name="connsiteY1" fmla="*/ 2587337 h 2608118"/>
                  <a:gd name="connsiteX2" fmla="*/ 363681 w 4135581"/>
                  <a:gd name="connsiteY2" fmla="*/ 2566555 h 2608118"/>
                  <a:gd name="connsiteX3" fmla="*/ 436418 w 4135581"/>
                  <a:gd name="connsiteY3" fmla="*/ 2556164 h 2608118"/>
                  <a:gd name="connsiteX4" fmla="*/ 540327 w 4135581"/>
                  <a:gd name="connsiteY4" fmla="*/ 2535382 h 2608118"/>
                  <a:gd name="connsiteX5" fmla="*/ 592281 w 4135581"/>
                  <a:gd name="connsiteY5" fmla="*/ 2514600 h 2608118"/>
                  <a:gd name="connsiteX6" fmla="*/ 685800 w 4135581"/>
                  <a:gd name="connsiteY6" fmla="*/ 2493818 h 2608118"/>
                  <a:gd name="connsiteX7" fmla="*/ 737754 w 4135581"/>
                  <a:gd name="connsiteY7" fmla="*/ 2473037 h 2608118"/>
                  <a:gd name="connsiteX8" fmla="*/ 820881 w 4135581"/>
                  <a:gd name="connsiteY8" fmla="*/ 2452255 h 2608118"/>
                  <a:gd name="connsiteX9" fmla="*/ 914400 w 4135581"/>
                  <a:gd name="connsiteY9" fmla="*/ 2410691 h 2608118"/>
                  <a:gd name="connsiteX10" fmla="*/ 976745 w 4135581"/>
                  <a:gd name="connsiteY10" fmla="*/ 2389909 h 2608118"/>
                  <a:gd name="connsiteX11" fmla="*/ 1039090 w 4135581"/>
                  <a:gd name="connsiteY11" fmla="*/ 2348346 h 2608118"/>
                  <a:gd name="connsiteX12" fmla="*/ 1070263 w 4135581"/>
                  <a:gd name="connsiteY12" fmla="*/ 2327564 h 2608118"/>
                  <a:gd name="connsiteX13" fmla="*/ 1122218 w 4135581"/>
                  <a:gd name="connsiteY13" fmla="*/ 2317173 h 2608118"/>
                  <a:gd name="connsiteX14" fmla="*/ 1163781 w 4135581"/>
                  <a:gd name="connsiteY14" fmla="*/ 2296391 h 2608118"/>
                  <a:gd name="connsiteX15" fmla="*/ 1194954 w 4135581"/>
                  <a:gd name="connsiteY15" fmla="*/ 2275609 h 2608118"/>
                  <a:gd name="connsiteX16" fmla="*/ 1226127 w 4135581"/>
                  <a:gd name="connsiteY16" fmla="*/ 2265218 h 2608118"/>
                  <a:gd name="connsiteX17" fmla="*/ 1278081 w 4135581"/>
                  <a:gd name="connsiteY17" fmla="*/ 2244437 h 2608118"/>
                  <a:gd name="connsiteX18" fmla="*/ 1340427 w 4135581"/>
                  <a:gd name="connsiteY18" fmla="*/ 2182091 h 2608118"/>
                  <a:gd name="connsiteX19" fmla="*/ 1371600 w 4135581"/>
                  <a:gd name="connsiteY19" fmla="*/ 2140527 h 2608118"/>
                  <a:gd name="connsiteX20" fmla="*/ 1413163 w 4135581"/>
                  <a:gd name="connsiteY20" fmla="*/ 2109355 h 2608118"/>
                  <a:gd name="connsiteX21" fmla="*/ 1496290 w 4135581"/>
                  <a:gd name="connsiteY21" fmla="*/ 2026227 h 2608118"/>
                  <a:gd name="connsiteX22" fmla="*/ 1589809 w 4135581"/>
                  <a:gd name="connsiteY22" fmla="*/ 1963882 h 2608118"/>
                  <a:gd name="connsiteX23" fmla="*/ 1631372 w 4135581"/>
                  <a:gd name="connsiteY23" fmla="*/ 1911927 h 2608118"/>
                  <a:gd name="connsiteX24" fmla="*/ 1672936 w 4135581"/>
                  <a:gd name="connsiteY24" fmla="*/ 1870364 h 2608118"/>
                  <a:gd name="connsiteX25" fmla="*/ 1704109 w 4135581"/>
                  <a:gd name="connsiteY25" fmla="*/ 1828800 h 2608118"/>
                  <a:gd name="connsiteX26" fmla="*/ 1735281 w 4135581"/>
                  <a:gd name="connsiteY26" fmla="*/ 1808018 h 2608118"/>
                  <a:gd name="connsiteX27" fmla="*/ 1766454 w 4135581"/>
                  <a:gd name="connsiteY27" fmla="*/ 1776846 h 2608118"/>
                  <a:gd name="connsiteX28" fmla="*/ 1984663 w 4135581"/>
                  <a:gd name="connsiteY28" fmla="*/ 1652155 h 2608118"/>
                  <a:gd name="connsiteX29" fmla="*/ 2015836 w 4135581"/>
                  <a:gd name="connsiteY29" fmla="*/ 1641764 h 2608118"/>
                  <a:gd name="connsiteX30" fmla="*/ 2098963 w 4135581"/>
                  <a:gd name="connsiteY30" fmla="*/ 1579418 h 2608118"/>
                  <a:gd name="connsiteX31" fmla="*/ 2130136 w 4135581"/>
                  <a:gd name="connsiteY31" fmla="*/ 1569027 h 2608118"/>
                  <a:gd name="connsiteX32" fmla="*/ 2161309 w 4135581"/>
                  <a:gd name="connsiteY32" fmla="*/ 1548246 h 2608118"/>
                  <a:gd name="connsiteX33" fmla="*/ 2202872 w 4135581"/>
                  <a:gd name="connsiteY33" fmla="*/ 1517073 h 2608118"/>
                  <a:gd name="connsiteX34" fmla="*/ 2234045 w 4135581"/>
                  <a:gd name="connsiteY34" fmla="*/ 1496291 h 2608118"/>
                  <a:gd name="connsiteX35" fmla="*/ 2296390 w 4135581"/>
                  <a:gd name="connsiteY35" fmla="*/ 1444337 h 2608118"/>
                  <a:gd name="connsiteX36" fmla="*/ 2348345 w 4135581"/>
                  <a:gd name="connsiteY36" fmla="*/ 1413164 h 2608118"/>
                  <a:gd name="connsiteX37" fmla="*/ 2410690 w 4135581"/>
                  <a:gd name="connsiteY37" fmla="*/ 1361209 h 2608118"/>
                  <a:gd name="connsiteX38" fmla="*/ 2452254 w 4135581"/>
                  <a:gd name="connsiteY38" fmla="*/ 1340427 h 2608118"/>
                  <a:gd name="connsiteX39" fmla="*/ 2504209 w 4135581"/>
                  <a:gd name="connsiteY39" fmla="*/ 1309255 h 2608118"/>
                  <a:gd name="connsiteX40" fmla="*/ 2566554 w 4135581"/>
                  <a:gd name="connsiteY40" fmla="*/ 1288473 h 2608118"/>
                  <a:gd name="connsiteX41" fmla="*/ 2670463 w 4135581"/>
                  <a:gd name="connsiteY41" fmla="*/ 1257300 h 2608118"/>
                  <a:gd name="connsiteX42" fmla="*/ 2763981 w 4135581"/>
                  <a:gd name="connsiteY42" fmla="*/ 1194955 h 2608118"/>
                  <a:gd name="connsiteX43" fmla="*/ 2815936 w 4135581"/>
                  <a:gd name="connsiteY43" fmla="*/ 1174173 h 2608118"/>
                  <a:gd name="connsiteX44" fmla="*/ 2857500 w 4135581"/>
                  <a:gd name="connsiteY44" fmla="*/ 1143000 h 2608118"/>
                  <a:gd name="connsiteX45" fmla="*/ 2940627 w 4135581"/>
                  <a:gd name="connsiteY45" fmla="*/ 1101437 h 2608118"/>
                  <a:gd name="connsiteX46" fmla="*/ 2982190 w 4135581"/>
                  <a:gd name="connsiteY46" fmla="*/ 1070264 h 2608118"/>
                  <a:gd name="connsiteX47" fmla="*/ 3200400 w 4135581"/>
                  <a:gd name="connsiteY47" fmla="*/ 945573 h 2608118"/>
                  <a:gd name="connsiteX48" fmla="*/ 3293918 w 4135581"/>
                  <a:gd name="connsiteY48" fmla="*/ 872837 h 2608118"/>
                  <a:gd name="connsiteX49" fmla="*/ 3325090 w 4135581"/>
                  <a:gd name="connsiteY49" fmla="*/ 862446 h 2608118"/>
                  <a:gd name="connsiteX50" fmla="*/ 3439390 w 4135581"/>
                  <a:gd name="connsiteY50" fmla="*/ 779318 h 2608118"/>
                  <a:gd name="connsiteX51" fmla="*/ 3543300 w 4135581"/>
                  <a:gd name="connsiteY51" fmla="*/ 665018 h 2608118"/>
                  <a:gd name="connsiteX52" fmla="*/ 3574472 w 4135581"/>
                  <a:gd name="connsiteY52" fmla="*/ 644237 h 2608118"/>
                  <a:gd name="connsiteX53" fmla="*/ 3605645 w 4135581"/>
                  <a:gd name="connsiteY53" fmla="*/ 602673 h 2608118"/>
                  <a:gd name="connsiteX54" fmla="*/ 3688772 w 4135581"/>
                  <a:gd name="connsiteY54" fmla="*/ 519546 h 2608118"/>
                  <a:gd name="connsiteX55" fmla="*/ 3719945 w 4135581"/>
                  <a:gd name="connsiteY55" fmla="*/ 446809 h 2608118"/>
                  <a:gd name="connsiteX56" fmla="*/ 3730336 w 4135581"/>
                  <a:gd name="connsiteY56" fmla="*/ 415637 h 2608118"/>
                  <a:gd name="connsiteX57" fmla="*/ 3792681 w 4135581"/>
                  <a:gd name="connsiteY57" fmla="*/ 290946 h 2608118"/>
                  <a:gd name="connsiteX58" fmla="*/ 3813463 w 4135581"/>
                  <a:gd name="connsiteY58" fmla="*/ 207818 h 2608118"/>
                  <a:gd name="connsiteX59" fmla="*/ 3823854 w 4135581"/>
                  <a:gd name="connsiteY59" fmla="*/ 103909 h 2608118"/>
                  <a:gd name="connsiteX60" fmla="*/ 3855027 w 4135581"/>
                  <a:gd name="connsiteY60" fmla="*/ 93518 h 2608118"/>
                  <a:gd name="connsiteX61" fmla="*/ 3958936 w 4135581"/>
                  <a:gd name="connsiteY61" fmla="*/ 83127 h 2608118"/>
                  <a:gd name="connsiteX62" fmla="*/ 4052454 w 4135581"/>
                  <a:gd name="connsiteY62" fmla="*/ 62346 h 2608118"/>
                  <a:gd name="connsiteX63" fmla="*/ 4104409 w 4135581"/>
                  <a:gd name="connsiteY63" fmla="*/ 20782 h 2608118"/>
                  <a:gd name="connsiteX64" fmla="*/ 4135581 w 4135581"/>
                  <a:gd name="connsiteY64" fmla="*/ 0 h 2608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4135581" h="2608118">
                    <a:moveTo>
                      <a:pt x="0" y="2608118"/>
                    </a:moveTo>
                    <a:cubicBezTo>
                      <a:pt x="86591" y="2601191"/>
                      <a:pt x="175498" y="2608405"/>
                      <a:pt x="259772" y="2587337"/>
                    </a:cubicBezTo>
                    <a:cubicBezTo>
                      <a:pt x="314867" y="2573563"/>
                      <a:pt x="297441" y="2576746"/>
                      <a:pt x="363681" y="2566555"/>
                    </a:cubicBezTo>
                    <a:cubicBezTo>
                      <a:pt x="387888" y="2562831"/>
                      <a:pt x="412299" y="2560420"/>
                      <a:pt x="436418" y="2556164"/>
                    </a:cubicBezTo>
                    <a:cubicBezTo>
                      <a:pt x="471203" y="2550025"/>
                      <a:pt x="540327" y="2535382"/>
                      <a:pt x="540327" y="2535382"/>
                    </a:cubicBezTo>
                    <a:cubicBezTo>
                      <a:pt x="557645" y="2528455"/>
                      <a:pt x="574586" y="2520498"/>
                      <a:pt x="592281" y="2514600"/>
                    </a:cubicBezTo>
                    <a:cubicBezTo>
                      <a:pt x="664217" y="2490621"/>
                      <a:pt x="603470" y="2518517"/>
                      <a:pt x="685800" y="2493818"/>
                    </a:cubicBezTo>
                    <a:cubicBezTo>
                      <a:pt x="703665" y="2488459"/>
                      <a:pt x="719889" y="2478396"/>
                      <a:pt x="737754" y="2473037"/>
                    </a:cubicBezTo>
                    <a:cubicBezTo>
                      <a:pt x="791966" y="2456774"/>
                      <a:pt x="778215" y="2470541"/>
                      <a:pt x="820881" y="2452255"/>
                    </a:cubicBezTo>
                    <a:cubicBezTo>
                      <a:pt x="912346" y="2413055"/>
                      <a:pt x="808064" y="2449359"/>
                      <a:pt x="914400" y="2410691"/>
                    </a:cubicBezTo>
                    <a:cubicBezTo>
                      <a:pt x="934987" y="2403205"/>
                      <a:pt x="958518" y="2402060"/>
                      <a:pt x="976745" y="2389909"/>
                    </a:cubicBezTo>
                    <a:lnTo>
                      <a:pt x="1039090" y="2348346"/>
                    </a:lnTo>
                    <a:cubicBezTo>
                      <a:pt x="1049481" y="2341419"/>
                      <a:pt x="1058017" y="2330013"/>
                      <a:pt x="1070263" y="2327564"/>
                    </a:cubicBezTo>
                    <a:lnTo>
                      <a:pt x="1122218" y="2317173"/>
                    </a:lnTo>
                    <a:cubicBezTo>
                      <a:pt x="1136072" y="2310246"/>
                      <a:pt x="1150332" y="2304076"/>
                      <a:pt x="1163781" y="2296391"/>
                    </a:cubicBezTo>
                    <a:cubicBezTo>
                      <a:pt x="1174624" y="2290195"/>
                      <a:pt x="1183784" y="2281194"/>
                      <a:pt x="1194954" y="2275609"/>
                    </a:cubicBezTo>
                    <a:cubicBezTo>
                      <a:pt x="1204751" y="2270711"/>
                      <a:pt x="1215871" y="2269064"/>
                      <a:pt x="1226127" y="2265218"/>
                    </a:cubicBezTo>
                    <a:cubicBezTo>
                      <a:pt x="1243591" y="2258669"/>
                      <a:pt x="1260763" y="2251364"/>
                      <a:pt x="1278081" y="2244437"/>
                    </a:cubicBezTo>
                    <a:cubicBezTo>
                      <a:pt x="1298863" y="2223655"/>
                      <a:pt x="1322793" y="2205603"/>
                      <a:pt x="1340427" y="2182091"/>
                    </a:cubicBezTo>
                    <a:cubicBezTo>
                      <a:pt x="1350818" y="2168236"/>
                      <a:pt x="1359354" y="2152773"/>
                      <a:pt x="1371600" y="2140527"/>
                    </a:cubicBezTo>
                    <a:cubicBezTo>
                      <a:pt x="1383846" y="2128281"/>
                      <a:pt x="1400397" y="2121057"/>
                      <a:pt x="1413163" y="2109355"/>
                    </a:cubicBezTo>
                    <a:cubicBezTo>
                      <a:pt x="1442050" y="2082875"/>
                      <a:pt x="1461240" y="2043751"/>
                      <a:pt x="1496290" y="2026227"/>
                    </a:cubicBezTo>
                    <a:cubicBezTo>
                      <a:pt x="1539798" y="2004474"/>
                      <a:pt x="1551378" y="2002313"/>
                      <a:pt x="1589809" y="1963882"/>
                    </a:cubicBezTo>
                    <a:cubicBezTo>
                      <a:pt x="1605491" y="1948200"/>
                      <a:pt x="1616638" y="1928503"/>
                      <a:pt x="1631372" y="1911927"/>
                    </a:cubicBezTo>
                    <a:cubicBezTo>
                      <a:pt x="1644389" y="1897283"/>
                      <a:pt x="1660034" y="1885109"/>
                      <a:pt x="1672936" y="1870364"/>
                    </a:cubicBezTo>
                    <a:cubicBezTo>
                      <a:pt x="1684340" y="1857331"/>
                      <a:pt x="1691863" y="1841046"/>
                      <a:pt x="1704109" y="1828800"/>
                    </a:cubicBezTo>
                    <a:cubicBezTo>
                      <a:pt x="1712939" y="1819969"/>
                      <a:pt x="1725687" y="1816013"/>
                      <a:pt x="1735281" y="1808018"/>
                    </a:cubicBezTo>
                    <a:cubicBezTo>
                      <a:pt x="1746570" y="1798611"/>
                      <a:pt x="1754345" y="1785171"/>
                      <a:pt x="1766454" y="1776846"/>
                    </a:cubicBezTo>
                    <a:cubicBezTo>
                      <a:pt x="1790309" y="1760446"/>
                      <a:pt x="1934881" y="1668749"/>
                      <a:pt x="1984663" y="1652155"/>
                    </a:cubicBezTo>
                    <a:cubicBezTo>
                      <a:pt x="1995054" y="1648691"/>
                      <a:pt x="2006039" y="1646662"/>
                      <a:pt x="2015836" y="1641764"/>
                    </a:cubicBezTo>
                    <a:cubicBezTo>
                      <a:pt x="2047942" y="1625711"/>
                      <a:pt x="2068371" y="1598538"/>
                      <a:pt x="2098963" y="1579418"/>
                    </a:cubicBezTo>
                    <a:cubicBezTo>
                      <a:pt x="2108251" y="1573613"/>
                      <a:pt x="2120339" y="1573925"/>
                      <a:pt x="2130136" y="1569027"/>
                    </a:cubicBezTo>
                    <a:cubicBezTo>
                      <a:pt x="2141306" y="1563442"/>
                      <a:pt x="2151147" y="1555505"/>
                      <a:pt x="2161309" y="1548246"/>
                    </a:cubicBezTo>
                    <a:cubicBezTo>
                      <a:pt x="2175401" y="1538180"/>
                      <a:pt x="2188780" y="1527139"/>
                      <a:pt x="2202872" y="1517073"/>
                    </a:cubicBezTo>
                    <a:cubicBezTo>
                      <a:pt x="2213034" y="1509814"/>
                      <a:pt x="2224187" y="1503958"/>
                      <a:pt x="2234045" y="1496291"/>
                    </a:cubicBezTo>
                    <a:cubicBezTo>
                      <a:pt x="2255398" y="1479683"/>
                      <a:pt x="2274512" y="1460248"/>
                      <a:pt x="2296390" y="1444337"/>
                    </a:cubicBezTo>
                    <a:cubicBezTo>
                      <a:pt x="2312724" y="1432458"/>
                      <a:pt x="2332188" y="1425282"/>
                      <a:pt x="2348345" y="1413164"/>
                    </a:cubicBezTo>
                    <a:cubicBezTo>
                      <a:pt x="2417114" y="1361587"/>
                      <a:pt x="2342845" y="1399978"/>
                      <a:pt x="2410690" y="1361209"/>
                    </a:cubicBezTo>
                    <a:cubicBezTo>
                      <a:pt x="2424139" y="1353524"/>
                      <a:pt x="2438713" y="1347949"/>
                      <a:pt x="2452254" y="1340427"/>
                    </a:cubicBezTo>
                    <a:cubicBezTo>
                      <a:pt x="2469909" y="1330619"/>
                      <a:pt x="2485823" y="1317612"/>
                      <a:pt x="2504209" y="1309255"/>
                    </a:cubicBezTo>
                    <a:cubicBezTo>
                      <a:pt x="2524151" y="1300190"/>
                      <a:pt x="2546215" y="1296609"/>
                      <a:pt x="2566554" y="1288473"/>
                    </a:cubicBezTo>
                    <a:cubicBezTo>
                      <a:pt x="2634907" y="1261132"/>
                      <a:pt x="2600219" y="1271349"/>
                      <a:pt x="2670463" y="1257300"/>
                    </a:cubicBezTo>
                    <a:cubicBezTo>
                      <a:pt x="2821337" y="1181863"/>
                      <a:pt x="2571827" y="1310247"/>
                      <a:pt x="2763981" y="1194955"/>
                    </a:cubicBezTo>
                    <a:cubicBezTo>
                      <a:pt x="2779975" y="1185358"/>
                      <a:pt x="2799631" y="1183231"/>
                      <a:pt x="2815936" y="1174173"/>
                    </a:cubicBezTo>
                    <a:cubicBezTo>
                      <a:pt x="2831075" y="1165762"/>
                      <a:pt x="2842541" y="1151726"/>
                      <a:pt x="2857500" y="1143000"/>
                    </a:cubicBezTo>
                    <a:cubicBezTo>
                      <a:pt x="2884260" y="1127390"/>
                      <a:pt x="2913868" y="1117047"/>
                      <a:pt x="2940627" y="1101437"/>
                    </a:cubicBezTo>
                    <a:cubicBezTo>
                      <a:pt x="2955586" y="1092711"/>
                      <a:pt x="2967548" y="1079512"/>
                      <a:pt x="2982190" y="1070264"/>
                    </a:cubicBezTo>
                    <a:cubicBezTo>
                      <a:pt x="3115784" y="985889"/>
                      <a:pt x="3100042" y="995752"/>
                      <a:pt x="3200400" y="945573"/>
                    </a:cubicBezTo>
                    <a:cubicBezTo>
                      <a:pt x="3238266" y="907705"/>
                      <a:pt x="3237985" y="903911"/>
                      <a:pt x="3293918" y="872837"/>
                    </a:cubicBezTo>
                    <a:cubicBezTo>
                      <a:pt x="3303492" y="867518"/>
                      <a:pt x="3314699" y="865910"/>
                      <a:pt x="3325090" y="862446"/>
                    </a:cubicBezTo>
                    <a:cubicBezTo>
                      <a:pt x="3363190" y="834737"/>
                      <a:pt x="3411123" y="817006"/>
                      <a:pt x="3439390" y="779318"/>
                    </a:cubicBezTo>
                    <a:cubicBezTo>
                      <a:pt x="3469674" y="738940"/>
                      <a:pt x="3500811" y="693343"/>
                      <a:pt x="3543300" y="665018"/>
                    </a:cubicBezTo>
                    <a:lnTo>
                      <a:pt x="3574472" y="644237"/>
                    </a:lnTo>
                    <a:cubicBezTo>
                      <a:pt x="3584863" y="630382"/>
                      <a:pt x="3593399" y="614919"/>
                      <a:pt x="3605645" y="602673"/>
                    </a:cubicBezTo>
                    <a:cubicBezTo>
                      <a:pt x="3710409" y="497909"/>
                      <a:pt x="3613617" y="619753"/>
                      <a:pt x="3688772" y="519546"/>
                    </a:cubicBezTo>
                    <a:cubicBezTo>
                      <a:pt x="3713139" y="446444"/>
                      <a:pt x="3681426" y="536685"/>
                      <a:pt x="3719945" y="446809"/>
                    </a:cubicBezTo>
                    <a:cubicBezTo>
                      <a:pt x="3724260" y="436742"/>
                      <a:pt x="3726123" y="425747"/>
                      <a:pt x="3730336" y="415637"/>
                    </a:cubicBezTo>
                    <a:cubicBezTo>
                      <a:pt x="3769200" y="322365"/>
                      <a:pt x="3755823" y="346234"/>
                      <a:pt x="3792681" y="290946"/>
                    </a:cubicBezTo>
                    <a:cubicBezTo>
                      <a:pt x="3799608" y="263237"/>
                      <a:pt x="3810621" y="236238"/>
                      <a:pt x="3813463" y="207818"/>
                    </a:cubicBezTo>
                    <a:cubicBezTo>
                      <a:pt x="3816927" y="173182"/>
                      <a:pt x="3811958" y="136622"/>
                      <a:pt x="3823854" y="103909"/>
                    </a:cubicBezTo>
                    <a:cubicBezTo>
                      <a:pt x="3827597" y="93615"/>
                      <a:pt x="3844201" y="95184"/>
                      <a:pt x="3855027" y="93518"/>
                    </a:cubicBezTo>
                    <a:cubicBezTo>
                      <a:pt x="3889431" y="88225"/>
                      <a:pt x="3924432" y="87727"/>
                      <a:pt x="3958936" y="83127"/>
                    </a:cubicBezTo>
                    <a:cubicBezTo>
                      <a:pt x="3987211" y="79357"/>
                      <a:pt x="4024228" y="69403"/>
                      <a:pt x="4052454" y="62346"/>
                    </a:cubicBezTo>
                    <a:cubicBezTo>
                      <a:pt x="4087487" y="9796"/>
                      <a:pt x="4054218" y="45878"/>
                      <a:pt x="4104409" y="20782"/>
                    </a:cubicBezTo>
                    <a:cubicBezTo>
                      <a:pt x="4115579" y="15197"/>
                      <a:pt x="4135581" y="0"/>
                      <a:pt x="4135581" y="0"/>
                    </a:cubicBez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3" name="对象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16656096"/>
                  </p:ext>
                </p:extLst>
              </p:nvPr>
            </p:nvGraphicFramePr>
            <p:xfrm>
              <a:off x="8123507" y="4337380"/>
              <a:ext cx="974185" cy="4335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609480" imgH="253800" progId="Equation.DSMT4">
                      <p:embed/>
                    </p:oleObj>
                  </mc:Choice>
                  <mc:Fallback>
                    <p:oleObj name="Equation" r:id="rId3" imgW="609480" imgH="253800" progId="Equation.DSMT4">
                      <p:embed/>
                      <p:pic>
                        <p:nvPicPr>
                          <p:cNvPr id="13" name="对象 1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8123507" y="4337380"/>
                            <a:ext cx="974185" cy="43354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" name="文本框 2"/>
              <p:cNvSpPr txBox="1"/>
              <p:nvPr/>
            </p:nvSpPr>
            <p:spPr>
              <a:xfrm>
                <a:off x="6864226" y="3584448"/>
                <a:ext cx="33526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随便画一条：</a:t>
                </a:r>
                <a:r>
                  <a:rPr lang="en-US" altLang="zh-CN" b="1" dirty="0"/>
                  <a:t>Draw Randomly </a:t>
                </a:r>
                <a:endParaRPr lang="zh-CN" altLang="en-US" b="1" dirty="0"/>
              </a:p>
            </p:txBody>
          </p:sp>
          <p:graphicFrame>
            <p:nvGraphicFramePr>
              <p:cNvPr id="15" name="对象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84716595"/>
                  </p:ext>
                </p:extLst>
              </p:nvPr>
            </p:nvGraphicFramePr>
            <p:xfrm>
              <a:off x="10949987" y="5747918"/>
              <a:ext cx="396257" cy="4643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26720" imgH="139680" progId="Equation.DSMT4">
                      <p:embed/>
                    </p:oleObj>
                  </mc:Choice>
                  <mc:Fallback>
                    <p:oleObj name="Equation" r:id="rId5" imgW="126720" imgH="139680" progId="Equation.DSMT4">
                      <p:embed/>
                      <p:pic>
                        <p:nvPicPr>
                          <p:cNvPr id="15" name="对象 14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0949987" y="5747918"/>
                            <a:ext cx="396257" cy="46436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2189994"/>
                  </p:ext>
                </p:extLst>
              </p:nvPr>
            </p:nvGraphicFramePr>
            <p:xfrm>
              <a:off x="5806821" y="3492885"/>
              <a:ext cx="400728" cy="5030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39680" imgH="164880" progId="Equation.DSMT4">
                      <p:embed/>
                    </p:oleObj>
                  </mc:Choice>
                  <mc:Fallback>
                    <p:oleObj name="Equation" r:id="rId7" imgW="139680" imgH="164880" progId="Equation.DSMT4">
                      <p:embed/>
                      <p:pic>
                        <p:nvPicPr>
                          <p:cNvPr id="16" name="对象 15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806821" y="3492885"/>
                            <a:ext cx="400728" cy="50304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8" name="矩形 17"/>
          <p:cNvSpPr/>
          <p:nvPr/>
        </p:nvSpPr>
        <p:spPr>
          <a:xfrm>
            <a:off x="838200" y="1657454"/>
            <a:ext cx="42811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第零种建立模型方法：随便画一条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582512" y="2482798"/>
            <a:ext cx="4281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其实我们也没有那么随便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582513" y="3216833"/>
            <a:ext cx="42811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直观</a:t>
            </a:r>
            <a:r>
              <a:rPr lang="en-US" altLang="zh-CN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：近！</a:t>
            </a:r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直观</a:t>
            </a:r>
            <a:r>
              <a:rPr lang="en-US" altLang="zh-CN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：趋势！</a:t>
            </a:r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567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4281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第一种建立模型方法：直接分段连线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9CB21E-5D00-4375-B97F-DB7B22142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61500"/>
            <a:ext cx="4862245" cy="3122324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165250" y="5691664"/>
          <a:ext cx="1092087" cy="485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53800" progId="Equation.DSMT4">
                  <p:embed/>
                </p:oleObj>
              </mc:Choice>
              <mc:Fallback>
                <p:oleObj name="Equation" r:id="rId3" imgW="609480" imgH="2538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65250" y="5691664"/>
                        <a:ext cx="1092087" cy="4853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2405998" y="5749684"/>
            <a:ext cx="43070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由各段线段相连组成的函数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147868"/>
              </p:ext>
            </p:extLst>
          </p:nvPr>
        </p:nvGraphicFramePr>
        <p:xfrm>
          <a:off x="6147254" y="5341040"/>
          <a:ext cx="2463346" cy="1186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4640" imgH="711000" progId="Equation.DSMT4">
                  <p:embed/>
                </p:oleObj>
              </mc:Choice>
              <mc:Fallback>
                <p:oleObj name="Equation" r:id="rId5" imgW="1574640" imgH="7110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47254" y="5341040"/>
                        <a:ext cx="2463346" cy="1186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8177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4281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第一种建立模型方法：直接分段连线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9CB21E-5D00-4375-B97F-DB7B22142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61500"/>
            <a:ext cx="4862245" cy="3122324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165250" y="5691664"/>
          <a:ext cx="1092087" cy="485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53800" progId="Equation.DSMT4">
                  <p:embed/>
                </p:oleObj>
              </mc:Choice>
              <mc:Fallback>
                <p:oleObj name="Equation" r:id="rId3" imgW="609480" imgH="2538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65250" y="5691664"/>
                        <a:ext cx="1092087" cy="4853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2356571" y="5756847"/>
            <a:ext cx="43070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由各段线段相连组成的函数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6597" y="2310665"/>
            <a:ext cx="54050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优点：训练数据都在决策函数上，足够近</a:t>
            </a:r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200544" y="5341040"/>
          <a:ext cx="2463346" cy="1186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4640" imgH="711000" progId="Equation.DSMT4">
                  <p:embed/>
                </p:oleObj>
              </mc:Choice>
              <mc:Fallback>
                <p:oleObj name="Equation" r:id="rId5" imgW="1574640" imgH="7110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00544" y="5341040"/>
                        <a:ext cx="2463346" cy="1186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9364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4281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第一种建立模型方法：直接分段连线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9CB21E-5D00-4375-B97F-DB7B22142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61500"/>
            <a:ext cx="4862245" cy="3122324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718960"/>
              </p:ext>
            </p:extLst>
          </p:nvPr>
        </p:nvGraphicFramePr>
        <p:xfrm>
          <a:off x="1165250" y="5691664"/>
          <a:ext cx="1092087" cy="485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53800" progId="Equation.DSMT4">
                  <p:embed/>
                </p:oleObj>
              </mc:Choice>
              <mc:Fallback>
                <p:oleObj name="Equation" r:id="rId3" imgW="609480" imgH="25380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65250" y="5691664"/>
                        <a:ext cx="1092087" cy="4853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2257337" y="5749684"/>
            <a:ext cx="43070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由各段线段相连组成的函数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6597" y="2310665"/>
            <a:ext cx="540504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优点：训练数据都在决策函数上，足够近</a:t>
            </a:r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1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缺点：</a:t>
            </a:r>
            <a:endParaRPr lang="en-US" altLang="zh-CN" b="1" kern="100" dirty="0">
              <a:solidFill>
                <a:srgbClr val="C00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1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① 没有预测功能，没办法根据这个模型继续往下画；</a:t>
            </a:r>
            <a:endParaRPr lang="en-US" altLang="zh-CN" b="1" kern="100" dirty="0">
              <a:solidFill>
                <a:srgbClr val="C00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1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② 分段函数解析式过于复杂，不利于分析；</a:t>
            </a:r>
            <a:endParaRPr lang="en-US" altLang="zh-CN" b="1" kern="100" dirty="0">
              <a:solidFill>
                <a:srgbClr val="C00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82410"/>
              </p:ext>
            </p:extLst>
          </p:nvPr>
        </p:nvGraphicFramePr>
        <p:xfrm>
          <a:off x="6200544" y="5341040"/>
          <a:ext cx="2463346" cy="1186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4640" imgH="711000" progId="Equation.DSMT4">
                  <p:embed/>
                </p:oleObj>
              </mc:Choice>
              <mc:Fallback>
                <p:oleObj name="Equation" r:id="rId5" imgW="1574640" imgH="7110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00544" y="5341040"/>
                        <a:ext cx="2463346" cy="1186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8424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4281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第一种建立模型方法：直接分段连线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9CB21E-5D00-4375-B97F-DB7B22142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61500"/>
            <a:ext cx="4862245" cy="3122324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165250" y="5691664"/>
          <a:ext cx="1092087" cy="485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53800" progId="Equation.DSMT4">
                  <p:embed/>
                </p:oleObj>
              </mc:Choice>
              <mc:Fallback>
                <p:oleObj name="Equation" r:id="rId3" imgW="609480" imgH="2538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65250" y="5691664"/>
                        <a:ext cx="1092087" cy="4853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2282430" y="5756847"/>
            <a:ext cx="43070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由各段线段相连组成的函数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200544" y="5341040"/>
          <a:ext cx="2463346" cy="1186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4640" imgH="711000" progId="Equation.DSMT4">
                  <p:embed/>
                </p:oleObj>
              </mc:Choice>
              <mc:Fallback>
                <p:oleObj name="Equation" r:id="rId5" imgW="1574640" imgH="7110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00544" y="5341040"/>
                        <a:ext cx="2463346" cy="1186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2282430" y="3135086"/>
            <a:ext cx="4307056" cy="25565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2257337" y="3135086"/>
            <a:ext cx="4172492" cy="255657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6429829" y="2461500"/>
            <a:ext cx="52472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我们需要一个继续往下算（预测）的解析式</a:t>
            </a:r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309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50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第二种建立模型方法：多项式插值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53" y="2411657"/>
            <a:ext cx="4424480" cy="2848192"/>
          </a:xfrm>
          <a:prstGeom prst="rect">
            <a:avLst/>
          </a:prstGeom>
        </p:spPr>
      </p:pic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833516"/>
              </p:ext>
            </p:extLst>
          </p:nvPr>
        </p:nvGraphicFramePr>
        <p:xfrm>
          <a:off x="2063013" y="5322432"/>
          <a:ext cx="2619488" cy="429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50960" imgH="253800" progId="Equation.DSMT4">
                  <p:embed/>
                </p:oleObj>
              </mc:Choice>
              <mc:Fallback>
                <p:oleObj name="Equation" r:id="rId3" imgW="1650960" imgH="2538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3013" y="5322432"/>
                        <a:ext cx="2619488" cy="429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1024653" y="5814985"/>
            <a:ext cx="531808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例如：使用拉格朗日插值公式</a:t>
            </a:r>
            <a:r>
              <a:rPr lang="en-US" altLang="zh-CN" sz="1600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Lagrange Interpolation</a:t>
            </a:r>
          </a:p>
          <a:p>
            <a:r>
              <a:rPr lang="zh-CN" altLang="en-US" sz="1600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可以得到一个多项式函数</a:t>
            </a:r>
            <a:endParaRPr lang="en-US" altLang="zh-CN" sz="1600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882319"/>
              </p:ext>
            </p:extLst>
          </p:nvPr>
        </p:nvGraphicFramePr>
        <p:xfrm>
          <a:off x="6342742" y="5204072"/>
          <a:ext cx="2902857" cy="1517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63560" imgH="863280" progId="Equation.DSMT4">
                  <p:embed/>
                </p:oleObj>
              </mc:Choice>
              <mc:Fallback>
                <p:oleObj name="Equation" r:id="rId5" imgW="1663560" imgH="8632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2742" y="5204072"/>
                        <a:ext cx="2902857" cy="15174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7090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50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第二种建立模型方法：多项式插值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53" y="2411657"/>
            <a:ext cx="4424480" cy="2848192"/>
          </a:xfrm>
          <a:prstGeom prst="rect">
            <a:avLst/>
          </a:prstGeom>
        </p:spPr>
      </p:pic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063013" y="5322432"/>
          <a:ext cx="2619488" cy="429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50960" imgH="253800" progId="Equation.DSMT4">
                  <p:embed/>
                </p:oleObj>
              </mc:Choice>
              <mc:Fallback>
                <p:oleObj name="Equation" r:id="rId4" imgW="165096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63013" y="5322432"/>
                        <a:ext cx="2619488" cy="429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342742" y="5204072"/>
          <a:ext cx="2902857" cy="1517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560" imgH="863280" progId="Equation.DSMT4">
                  <p:embed/>
                </p:oleObj>
              </mc:Choice>
              <mc:Fallback>
                <p:oleObj name="Equation" r:id="rId6" imgW="1663560" imgH="86328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2742" y="5204072"/>
                        <a:ext cx="2902857" cy="15174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5791200" y="2122988"/>
            <a:ext cx="61395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优点：训练数据都在决策函数上，足够近</a:t>
            </a:r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5822C6-5AE7-B569-0BAF-2009F8B16F06}"/>
              </a:ext>
            </a:extLst>
          </p:cNvPr>
          <p:cNvSpPr/>
          <p:nvPr/>
        </p:nvSpPr>
        <p:spPr>
          <a:xfrm>
            <a:off x="1024653" y="5814985"/>
            <a:ext cx="531808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例如：使用拉格朗日插值公式</a:t>
            </a:r>
            <a:r>
              <a:rPr lang="en-US" altLang="zh-CN" sz="1600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Lagrange Interpolation</a:t>
            </a:r>
          </a:p>
          <a:p>
            <a:r>
              <a:rPr lang="zh-CN" altLang="en-US" sz="1600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可以得到一个多项式函数</a:t>
            </a:r>
            <a:endParaRPr lang="en-US" altLang="zh-CN" sz="1600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777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50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第二种建立模型方法：多项式插值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53" y="2411657"/>
            <a:ext cx="4424480" cy="2848192"/>
          </a:xfrm>
          <a:prstGeom prst="rect">
            <a:avLst/>
          </a:prstGeom>
        </p:spPr>
      </p:pic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063013" y="5322432"/>
          <a:ext cx="2619488" cy="429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50960" imgH="253800" progId="Equation.DSMT4">
                  <p:embed/>
                </p:oleObj>
              </mc:Choice>
              <mc:Fallback>
                <p:oleObj name="Equation" r:id="rId4" imgW="165096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63013" y="5322432"/>
                        <a:ext cx="2619488" cy="429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1024653" y="5814985"/>
            <a:ext cx="531808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例如：使用拉格朗日插值公式</a:t>
            </a:r>
            <a:r>
              <a:rPr lang="en-US" altLang="zh-CN" sz="1600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Lagrange Interpolation</a:t>
            </a:r>
            <a:r>
              <a:rPr lang="zh-CN" altLang="en-US" sz="1600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可以得到一个多项式函数</a:t>
            </a:r>
            <a:endParaRPr lang="en-US" altLang="zh-CN" sz="1600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342742" y="5204072"/>
          <a:ext cx="2902857" cy="1517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560" imgH="863280" progId="Equation.DSMT4">
                  <p:embed/>
                </p:oleObj>
              </mc:Choice>
              <mc:Fallback>
                <p:oleObj name="Equation" r:id="rId6" imgW="1663560" imgH="86328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2742" y="5204072"/>
                        <a:ext cx="2902857" cy="15174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5791200" y="2122988"/>
            <a:ext cx="61395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优点：训练数据都在决策函数上，足够近</a:t>
            </a:r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1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缺点：</a:t>
            </a:r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为了保证训练数据都在函数上，导致多项式阶次太高，从而不具有预测功能（图中最后一段出现了下降趋势）</a:t>
            </a:r>
            <a:endParaRPr lang="en-US" altLang="zh-CN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260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2" name="图片 1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998" y="2482798"/>
            <a:ext cx="4963714" cy="308144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55543" y="2482798"/>
            <a:ext cx="34253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以上两种都不好！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还有更好的方法么？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2906541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24</a:t>
            </a:fld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979263" y="2482798"/>
            <a:ext cx="6214156" cy="3081442"/>
            <a:chOff x="5224692" y="3492885"/>
            <a:chExt cx="6214156" cy="3081442"/>
          </a:xfrm>
        </p:grpSpPr>
        <p:pic>
          <p:nvPicPr>
            <p:cNvPr id="7" name="图片 6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9913" y="3492885"/>
              <a:ext cx="4963714" cy="3081442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/>
          </p:nvGrpSpPr>
          <p:grpSpPr>
            <a:xfrm>
              <a:off x="5224692" y="3492885"/>
              <a:ext cx="6214156" cy="2921660"/>
              <a:chOff x="5224692" y="3492885"/>
              <a:chExt cx="6214156" cy="2921660"/>
            </a:xfrm>
          </p:grpSpPr>
          <p:sp>
            <p:nvSpPr>
              <p:cNvPr id="11" name="矩形 10"/>
              <p:cNvSpPr/>
              <p:nvPr/>
            </p:nvSpPr>
            <p:spPr>
              <a:xfrm rot="16200000">
                <a:off x="4624167" y="4477353"/>
                <a:ext cx="184738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C00000"/>
                    </a:solidFill>
                  </a:rPr>
                  <a:t>日新增人数</a:t>
                </a:r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r>
                  <a:rPr lang="en-US" altLang="zh-CN" b="1" dirty="0">
                    <a:solidFill>
                      <a:srgbClr val="C00000"/>
                    </a:solidFill>
                  </a:rPr>
                  <a:t>Daily Infections</a:t>
                </a: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0416543" y="5768214"/>
                <a:ext cx="81751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C00000"/>
                    </a:solidFill>
                  </a:rPr>
                  <a:t>日期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Date</a:t>
                </a:r>
              </a:p>
            </p:txBody>
          </p:sp>
          <p:sp>
            <p:nvSpPr>
              <p:cNvPr id="12" name="任意多边形 11"/>
              <p:cNvSpPr/>
              <p:nvPr/>
            </p:nvSpPr>
            <p:spPr>
              <a:xfrm>
                <a:off x="6864227" y="3767327"/>
                <a:ext cx="3645278" cy="2304105"/>
              </a:xfrm>
              <a:custGeom>
                <a:avLst/>
                <a:gdLst>
                  <a:gd name="connsiteX0" fmla="*/ 0 w 4135581"/>
                  <a:gd name="connsiteY0" fmla="*/ 2608118 h 2608118"/>
                  <a:gd name="connsiteX1" fmla="*/ 259772 w 4135581"/>
                  <a:gd name="connsiteY1" fmla="*/ 2587337 h 2608118"/>
                  <a:gd name="connsiteX2" fmla="*/ 363681 w 4135581"/>
                  <a:gd name="connsiteY2" fmla="*/ 2566555 h 2608118"/>
                  <a:gd name="connsiteX3" fmla="*/ 436418 w 4135581"/>
                  <a:gd name="connsiteY3" fmla="*/ 2556164 h 2608118"/>
                  <a:gd name="connsiteX4" fmla="*/ 540327 w 4135581"/>
                  <a:gd name="connsiteY4" fmla="*/ 2535382 h 2608118"/>
                  <a:gd name="connsiteX5" fmla="*/ 592281 w 4135581"/>
                  <a:gd name="connsiteY5" fmla="*/ 2514600 h 2608118"/>
                  <a:gd name="connsiteX6" fmla="*/ 685800 w 4135581"/>
                  <a:gd name="connsiteY6" fmla="*/ 2493818 h 2608118"/>
                  <a:gd name="connsiteX7" fmla="*/ 737754 w 4135581"/>
                  <a:gd name="connsiteY7" fmla="*/ 2473037 h 2608118"/>
                  <a:gd name="connsiteX8" fmla="*/ 820881 w 4135581"/>
                  <a:gd name="connsiteY8" fmla="*/ 2452255 h 2608118"/>
                  <a:gd name="connsiteX9" fmla="*/ 914400 w 4135581"/>
                  <a:gd name="connsiteY9" fmla="*/ 2410691 h 2608118"/>
                  <a:gd name="connsiteX10" fmla="*/ 976745 w 4135581"/>
                  <a:gd name="connsiteY10" fmla="*/ 2389909 h 2608118"/>
                  <a:gd name="connsiteX11" fmla="*/ 1039090 w 4135581"/>
                  <a:gd name="connsiteY11" fmla="*/ 2348346 h 2608118"/>
                  <a:gd name="connsiteX12" fmla="*/ 1070263 w 4135581"/>
                  <a:gd name="connsiteY12" fmla="*/ 2327564 h 2608118"/>
                  <a:gd name="connsiteX13" fmla="*/ 1122218 w 4135581"/>
                  <a:gd name="connsiteY13" fmla="*/ 2317173 h 2608118"/>
                  <a:gd name="connsiteX14" fmla="*/ 1163781 w 4135581"/>
                  <a:gd name="connsiteY14" fmla="*/ 2296391 h 2608118"/>
                  <a:gd name="connsiteX15" fmla="*/ 1194954 w 4135581"/>
                  <a:gd name="connsiteY15" fmla="*/ 2275609 h 2608118"/>
                  <a:gd name="connsiteX16" fmla="*/ 1226127 w 4135581"/>
                  <a:gd name="connsiteY16" fmla="*/ 2265218 h 2608118"/>
                  <a:gd name="connsiteX17" fmla="*/ 1278081 w 4135581"/>
                  <a:gd name="connsiteY17" fmla="*/ 2244437 h 2608118"/>
                  <a:gd name="connsiteX18" fmla="*/ 1340427 w 4135581"/>
                  <a:gd name="connsiteY18" fmla="*/ 2182091 h 2608118"/>
                  <a:gd name="connsiteX19" fmla="*/ 1371600 w 4135581"/>
                  <a:gd name="connsiteY19" fmla="*/ 2140527 h 2608118"/>
                  <a:gd name="connsiteX20" fmla="*/ 1413163 w 4135581"/>
                  <a:gd name="connsiteY20" fmla="*/ 2109355 h 2608118"/>
                  <a:gd name="connsiteX21" fmla="*/ 1496290 w 4135581"/>
                  <a:gd name="connsiteY21" fmla="*/ 2026227 h 2608118"/>
                  <a:gd name="connsiteX22" fmla="*/ 1589809 w 4135581"/>
                  <a:gd name="connsiteY22" fmla="*/ 1963882 h 2608118"/>
                  <a:gd name="connsiteX23" fmla="*/ 1631372 w 4135581"/>
                  <a:gd name="connsiteY23" fmla="*/ 1911927 h 2608118"/>
                  <a:gd name="connsiteX24" fmla="*/ 1672936 w 4135581"/>
                  <a:gd name="connsiteY24" fmla="*/ 1870364 h 2608118"/>
                  <a:gd name="connsiteX25" fmla="*/ 1704109 w 4135581"/>
                  <a:gd name="connsiteY25" fmla="*/ 1828800 h 2608118"/>
                  <a:gd name="connsiteX26" fmla="*/ 1735281 w 4135581"/>
                  <a:gd name="connsiteY26" fmla="*/ 1808018 h 2608118"/>
                  <a:gd name="connsiteX27" fmla="*/ 1766454 w 4135581"/>
                  <a:gd name="connsiteY27" fmla="*/ 1776846 h 2608118"/>
                  <a:gd name="connsiteX28" fmla="*/ 1984663 w 4135581"/>
                  <a:gd name="connsiteY28" fmla="*/ 1652155 h 2608118"/>
                  <a:gd name="connsiteX29" fmla="*/ 2015836 w 4135581"/>
                  <a:gd name="connsiteY29" fmla="*/ 1641764 h 2608118"/>
                  <a:gd name="connsiteX30" fmla="*/ 2098963 w 4135581"/>
                  <a:gd name="connsiteY30" fmla="*/ 1579418 h 2608118"/>
                  <a:gd name="connsiteX31" fmla="*/ 2130136 w 4135581"/>
                  <a:gd name="connsiteY31" fmla="*/ 1569027 h 2608118"/>
                  <a:gd name="connsiteX32" fmla="*/ 2161309 w 4135581"/>
                  <a:gd name="connsiteY32" fmla="*/ 1548246 h 2608118"/>
                  <a:gd name="connsiteX33" fmla="*/ 2202872 w 4135581"/>
                  <a:gd name="connsiteY33" fmla="*/ 1517073 h 2608118"/>
                  <a:gd name="connsiteX34" fmla="*/ 2234045 w 4135581"/>
                  <a:gd name="connsiteY34" fmla="*/ 1496291 h 2608118"/>
                  <a:gd name="connsiteX35" fmla="*/ 2296390 w 4135581"/>
                  <a:gd name="connsiteY35" fmla="*/ 1444337 h 2608118"/>
                  <a:gd name="connsiteX36" fmla="*/ 2348345 w 4135581"/>
                  <a:gd name="connsiteY36" fmla="*/ 1413164 h 2608118"/>
                  <a:gd name="connsiteX37" fmla="*/ 2410690 w 4135581"/>
                  <a:gd name="connsiteY37" fmla="*/ 1361209 h 2608118"/>
                  <a:gd name="connsiteX38" fmla="*/ 2452254 w 4135581"/>
                  <a:gd name="connsiteY38" fmla="*/ 1340427 h 2608118"/>
                  <a:gd name="connsiteX39" fmla="*/ 2504209 w 4135581"/>
                  <a:gd name="connsiteY39" fmla="*/ 1309255 h 2608118"/>
                  <a:gd name="connsiteX40" fmla="*/ 2566554 w 4135581"/>
                  <a:gd name="connsiteY40" fmla="*/ 1288473 h 2608118"/>
                  <a:gd name="connsiteX41" fmla="*/ 2670463 w 4135581"/>
                  <a:gd name="connsiteY41" fmla="*/ 1257300 h 2608118"/>
                  <a:gd name="connsiteX42" fmla="*/ 2763981 w 4135581"/>
                  <a:gd name="connsiteY42" fmla="*/ 1194955 h 2608118"/>
                  <a:gd name="connsiteX43" fmla="*/ 2815936 w 4135581"/>
                  <a:gd name="connsiteY43" fmla="*/ 1174173 h 2608118"/>
                  <a:gd name="connsiteX44" fmla="*/ 2857500 w 4135581"/>
                  <a:gd name="connsiteY44" fmla="*/ 1143000 h 2608118"/>
                  <a:gd name="connsiteX45" fmla="*/ 2940627 w 4135581"/>
                  <a:gd name="connsiteY45" fmla="*/ 1101437 h 2608118"/>
                  <a:gd name="connsiteX46" fmla="*/ 2982190 w 4135581"/>
                  <a:gd name="connsiteY46" fmla="*/ 1070264 h 2608118"/>
                  <a:gd name="connsiteX47" fmla="*/ 3200400 w 4135581"/>
                  <a:gd name="connsiteY47" fmla="*/ 945573 h 2608118"/>
                  <a:gd name="connsiteX48" fmla="*/ 3293918 w 4135581"/>
                  <a:gd name="connsiteY48" fmla="*/ 872837 h 2608118"/>
                  <a:gd name="connsiteX49" fmla="*/ 3325090 w 4135581"/>
                  <a:gd name="connsiteY49" fmla="*/ 862446 h 2608118"/>
                  <a:gd name="connsiteX50" fmla="*/ 3439390 w 4135581"/>
                  <a:gd name="connsiteY50" fmla="*/ 779318 h 2608118"/>
                  <a:gd name="connsiteX51" fmla="*/ 3543300 w 4135581"/>
                  <a:gd name="connsiteY51" fmla="*/ 665018 h 2608118"/>
                  <a:gd name="connsiteX52" fmla="*/ 3574472 w 4135581"/>
                  <a:gd name="connsiteY52" fmla="*/ 644237 h 2608118"/>
                  <a:gd name="connsiteX53" fmla="*/ 3605645 w 4135581"/>
                  <a:gd name="connsiteY53" fmla="*/ 602673 h 2608118"/>
                  <a:gd name="connsiteX54" fmla="*/ 3688772 w 4135581"/>
                  <a:gd name="connsiteY54" fmla="*/ 519546 h 2608118"/>
                  <a:gd name="connsiteX55" fmla="*/ 3719945 w 4135581"/>
                  <a:gd name="connsiteY55" fmla="*/ 446809 h 2608118"/>
                  <a:gd name="connsiteX56" fmla="*/ 3730336 w 4135581"/>
                  <a:gd name="connsiteY56" fmla="*/ 415637 h 2608118"/>
                  <a:gd name="connsiteX57" fmla="*/ 3792681 w 4135581"/>
                  <a:gd name="connsiteY57" fmla="*/ 290946 h 2608118"/>
                  <a:gd name="connsiteX58" fmla="*/ 3813463 w 4135581"/>
                  <a:gd name="connsiteY58" fmla="*/ 207818 h 2608118"/>
                  <a:gd name="connsiteX59" fmla="*/ 3823854 w 4135581"/>
                  <a:gd name="connsiteY59" fmla="*/ 103909 h 2608118"/>
                  <a:gd name="connsiteX60" fmla="*/ 3855027 w 4135581"/>
                  <a:gd name="connsiteY60" fmla="*/ 93518 h 2608118"/>
                  <a:gd name="connsiteX61" fmla="*/ 3958936 w 4135581"/>
                  <a:gd name="connsiteY61" fmla="*/ 83127 h 2608118"/>
                  <a:gd name="connsiteX62" fmla="*/ 4052454 w 4135581"/>
                  <a:gd name="connsiteY62" fmla="*/ 62346 h 2608118"/>
                  <a:gd name="connsiteX63" fmla="*/ 4104409 w 4135581"/>
                  <a:gd name="connsiteY63" fmla="*/ 20782 h 2608118"/>
                  <a:gd name="connsiteX64" fmla="*/ 4135581 w 4135581"/>
                  <a:gd name="connsiteY64" fmla="*/ 0 h 2608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4135581" h="2608118">
                    <a:moveTo>
                      <a:pt x="0" y="2608118"/>
                    </a:moveTo>
                    <a:cubicBezTo>
                      <a:pt x="86591" y="2601191"/>
                      <a:pt x="175498" y="2608405"/>
                      <a:pt x="259772" y="2587337"/>
                    </a:cubicBezTo>
                    <a:cubicBezTo>
                      <a:pt x="314867" y="2573563"/>
                      <a:pt x="297441" y="2576746"/>
                      <a:pt x="363681" y="2566555"/>
                    </a:cubicBezTo>
                    <a:cubicBezTo>
                      <a:pt x="387888" y="2562831"/>
                      <a:pt x="412299" y="2560420"/>
                      <a:pt x="436418" y="2556164"/>
                    </a:cubicBezTo>
                    <a:cubicBezTo>
                      <a:pt x="471203" y="2550025"/>
                      <a:pt x="540327" y="2535382"/>
                      <a:pt x="540327" y="2535382"/>
                    </a:cubicBezTo>
                    <a:cubicBezTo>
                      <a:pt x="557645" y="2528455"/>
                      <a:pt x="574586" y="2520498"/>
                      <a:pt x="592281" y="2514600"/>
                    </a:cubicBezTo>
                    <a:cubicBezTo>
                      <a:pt x="664217" y="2490621"/>
                      <a:pt x="603470" y="2518517"/>
                      <a:pt x="685800" y="2493818"/>
                    </a:cubicBezTo>
                    <a:cubicBezTo>
                      <a:pt x="703665" y="2488459"/>
                      <a:pt x="719889" y="2478396"/>
                      <a:pt x="737754" y="2473037"/>
                    </a:cubicBezTo>
                    <a:cubicBezTo>
                      <a:pt x="791966" y="2456774"/>
                      <a:pt x="778215" y="2470541"/>
                      <a:pt x="820881" y="2452255"/>
                    </a:cubicBezTo>
                    <a:cubicBezTo>
                      <a:pt x="912346" y="2413055"/>
                      <a:pt x="808064" y="2449359"/>
                      <a:pt x="914400" y="2410691"/>
                    </a:cubicBezTo>
                    <a:cubicBezTo>
                      <a:pt x="934987" y="2403205"/>
                      <a:pt x="958518" y="2402060"/>
                      <a:pt x="976745" y="2389909"/>
                    </a:cubicBezTo>
                    <a:lnTo>
                      <a:pt x="1039090" y="2348346"/>
                    </a:lnTo>
                    <a:cubicBezTo>
                      <a:pt x="1049481" y="2341419"/>
                      <a:pt x="1058017" y="2330013"/>
                      <a:pt x="1070263" y="2327564"/>
                    </a:cubicBezTo>
                    <a:lnTo>
                      <a:pt x="1122218" y="2317173"/>
                    </a:lnTo>
                    <a:cubicBezTo>
                      <a:pt x="1136072" y="2310246"/>
                      <a:pt x="1150332" y="2304076"/>
                      <a:pt x="1163781" y="2296391"/>
                    </a:cubicBezTo>
                    <a:cubicBezTo>
                      <a:pt x="1174624" y="2290195"/>
                      <a:pt x="1183784" y="2281194"/>
                      <a:pt x="1194954" y="2275609"/>
                    </a:cubicBezTo>
                    <a:cubicBezTo>
                      <a:pt x="1204751" y="2270711"/>
                      <a:pt x="1215871" y="2269064"/>
                      <a:pt x="1226127" y="2265218"/>
                    </a:cubicBezTo>
                    <a:cubicBezTo>
                      <a:pt x="1243591" y="2258669"/>
                      <a:pt x="1260763" y="2251364"/>
                      <a:pt x="1278081" y="2244437"/>
                    </a:cubicBezTo>
                    <a:cubicBezTo>
                      <a:pt x="1298863" y="2223655"/>
                      <a:pt x="1322793" y="2205603"/>
                      <a:pt x="1340427" y="2182091"/>
                    </a:cubicBezTo>
                    <a:cubicBezTo>
                      <a:pt x="1350818" y="2168236"/>
                      <a:pt x="1359354" y="2152773"/>
                      <a:pt x="1371600" y="2140527"/>
                    </a:cubicBezTo>
                    <a:cubicBezTo>
                      <a:pt x="1383846" y="2128281"/>
                      <a:pt x="1400397" y="2121057"/>
                      <a:pt x="1413163" y="2109355"/>
                    </a:cubicBezTo>
                    <a:cubicBezTo>
                      <a:pt x="1442050" y="2082875"/>
                      <a:pt x="1461240" y="2043751"/>
                      <a:pt x="1496290" y="2026227"/>
                    </a:cubicBezTo>
                    <a:cubicBezTo>
                      <a:pt x="1539798" y="2004474"/>
                      <a:pt x="1551378" y="2002313"/>
                      <a:pt x="1589809" y="1963882"/>
                    </a:cubicBezTo>
                    <a:cubicBezTo>
                      <a:pt x="1605491" y="1948200"/>
                      <a:pt x="1616638" y="1928503"/>
                      <a:pt x="1631372" y="1911927"/>
                    </a:cubicBezTo>
                    <a:cubicBezTo>
                      <a:pt x="1644389" y="1897283"/>
                      <a:pt x="1660034" y="1885109"/>
                      <a:pt x="1672936" y="1870364"/>
                    </a:cubicBezTo>
                    <a:cubicBezTo>
                      <a:pt x="1684340" y="1857331"/>
                      <a:pt x="1691863" y="1841046"/>
                      <a:pt x="1704109" y="1828800"/>
                    </a:cubicBezTo>
                    <a:cubicBezTo>
                      <a:pt x="1712939" y="1819969"/>
                      <a:pt x="1725687" y="1816013"/>
                      <a:pt x="1735281" y="1808018"/>
                    </a:cubicBezTo>
                    <a:cubicBezTo>
                      <a:pt x="1746570" y="1798611"/>
                      <a:pt x="1754345" y="1785171"/>
                      <a:pt x="1766454" y="1776846"/>
                    </a:cubicBezTo>
                    <a:cubicBezTo>
                      <a:pt x="1790309" y="1760446"/>
                      <a:pt x="1934881" y="1668749"/>
                      <a:pt x="1984663" y="1652155"/>
                    </a:cubicBezTo>
                    <a:cubicBezTo>
                      <a:pt x="1995054" y="1648691"/>
                      <a:pt x="2006039" y="1646662"/>
                      <a:pt x="2015836" y="1641764"/>
                    </a:cubicBezTo>
                    <a:cubicBezTo>
                      <a:pt x="2047942" y="1625711"/>
                      <a:pt x="2068371" y="1598538"/>
                      <a:pt x="2098963" y="1579418"/>
                    </a:cubicBezTo>
                    <a:cubicBezTo>
                      <a:pt x="2108251" y="1573613"/>
                      <a:pt x="2120339" y="1573925"/>
                      <a:pt x="2130136" y="1569027"/>
                    </a:cubicBezTo>
                    <a:cubicBezTo>
                      <a:pt x="2141306" y="1563442"/>
                      <a:pt x="2151147" y="1555505"/>
                      <a:pt x="2161309" y="1548246"/>
                    </a:cubicBezTo>
                    <a:cubicBezTo>
                      <a:pt x="2175401" y="1538180"/>
                      <a:pt x="2188780" y="1527139"/>
                      <a:pt x="2202872" y="1517073"/>
                    </a:cubicBezTo>
                    <a:cubicBezTo>
                      <a:pt x="2213034" y="1509814"/>
                      <a:pt x="2224187" y="1503958"/>
                      <a:pt x="2234045" y="1496291"/>
                    </a:cubicBezTo>
                    <a:cubicBezTo>
                      <a:pt x="2255398" y="1479683"/>
                      <a:pt x="2274512" y="1460248"/>
                      <a:pt x="2296390" y="1444337"/>
                    </a:cubicBezTo>
                    <a:cubicBezTo>
                      <a:pt x="2312724" y="1432458"/>
                      <a:pt x="2332188" y="1425282"/>
                      <a:pt x="2348345" y="1413164"/>
                    </a:cubicBezTo>
                    <a:cubicBezTo>
                      <a:pt x="2417114" y="1361587"/>
                      <a:pt x="2342845" y="1399978"/>
                      <a:pt x="2410690" y="1361209"/>
                    </a:cubicBezTo>
                    <a:cubicBezTo>
                      <a:pt x="2424139" y="1353524"/>
                      <a:pt x="2438713" y="1347949"/>
                      <a:pt x="2452254" y="1340427"/>
                    </a:cubicBezTo>
                    <a:cubicBezTo>
                      <a:pt x="2469909" y="1330619"/>
                      <a:pt x="2485823" y="1317612"/>
                      <a:pt x="2504209" y="1309255"/>
                    </a:cubicBezTo>
                    <a:cubicBezTo>
                      <a:pt x="2524151" y="1300190"/>
                      <a:pt x="2546215" y="1296609"/>
                      <a:pt x="2566554" y="1288473"/>
                    </a:cubicBezTo>
                    <a:cubicBezTo>
                      <a:pt x="2634907" y="1261132"/>
                      <a:pt x="2600219" y="1271349"/>
                      <a:pt x="2670463" y="1257300"/>
                    </a:cubicBezTo>
                    <a:cubicBezTo>
                      <a:pt x="2821337" y="1181863"/>
                      <a:pt x="2571827" y="1310247"/>
                      <a:pt x="2763981" y="1194955"/>
                    </a:cubicBezTo>
                    <a:cubicBezTo>
                      <a:pt x="2779975" y="1185358"/>
                      <a:pt x="2799631" y="1183231"/>
                      <a:pt x="2815936" y="1174173"/>
                    </a:cubicBezTo>
                    <a:cubicBezTo>
                      <a:pt x="2831075" y="1165762"/>
                      <a:pt x="2842541" y="1151726"/>
                      <a:pt x="2857500" y="1143000"/>
                    </a:cubicBezTo>
                    <a:cubicBezTo>
                      <a:pt x="2884260" y="1127390"/>
                      <a:pt x="2913868" y="1117047"/>
                      <a:pt x="2940627" y="1101437"/>
                    </a:cubicBezTo>
                    <a:cubicBezTo>
                      <a:pt x="2955586" y="1092711"/>
                      <a:pt x="2967548" y="1079512"/>
                      <a:pt x="2982190" y="1070264"/>
                    </a:cubicBezTo>
                    <a:cubicBezTo>
                      <a:pt x="3115784" y="985889"/>
                      <a:pt x="3100042" y="995752"/>
                      <a:pt x="3200400" y="945573"/>
                    </a:cubicBezTo>
                    <a:cubicBezTo>
                      <a:pt x="3238266" y="907705"/>
                      <a:pt x="3237985" y="903911"/>
                      <a:pt x="3293918" y="872837"/>
                    </a:cubicBezTo>
                    <a:cubicBezTo>
                      <a:pt x="3303492" y="867518"/>
                      <a:pt x="3314699" y="865910"/>
                      <a:pt x="3325090" y="862446"/>
                    </a:cubicBezTo>
                    <a:cubicBezTo>
                      <a:pt x="3363190" y="834737"/>
                      <a:pt x="3411123" y="817006"/>
                      <a:pt x="3439390" y="779318"/>
                    </a:cubicBezTo>
                    <a:cubicBezTo>
                      <a:pt x="3469674" y="738940"/>
                      <a:pt x="3500811" y="693343"/>
                      <a:pt x="3543300" y="665018"/>
                    </a:cubicBezTo>
                    <a:lnTo>
                      <a:pt x="3574472" y="644237"/>
                    </a:lnTo>
                    <a:cubicBezTo>
                      <a:pt x="3584863" y="630382"/>
                      <a:pt x="3593399" y="614919"/>
                      <a:pt x="3605645" y="602673"/>
                    </a:cubicBezTo>
                    <a:cubicBezTo>
                      <a:pt x="3710409" y="497909"/>
                      <a:pt x="3613617" y="619753"/>
                      <a:pt x="3688772" y="519546"/>
                    </a:cubicBezTo>
                    <a:cubicBezTo>
                      <a:pt x="3713139" y="446444"/>
                      <a:pt x="3681426" y="536685"/>
                      <a:pt x="3719945" y="446809"/>
                    </a:cubicBezTo>
                    <a:cubicBezTo>
                      <a:pt x="3724260" y="436742"/>
                      <a:pt x="3726123" y="425747"/>
                      <a:pt x="3730336" y="415637"/>
                    </a:cubicBezTo>
                    <a:cubicBezTo>
                      <a:pt x="3769200" y="322365"/>
                      <a:pt x="3755823" y="346234"/>
                      <a:pt x="3792681" y="290946"/>
                    </a:cubicBezTo>
                    <a:cubicBezTo>
                      <a:pt x="3799608" y="263237"/>
                      <a:pt x="3810621" y="236238"/>
                      <a:pt x="3813463" y="207818"/>
                    </a:cubicBezTo>
                    <a:cubicBezTo>
                      <a:pt x="3816927" y="173182"/>
                      <a:pt x="3811958" y="136622"/>
                      <a:pt x="3823854" y="103909"/>
                    </a:cubicBezTo>
                    <a:cubicBezTo>
                      <a:pt x="3827597" y="93615"/>
                      <a:pt x="3844201" y="95184"/>
                      <a:pt x="3855027" y="93518"/>
                    </a:cubicBezTo>
                    <a:cubicBezTo>
                      <a:pt x="3889431" y="88225"/>
                      <a:pt x="3924432" y="87727"/>
                      <a:pt x="3958936" y="83127"/>
                    </a:cubicBezTo>
                    <a:cubicBezTo>
                      <a:pt x="3987211" y="79357"/>
                      <a:pt x="4024228" y="69403"/>
                      <a:pt x="4052454" y="62346"/>
                    </a:cubicBezTo>
                    <a:cubicBezTo>
                      <a:pt x="4087487" y="9796"/>
                      <a:pt x="4054218" y="45878"/>
                      <a:pt x="4104409" y="20782"/>
                    </a:cubicBezTo>
                    <a:cubicBezTo>
                      <a:pt x="4115579" y="15197"/>
                      <a:pt x="4135581" y="0"/>
                      <a:pt x="4135581" y="0"/>
                    </a:cubicBez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3" name="对象 12"/>
              <p:cNvGraphicFramePr>
                <a:graphicFrameLocks noChangeAspect="1"/>
              </p:cNvGraphicFramePr>
              <p:nvPr/>
            </p:nvGraphicFramePr>
            <p:xfrm>
              <a:off x="8123507" y="4337380"/>
              <a:ext cx="974185" cy="4335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609480" imgH="253800" progId="Equation.DSMT4">
                      <p:embed/>
                    </p:oleObj>
                  </mc:Choice>
                  <mc:Fallback>
                    <p:oleObj name="Equation" r:id="rId3" imgW="609480" imgH="253800" progId="Equation.DSMT4">
                      <p:embed/>
                      <p:pic>
                        <p:nvPicPr>
                          <p:cNvPr id="13" name="对象 1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8123507" y="4337380"/>
                            <a:ext cx="974185" cy="43354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" name="文本框 2"/>
              <p:cNvSpPr txBox="1"/>
              <p:nvPr/>
            </p:nvSpPr>
            <p:spPr>
              <a:xfrm>
                <a:off x="6864226" y="3584448"/>
                <a:ext cx="33526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随便画一条：</a:t>
                </a:r>
                <a:r>
                  <a:rPr lang="en-US" altLang="zh-CN" b="1" dirty="0"/>
                  <a:t>Draw Randomly </a:t>
                </a:r>
                <a:endParaRPr lang="zh-CN" altLang="en-US" b="1" dirty="0"/>
              </a:p>
            </p:txBody>
          </p:sp>
          <p:graphicFrame>
            <p:nvGraphicFramePr>
              <p:cNvPr id="15" name="对象 14"/>
              <p:cNvGraphicFramePr>
                <a:graphicFrameLocks noChangeAspect="1"/>
              </p:cNvGraphicFramePr>
              <p:nvPr/>
            </p:nvGraphicFramePr>
            <p:xfrm>
              <a:off x="10949987" y="5747918"/>
              <a:ext cx="488861" cy="5728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26720" imgH="139680" progId="Equation.DSMT4">
                      <p:embed/>
                    </p:oleObj>
                  </mc:Choice>
                  <mc:Fallback>
                    <p:oleObj name="Equation" r:id="rId5" imgW="126720" imgH="139680" progId="Equation.DSMT4">
                      <p:embed/>
                      <p:pic>
                        <p:nvPicPr>
                          <p:cNvPr id="15" name="对象 14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0949987" y="5747918"/>
                            <a:ext cx="488861" cy="57288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/>
              <p:cNvGraphicFramePr>
                <a:graphicFrameLocks noChangeAspect="1"/>
              </p:cNvGraphicFramePr>
              <p:nvPr/>
            </p:nvGraphicFramePr>
            <p:xfrm>
              <a:off x="5806821" y="3492885"/>
              <a:ext cx="400728" cy="5030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39680" imgH="164880" progId="Equation.DSMT4">
                      <p:embed/>
                    </p:oleObj>
                  </mc:Choice>
                  <mc:Fallback>
                    <p:oleObj name="Equation" r:id="rId7" imgW="139680" imgH="164880" progId="Equation.DSMT4">
                      <p:embed/>
                      <p:pic>
                        <p:nvPicPr>
                          <p:cNvPr id="16" name="对象 15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806821" y="3492885"/>
                            <a:ext cx="400728" cy="50304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8" name="矩形 17"/>
          <p:cNvSpPr/>
          <p:nvPr/>
        </p:nvSpPr>
        <p:spPr>
          <a:xfrm>
            <a:off x="838200" y="1657454"/>
            <a:ext cx="42811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第零种建立模型方法：随便画一条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920754" y="2574361"/>
            <a:ext cx="490687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直观</a:t>
            </a:r>
            <a:r>
              <a:rPr lang="en-US" altLang="zh-CN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：近，</a:t>
            </a:r>
            <a:r>
              <a:rPr lang="zh-CN" altLang="en-US" b="1" u="sng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但没必要保证样本点都在上面！</a:t>
            </a:r>
            <a:endParaRPr lang="en-US" altLang="zh-CN" b="1" u="sng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直观</a:t>
            </a:r>
            <a:r>
              <a:rPr lang="en-US" altLang="zh-CN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：趋势！</a:t>
            </a:r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5930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50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第三种建立模型方法：</a:t>
            </a:r>
            <a:r>
              <a:rPr lang="zh-CN" altLang="en-US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逼近</a:t>
            </a:r>
            <a:endParaRPr lang="en-US" altLang="zh-CN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566988" y="5322888"/>
          <a:ext cx="16113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5322888"/>
                        <a:ext cx="1611312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2459780" y="5809666"/>
            <a:ext cx="18527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例如 ：一次函数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907314" y="2319016"/>
            <a:ext cx="613954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1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缺点：所有训练数据都不在函数上</a:t>
            </a:r>
            <a:endParaRPr lang="en-US" altLang="zh-CN" b="1" kern="100" dirty="0">
              <a:solidFill>
                <a:srgbClr val="C00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3CF6FB-7DFE-4F10-A6E2-8E4F4355F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53" y="2319016"/>
            <a:ext cx="4570187" cy="294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297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50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第三种建立模型方法：</a:t>
            </a:r>
            <a:r>
              <a:rPr lang="zh-CN" altLang="en-US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逼近</a:t>
            </a:r>
            <a:endParaRPr lang="en-US" altLang="zh-CN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745327"/>
              </p:ext>
            </p:extLst>
          </p:nvPr>
        </p:nvGraphicFramePr>
        <p:xfrm>
          <a:off x="2566988" y="5322888"/>
          <a:ext cx="16113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5322888"/>
                        <a:ext cx="1611312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2422710" y="5809666"/>
            <a:ext cx="21245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例如 ：一次函数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907314" y="2319016"/>
            <a:ext cx="613954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优点：</a:t>
            </a:r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① 整个函数图像跟训练数据很“接近”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 能显示出“上升趋势”，可以进行预测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1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缺点：所有训练数据都不在函数上</a:t>
            </a:r>
            <a:endParaRPr lang="en-US" altLang="zh-CN" b="1" kern="100" dirty="0">
              <a:solidFill>
                <a:srgbClr val="C00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3CF6FB-7DFE-4F10-A6E2-8E4F4355F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53" y="2319016"/>
            <a:ext cx="4570187" cy="294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87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827" y="1910995"/>
            <a:ext cx="3267074" cy="21031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672" y="1910995"/>
            <a:ext cx="3231606" cy="20802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69CB21E-5D00-4375-B97F-DB7B221427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1" y="1888163"/>
            <a:ext cx="3275101" cy="2103129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077764"/>
              </p:ext>
            </p:extLst>
          </p:nvPr>
        </p:nvGraphicFramePr>
        <p:xfrm>
          <a:off x="1117495" y="4238942"/>
          <a:ext cx="1972652" cy="950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4640" imgH="711000" progId="Equation.DSMT4">
                  <p:embed/>
                </p:oleObj>
              </mc:Choice>
              <mc:Fallback>
                <p:oleObj name="Equation" r:id="rId5" imgW="1574640" imgH="7110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7495" y="4238942"/>
                        <a:ext cx="1972652" cy="9502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632617"/>
              </p:ext>
            </p:extLst>
          </p:nvPr>
        </p:nvGraphicFramePr>
        <p:xfrm>
          <a:off x="4778378" y="4098436"/>
          <a:ext cx="2355449" cy="1231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63560" imgH="863280" progId="Equation.DSMT4">
                  <p:embed/>
                </p:oleObj>
              </mc:Choice>
              <mc:Fallback>
                <p:oleObj name="Equation" r:id="rId7" imgW="1663560" imgH="86328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78" y="4098436"/>
                        <a:ext cx="2355449" cy="12312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244197"/>
              </p:ext>
            </p:extLst>
          </p:nvPr>
        </p:nvGraphicFramePr>
        <p:xfrm>
          <a:off x="9398793" y="4326715"/>
          <a:ext cx="11668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36560" imgH="228600" progId="Equation.DSMT4">
                  <p:embed/>
                </p:oleObj>
              </mc:Choice>
              <mc:Fallback>
                <p:oleObj name="Equation" r:id="rId9" imgW="736560" imgH="2286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398793" y="4326715"/>
                        <a:ext cx="1166813" cy="38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983343" y="5707915"/>
            <a:ext cx="107151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所有训练数据点离函数近，同时看到上升趋势，这样才能进行预测，所以第三张图能满足这个要求</a:t>
            </a:r>
            <a:endParaRPr lang="en-US" altLang="zh-CN" sz="1600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47086" y="4839280"/>
            <a:ext cx="1335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√</a:t>
            </a:r>
          </a:p>
        </p:txBody>
      </p:sp>
      <p:sp>
        <p:nvSpPr>
          <p:cNvPr id="14" name="矩形 13"/>
          <p:cNvSpPr/>
          <p:nvPr/>
        </p:nvSpPr>
        <p:spPr>
          <a:xfrm>
            <a:off x="8008713" y="1728432"/>
            <a:ext cx="3573687" cy="24157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186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50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第三种建立模型方法：</a:t>
            </a:r>
            <a:r>
              <a:rPr lang="zh-CN" altLang="en-US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逼近</a:t>
            </a:r>
            <a:endParaRPr lang="en-US" altLang="zh-CN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566988" y="5322888"/>
          <a:ext cx="16113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5322888"/>
                        <a:ext cx="1611312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2435066" y="5820469"/>
            <a:ext cx="19762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例如 ：一次函数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3CF6FB-7DFE-4F10-A6E2-8E4F4355F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53" y="2319016"/>
            <a:ext cx="4570187" cy="2941987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 flipV="1">
            <a:off x="1915886" y="3338286"/>
            <a:ext cx="3497943" cy="951580"/>
          </a:xfrm>
          <a:prstGeom prst="line">
            <a:avLst/>
          </a:prstGeom>
          <a:ln w="254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1915886" y="2409488"/>
            <a:ext cx="3367314" cy="2409255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174433" y="2319016"/>
            <a:ext cx="49058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哪条线离样本最</a:t>
            </a:r>
            <a:r>
              <a:rPr lang="zh-CN" altLang="en-US" b="1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近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3176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50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第三种建立模型方法：</a:t>
            </a:r>
            <a:r>
              <a:rPr lang="zh-CN" altLang="en-US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逼近</a:t>
            </a:r>
            <a:endParaRPr lang="en-US" altLang="zh-CN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566988" y="5322888"/>
          <a:ext cx="16113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5322888"/>
                        <a:ext cx="1611312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2435066" y="5814985"/>
            <a:ext cx="49058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例如 ：一次函数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3CF6FB-7DFE-4F10-A6E2-8E4F4355F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53" y="2319016"/>
            <a:ext cx="4570187" cy="2941987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6174433" y="2319016"/>
            <a:ext cx="49058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我们需要定量化数据与模型的距离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02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50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第三种建立模型方法：</a:t>
            </a:r>
            <a:r>
              <a:rPr lang="zh-CN" altLang="en-US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逼近</a:t>
            </a:r>
            <a:endParaRPr lang="en-US" altLang="zh-CN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566988" y="5322888"/>
          <a:ext cx="16113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5322888"/>
                        <a:ext cx="1611312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2447424" y="5814985"/>
            <a:ext cx="49058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例如 ：一次函数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3CF6FB-7DFE-4F10-A6E2-8E4F4355F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53" y="2319016"/>
            <a:ext cx="4570187" cy="2941987"/>
          </a:xfrm>
          <a:prstGeom prst="rect">
            <a:avLst/>
          </a:prstGeom>
        </p:spPr>
      </p:pic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469878"/>
              </p:ext>
            </p:extLst>
          </p:nvPr>
        </p:nvGraphicFramePr>
        <p:xfrm>
          <a:off x="8995032" y="2228238"/>
          <a:ext cx="796290" cy="442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200" imgH="253800" progId="Equation.DSMT4">
                  <p:embed/>
                </p:oleObj>
              </mc:Choice>
              <mc:Fallback>
                <p:oleObj name="Equation" r:id="rId6" imgW="457200" imgH="25380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95032" y="2228238"/>
                        <a:ext cx="796290" cy="4423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5906419" y="2283729"/>
            <a:ext cx="32431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对于任意一个训练数据点：</a:t>
            </a:r>
            <a:endParaRPr lang="en-US" altLang="zh-CN" dirty="0"/>
          </a:p>
        </p:txBody>
      </p:sp>
      <p:sp>
        <p:nvSpPr>
          <p:cNvPr id="13" name="矩形 12"/>
          <p:cNvSpPr/>
          <p:nvPr/>
        </p:nvSpPr>
        <p:spPr>
          <a:xfrm>
            <a:off x="5906419" y="2813355"/>
            <a:ext cx="1627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其预测值：</a:t>
            </a:r>
            <a:endParaRPr lang="en-US" altLang="zh-CN" dirty="0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365908"/>
              </p:ext>
            </p:extLst>
          </p:nvPr>
        </p:nvGraphicFramePr>
        <p:xfrm>
          <a:off x="7444238" y="2788651"/>
          <a:ext cx="1705378" cy="406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680" imgH="253800" progId="Equation.DSMT4">
                  <p:embed/>
                </p:oleObj>
              </mc:Choice>
              <mc:Fallback>
                <p:oleObj name="Equation" r:id="rId8" imgW="1066680" imgH="253800" progId="Equation.DSMT4">
                  <p:embed/>
                  <p:pic>
                    <p:nvPicPr>
                      <p:cNvPr id="36" name="对象 3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444238" y="2788651"/>
                        <a:ext cx="1705378" cy="4063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/>
          <p:nvPr/>
        </p:nvSpPr>
        <p:spPr>
          <a:xfrm>
            <a:off x="5906419" y="3410783"/>
            <a:ext cx="32431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单个数据点与模型的距离：</a:t>
            </a:r>
            <a:endParaRPr lang="en-US" altLang="zh-CN" dirty="0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017712"/>
              </p:ext>
            </p:extLst>
          </p:nvPr>
        </p:nvGraphicFramePr>
        <p:xfrm>
          <a:off x="8995032" y="3330560"/>
          <a:ext cx="130492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49160" imgH="279360" progId="Equation.DSMT4">
                  <p:embed/>
                </p:oleObj>
              </mc:Choice>
              <mc:Fallback>
                <p:oleObj name="Equation" r:id="rId10" imgW="749160" imgH="279360" progId="Equation.DSMT4">
                  <p:embed/>
                  <p:pic>
                    <p:nvPicPr>
                      <p:cNvPr id="38" name="对象 3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995032" y="3330560"/>
                        <a:ext cx="1304925" cy="487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/>
          <p:cNvSpPr/>
          <p:nvPr/>
        </p:nvSpPr>
        <p:spPr>
          <a:xfrm>
            <a:off x="5906419" y="4072363"/>
            <a:ext cx="36423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所有数据点（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/>
              <a:t>个）的距离和：</a:t>
            </a:r>
            <a:endParaRPr lang="en-US" altLang="zh-CN" dirty="0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946430"/>
              </p:ext>
            </p:extLst>
          </p:nvPr>
        </p:nvGraphicFramePr>
        <p:xfrm>
          <a:off x="9393177" y="3871100"/>
          <a:ext cx="1614487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27000" imgH="431640" progId="Equation.DSMT4">
                  <p:embed/>
                </p:oleObj>
              </mc:Choice>
              <mc:Fallback>
                <p:oleObj name="Equation" r:id="rId12" imgW="927000" imgH="431640" progId="Equation.DSMT4">
                  <p:embed/>
                  <p:pic>
                    <p:nvPicPr>
                      <p:cNvPr id="42" name="对象 4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393177" y="3871100"/>
                        <a:ext cx="1614487" cy="75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椭圆 2"/>
          <p:cNvSpPr/>
          <p:nvPr/>
        </p:nvSpPr>
        <p:spPr>
          <a:xfrm>
            <a:off x="3489960" y="3863340"/>
            <a:ext cx="76200" cy="685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>
            <a:stCxn id="3" idx="0"/>
          </p:cNvCxnSpPr>
          <p:nvPr/>
        </p:nvCxnSpPr>
        <p:spPr>
          <a:xfrm>
            <a:off x="3528060" y="3863340"/>
            <a:ext cx="0" cy="190500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728562"/>
              </p:ext>
            </p:extLst>
          </p:nvPr>
        </p:nvGraphicFramePr>
        <p:xfrm>
          <a:off x="2353327" y="3332069"/>
          <a:ext cx="953998" cy="356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49160" imgH="279360" progId="Equation.DSMT4">
                  <p:embed/>
                </p:oleObj>
              </mc:Choice>
              <mc:Fallback>
                <p:oleObj name="Equation" r:id="rId10" imgW="749160" imgH="27936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353327" y="3332069"/>
                        <a:ext cx="953998" cy="356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箭头连接符 27"/>
          <p:cNvCxnSpPr/>
          <p:nvPr/>
        </p:nvCxnSpPr>
        <p:spPr>
          <a:xfrm>
            <a:off x="3048000" y="3688367"/>
            <a:ext cx="324644" cy="20926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5906419" y="4785955"/>
            <a:ext cx="9348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</a:rPr>
              <a:t>近：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544436"/>
              </p:ext>
            </p:extLst>
          </p:nvPr>
        </p:nvGraphicFramePr>
        <p:xfrm>
          <a:off x="6720773" y="4594383"/>
          <a:ext cx="1614487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27000" imgH="431640" progId="Equation.DSMT4">
                  <p:embed/>
                </p:oleObj>
              </mc:Choice>
              <mc:Fallback>
                <p:oleObj name="Equation" r:id="rId14" imgW="927000" imgH="43164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720773" y="4594383"/>
                        <a:ext cx="1614487" cy="75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/>
          <p:cNvSpPr/>
          <p:nvPr/>
        </p:nvSpPr>
        <p:spPr>
          <a:xfrm>
            <a:off x="8335260" y="478595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越小越好！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147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50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第三种建立模型方法：</a:t>
            </a:r>
            <a:r>
              <a:rPr lang="zh-CN" altLang="en-US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逼近</a:t>
            </a:r>
            <a:endParaRPr lang="en-US" altLang="zh-CN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566988" y="5322888"/>
          <a:ext cx="16113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5322888"/>
                        <a:ext cx="1611312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2360926" y="5782242"/>
            <a:ext cx="49058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例如 ：一次函数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3CF6FB-7DFE-4F10-A6E2-8E4F4355F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53" y="2319016"/>
            <a:ext cx="4570187" cy="2941987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5907314" y="2001815"/>
            <a:ext cx="30123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单个数据点与模型的距离</a:t>
            </a:r>
            <a:endParaRPr lang="en-US" altLang="zh-CN" dirty="0"/>
          </a:p>
        </p:txBody>
      </p:sp>
      <p:sp>
        <p:nvSpPr>
          <p:cNvPr id="23" name="矩形 22"/>
          <p:cNvSpPr/>
          <p:nvPr/>
        </p:nvSpPr>
        <p:spPr>
          <a:xfrm>
            <a:off x="5895481" y="3424414"/>
            <a:ext cx="3397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所有数据点（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/>
              <a:t>个）的距离和</a:t>
            </a:r>
            <a:endParaRPr lang="en-US" altLang="zh-CN" dirty="0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628200"/>
              </p:ext>
            </p:extLst>
          </p:nvPr>
        </p:nvGraphicFramePr>
        <p:xfrm>
          <a:off x="6578415" y="3897630"/>
          <a:ext cx="192405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840" imgH="431640" progId="Equation.DSMT4">
                  <p:embed/>
                </p:oleObj>
              </mc:Choice>
              <mc:Fallback>
                <p:oleObj name="Equation" r:id="rId6" imgW="1104840" imgH="43164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78415" y="3897630"/>
                        <a:ext cx="1924050" cy="75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椭圆 2"/>
          <p:cNvSpPr/>
          <p:nvPr/>
        </p:nvSpPr>
        <p:spPr>
          <a:xfrm>
            <a:off x="3489960" y="3863340"/>
            <a:ext cx="76200" cy="685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>
            <a:stCxn id="3" idx="0"/>
          </p:cNvCxnSpPr>
          <p:nvPr/>
        </p:nvCxnSpPr>
        <p:spPr>
          <a:xfrm>
            <a:off x="3528060" y="3863340"/>
            <a:ext cx="0" cy="190500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24912"/>
              </p:ext>
            </p:extLst>
          </p:nvPr>
        </p:nvGraphicFramePr>
        <p:xfrm>
          <a:off x="1948656" y="3233576"/>
          <a:ext cx="21986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26920" imgH="279360" progId="Equation.DSMT4">
                  <p:embed/>
                </p:oleObj>
              </mc:Choice>
              <mc:Fallback>
                <p:oleObj name="Equation" r:id="rId8" imgW="1726920" imgH="27936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48656" y="3233576"/>
                        <a:ext cx="2198688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箭头连接符 27"/>
          <p:cNvCxnSpPr/>
          <p:nvPr/>
        </p:nvCxnSpPr>
        <p:spPr>
          <a:xfrm>
            <a:off x="3048000" y="3688367"/>
            <a:ext cx="324644" cy="20926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5907314" y="4817932"/>
            <a:ext cx="2383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</a:rPr>
              <a:t>近 ：最小化损失和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768018"/>
              </p:ext>
            </p:extLst>
          </p:nvPr>
        </p:nvGraphicFramePr>
        <p:xfrm>
          <a:off x="6597162" y="2594993"/>
          <a:ext cx="274002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74640" imgH="279360" progId="Equation.DSMT4">
                  <p:embed/>
                </p:oleObj>
              </mc:Choice>
              <mc:Fallback>
                <p:oleObj name="Equation" r:id="rId10" imgW="1574640" imgH="279360" progId="Equation.DSMT4">
                  <p:embed/>
                  <p:pic>
                    <p:nvPicPr>
                      <p:cNvPr id="38" name="对象 3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597162" y="2594993"/>
                        <a:ext cx="2740025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9337187" y="2647658"/>
            <a:ext cx="2792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损失函数 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Loss Function</a:t>
            </a:r>
            <a:endParaRPr lang="en-US" altLang="zh-CN" sz="20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378507"/>
              </p:ext>
            </p:extLst>
          </p:nvPr>
        </p:nvGraphicFramePr>
        <p:xfrm>
          <a:off x="6578415" y="5211786"/>
          <a:ext cx="22764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07880" imgH="431640" progId="Equation.DSMT4">
                  <p:embed/>
                </p:oleObj>
              </mc:Choice>
              <mc:Fallback>
                <p:oleObj name="Equation" r:id="rId12" imgW="1307880" imgH="431640" progId="Equation.DSMT4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578415" y="5211786"/>
                        <a:ext cx="2276475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38008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50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第三种建立模型方法：</a:t>
            </a:r>
            <a:r>
              <a:rPr lang="zh-CN" altLang="en-US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逼近</a:t>
            </a:r>
            <a:endParaRPr lang="en-US" altLang="zh-CN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566988" y="5322888"/>
          <a:ext cx="16113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5322888"/>
                        <a:ext cx="1611312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2397996" y="5814985"/>
            <a:ext cx="49058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例如 ：一次函数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3CF6FB-7DFE-4F10-A6E2-8E4F4355F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53" y="2319016"/>
            <a:ext cx="4570187" cy="2941987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5907314" y="2001815"/>
            <a:ext cx="32431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单个数据点与模型的距离：</a:t>
            </a:r>
            <a:endParaRPr lang="en-US" altLang="zh-CN" dirty="0"/>
          </a:p>
        </p:txBody>
      </p:sp>
      <p:sp>
        <p:nvSpPr>
          <p:cNvPr id="3" name="椭圆 2"/>
          <p:cNvSpPr/>
          <p:nvPr/>
        </p:nvSpPr>
        <p:spPr>
          <a:xfrm>
            <a:off x="3489960" y="3863340"/>
            <a:ext cx="76200" cy="685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>
            <a:stCxn id="3" idx="0"/>
          </p:cNvCxnSpPr>
          <p:nvPr/>
        </p:nvCxnSpPr>
        <p:spPr>
          <a:xfrm>
            <a:off x="3528060" y="3863340"/>
            <a:ext cx="0" cy="190500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948656" y="3233576"/>
          <a:ext cx="21986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6920" imgH="279360" progId="Equation.DSMT4">
                  <p:embed/>
                </p:oleObj>
              </mc:Choice>
              <mc:Fallback>
                <p:oleObj name="Equation" r:id="rId6" imgW="1726920" imgH="27936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48656" y="3233576"/>
                        <a:ext cx="2198688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箭头连接符 27"/>
          <p:cNvCxnSpPr/>
          <p:nvPr/>
        </p:nvCxnSpPr>
        <p:spPr>
          <a:xfrm>
            <a:off x="3048000" y="3688367"/>
            <a:ext cx="324644" cy="20926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690937"/>
              </p:ext>
            </p:extLst>
          </p:nvPr>
        </p:nvGraphicFramePr>
        <p:xfrm>
          <a:off x="6597162" y="2658999"/>
          <a:ext cx="274002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74640" imgH="279360" progId="Equation.DSMT4">
                  <p:embed/>
                </p:oleObj>
              </mc:Choice>
              <mc:Fallback>
                <p:oleObj name="Equation" r:id="rId8" imgW="1574640" imgH="279360" progId="Equation.DSMT4">
                  <p:embed/>
                  <p:pic>
                    <p:nvPicPr>
                      <p:cNvPr id="24" name="对象 2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597162" y="2658999"/>
                        <a:ext cx="2740025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9337187" y="2722781"/>
            <a:ext cx="2792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损失函数 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Loss Function</a:t>
            </a:r>
            <a:endParaRPr lang="en-US" altLang="zh-CN" sz="20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907314" y="3513225"/>
            <a:ext cx="55515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历史问题：没有计算机时，绝对值和最小化太难算</a:t>
            </a:r>
            <a:endParaRPr lang="en-US" altLang="zh-CN" dirty="0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37780"/>
              </p:ext>
            </p:extLst>
          </p:nvPr>
        </p:nvGraphicFramePr>
        <p:xfrm>
          <a:off x="8198756" y="4671957"/>
          <a:ext cx="29400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88760" imgH="291960" progId="Equation.DSMT4">
                  <p:embed/>
                </p:oleObj>
              </mc:Choice>
              <mc:Fallback>
                <p:oleObj name="Equation" r:id="rId10" imgW="1688760" imgH="291960" progId="Equation.DSMT4">
                  <p:embed/>
                  <p:pic>
                    <p:nvPicPr>
                      <p:cNvPr id="24" name="对象 2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198756" y="4671957"/>
                        <a:ext cx="2940050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下箭头 8"/>
          <p:cNvSpPr/>
          <p:nvPr/>
        </p:nvSpPr>
        <p:spPr>
          <a:xfrm>
            <a:off x="8010978" y="4303669"/>
            <a:ext cx="375557" cy="3682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5907314" y="4736783"/>
            <a:ext cx="23198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用残差平方代替：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0801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50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第三种建立模型方法：</a:t>
            </a:r>
            <a:r>
              <a:rPr lang="zh-CN" altLang="en-US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逼近</a:t>
            </a:r>
            <a:endParaRPr lang="en-US" altLang="zh-CN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566988" y="5322888"/>
          <a:ext cx="16113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5322888"/>
                        <a:ext cx="1611312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2459780" y="5761834"/>
            <a:ext cx="49058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例如 ：一次函数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3CF6FB-7DFE-4F10-A6E2-8E4F4355F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53" y="2319016"/>
            <a:ext cx="4570187" cy="2941987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3489960" y="3863340"/>
            <a:ext cx="76200" cy="685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>
            <a:stCxn id="3" idx="0"/>
          </p:cNvCxnSpPr>
          <p:nvPr/>
        </p:nvCxnSpPr>
        <p:spPr>
          <a:xfrm>
            <a:off x="3528060" y="3863340"/>
            <a:ext cx="0" cy="190500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948656" y="3233576"/>
          <a:ext cx="21986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6920" imgH="279360" progId="Equation.DSMT4">
                  <p:embed/>
                </p:oleObj>
              </mc:Choice>
              <mc:Fallback>
                <p:oleObj name="Equation" r:id="rId6" imgW="1726920" imgH="27936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48656" y="3233576"/>
                        <a:ext cx="2198688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箭头连接符 27"/>
          <p:cNvCxnSpPr/>
          <p:nvPr/>
        </p:nvCxnSpPr>
        <p:spPr>
          <a:xfrm>
            <a:off x="3048000" y="3688367"/>
            <a:ext cx="324644" cy="20926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992679" y="1686480"/>
            <a:ext cx="36369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线性回归 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Linear Regression</a:t>
            </a:r>
            <a:endParaRPr lang="en-US" altLang="zh-CN" sz="20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539447"/>
              </p:ext>
            </p:extLst>
          </p:nvPr>
        </p:nvGraphicFramePr>
        <p:xfrm>
          <a:off x="6096000" y="2121226"/>
          <a:ext cx="22764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07880" imgH="431640" progId="Equation.DSMT4">
                  <p:embed/>
                </p:oleObj>
              </mc:Choice>
              <mc:Fallback>
                <p:oleObj name="Equation" r:id="rId8" imgW="1307880" imgH="431640" progId="Equation.DSMT4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96000" y="2121226"/>
                        <a:ext cx="2276475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下箭头 29"/>
          <p:cNvSpPr/>
          <p:nvPr/>
        </p:nvSpPr>
        <p:spPr>
          <a:xfrm rot="16200000">
            <a:off x="8512305" y="2292104"/>
            <a:ext cx="283858" cy="3566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905140"/>
              </p:ext>
            </p:extLst>
          </p:nvPr>
        </p:nvGraphicFramePr>
        <p:xfrm>
          <a:off x="8975989" y="2121225"/>
          <a:ext cx="2408237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84200" imgH="431640" progId="Equation.DSMT4">
                  <p:embed/>
                </p:oleObj>
              </mc:Choice>
              <mc:Fallback>
                <p:oleObj name="Equation" r:id="rId10" imgW="1384200" imgH="431640" progId="Equation.DSMT4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975989" y="2121225"/>
                        <a:ext cx="2408237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 33"/>
          <p:cNvSpPr/>
          <p:nvPr/>
        </p:nvSpPr>
        <p:spPr>
          <a:xfrm>
            <a:off x="8873635" y="2895022"/>
            <a:ext cx="30135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最小二乘原则 </a:t>
            </a:r>
            <a:r>
              <a: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Least Squares</a:t>
            </a:r>
          </a:p>
        </p:txBody>
      </p:sp>
      <p:sp>
        <p:nvSpPr>
          <p:cNvPr id="35" name="矩形 34"/>
          <p:cNvSpPr/>
          <p:nvPr/>
        </p:nvSpPr>
        <p:spPr>
          <a:xfrm>
            <a:off x="5992678" y="3241789"/>
            <a:ext cx="589452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法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：求偏导数（略）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法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：暴力</a:t>
            </a:r>
            <a:r>
              <a:rPr lang="zh-CN" altLang="en-US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配方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未知数是      和</a:t>
            </a:r>
            <a:endParaRPr lang="en-US" altLang="zh-CN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19738"/>
              </p:ext>
            </p:extLst>
          </p:nvPr>
        </p:nvGraphicFramePr>
        <p:xfrm>
          <a:off x="8873635" y="4253435"/>
          <a:ext cx="28733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4880" imgH="228600" progId="Equation.DSMT4">
                  <p:embed/>
                </p:oleObj>
              </mc:Choice>
              <mc:Fallback>
                <p:oleObj name="Equation" r:id="rId12" imgW="164880" imgH="228600" progId="Equation.DSMT4">
                  <p:embed/>
                  <p:pic>
                    <p:nvPicPr>
                      <p:cNvPr id="32" name="对象 3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873635" y="4253435"/>
                        <a:ext cx="287338" cy="3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156158"/>
              </p:ext>
            </p:extLst>
          </p:nvPr>
        </p:nvGraphicFramePr>
        <p:xfrm>
          <a:off x="9426254" y="4245640"/>
          <a:ext cx="26511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280" imgH="228600" progId="Equation.DSMT4">
                  <p:embed/>
                </p:oleObj>
              </mc:Choice>
              <mc:Fallback>
                <p:oleObj name="Equation" r:id="rId14" imgW="152280" imgH="228600" progId="Equation.DSMT4">
                  <p:embed/>
                  <p:pic>
                    <p:nvPicPr>
                      <p:cNvPr id="30" name="对象 2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426254" y="4245640"/>
                        <a:ext cx="265113" cy="3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5778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85108" y="1523309"/>
            <a:ext cx="36369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线性回归 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Linear Regression</a:t>
            </a:r>
            <a:endParaRPr lang="en-US" altLang="zh-CN" sz="20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721133"/>
              </p:ext>
            </p:extLst>
          </p:nvPr>
        </p:nvGraphicFramePr>
        <p:xfrm>
          <a:off x="988429" y="1958055"/>
          <a:ext cx="22764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431640" progId="Equation.DSMT4">
                  <p:embed/>
                </p:oleObj>
              </mc:Choice>
              <mc:Fallback>
                <p:oleObj name="Equation" r:id="rId3" imgW="1307880" imgH="43164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8429" y="1958055"/>
                        <a:ext cx="2276475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下箭头 29"/>
          <p:cNvSpPr/>
          <p:nvPr/>
        </p:nvSpPr>
        <p:spPr>
          <a:xfrm rot="16200000">
            <a:off x="3404734" y="2128933"/>
            <a:ext cx="283858" cy="3566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151866"/>
              </p:ext>
            </p:extLst>
          </p:nvPr>
        </p:nvGraphicFramePr>
        <p:xfrm>
          <a:off x="3868418" y="1958054"/>
          <a:ext cx="2408237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84200" imgH="431640" progId="Equation.DSMT4">
                  <p:embed/>
                </p:oleObj>
              </mc:Choice>
              <mc:Fallback>
                <p:oleObj name="Equation" r:id="rId5" imgW="1384200" imgH="431640" progId="Equation.DSMT4">
                  <p:embed/>
                  <p:pic>
                    <p:nvPicPr>
                      <p:cNvPr id="31" name="对象 3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68418" y="1958054"/>
                        <a:ext cx="2408237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 33"/>
          <p:cNvSpPr/>
          <p:nvPr/>
        </p:nvSpPr>
        <p:spPr>
          <a:xfrm>
            <a:off x="6296575" y="2165347"/>
            <a:ext cx="30135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最小二乘原则 </a:t>
            </a:r>
            <a:r>
              <a: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Least Squares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921157" y="2776606"/>
            <a:ext cx="5894521" cy="388938"/>
            <a:chOff x="5992678" y="3233575"/>
            <a:chExt cx="5894521" cy="388938"/>
          </a:xfrm>
        </p:grpSpPr>
        <p:sp>
          <p:nvSpPr>
            <p:cNvPr id="35" name="矩形 34"/>
            <p:cNvSpPr/>
            <p:nvPr/>
          </p:nvSpPr>
          <p:spPr>
            <a:xfrm>
              <a:off x="5992678" y="3241789"/>
              <a:ext cx="589452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法</a:t>
              </a:r>
              <a:r>
                <a:rPr lang="en-US" altLang="zh-CN" sz="16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16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：暴力</a:t>
              </a:r>
              <a:r>
                <a:rPr lang="zh-CN" altLang="en-US" sz="1600" b="1" kern="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配方</a:t>
              </a:r>
              <a:r>
                <a:rPr lang="zh-CN" altLang="en-US" sz="16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，未知数是      和</a:t>
              </a:r>
              <a:endPara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6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2655481"/>
                </p:ext>
              </p:extLst>
            </p:nvPr>
          </p:nvGraphicFramePr>
          <p:xfrm>
            <a:off x="8466931" y="3233576"/>
            <a:ext cx="287338" cy="388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4880" imgH="228600" progId="Equation.DSMT4">
                    <p:embed/>
                  </p:oleObj>
                </mc:Choice>
                <mc:Fallback>
                  <p:oleObj name="Equation" r:id="rId7" imgW="164880" imgH="228600" progId="Equation.DSMT4">
                    <p:embed/>
                    <p:pic>
                      <p:nvPicPr>
                        <p:cNvPr id="36" name="对象 3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466931" y="3233576"/>
                          <a:ext cx="287338" cy="3889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对象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644456"/>
                </p:ext>
              </p:extLst>
            </p:nvPr>
          </p:nvGraphicFramePr>
          <p:xfrm>
            <a:off x="9045027" y="3233575"/>
            <a:ext cx="265113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2280" imgH="228600" progId="Equation.DSMT4">
                    <p:embed/>
                  </p:oleObj>
                </mc:Choice>
                <mc:Fallback>
                  <p:oleObj name="Equation" r:id="rId9" imgW="152280" imgH="228600" progId="Equation.DSMT4">
                    <p:embed/>
                    <p:pic>
                      <p:nvPicPr>
                        <p:cNvPr id="37" name="对象 3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9045027" y="3233575"/>
                          <a:ext cx="265113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214627"/>
              </p:ext>
            </p:extLst>
          </p:nvPr>
        </p:nvGraphicFramePr>
        <p:xfrm>
          <a:off x="988429" y="3252803"/>
          <a:ext cx="9522914" cy="2361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264080" imgH="1828800" progId="Equation.DSMT4">
                  <p:embed/>
                </p:oleObj>
              </mc:Choice>
              <mc:Fallback>
                <p:oleObj name="Equation" r:id="rId11" imgW="7264080" imgH="18288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429" y="3252803"/>
                        <a:ext cx="9522914" cy="23613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/>
          <p:cNvSpPr/>
          <p:nvPr/>
        </p:nvSpPr>
        <p:spPr>
          <a:xfrm>
            <a:off x="1126288" y="4436309"/>
            <a:ext cx="3356263" cy="117786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121249"/>
              </p:ext>
            </p:extLst>
          </p:nvPr>
        </p:nvGraphicFramePr>
        <p:xfrm>
          <a:off x="7577246" y="3571544"/>
          <a:ext cx="777295" cy="789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96880" imgH="609480" progId="Equation.DSMT4">
                  <p:embed/>
                </p:oleObj>
              </mc:Choice>
              <mc:Fallback>
                <p:oleObj name="Equation" r:id="rId13" imgW="596880" imgH="60948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7246" y="3571544"/>
                        <a:ext cx="777295" cy="7896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6863416" y="3934484"/>
            <a:ext cx="9546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其中：</a:t>
            </a:r>
            <a:endParaRPr lang="en-US" altLang="zh-CN" sz="1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358598"/>
              </p:ext>
            </p:extLst>
          </p:nvPr>
        </p:nvGraphicFramePr>
        <p:xfrm>
          <a:off x="8501617" y="3563630"/>
          <a:ext cx="789633" cy="789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22080" imgH="609480" progId="Equation.DSMT4">
                  <p:embed/>
                </p:oleObj>
              </mc:Choice>
              <mc:Fallback>
                <p:oleObj name="Equation" r:id="rId15" imgW="622080" imgH="60948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1617" y="3563630"/>
                        <a:ext cx="789633" cy="7896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/>
          <p:cNvSpPr/>
          <p:nvPr/>
        </p:nvSpPr>
        <p:spPr>
          <a:xfrm>
            <a:off x="4613469" y="4436309"/>
            <a:ext cx="1464442" cy="117786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6260783" y="4433489"/>
            <a:ext cx="4250559" cy="117786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1126288" y="5719206"/>
            <a:ext cx="36369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关于     的完全平方式，</a:t>
            </a:r>
            <a:endParaRPr lang="en-US" altLang="zh-CN" sz="16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等于</a:t>
            </a:r>
            <a:r>
              <a: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可以直接解出</a:t>
            </a:r>
            <a:endParaRPr lang="en-US" altLang="zh-CN" sz="16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290767"/>
              </p:ext>
            </p:extLst>
          </p:nvPr>
        </p:nvGraphicFramePr>
        <p:xfrm>
          <a:off x="1632507" y="5706667"/>
          <a:ext cx="26511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2280" imgH="228600" progId="Equation.DSMT4">
                  <p:embed/>
                </p:oleObj>
              </mc:Choice>
              <mc:Fallback>
                <p:oleObj name="Equation" r:id="rId17" imgW="152280" imgH="228600" progId="Equation.DSMT4">
                  <p:embed/>
                  <p:pic>
                    <p:nvPicPr>
                      <p:cNvPr id="43" name="对象 4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32507" y="5706667"/>
                        <a:ext cx="265113" cy="3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组合 40"/>
          <p:cNvGrpSpPr/>
          <p:nvPr/>
        </p:nvGrpSpPr>
        <p:grpSpPr>
          <a:xfrm>
            <a:off x="4259423" y="5694014"/>
            <a:ext cx="3636976" cy="388937"/>
            <a:chOff x="4661354" y="5851342"/>
            <a:chExt cx="3636976" cy="388937"/>
          </a:xfrm>
        </p:grpSpPr>
        <p:sp>
          <p:nvSpPr>
            <p:cNvPr id="42" name="矩形 41"/>
            <p:cNvSpPr/>
            <p:nvPr/>
          </p:nvSpPr>
          <p:spPr>
            <a:xfrm>
              <a:off x="4661354" y="5851342"/>
              <a:ext cx="363697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kern="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关于         的完全平方式</a:t>
              </a:r>
              <a:endPara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3" name="对象 42"/>
            <p:cNvGraphicFramePr>
              <a:graphicFrameLocks noChangeAspect="1"/>
            </p:cNvGraphicFramePr>
            <p:nvPr/>
          </p:nvGraphicFramePr>
          <p:xfrm>
            <a:off x="5164926" y="5851342"/>
            <a:ext cx="506488" cy="388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30120" imgH="228600" progId="Equation.DSMT4">
                    <p:embed/>
                  </p:oleObj>
                </mc:Choice>
                <mc:Fallback>
                  <p:oleObj name="Equation" r:id="rId18" imgW="330120" imgH="228600" progId="Equation.DSMT4">
                    <p:embed/>
                    <p:pic>
                      <p:nvPicPr>
                        <p:cNvPr id="45" name="对象 44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164926" y="5851342"/>
                          <a:ext cx="506488" cy="3889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833413"/>
              </p:ext>
            </p:extLst>
          </p:nvPr>
        </p:nvGraphicFramePr>
        <p:xfrm>
          <a:off x="3078521" y="5971566"/>
          <a:ext cx="26511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52280" imgH="228600" progId="Equation.DSMT4">
                  <p:embed/>
                </p:oleObj>
              </mc:Choice>
              <mc:Fallback>
                <p:oleObj name="Equation" r:id="rId20" imgW="152280" imgH="228600" progId="Equation.DSMT4">
                  <p:embed/>
                  <p:pic>
                    <p:nvPicPr>
                      <p:cNvPr id="49" name="对象 4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78521" y="5971566"/>
                        <a:ext cx="265113" cy="3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组合 44"/>
          <p:cNvGrpSpPr/>
          <p:nvPr/>
        </p:nvGrpSpPr>
        <p:grpSpPr>
          <a:xfrm>
            <a:off x="4259423" y="5971566"/>
            <a:ext cx="3636976" cy="388938"/>
            <a:chOff x="4661354" y="5851341"/>
            <a:chExt cx="3636976" cy="388938"/>
          </a:xfrm>
        </p:grpSpPr>
        <p:sp>
          <p:nvSpPr>
            <p:cNvPr id="46" name="矩形 45"/>
            <p:cNvSpPr/>
            <p:nvPr/>
          </p:nvSpPr>
          <p:spPr>
            <a:xfrm>
              <a:off x="4661354" y="5851342"/>
              <a:ext cx="363697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kern="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等于</a:t>
              </a:r>
              <a:r>
                <a:rPr lang="en-US" altLang="zh-CN" sz="1600" b="1" kern="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  <a:r>
                <a:rPr lang="zh-CN" altLang="en-US" sz="1600" b="1" kern="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，可以直接解出</a:t>
              </a:r>
              <a:endPara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7" name="对象 46"/>
            <p:cNvGraphicFramePr>
              <a:graphicFrameLocks noChangeAspect="1"/>
            </p:cNvGraphicFramePr>
            <p:nvPr/>
          </p:nvGraphicFramePr>
          <p:xfrm>
            <a:off x="6718750" y="5851341"/>
            <a:ext cx="254000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64880" imgH="228600" progId="Equation.DSMT4">
                    <p:embed/>
                  </p:oleObj>
                </mc:Choice>
                <mc:Fallback>
                  <p:oleObj name="Equation" r:id="rId21" imgW="164880" imgH="228600" progId="Equation.DSMT4">
                    <p:embed/>
                    <p:pic>
                      <p:nvPicPr>
                        <p:cNvPr id="52" name="对象 51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718750" y="5851341"/>
                          <a:ext cx="254000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矩形 47"/>
          <p:cNvSpPr/>
          <p:nvPr/>
        </p:nvSpPr>
        <p:spPr>
          <a:xfrm>
            <a:off x="7472762" y="5743605"/>
            <a:ext cx="36369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常数项，不用管</a:t>
            </a:r>
            <a:endParaRPr lang="en-US" altLang="zh-CN" sz="16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3245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50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第三种建立模型方法：</a:t>
            </a:r>
            <a:r>
              <a:rPr lang="zh-CN" altLang="en-US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逼近</a:t>
            </a:r>
            <a:endParaRPr lang="en-US" altLang="zh-CN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566988" y="5322888"/>
          <a:ext cx="16113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5322888"/>
                        <a:ext cx="1611312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2453693" y="5758023"/>
            <a:ext cx="2007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例如 ：一次函数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3CF6FB-7DFE-4F10-A6E2-8E4F4355F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53" y="2319016"/>
            <a:ext cx="4570187" cy="2941987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3489960" y="3863340"/>
            <a:ext cx="76200" cy="685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>
            <a:stCxn id="3" idx="0"/>
          </p:cNvCxnSpPr>
          <p:nvPr/>
        </p:nvCxnSpPr>
        <p:spPr>
          <a:xfrm>
            <a:off x="3528060" y="3863340"/>
            <a:ext cx="0" cy="190500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948656" y="3233576"/>
          <a:ext cx="21986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6920" imgH="279360" progId="Equation.DSMT4">
                  <p:embed/>
                </p:oleObj>
              </mc:Choice>
              <mc:Fallback>
                <p:oleObj name="Equation" r:id="rId6" imgW="1726920" imgH="27936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48656" y="3233576"/>
                        <a:ext cx="2198688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箭头连接符 27"/>
          <p:cNvCxnSpPr/>
          <p:nvPr/>
        </p:nvCxnSpPr>
        <p:spPr>
          <a:xfrm>
            <a:off x="3048000" y="3688367"/>
            <a:ext cx="324644" cy="20926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992679" y="1686480"/>
            <a:ext cx="36369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线性回归 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Linear Regression</a:t>
            </a:r>
            <a:endParaRPr lang="en-US" altLang="zh-CN" sz="20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096000" y="2121226"/>
          <a:ext cx="22764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07880" imgH="431640" progId="Equation.DSMT4">
                  <p:embed/>
                </p:oleObj>
              </mc:Choice>
              <mc:Fallback>
                <p:oleObj name="Equation" r:id="rId8" imgW="1307880" imgH="43164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96000" y="2121226"/>
                        <a:ext cx="2276475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下箭头 29"/>
          <p:cNvSpPr/>
          <p:nvPr/>
        </p:nvSpPr>
        <p:spPr>
          <a:xfrm rot="16200000">
            <a:off x="8512305" y="2292104"/>
            <a:ext cx="283858" cy="3566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8975989" y="2121225"/>
          <a:ext cx="2408237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84200" imgH="431640" progId="Equation.DSMT4">
                  <p:embed/>
                </p:oleObj>
              </mc:Choice>
              <mc:Fallback>
                <p:oleObj name="Equation" r:id="rId10" imgW="1384200" imgH="431640" progId="Equation.DSMT4">
                  <p:embed/>
                  <p:pic>
                    <p:nvPicPr>
                      <p:cNvPr id="31" name="对象 3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975989" y="2121225"/>
                        <a:ext cx="2408237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 33"/>
          <p:cNvSpPr/>
          <p:nvPr/>
        </p:nvSpPr>
        <p:spPr>
          <a:xfrm>
            <a:off x="8873635" y="2895022"/>
            <a:ext cx="30135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最小二乘原则 </a:t>
            </a:r>
            <a:r>
              <a: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Least Squares</a:t>
            </a:r>
          </a:p>
        </p:txBody>
      </p:sp>
      <p:sp>
        <p:nvSpPr>
          <p:cNvPr id="35" name="矩形 34"/>
          <p:cNvSpPr/>
          <p:nvPr/>
        </p:nvSpPr>
        <p:spPr>
          <a:xfrm>
            <a:off x="5992678" y="3241789"/>
            <a:ext cx="237979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</a:p>
          <a:p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解出来最优参数</a:t>
            </a:r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 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042108"/>
              </p:ext>
            </p:extLst>
          </p:nvPr>
        </p:nvGraphicFramePr>
        <p:xfrm>
          <a:off x="7937744" y="3519374"/>
          <a:ext cx="1415659" cy="366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63280" imgH="228600" progId="Equation.DSMT4">
                  <p:embed/>
                </p:oleObj>
              </mc:Choice>
              <mc:Fallback>
                <p:oleObj name="Equation" r:id="rId12" imgW="863280" imgH="228600" progId="Equation.DSMT4">
                  <p:embed/>
                  <p:pic>
                    <p:nvPicPr>
                      <p:cNvPr id="36" name="对象 3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937744" y="3519374"/>
                        <a:ext cx="1415659" cy="3662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948195"/>
              </p:ext>
            </p:extLst>
          </p:nvPr>
        </p:nvGraphicFramePr>
        <p:xfrm>
          <a:off x="7937744" y="3903013"/>
          <a:ext cx="1130020" cy="368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85800" imgH="228600" progId="Equation.DSMT4">
                  <p:embed/>
                </p:oleObj>
              </mc:Choice>
              <mc:Fallback>
                <p:oleObj name="Equation" r:id="rId14" imgW="685800" imgH="228600" progId="Equation.DSMT4">
                  <p:embed/>
                  <p:pic>
                    <p:nvPicPr>
                      <p:cNvPr id="37" name="对象 3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937744" y="3903013"/>
                        <a:ext cx="1130020" cy="3681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5861194"/>
              </p:ext>
            </p:extLst>
          </p:nvPr>
        </p:nvGraphicFramePr>
        <p:xfrm>
          <a:off x="6750916" y="4697138"/>
          <a:ext cx="245427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09400" imgH="203040" progId="Equation.DSMT4">
                  <p:embed/>
                </p:oleObj>
              </mc:Choice>
              <mc:Fallback>
                <p:oleObj name="Equation" r:id="rId16" imgW="1409400" imgH="20304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750916" y="4697138"/>
                        <a:ext cx="2454275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左大括号 6"/>
          <p:cNvSpPr/>
          <p:nvPr/>
        </p:nvSpPr>
        <p:spPr>
          <a:xfrm>
            <a:off x="7651224" y="3577426"/>
            <a:ext cx="286520" cy="631402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449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50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第三种建立模型方法：</a:t>
            </a:r>
            <a:r>
              <a:rPr lang="zh-CN" altLang="en-US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逼近</a:t>
            </a:r>
            <a:endParaRPr lang="en-US" altLang="zh-CN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8005287"/>
              </p:ext>
            </p:extLst>
          </p:nvPr>
        </p:nvGraphicFramePr>
        <p:xfrm>
          <a:off x="2566988" y="5261003"/>
          <a:ext cx="16113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5261003"/>
                        <a:ext cx="1611312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2459780" y="5765557"/>
            <a:ext cx="18280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例如：一次函数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3CF6FB-7DFE-4F10-A6E2-8E4F4355F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53" y="2319016"/>
            <a:ext cx="4570187" cy="2941987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5992679" y="1686480"/>
            <a:ext cx="36369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能不能更近一点？</a:t>
            </a:r>
            <a:endParaRPr lang="en-US" altLang="zh-CN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415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50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第三种建立模型方法：</a:t>
            </a:r>
            <a:r>
              <a:rPr lang="zh-CN" altLang="en-US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逼近</a:t>
            </a:r>
            <a:endParaRPr lang="en-US" altLang="zh-CN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566988" y="5261003"/>
          <a:ext cx="16113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5261003"/>
                        <a:ext cx="1611312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2447423" y="5759039"/>
            <a:ext cx="49058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例如 ：一次函数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992679" y="1686480"/>
            <a:ext cx="36369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能不能更近一点？</a:t>
            </a:r>
            <a:endParaRPr lang="en-US" altLang="zh-CN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816100" y="5168900"/>
            <a:ext cx="4176579" cy="101541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1905000" y="5067300"/>
            <a:ext cx="4002314" cy="111701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5992678" y="4337911"/>
            <a:ext cx="4586421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数据点长的很像二次函数</a:t>
            </a:r>
          </a:p>
          <a:p>
            <a:r>
              <a:rPr lang="en-US" altLang="zh-CN" sz="20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Like a quadratic function</a:t>
            </a: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992678" y="5046690"/>
          <a:ext cx="22161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800" imgH="253800" progId="Equation.DSMT4">
                  <p:embed/>
                </p:oleObj>
              </mc:Choice>
              <mc:Fallback>
                <p:oleObj name="Equation" r:id="rId5" imgW="1396800" imgH="25380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92678" y="5046690"/>
                        <a:ext cx="2216150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图片 19">
            <a:extLst>
              <a:ext uri="{FF2B5EF4-FFF2-40B4-BE49-F238E27FC236}">
                <a16:creationId xmlns:a16="http://schemas.microsoft.com/office/drawing/2014/main" id="{EB2D92F9-90DB-4A1F-903D-3CB62A716E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315" y="2362437"/>
            <a:ext cx="4301639" cy="2762327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8294192" y="5067300"/>
            <a:ext cx="36369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决策函数 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Decision Function</a:t>
            </a:r>
            <a:endParaRPr lang="en-US" altLang="zh-CN" sz="20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9296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8200" y="1614506"/>
            <a:ext cx="50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第三种建立模型方法：</a:t>
            </a:r>
            <a:r>
              <a:rPr lang="zh-CN" altLang="en-US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逼近</a:t>
            </a:r>
            <a:endParaRPr lang="en-US" altLang="zh-CN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566988" y="5261003"/>
          <a:ext cx="16113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5261003"/>
                        <a:ext cx="1611312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2447423" y="5759039"/>
            <a:ext cx="49058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例如 ：一次函数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992679" y="1686480"/>
            <a:ext cx="36369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能不能更近一点？</a:t>
            </a:r>
            <a:endParaRPr lang="en-US" altLang="zh-CN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816100" y="5168900"/>
            <a:ext cx="4176579" cy="101541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1905000" y="5067300"/>
            <a:ext cx="4002314" cy="111701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5992678" y="4337911"/>
            <a:ext cx="4586421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数据点长的很像二次函数</a:t>
            </a:r>
          </a:p>
          <a:p>
            <a:r>
              <a:rPr lang="en-US" altLang="zh-CN" sz="20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Like a quadratic function</a:t>
            </a: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992678" y="5046690"/>
          <a:ext cx="22161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800" imgH="253800" progId="Equation.DSMT4">
                  <p:embed/>
                </p:oleObj>
              </mc:Choice>
              <mc:Fallback>
                <p:oleObj name="Equation" r:id="rId5" imgW="1396800" imgH="25380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92678" y="5046690"/>
                        <a:ext cx="2216150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图片 19">
            <a:extLst>
              <a:ext uri="{FF2B5EF4-FFF2-40B4-BE49-F238E27FC236}">
                <a16:creationId xmlns:a16="http://schemas.microsoft.com/office/drawing/2014/main" id="{EB2D92F9-90DB-4A1F-903D-3CB62A716E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315" y="2362437"/>
            <a:ext cx="4301639" cy="2762327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8294192" y="5067300"/>
            <a:ext cx="36369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决策函数 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Decision Function</a:t>
            </a:r>
            <a:endParaRPr lang="en-US" altLang="zh-CN" sz="20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2DC50E-CEB0-4BD2-9012-5C9CB6071808}"/>
              </a:ext>
            </a:extLst>
          </p:cNvPr>
          <p:cNvSpPr/>
          <p:nvPr/>
        </p:nvSpPr>
        <p:spPr>
          <a:xfrm>
            <a:off x="5992678" y="2623162"/>
            <a:ext cx="59384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优点：整个函数图像跟训练数据更加“接近”，不仅显示出“上升趋势”，而且还能显示出“越增越快”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5084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</a:t>
            </a:r>
            <a:r>
              <a:rPr lang="en-US" altLang="zh-CN" sz="3600" b="1" dirty="0"/>
              <a:t>Example</a:t>
            </a:r>
            <a:r>
              <a:rPr lang="zh-CN" altLang="en-US" sz="3600" b="1" dirty="0"/>
              <a:t>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203431" y="1690075"/>
            <a:ext cx="105954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既然二次更好，三次呢，四次呢，无穷次呢？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644532" y="4747626"/>
          <a:ext cx="2495675" cy="484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253800" progId="Equation.DSMT4">
                  <p:embed/>
                </p:oleObj>
              </mc:Choice>
              <mc:Fallback>
                <p:oleObj name="Equation" r:id="rId3" imgW="1396800" imgH="25380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4532" y="4747626"/>
                        <a:ext cx="2495675" cy="484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图片 23">
            <a:extLst>
              <a:ext uri="{FF2B5EF4-FFF2-40B4-BE49-F238E27FC236}">
                <a16:creationId xmlns:a16="http://schemas.microsoft.com/office/drawing/2014/main" id="{EB2D92F9-90DB-4A1F-903D-3CB62A716E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933" y="2813836"/>
            <a:ext cx="2868586" cy="184208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56293"/>
            <a:ext cx="2807589" cy="1807343"/>
          </a:xfrm>
          <a:prstGeom prst="rect">
            <a:avLst/>
          </a:prstGeom>
        </p:spPr>
      </p:pic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478130" y="4698375"/>
          <a:ext cx="20002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5920" imgH="253800" progId="Equation.DSMT4">
                  <p:embed/>
                </p:oleObj>
              </mc:Choice>
              <mc:Fallback>
                <p:oleObj name="Equation" r:id="rId7" imgW="1015920" imgH="25380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8130" y="4698375"/>
                        <a:ext cx="200025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7717162" y="357529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027413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</a:t>
            </a:r>
            <a:r>
              <a:rPr lang="en-US" altLang="zh-CN" sz="3600" b="1" dirty="0"/>
              <a:t>Example</a:t>
            </a:r>
            <a:r>
              <a:rPr lang="zh-CN" altLang="en-US" sz="3600" b="1" dirty="0"/>
              <a:t>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203431" y="1690075"/>
            <a:ext cx="105954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既然二次更好，三次呢，四次呢，无穷次呢？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353509"/>
              </p:ext>
            </p:extLst>
          </p:nvPr>
        </p:nvGraphicFramePr>
        <p:xfrm>
          <a:off x="4644532" y="4747626"/>
          <a:ext cx="2495675" cy="484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253800" progId="Equation.DSMT4">
                  <p:embed/>
                </p:oleObj>
              </mc:Choice>
              <mc:Fallback>
                <p:oleObj name="Equation" r:id="rId3" imgW="1396800" imgH="2538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4532" y="4747626"/>
                        <a:ext cx="2495675" cy="484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图片 23">
            <a:extLst>
              <a:ext uri="{FF2B5EF4-FFF2-40B4-BE49-F238E27FC236}">
                <a16:creationId xmlns:a16="http://schemas.microsoft.com/office/drawing/2014/main" id="{EB2D92F9-90DB-4A1F-903D-3CB62A716E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933" y="2813836"/>
            <a:ext cx="2868586" cy="184208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56293"/>
            <a:ext cx="2807589" cy="1807343"/>
          </a:xfrm>
          <a:prstGeom prst="rect">
            <a:avLst/>
          </a:prstGeom>
        </p:spPr>
      </p:pic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775499"/>
              </p:ext>
            </p:extLst>
          </p:nvPr>
        </p:nvGraphicFramePr>
        <p:xfrm>
          <a:off x="1478130" y="4698375"/>
          <a:ext cx="20002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5920" imgH="253800" progId="Equation.DSMT4">
                  <p:embed/>
                </p:oleObj>
              </mc:Choice>
              <mc:Fallback>
                <p:oleObj name="Equation" r:id="rId7" imgW="1015920" imgH="25380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8130" y="4698375"/>
                        <a:ext cx="200025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7717162" y="357529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360" y="2856293"/>
            <a:ext cx="2862448" cy="1842657"/>
          </a:xfrm>
          <a:prstGeom prst="rect">
            <a:avLst/>
          </a:prstGeom>
        </p:spPr>
      </p:pic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900667"/>
              </p:ext>
            </p:extLst>
          </p:nvPr>
        </p:nvGraphicFramePr>
        <p:xfrm>
          <a:off x="8446101" y="4748402"/>
          <a:ext cx="29495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50960" imgH="253800" progId="Equation.DSMT4">
                  <p:embed/>
                </p:oleObj>
              </mc:Choice>
              <mc:Fallback>
                <p:oleObj name="Equation" r:id="rId10" imgW="165096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446101" y="4748402"/>
                        <a:ext cx="294957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826255"/>
              </p:ext>
            </p:extLst>
          </p:nvPr>
        </p:nvGraphicFramePr>
        <p:xfrm>
          <a:off x="8559859" y="5267167"/>
          <a:ext cx="2355449" cy="1231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63560" imgH="863280" progId="Equation.DSMT4">
                  <p:embed/>
                </p:oleObj>
              </mc:Choice>
              <mc:Fallback>
                <p:oleObj name="Equation" r:id="rId12" imgW="1663560" imgH="86328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59" y="5267167"/>
                        <a:ext cx="2355449" cy="12312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56409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</a:t>
            </a:r>
            <a:r>
              <a:rPr lang="en-US" altLang="zh-CN" sz="3600" b="1" dirty="0"/>
              <a:t>Example</a:t>
            </a:r>
            <a:r>
              <a:rPr lang="zh-CN" altLang="en-US" sz="3600" b="1" dirty="0"/>
              <a:t>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203431" y="1690075"/>
            <a:ext cx="105954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既然二次更好，三次呢，四次呢，无穷次呢？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644532" y="4747626"/>
          <a:ext cx="2495675" cy="484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253800" progId="Equation.DSMT4">
                  <p:embed/>
                </p:oleObj>
              </mc:Choice>
              <mc:Fallback>
                <p:oleObj name="Equation" r:id="rId3" imgW="1396800" imgH="25380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4532" y="4747626"/>
                        <a:ext cx="2495675" cy="484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图片 23">
            <a:extLst>
              <a:ext uri="{FF2B5EF4-FFF2-40B4-BE49-F238E27FC236}">
                <a16:creationId xmlns:a16="http://schemas.microsoft.com/office/drawing/2014/main" id="{EB2D92F9-90DB-4A1F-903D-3CB62A716E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933" y="2813836"/>
            <a:ext cx="2868586" cy="184208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56293"/>
            <a:ext cx="2807589" cy="1807343"/>
          </a:xfrm>
          <a:prstGeom prst="rect">
            <a:avLst/>
          </a:prstGeom>
        </p:spPr>
      </p:pic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478130" y="4698375"/>
          <a:ext cx="20002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5920" imgH="253800" progId="Equation.DSMT4">
                  <p:embed/>
                </p:oleObj>
              </mc:Choice>
              <mc:Fallback>
                <p:oleObj name="Equation" r:id="rId7" imgW="1015920" imgH="25380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8130" y="4698375"/>
                        <a:ext cx="200025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7717162" y="357529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360" y="2856293"/>
            <a:ext cx="2862448" cy="1842657"/>
          </a:xfrm>
          <a:prstGeom prst="rect">
            <a:avLst/>
          </a:prstGeom>
        </p:spPr>
      </p:pic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8446101" y="4748402"/>
          <a:ext cx="29495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50960" imgH="253800" progId="Equation.DSMT4">
                  <p:embed/>
                </p:oleObj>
              </mc:Choice>
              <mc:Fallback>
                <p:oleObj name="Equation" r:id="rId10" imgW="1650960" imgH="253800" progId="Equation.DSMT4">
                  <p:embed/>
                  <p:pic>
                    <p:nvPicPr>
                      <p:cNvPr id="29" name="对象 2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446101" y="4748402"/>
                        <a:ext cx="294957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8559859" y="5267167"/>
          <a:ext cx="2355449" cy="1231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63560" imgH="863280" progId="Equation.DSMT4">
                  <p:embed/>
                </p:oleObj>
              </mc:Choice>
              <mc:Fallback>
                <p:oleObj name="Equation" r:id="rId12" imgW="1663560" imgH="86328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59" y="5267167"/>
                        <a:ext cx="2355449" cy="12312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9133488" y="2880200"/>
            <a:ext cx="1781820" cy="15775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9133488" y="2856293"/>
            <a:ext cx="1648812" cy="164386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234096" y="5674627"/>
            <a:ext cx="49529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第二种建立模型方法：多项式插值</a:t>
            </a:r>
            <a:endParaRPr lang="en-US" altLang="zh-CN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865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</a:t>
            </a:r>
            <a:r>
              <a:rPr lang="en-US" altLang="zh-CN" sz="3600" b="1" dirty="0"/>
              <a:t>Example</a:t>
            </a:r>
            <a:r>
              <a:rPr lang="zh-CN" altLang="en-US" sz="3600" b="1" dirty="0"/>
              <a:t>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644532" y="3388726"/>
          <a:ext cx="2495675" cy="484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253800" progId="Equation.DSMT4">
                  <p:embed/>
                </p:oleObj>
              </mc:Choice>
              <mc:Fallback>
                <p:oleObj name="Equation" r:id="rId3" imgW="1396800" imgH="25380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4532" y="3388726"/>
                        <a:ext cx="2495675" cy="484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图片 23">
            <a:extLst>
              <a:ext uri="{FF2B5EF4-FFF2-40B4-BE49-F238E27FC236}">
                <a16:creationId xmlns:a16="http://schemas.microsoft.com/office/drawing/2014/main" id="{EB2D92F9-90DB-4A1F-903D-3CB62A716E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933" y="1454936"/>
            <a:ext cx="2868586" cy="184208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97393"/>
            <a:ext cx="2807589" cy="1807343"/>
          </a:xfrm>
          <a:prstGeom prst="rect">
            <a:avLst/>
          </a:prstGeom>
        </p:spPr>
      </p:pic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478130" y="3339475"/>
          <a:ext cx="20002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5920" imgH="253800" progId="Equation.DSMT4">
                  <p:embed/>
                </p:oleObj>
              </mc:Choice>
              <mc:Fallback>
                <p:oleObj name="Equation" r:id="rId7" imgW="1015920" imgH="25380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8130" y="3339475"/>
                        <a:ext cx="200025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7717162" y="221639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360" y="1497393"/>
            <a:ext cx="2862448" cy="1842657"/>
          </a:xfrm>
          <a:prstGeom prst="rect">
            <a:avLst/>
          </a:prstGeom>
        </p:spPr>
      </p:pic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8446101" y="3389502"/>
          <a:ext cx="29495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50960" imgH="253800" progId="Equation.DSMT4">
                  <p:embed/>
                </p:oleObj>
              </mc:Choice>
              <mc:Fallback>
                <p:oleObj name="Equation" r:id="rId10" imgW="1650960" imgH="253800" progId="Equation.DSMT4">
                  <p:embed/>
                  <p:pic>
                    <p:nvPicPr>
                      <p:cNvPr id="29" name="对象 2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446101" y="3389502"/>
                        <a:ext cx="294957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945481" y="4073638"/>
            <a:ext cx="3065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欠拟合 </a:t>
            </a:r>
            <a:r>
              <a:rPr lang="en-US" altLang="zh-CN" b="1" dirty="0">
                <a:solidFill>
                  <a:srgbClr val="C00000"/>
                </a:solidFill>
              </a:rPr>
              <a:t>Under-fitting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对训练数据拟合的不够，模型不够精确，自然对测试数据预测也会有一定偏离</a:t>
            </a:r>
          </a:p>
        </p:txBody>
      </p:sp>
    </p:spTree>
    <p:extLst>
      <p:ext uri="{BB962C8B-B14F-4D97-AF65-F5344CB8AC3E}">
        <p14:creationId xmlns:p14="http://schemas.microsoft.com/office/powerpoint/2010/main" val="12223009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</a:t>
            </a:r>
            <a:r>
              <a:rPr lang="en-US" altLang="zh-CN" sz="3600" b="1" dirty="0"/>
              <a:t>Example</a:t>
            </a:r>
            <a:r>
              <a:rPr lang="zh-CN" altLang="en-US" sz="3600" b="1" dirty="0"/>
              <a:t>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644532" y="3388726"/>
          <a:ext cx="2495675" cy="484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253800" progId="Equation.DSMT4">
                  <p:embed/>
                </p:oleObj>
              </mc:Choice>
              <mc:Fallback>
                <p:oleObj name="Equation" r:id="rId3" imgW="1396800" imgH="25380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4532" y="3388726"/>
                        <a:ext cx="2495675" cy="484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图片 23">
            <a:extLst>
              <a:ext uri="{FF2B5EF4-FFF2-40B4-BE49-F238E27FC236}">
                <a16:creationId xmlns:a16="http://schemas.microsoft.com/office/drawing/2014/main" id="{EB2D92F9-90DB-4A1F-903D-3CB62A716E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933" y="1454936"/>
            <a:ext cx="2868586" cy="184208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97393"/>
            <a:ext cx="2807589" cy="1807343"/>
          </a:xfrm>
          <a:prstGeom prst="rect">
            <a:avLst/>
          </a:prstGeom>
        </p:spPr>
      </p:pic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478130" y="3339475"/>
          <a:ext cx="20002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5920" imgH="253800" progId="Equation.DSMT4">
                  <p:embed/>
                </p:oleObj>
              </mc:Choice>
              <mc:Fallback>
                <p:oleObj name="Equation" r:id="rId7" imgW="1015920" imgH="25380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8130" y="3339475"/>
                        <a:ext cx="200025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7717162" y="221639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360" y="1497393"/>
            <a:ext cx="2862448" cy="1842657"/>
          </a:xfrm>
          <a:prstGeom prst="rect">
            <a:avLst/>
          </a:prstGeom>
        </p:spPr>
      </p:pic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8446101" y="3389502"/>
          <a:ext cx="29495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50960" imgH="253800" progId="Equation.DSMT4">
                  <p:embed/>
                </p:oleObj>
              </mc:Choice>
              <mc:Fallback>
                <p:oleObj name="Equation" r:id="rId10" imgW="1650960" imgH="253800" progId="Equation.DSMT4">
                  <p:embed/>
                  <p:pic>
                    <p:nvPicPr>
                      <p:cNvPr id="29" name="对象 2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446101" y="3389502"/>
                        <a:ext cx="294957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945481" y="4073638"/>
            <a:ext cx="3065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欠拟合 </a:t>
            </a:r>
            <a:r>
              <a:rPr lang="en-US" altLang="zh-CN" b="1" dirty="0">
                <a:solidFill>
                  <a:srgbClr val="C00000"/>
                </a:solidFill>
              </a:rPr>
              <a:t>Under-fitting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对训练数据拟合的不够，模型不够精确，自然对测试数据预测也会有一定偏离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452434" y="4073638"/>
            <a:ext cx="3059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过拟合 </a:t>
            </a:r>
            <a:r>
              <a:rPr lang="en-US" altLang="zh-CN" b="1" dirty="0">
                <a:solidFill>
                  <a:srgbClr val="C00000"/>
                </a:solidFill>
              </a:rPr>
              <a:t>Over-fitting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对训练数据拟合的过分了，导致看不出趋势，无法预测测试数据（失去</a:t>
            </a:r>
            <a:r>
              <a:rPr lang="zh-CN" altLang="en-US" b="1" dirty="0">
                <a:solidFill>
                  <a:srgbClr val="C00000"/>
                </a:solidFill>
              </a:rPr>
              <a:t>泛化</a:t>
            </a:r>
            <a:r>
              <a:rPr lang="zh-CN" altLang="en-US" dirty="0"/>
              <a:t>能力）</a:t>
            </a:r>
          </a:p>
        </p:txBody>
      </p:sp>
    </p:spTree>
    <p:extLst>
      <p:ext uri="{BB962C8B-B14F-4D97-AF65-F5344CB8AC3E}">
        <p14:creationId xmlns:p14="http://schemas.microsoft.com/office/powerpoint/2010/main" val="34472603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</a:t>
            </a:r>
            <a:r>
              <a:rPr lang="en-US" altLang="zh-CN" sz="3600" b="1" dirty="0"/>
              <a:t>Example</a:t>
            </a:r>
            <a:r>
              <a:rPr lang="zh-CN" altLang="en-US" sz="3600" b="1" dirty="0"/>
              <a:t>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326722"/>
              </p:ext>
            </p:extLst>
          </p:nvPr>
        </p:nvGraphicFramePr>
        <p:xfrm>
          <a:off x="4644532" y="3388726"/>
          <a:ext cx="2495675" cy="484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253800" progId="Equation.DSMT4">
                  <p:embed/>
                </p:oleObj>
              </mc:Choice>
              <mc:Fallback>
                <p:oleObj name="Equation" r:id="rId3" imgW="1396800" imgH="25380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4532" y="3388726"/>
                        <a:ext cx="2495675" cy="484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图片 23">
            <a:extLst>
              <a:ext uri="{FF2B5EF4-FFF2-40B4-BE49-F238E27FC236}">
                <a16:creationId xmlns:a16="http://schemas.microsoft.com/office/drawing/2014/main" id="{EB2D92F9-90DB-4A1F-903D-3CB62A716E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933" y="1454936"/>
            <a:ext cx="2868586" cy="184208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97393"/>
            <a:ext cx="2807589" cy="1807343"/>
          </a:xfrm>
          <a:prstGeom prst="rect">
            <a:avLst/>
          </a:prstGeom>
        </p:spPr>
      </p:pic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5573692"/>
              </p:ext>
            </p:extLst>
          </p:nvPr>
        </p:nvGraphicFramePr>
        <p:xfrm>
          <a:off x="1478130" y="3339475"/>
          <a:ext cx="20002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5920" imgH="253800" progId="Equation.DSMT4">
                  <p:embed/>
                </p:oleObj>
              </mc:Choice>
              <mc:Fallback>
                <p:oleObj name="Equation" r:id="rId7" imgW="1015920" imgH="25380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8130" y="3339475"/>
                        <a:ext cx="200025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7717162" y="221639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360" y="1497393"/>
            <a:ext cx="2862448" cy="1842657"/>
          </a:xfrm>
          <a:prstGeom prst="rect">
            <a:avLst/>
          </a:prstGeom>
        </p:spPr>
      </p:pic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152123"/>
              </p:ext>
            </p:extLst>
          </p:nvPr>
        </p:nvGraphicFramePr>
        <p:xfrm>
          <a:off x="8446101" y="3389502"/>
          <a:ext cx="29495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50960" imgH="253800" progId="Equation.DSMT4">
                  <p:embed/>
                </p:oleObj>
              </mc:Choice>
              <mc:Fallback>
                <p:oleObj name="Equation" r:id="rId10" imgW="1650960" imgH="253800" progId="Equation.DSMT4">
                  <p:embed/>
                  <p:pic>
                    <p:nvPicPr>
                      <p:cNvPr id="29" name="对象 2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446101" y="3389502"/>
                        <a:ext cx="294957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945481" y="4073638"/>
            <a:ext cx="3065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欠拟合 </a:t>
            </a:r>
            <a:r>
              <a:rPr lang="en-US" altLang="zh-CN" b="1" dirty="0">
                <a:solidFill>
                  <a:srgbClr val="C00000"/>
                </a:solidFill>
              </a:rPr>
              <a:t>Under-fitting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对训练数据拟合的不够，模型不够精确，自然对测试数据预测也会有一定偏离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452434" y="4073638"/>
            <a:ext cx="3059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过拟合 </a:t>
            </a:r>
            <a:r>
              <a:rPr lang="en-US" altLang="zh-CN" b="1" dirty="0">
                <a:solidFill>
                  <a:srgbClr val="C00000"/>
                </a:solidFill>
              </a:rPr>
              <a:t>Over-fitting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对训练数据拟合的过分了，导致看不出趋势，无法预测测试数据（失去</a:t>
            </a:r>
            <a:r>
              <a:rPr lang="zh-CN" altLang="en-US" b="1" dirty="0">
                <a:solidFill>
                  <a:srgbClr val="C00000"/>
                </a:solidFill>
              </a:rPr>
              <a:t>泛化</a:t>
            </a:r>
            <a:r>
              <a:rPr lang="zh-CN" altLang="en-US" dirty="0"/>
              <a:t>能力）</a:t>
            </a:r>
          </a:p>
        </p:txBody>
      </p:sp>
      <p:sp>
        <p:nvSpPr>
          <p:cNvPr id="18" name="矩形 17"/>
          <p:cNvSpPr/>
          <p:nvPr/>
        </p:nvSpPr>
        <p:spPr>
          <a:xfrm>
            <a:off x="4458996" y="4095976"/>
            <a:ext cx="35454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较好的拟合 </a:t>
            </a:r>
            <a:r>
              <a:rPr lang="en-US" altLang="zh-CN" b="1" dirty="0">
                <a:solidFill>
                  <a:srgbClr val="C00000"/>
                </a:solidFill>
              </a:rPr>
              <a:t>Proper-fitting</a:t>
            </a:r>
            <a:r>
              <a:rPr lang="zh-CN" altLang="en-US" b="1" dirty="0">
                <a:solidFill>
                  <a:srgbClr val="C00000"/>
                </a:solidFill>
              </a:rPr>
              <a:t>：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dirty="0"/>
              <a:t>① 对训练数据拟合准确</a:t>
            </a:r>
            <a:endParaRPr lang="en-US" altLang="zh-CN" dirty="0"/>
          </a:p>
          <a:p>
            <a:r>
              <a:rPr lang="zh-CN" altLang="en-US" dirty="0"/>
              <a:t>② 能预测测试数据，有</a:t>
            </a:r>
            <a:r>
              <a:rPr lang="zh-CN" altLang="en-US" b="1" dirty="0">
                <a:solidFill>
                  <a:srgbClr val="C00000"/>
                </a:solidFill>
              </a:rPr>
              <a:t>泛化</a:t>
            </a:r>
            <a:r>
              <a:rPr lang="zh-CN" altLang="en-US" dirty="0"/>
              <a:t>能力</a:t>
            </a:r>
            <a:endParaRPr lang="en-US" altLang="zh-CN" dirty="0"/>
          </a:p>
        </p:txBody>
      </p:sp>
      <p:sp>
        <p:nvSpPr>
          <p:cNvPr id="3" name="右箭头 2"/>
          <p:cNvSpPr/>
          <p:nvPr/>
        </p:nvSpPr>
        <p:spPr>
          <a:xfrm>
            <a:off x="3941362" y="4406900"/>
            <a:ext cx="330200" cy="190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 rot="10800000">
            <a:off x="7861701" y="4462391"/>
            <a:ext cx="330200" cy="190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5722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实例</a:t>
            </a:r>
            <a:r>
              <a:rPr lang="en-US" altLang="zh-CN" sz="3600" b="1" dirty="0"/>
              <a:t>Example</a:t>
            </a:r>
            <a:r>
              <a:rPr lang="zh-CN" altLang="en-US" sz="3600" b="1" dirty="0"/>
              <a:t>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644532" y="3388726"/>
          <a:ext cx="2495675" cy="484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253800" progId="Equation.DSMT4">
                  <p:embed/>
                </p:oleObj>
              </mc:Choice>
              <mc:Fallback>
                <p:oleObj name="Equation" r:id="rId3" imgW="1396800" imgH="25380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4532" y="3388726"/>
                        <a:ext cx="2495675" cy="484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图片 23">
            <a:extLst>
              <a:ext uri="{FF2B5EF4-FFF2-40B4-BE49-F238E27FC236}">
                <a16:creationId xmlns:a16="http://schemas.microsoft.com/office/drawing/2014/main" id="{EB2D92F9-90DB-4A1F-903D-3CB62A716E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933" y="1454936"/>
            <a:ext cx="2868586" cy="184208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97393"/>
            <a:ext cx="2807589" cy="1807343"/>
          </a:xfrm>
          <a:prstGeom prst="rect">
            <a:avLst/>
          </a:prstGeom>
        </p:spPr>
      </p:pic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478130" y="3339475"/>
          <a:ext cx="20002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5920" imgH="253800" progId="Equation.DSMT4">
                  <p:embed/>
                </p:oleObj>
              </mc:Choice>
              <mc:Fallback>
                <p:oleObj name="Equation" r:id="rId7" imgW="1015920" imgH="25380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8130" y="3339475"/>
                        <a:ext cx="200025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7717162" y="221639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360" y="1497393"/>
            <a:ext cx="2862448" cy="1842657"/>
          </a:xfrm>
          <a:prstGeom prst="rect">
            <a:avLst/>
          </a:prstGeom>
        </p:spPr>
      </p:pic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8446101" y="3389502"/>
          <a:ext cx="29495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50960" imgH="253800" progId="Equation.DSMT4">
                  <p:embed/>
                </p:oleObj>
              </mc:Choice>
              <mc:Fallback>
                <p:oleObj name="Equation" r:id="rId10" imgW="1650960" imgH="253800" progId="Equation.DSMT4">
                  <p:embed/>
                  <p:pic>
                    <p:nvPicPr>
                      <p:cNvPr id="29" name="对象 2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446101" y="3389502"/>
                        <a:ext cx="294957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945481" y="4073638"/>
            <a:ext cx="3065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欠拟合 </a:t>
            </a:r>
            <a:r>
              <a:rPr lang="en-US" altLang="zh-CN" b="1" dirty="0">
                <a:solidFill>
                  <a:srgbClr val="C00000"/>
                </a:solidFill>
              </a:rPr>
              <a:t>Under-fitting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对训练数据拟合的不够，模型不够精确，自然对测试数据预测也会有一定偏离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452434" y="4073638"/>
            <a:ext cx="3059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过拟合 </a:t>
            </a:r>
            <a:r>
              <a:rPr lang="en-US" altLang="zh-CN" b="1" dirty="0">
                <a:solidFill>
                  <a:srgbClr val="C00000"/>
                </a:solidFill>
              </a:rPr>
              <a:t>Over-fitting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对训练数据拟合的过分了，导致看不出趋势，无法预测测试数据（失去</a:t>
            </a:r>
            <a:r>
              <a:rPr lang="zh-CN" altLang="en-US" b="1" dirty="0">
                <a:solidFill>
                  <a:srgbClr val="C00000"/>
                </a:solidFill>
              </a:rPr>
              <a:t>泛化</a:t>
            </a:r>
            <a:r>
              <a:rPr lang="zh-CN" altLang="en-US" dirty="0"/>
              <a:t>能力）</a:t>
            </a:r>
          </a:p>
        </p:txBody>
      </p:sp>
      <p:sp>
        <p:nvSpPr>
          <p:cNvPr id="18" name="矩形 17"/>
          <p:cNvSpPr/>
          <p:nvPr/>
        </p:nvSpPr>
        <p:spPr>
          <a:xfrm>
            <a:off x="4458996" y="4095976"/>
            <a:ext cx="354547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较好的拟合 </a:t>
            </a:r>
            <a:r>
              <a:rPr lang="en-US" altLang="zh-CN" b="1" dirty="0">
                <a:solidFill>
                  <a:srgbClr val="C00000"/>
                </a:solidFill>
              </a:rPr>
              <a:t>Proper-fitting</a:t>
            </a:r>
            <a:r>
              <a:rPr lang="zh-CN" altLang="en-US" b="1" dirty="0">
                <a:solidFill>
                  <a:srgbClr val="C00000"/>
                </a:solidFill>
              </a:rPr>
              <a:t>：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dirty="0"/>
              <a:t>① 对训练数据拟合准确</a:t>
            </a:r>
            <a:endParaRPr lang="en-US" altLang="zh-CN" dirty="0"/>
          </a:p>
          <a:p>
            <a:r>
              <a:rPr lang="zh-CN" altLang="en-US" dirty="0"/>
              <a:t>② 能预测测试数据，有</a:t>
            </a:r>
            <a:r>
              <a:rPr lang="zh-CN" altLang="en-US" b="1" dirty="0">
                <a:solidFill>
                  <a:srgbClr val="C00000"/>
                </a:solidFill>
              </a:rPr>
              <a:t>泛化</a:t>
            </a:r>
            <a:r>
              <a:rPr lang="zh-CN" altLang="en-US" dirty="0"/>
              <a:t>能力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模型对训练数据的拟合和对测试数据的预测准确率都很高</a:t>
            </a:r>
            <a:endParaRPr lang="en-US" altLang="zh-CN" dirty="0"/>
          </a:p>
        </p:txBody>
      </p:sp>
      <p:sp>
        <p:nvSpPr>
          <p:cNvPr id="3" name="右箭头 2"/>
          <p:cNvSpPr/>
          <p:nvPr/>
        </p:nvSpPr>
        <p:spPr>
          <a:xfrm>
            <a:off x="3941362" y="4406900"/>
            <a:ext cx="330200" cy="190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 rot="10800000">
            <a:off x="7861701" y="4462391"/>
            <a:ext cx="330200" cy="190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6607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*简单拓展：正则化 </a:t>
            </a:r>
            <a:r>
              <a:rPr lang="en-US" altLang="zh-CN" sz="3600" b="1" dirty="0"/>
              <a:t>Regularization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1098716" y="1596647"/>
            <a:ext cx="99945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我们能不能让计算机</a:t>
            </a:r>
            <a:r>
              <a:rPr lang="zh-CN" altLang="en-US" b="1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自动选用二次函数</a:t>
            </a:r>
            <a:r>
              <a:rPr lang="zh-CN" altLang="en-US" b="1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进行拟合，既避免欠拟合，又避免过拟合？</a:t>
            </a:r>
            <a:endParaRPr lang="en-US" altLang="zh-CN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6714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*简单拓展：正则化 </a:t>
            </a:r>
            <a:r>
              <a:rPr lang="en-US" altLang="zh-CN" sz="3600" b="1" dirty="0"/>
              <a:t>Regularization</a:t>
            </a:r>
            <a:endParaRPr lang="zh-CN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1108365" y="1506022"/>
            <a:ext cx="3440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正则化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 </a:t>
            </a:r>
            <a:r>
              <a:rPr lang="en-US" altLang="zh-CN" b="1" dirty="0">
                <a:solidFill>
                  <a:srgbClr val="C00000"/>
                </a:solidFill>
              </a:rPr>
              <a:t>Regularization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499495" y="2012806"/>
          <a:ext cx="29495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0960" imgH="253800" progId="Equation.DSMT4">
                  <p:embed/>
                </p:oleObj>
              </mc:Choice>
              <mc:Fallback>
                <p:oleObj name="Equation" r:id="rId2" imgW="1650960" imgH="2538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99495" y="2012806"/>
                        <a:ext cx="294957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108365" y="2646919"/>
            <a:ext cx="56099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定义一个函数用来确定参数     是否为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275680" y="2646919"/>
          <a:ext cx="2730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75680" y="2646919"/>
                        <a:ext cx="273050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113974"/>
              </p:ext>
            </p:extLst>
          </p:nvPr>
        </p:nvGraphicFramePr>
        <p:xfrm>
          <a:off x="5776385" y="2404825"/>
          <a:ext cx="247173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482400" progId="Equation.DSMT4">
                  <p:embed/>
                </p:oleObj>
              </mc:Choice>
              <mc:Fallback>
                <p:oleObj name="Equation" r:id="rId6" imgW="1384200" imgH="48240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76385" y="2404825"/>
                        <a:ext cx="2471737" cy="92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48136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*简单拓展：正则化 </a:t>
            </a:r>
            <a:r>
              <a:rPr lang="en-US" altLang="zh-CN" sz="3600" b="1" dirty="0"/>
              <a:t>Regularization</a:t>
            </a:r>
            <a:endParaRPr lang="zh-CN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1108365" y="1506022"/>
            <a:ext cx="3440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正则化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 </a:t>
            </a:r>
            <a:r>
              <a:rPr lang="en-US" altLang="zh-CN" b="1" dirty="0">
                <a:solidFill>
                  <a:srgbClr val="C00000"/>
                </a:solidFill>
              </a:rPr>
              <a:t>Regularization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499495" y="2012806"/>
          <a:ext cx="29495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0960" imgH="253800" progId="Equation.DSMT4">
                  <p:embed/>
                </p:oleObj>
              </mc:Choice>
              <mc:Fallback>
                <p:oleObj name="Equation" r:id="rId2" imgW="1650960" imgH="2538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99495" y="2012806"/>
                        <a:ext cx="294957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108365" y="2646919"/>
            <a:ext cx="56099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定义一个函数用来确定参数     是否为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275680" y="2646919"/>
          <a:ext cx="2730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75680" y="2646919"/>
                        <a:ext cx="273050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977072"/>
              </p:ext>
            </p:extLst>
          </p:nvPr>
        </p:nvGraphicFramePr>
        <p:xfrm>
          <a:off x="5718553" y="2404825"/>
          <a:ext cx="247173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482400" progId="Equation.DSMT4">
                  <p:embed/>
                </p:oleObj>
              </mc:Choice>
              <mc:Fallback>
                <p:oleObj name="Equation" r:id="rId6" imgW="1384200" imgH="48240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18553" y="2404825"/>
                        <a:ext cx="2471737" cy="92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1418779" y="349827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为了防止过拟合：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346314"/>
              </p:ext>
            </p:extLst>
          </p:nvPr>
        </p:nvGraphicFramePr>
        <p:xfrm>
          <a:off x="4160308" y="3325575"/>
          <a:ext cx="1395693" cy="734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76240" imgH="431640" progId="Equation.DSMT4">
                  <p:embed/>
                </p:oleObj>
              </mc:Choice>
              <mc:Fallback>
                <p:oleObj name="Equation" r:id="rId8" imgW="876240" imgH="43164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60308" y="3325575"/>
                        <a:ext cx="1395693" cy="7346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89" y="3387914"/>
            <a:ext cx="1091004" cy="702317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>
            <a:off x="526598" y="3474086"/>
            <a:ext cx="165389" cy="13977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526599" y="3474086"/>
            <a:ext cx="150126" cy="13977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009638"/>
              </p:ext>
            </p:extLst>
          </p:nvPr>
        </p:nvGraphicFramePr>
        <p:xfrm>
          <a:off x="7392114" y="3508459"/>
          <a:ext cx="2730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280" imgH="228600" progId="Equation.DSMT4">
                  <p:embed/>
                </p:oleObj>
              </mc:Choice>
              <mc:Fallback>
                <p:oleObj name="Equation" r:id="rId11" imgW="152280" imgH="22860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392114" y="3508459"/>
                        <a:ext cx="273050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6580599" y="3495857"/>
            <a:ext cx="1391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更多的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552836" y="3495857"/>
            <a:ext cx="637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为</a:t>
            </a:r>
            <a:r>
              <a:rPr lang="en-US" altLang="zh-CN" b="1" dirty="0">
                <a:solidFill>
                  <a:srgbClr val="0070C0"/>
                </a:solidFill>
              </a:rPr>
              <a:t>0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F897CF-7209-2A62-F331-9F284BCB4545}"/>
              </a:ext>
            </a:extLst>
          </p:cNvPr>
          <p:cNvSpPr/>
          <p:nvPr/>
        </p:nvSpPr>
        <p:spPr>
          <a:xfrm>
            <a:off x="3459889" y="2012806"/>
            <a:ext cx="271851" cy="484187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20796E-A457-C50C-11E5-7A80F75295B8}"/>
              </a:ext>
            </a:extLst>
          </p:cNvPr>
          <p:cNvSpPr/>
          <p:nvPr/>
        </p:nvSpPr>
        <p:spPr>
          <a:xfrm>
            <a:off x="2882093" y="2012806"/>
            <a:ext cx="271851" cy="484187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A254AB-E5CD-4502-8C69-994F5246EE35}"/>
              </a:ext>
            </a:extLst>
          </p:cNvPr>
          <p:cNvSpPr/>
          <p:nvPr/>
        </p:nvSpPr>
        <p:spPr>
          <a:xfrm>
            <a:off x="2405398" y="2028968"/>
            <a:ext cx="271851" cy="484187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3007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*简单拓展：正则化 </a:t>
            </a:r>
            <a:r>
              <a:rPr lang="en-US" altLang="zh-CN" sz="3600" b="1" dirty="0"/>
              <a:t>Regularization</a:t>
            </a:r>
            <a:endParaRPr lang="zh-CN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1108365" y="1506022"/>
            <a:ext cx="3440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正则化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 </a:t>
            </a:r>
            <a:r>
              <a:rPr lang="en-US" altLang="zh-CN" b="1" dirty="0">
                <a:solidFill>
                  <a:srgbClr val="C00000"/>
                </a:solidFill>
              </a:rPr>
              <a:t>Regularization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499495" y="2012806"/>
          <a:ext cx="29495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0960" imgH="253800" progId="Equation.DSMT4">
                  <p:embed/>
                </p:oleObj>
              </mc:Choice>
              <mc:Fallback>
                <p:oleObj name="Equation" r:id="rId2" imgW="1650960" imgH="2538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99495" y="2012806"/>
                        <a:ext cx="294957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108365" y="2646919"/>
            <a:ext cx="56099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定义一个函数用来确定参数     是否为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275680" y="2646919"/>
          <a:ext cx="2730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75680" y="2646919"/>
                        <a:ext cx="273050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415728"/>
              </p:ext>
            </p:extLst>
          </p:nvPr>
        </p:nvGraphicFramePr>
        <p:xfrm>
          <a:off x="5604859" y="2412726"/>
          <a:ext cx="247173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482400" progId="Equation.DSMT4">
                  <p:embed/>
                </p:oleObj>
              </mc:Choice>
              <mc:Fallback>
                <p:oleObj name="Equation" r:id="rId6" imgW="1384200" imgH="48240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04859" y="2412726"/>
                        <a:ext cx="2471737" cy="92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1418779" y="349827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为了防止过拟合：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8096050"/>
              </p:ext>
            </p:extLst>
          </p:nvPr>
        </p:nvGraphicFramePr>
        <p:xfrm>
          <a:off x="4322860" y="3364123"/>
          <a:ext cx="1395693" cy="734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76240" imgH="431640" progId="Equation.DSMT4">
                  <p:embed/>
                </p:oleObj>
              </mc:Choice>
              <mc:Fallback>
                <p:oleObj name="Equation" r:id="rId8" imgW="876240" imgH="43164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22860" y="3364123"/>
                        <a:ext cx="1395693" cy="7346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89" y="3387914"/>
            <a:ext cx="1091004" cy="702317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>
            <a:off x="526598" y="3474086"/>
            <a:ext cx="165389" cy="13977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526599" y="3474086"/>
            <a:ext cx="150126" cy="13977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440262" y="441090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为了防止欠拟合：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071620"/>
              </p:ext>
            </p:extLst>
          </p:nvPr>
        </p:nvGraphicFramePr>
        <p:xfrm>
          <a:off x="4378306" y="4208655"/>
          <a:ext cx="22764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07880" imgH="431640" progId="Equation.DSMT4">
                  <p:embed/>
                </p:oleObj>
              </mc:Choice>
              <mc:Fallback>
                <p:oleObj name="Equation" r:id="rId11" imgW="1307880" imgH="43164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78306" y="4208655"/>
                        <a:ext cx="2276475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图片 21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50" y="4341814"/>
            <a:ext cx="1141794" cy="735013"/>
          </a:xfrm>
          <a:prstGeom prst="rect">
            <a:avLst/>
          </a:prstGeom>
        </p:spPr>
      </p:pic>
      <p:cxnSp>
        <p:nvCxnSpPr>
          <p:cNvPr id="23" name="直接连接符 22"/>
          <p:cNvCxnSpPr/>
          <p:nvPr/>
        </p:nvCxnSpPr>
        <p:spPr>
          <a:xfrm>
            <a:off x="549454" y="4445629"/>
            <a:ext cx="165389" cy="17377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549454" y="4445629"/>
            <a:ext cx="165389" cy="17377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642114"/>
              </p:ext>
            </p:extLst>
          </p:nvPr>
        </p:nvGraphicFramePr>
        <p:xfrm>
          <a:off x="7508155" y="3540427"/>
          <a:ext cx="2730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280" imgH="228600" progId="Equation.DSMT4">
                  <p:embed/>
                </p:oleObj>
              </mc:Choice>
              <mc:Fallback>
                <p:oleObj name="Equation" r:id="rId14" imgW="152280" imgH="22860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508155" y="3540427"/>
                        <a:ext cx="273050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6684800" y="3548307"/>
            <a:ext cx="1391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更多的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657037" y="3548307"/>
            <a:ext cx="637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为</a:t>
            </a:r>
            <a:r>
              <a:rPr lang="en-US" altLang="zh-CN" b="1" dirty="0">
                <a:solidFill>
                  <a:srgbClr val="0070C0"/>
                </a:solidFill>
              </a:rPr>
              <a:t>0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094509"/>
              </p:ext>
            </p:extLst>
          </p:nvPr>
        </p:nvGraphicFramePr>
        <p:xfrm>
          <a:off x="7539685" y="4394183"/>
          <a:ext cx="2730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80" imgH="228600" progId="Equation.DSMT4">
                  <p:embed/>
                </p:oleObj>
              </mc:Choice>
              <mc:Fallback>
                <p:oleObj name="Equation" r:id="rId16" imgW="152280" imgH="228600" progId="Equation.DSMT4">
                  <p:embed/>
                  <p:pic>
                    <p:nvPicPr>
                      <p:cNvPr id="31" name="对象 3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539685" y="4394183"/>
                        <a:ext cx="273050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6718300" y="4398097"/>
            <a:ext cx="1391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更少的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690537" y="4398097"/>
            <a:ext cx="637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为</a:t>
            </a:r>
            <a:r>
              <a:rPr lang="en-US" altLang="zh-CN" b="1" dirty="0">
                <a:solidFill>
                  <a:srgbClr val="0070C0"/>
                </a:solidFill>
              </a:rPr>
              <a:t>0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2228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*简单拓展：正则化 </a:t>
            </a:r>
            <a:r>
              <a:rPr lang="en-US" altLang="zh-CN" sz="3600" b="1" dirty="0"/>
              <a:t>Regularization</a:t>
            </a:r>
            <a:endParaRPr lang="zh-CN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1108365" y="1506022"/>
            <a:ext cx="3440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正则化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 </a:t>
            </a:r>
            <a:r>
              <a:rPr lang="en-US" altLang="zh-CN" b="1" dirty="0">
                <a:solidFill>
                  <a:srgbClr val="C00000"/>
                </a:solidFill>
              </a:rPr>
              <a:t>Regularization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455831"/>
              </p:ext>
            </p:extLst>
          </p:nvPr>
        </p:nvGraphicFramePr>
        <p:xfrm>
          <a:off x="1499495" y="2012806"/>
          <a:ext cx="29495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0960" imgH="253800" progId="Equation.DSMT4">
                  <p:embed/>
                </p:oleObj>
              </mc:Choice>
              <mc:Fallback>
                <p:oleObj name="Equation" r:id="rId2" imgW="1650960" imgH="25380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99495" y="2012806"/>
                        <a:ext cx="294957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108365" y="2646919"/>
            <a:ext cx="56099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定义一个函数用来确定参数     是否为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833300"/>
              </p:ext>
            </p:extLst>
          </p:nvPr>
        </p:nvGraphicFramePr>
        <p:xfrm>
          <a:off x="4275680" y="2646919"/>
          <a:ext cx="2730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75680" y="2646919"/>
                        <a:ext cx="273050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827641"/>
              </p:ext>
            </p:extLst>
          </p:nvPr>
        </p:nvGraphicFramePr>
        <p:xfrm>
          <a:off x="5602800" y="2400124"/>
          <a:ext cx="247173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482400" progId="Equation.DSMT4">
                  <p:embed/>
                </p:oleObj>
              </mc:Choice>
              <mc:Fallback>
                <p:oleObj name="Equation" r:id="rId6" imgW="1384200" imgH="482400" progId="Equation.DSMT4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02800" y="2400124"/>
                        <a:ext cx="2471737" cy="92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1418779" y="349827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为了防止过拟合：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423630"/>
              </p:ext>
            </p:extLst>
          </p:nvPr>
        </p:nvGraphicFramePr>
        <p:xfrm>
          <a:off x="4223441" y="3338379"/>
          <a:ext cx="1395693" cy="734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76240" imgH="431640" progId="Equation.DSMT4">
                  <p:embed/>
                </p:oleObj>
              </mc:Choice>
              <mc:Fallback>
                <p:oleObj name="Equation" r:id="rId8" imgW="876240" imgH="43164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23441" y="3338379"/>
                        <a:ext cx="1395693" cy="7346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89" y="3387914"/>
            <a:ext cx="1091004" cy="702317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>
            <a:off x="526598" y="3474086"/>
            <a:ext cx="165389" cy="13977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526599" y="3474086"/>
            <a:ext cx="150126" cy="13977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440262" y="441090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为了防止欠拟合：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473910"/>
              </p:ext>
            </p:extLst>
          </p:nvPr>
        </p:nvGraphicFramePr>
        <p:xfrm>
          <a:off x="4187004" y="4195401"/>
          <a:ext cx="22764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07880" imgH="431640" progId="Equation.DSMT4">
                  <p:embed/>
                </p:oleObj>
              </mc:Choice>
              <mc:Fallback>
                <p:oleObj name="Equation" r:id="rId11" imgW="1307880" imgH="431640" progId="Equation.DSMT4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87004" y="4195401"/>
                        <a:ext cx="2276475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图片 21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50" y="4341814"/>
            <a:ext cx="1141794" cy="735013"/>
          </a:xfrm>
          <a:prstGeom prst="rect">
            <a:avLst/>
          </a:prstGeom>
        </p:spPr>
      </p:pic>
      <p:cxnSp>
        <p:nvCxnSpPr>
          <p:cNvPr id="23" name="直接连接符 22"/>
          <p:cNvCxnSpPr/>
          <p:nvPr/>
        </p:nvCxnSpPr>
        <p:spPr>
          <a:xfrm>
            <a:off x="549454" y="4445629"/>
            <a:ext cx="165389" cy="17377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549454" y="4445629"/>
            <a:ext cx="165389" cy="17377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066767"/>
              </p:ext>
            </p:extLst>
          </p:nvPr>
        </p:nvGraphicFramePr>
        <p:xfrm>
          <a:off x="7496315" y="3511481"/>
          <a:ext cx="2730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280" imgH="228600" progId="Equation.DSMT4">
                  <p:embed/>
                </p:oleObj>
              </mc:Choice>
              <mc:Fallback>
                <p:oleObj name="Equation" r:id="rId14" imgW="152280" imgH="2286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496315" y="3511481"/>
                        <a:ext cx="273050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6684800" y="3498879"/>
            <a:ext cx="1391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更多的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657037" y="3498879"/>
            <a:ext cx="637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为</a:t>
            </a:r>
            <a:r>
              <a:rPr lang="en-US" altLang="zh-CN" b="1" dirty="0">
                <a:solidFill>
                  <a:srgbClr val="0070C0"/>
                </a:solidFill>
              </a:rPr>
              <a:t>0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273875"/>
              </p:ext>
            </p:extLst>
          </p:nvPr>
        </p:nvGraphicFramePr>
        <p:xfrm>
          <a:off x="7508672" y="4415512"/>
          <a:ext cx="2730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80" imgH="228600" progId="Equation.DSMT4">
                  <p:embed/>
                </p:oleObj>
              </mc:Choice>
              <mc:Fallback>
                <p:oleObj name="Equation" r:id="rId16" imgW="152280" imgH="22860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508672" y="4415512"/>
                        <a:ext cx="273050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6697157" y="4402910"/>
            <a:ext cx="1391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更少的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669394" y="4402910"/>
            <a:ext cx="637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为</a:t>
            </a:r>
            <a:r>
              <a:rPr lang="en-US" altLang="zh-CN" b="1" dirty="0">
                <a:solidFill>
                  <a:srgbClr val="0070C0"/>
                </a:solidFill>
              </a:rPr>
              <a:t>0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420342" y="5418634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这两个目标都要考虑：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931245"/>
              </p:ext>
            </p:extLst>
          </p:nvPr>
        </p:nvGraphicFramePr>
        <p:xfrm>
          <a:off x="4408325" y="5235794"/>
          <a:ext cx="22764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07880" imgH="431640" progId="Equation.DSMT4">
                  <p:embed/>
                </p:oleObj>
              </mc:Choice>
              <mc:Fallback>
                <p:oleObj name="Equation" r:id="rId17" imgW="1307880" imgH="431640" progId="Equation.DSMT4">
                  <p:embed/>
                  <p:pic>
                    <p:nvPicPr>
                      <p:cNvPr id="31" name="对象 3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08325" y="5235794"/>
                        <a:ext cx="2276475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7146266" y="5199353"/>
          <a:ext cx="108902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09480" imgH="431640" progId="Equation.DSMT4">
                  <p:embed/>
                </p:oleObj>
              </mc:Choice>
              <mc:Fallback>
                <p:oleObj name="Equation" r:id="rId18" imgW="609480" imgH="431640" progId="Equation.DSMT4">
                  <p:embed/>
                  <p:pic>
                    <p:nvPicPr>
                      <p:cNvPr id="32" name="对象 3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146266" y="5199353"/>
                        <a:ext cx="1089025" cy="823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559302"/>
              </p:ext>
            </p:extLst>
          </p:nvPr>
        </p:nvGraphicFramePr>
        <p:xfrm>
          <a:off x="6578856" y="5477959"/>
          <a:ext cx="249237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9680" imgH="139680" progId="Equation.DSMT4">
                  <p:embed/>
                </p:oleObj>
              </mc:Choice>
              <mc:Fallback>
                <p:oleObj name="Equation" r:id="rId20" imgW="139680" imgH="139680" progId="Equation.DSMT4">
                  <p:embed/>
                  <p:pic>
                    <p:nvPicPr>
                      <p:cNvPr id="33" name="对象 3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578856" y="5477959"/>
                        <a:ext cx="249237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6843855" y="5435162"/>
          <a:ext cx="2508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9680" imgH="177480" progId="Equation.DSMT4">
                  <p:embed/>
                </p:oleObj>
              </mc:Choice>
              <mc:Fallback>
                <p:oleObj name="Equation" r:id="rId22" imgW="139680" imgH="177480" progId="Equation.DSMT4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843855" y="5435162"/>
                        <a:ext cx="250825" cy="339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矩形 43"/>
          <p:cNvSpPr/>
          <p:nvPr/>
        </p:nvSpPr>
        <p:spPr>
          <a:xfrm>
            <a:off x="6828093" y="5235794"/>
            <a:ext cx="266587" cy="78747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" name="任意多边形 1"/>
          <p:cNvSpPr/>
          <p:nvPr/>
        </p:nvSpPr>
        <p:spPr>
          <a:xfrm>
            <a:off x="7142151" y="3771900"/>
            <a:ext cx="1356684" cy="1463894"/>
          </a:xfrm>
          <a:custGeom>
            <a:avLst/>
            <a:gdLst>
              <a:gd name="connsiteX0" fmla="*/ 3086100 w 4002033"/>
              <a:gd name="connsiteY0" fmla="*/ 0 h 1460500"/>
              <a:gd name="connsiteX1" fmla="*/ 4000500 w 4002033"/>
              <a:gd name="connsiteY1" fmla="*/ 685800 h 1460500"/>
              <a:gd name="connsiteX2" fmla="*/ 3200400 w 4002033"/>
              <a:gd name="connsiteY2" fmla="*/ 1219200 h 1460500"/>
              <a:gd name="connsiteX3" fmla="*/ 0 w 4002033"/>
              <a:gd name="connsiteY3" fmla="*/ 1460500 h 146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2033" h="1460500">
                <a:moveTo>
                  <a:pt x="3086100" y="0"/>
                </a:moveTo>
                <a:cubicBezTo>
                  <a:pt x="3533775" y="241300"/>
                  <a:pt x="3981450" y="482600"/>
                  <a:pt x="4000500" y="685800"/>
                </a:cubicBezTo>
                <a:cubicBezTo>
                  <a:pt x="4019550" y="889000"/>
                  <a:pt x="3867150" y="1090083"/>
                  <a:pt x="3200400" y="1219200"/>
                </a:cubicBezTo>
                <a:cubicBezTo>
                  <a:pt x="2533650" y="1348317"/>
                  <a:pt x="522817" y="1447800"/>
                  <a:pt x="0" y="1460500"/>
                </a:cubicBezTo>
              </a:path>
            </a:pathLst>
          </a:custGeom>
          <a:noFill/>
          <a:ln w="22225">
            <a:solidFill>
              <a:srgbClr val="C00000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7094681" y="4762500"/>
            <a:ext cx="687042" cy="473294"/>
          </a:xfrm>
          <a:custGeom>
            <a:avLst/>
            <a:gdLst>
              <a:gd name="connsiteX0" fmla="*/ 2996461 w 2996461"/>
              <a:gd name="connsiteY0" fmla="*/ 0 h 457200"/>
              <a:gd name="connsiteX1" fmla="*/ 2285261 w 2996461"/>
              <a:gd name="connsiteY1" fmla="*/ 241300 h 457200"/>
              <a:gd name="connsiteX2" fmla="*/ 342161 w 2996461"/>
              <a:gd name="connsiteY2" fmla="*/ 368300 h 457200"/>
              <a:gd name="connsiteX3" fmla="*/ 11961 w 2996461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6461" h="457200">
                <a:moveTo>
                  <a:pt x="2996461" y="0"/>
                </a:moveTo>
                <a:cubicBezTo>
                  <a:pt x="2862052" y="89958"/>
                  <a:pt x="2727644" y="179917"/>
                  <a:pt x="2285261" y="241300"/>
                </a:cubicBezTo>
                <a:cubicBezTo>
                  <a:pt x="1842878" y="302683"/>
                  <a:pt x="721044" y="332317"/>
                  <a:pt x="342161" y="368300"/>
                </a:cubicBezTo>
                <a:cubicBezTo>
                  <a:pt x="-36722" y="404283"/>
                  <a:pt x="-12381" y="430741"/>
                  <a:pt x="11961" y="457200"/>
                </a:cubicBezTo>
              </a:path>
            </a:pathLst>
          </a:custGeom>
          <a:noFill/>
          <a:ln w="22225">
            <a:solidFill>
              <a:srgbClr val="C00000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3843968" y="6142050"/>
            <a:ext cx="76936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用一个</a:t>
            </a: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主观设定大小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正则项系数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来平衡过拟合和欠拟合</a:t>
            </a:r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4006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*简单拓展：正则化 </a:t>
            </a:r>
            <a:r>
              <a:rPr lang="en-US" altLang="zh-CN" sz="3600" b="1" dirty="0"/>
              <a:t>Regularization</a:t>
            </a:r>
            <a:endParaRPr lang="zh-CN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1108365" y="1506022"/>
            <a:ext cx="3440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正则化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 </a:t>
            </a:r>
            <a:r>
              <a:rPr lang="en-US" altLang="zh-CN" b="1" dirty="0">
                <a:solidFill>
                  <a:srgbClr val="C00000"/>
                </a:solidFill>
              </a:rPr>
              <a:t>Regularization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499495" y="2012806"/>
          <a:ext cx="29495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0960" imgH="253800" progId="Equation.DSMT4">
                  <p:embed/>
                </p:oleObj>
              </mc:Choice>
              <mc:Fallback>
                <p:oleObj name="Equation" r:id="rId2" imgW="1650960" imgH="2538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99495" y="2012806"/>
                        <a:ext cx="294957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108365" y="2646919"/>
            <a:ext cx="56099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定义一个函数用来确定参数     是否为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275680" y="2646919"/>
          <a:ext cx="2730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75680" y="2646919"/>
                        <a:ext cx="273050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602800" y="2400124"/>
          <a:ext cx="247173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482400" progId="Equation.DSMT4">
                  <p:embed/>
                </p:oleObj>
              </mc:Choice>
              <mc:Fallback>
                <p:oleObj name="Equation" r:id="rId6" imgW="1384200" imgH="48240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02800" y="2400124"/>
                        <a:ext cx="2471737" cy="92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1418779" y="349827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为了防止过拟合：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223441" y="3338379"/>
          <a:ext cx="1395693" cy="734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76240" imgH="431640" progId="Equation.DSMT4">
                  <p:embed/>
                </p:oleObj>
              </mc:Choice>
              <mc:Fallback>
                <p:oleObj name="Equation" r:id="rId8" imgW="876240" imgH="43164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23441" y="3338379"/>
                        <a:ext cx="1395693" cy="7346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89" y="3387914"/>
            <a:ext cx="1091004" cy="702317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>
            <a:off x="526598" y="3474086"/>
            <a:ext cx="165389" cy="13977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526599" y="3474086"/>
            <a:ext cx="150126" cy="13977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440262" y="441090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为了防止欠拟合：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187004" y="4195401"/>
          <a:ext cx="22764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07880" imgH="431640" progId="Equation.DSMT4">
                  <p:embed/>
                </p:oleObj>
              </mc:Choice>
              <mc:Fallback>
                <p:oleObj name="Equation" r:id="rId11" imgW="1307880" imgH="43164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87004" y="4195401"/>
                        <a:ext cx="2276475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图片 21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50" y="4341814"/>
            <a:ext cx="1141794" cy="735013"/>
          </a:xfrm>
          <a:prstGeom prst="rect">
            <a:avLst/>
          </a:prstGeom>
        </p:spPr>
      </p:pic>
      <p:cxnSp>
        <p:nvCxnSpPr>
          <p:cNvPr id="23" name="直接连接符 22"/>
          <p:cNvCxnSpPr/>
          <p:nvPr/>
        </p:nvCxnSpPr>
        <p:spPr>
          <a:xfrm>
            <a:off x="549454" y="4445629"/>
            <a:ext cx="165389" cy="17377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549454" y="4445629"/>
            <a:ext cx="165389" cy="17377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7496315" y="3511481"/>
          <a:ext cx="2730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280" imgH="228600" progId="Equation.DSMT4">
                  <p:embed/>
                </p:oleObj>
              </mc:Choice>
              <mc:Fallback>
                <p:oleObj name="Equation" r:id="rId14" imgW="152280" imgH="22860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496315" y="3511481"/>
                        <a:ext cx="273050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6684800" y="3498879"/>
            <a:ext cx="1391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更多的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657037" y="3498879"/>
            <a:ext cx="637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为</a:t>
            </a:r>
            <a:r>
              <a:rPr lang="en-US" altLang="zh-CN" b="1" dirty="0">
                <a:solidFill>
                  <a:srgbClr val="0070C0"/>
                </a:solidFill>
              </a:rPr>
              <a:t>0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7508672" y="4415512"/>
          <a:ext cx="2730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80" imgH="228600" progId="Equation.DSMT4">
                  <p:embed/>
                </p:oleObj>
              </mc:Choice>
              <mc:Fallback>
                <p:oleObj name="Equation" r:id="rId16" imgW="152280" imgH="228600" progId="Equation.DSMT4">
                  <p:embed/>
                  <p:pic>
                    <p:nvPicPr>
                      <p:cNvPr id="31" name="对象 3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508672" y="4415512"/>
                        <a:ext cx="273050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6697157" y="4402910"/>
            <a:ext cx="1391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更少的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669394" y="4402910"/>
            <a:ext cx="637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为</a:t>
            </a:r>
            <a:r>
              <a:rPr lang="en-US" altLang="zh-CN" b="1" dirty="0">
                <a:solidFill>
                  <a:srgbClr val="0070C0"/>
                </a:solidFill>
              </a:rPr>
              <a:t>0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420342" y="5418634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这两个目标都要考虑：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4408325" y="5235794"/>
          <a:ext cx="22764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07880" imgH="431640" progId="Equation.DSMT4">
                  <p:embed/>
                </p:oleObj>
              </mc:Choice>
              <mc:Fallback>
                <p:oleObj name="Equation" r:id="rId17" imgW="1307880" imgH="431640" progId="Equation.DSMT4">
                  <p:embed/>
                  <p:pic>
                    <p:nvPicPr>
                      <p:cNvPr id="38" name="对象 3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08325" y="5235794"/>
                        <a:ext cx="2276475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7146266" y="5199353"/>
          <a:ext cx="108902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09480" imgH="431640" progId="Equation.DSMT4">
                  <p:embed/>
                </p:oleObj>
              </mc:Choice>
              <mc:Fallback>
                <p:oleObj name="Equation" r:id="rId18" imgW="609480" imgH="431640" progId="Equation.DSMT4">
                  <p:embed/>
                  <p:pic>
                    <p:nvPicPr>
                      <p:cNvPr id="39" name="对象 38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146266" y="5199353"/>
                        <a:ext cx="1089025" cy="823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6578856" y="5477959"/>
          <a:ext cx="249237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9680" imgH="139680" progId="Equation.DSMT4">
                  <p:embed/>
                </p:oleObj>
              </mc:Choice>
              <mc:Fallback>
                <p:oleObj name="Equation" r:id="rId20" imgW="139680" imgH="139680" progId="Equation.DSMT4">
                  <p:embed/>
                  <p:pic>
                    <p:nvPicPr>
                      <p:cNvPr id="40" name="对象 39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578856" y="5477959"/>
                        <a:ext cx="249237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6843855" y="5435162"/>
          <a:ext cx="2508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9680" imgH="177480" progId="Equation.DSMT4">
                  <p:embed/>
                </p:oleObj>
              </mc:Choice>
              <mc:Fallback>
                <p:oleObj name="Equation" r:id="rId22" imgW="139680" imgH="177480" progId="Equation.DSMT4">
                  <p:embed/>
                  <p:pic>
                    <p:nvPicPr>
                      <p:cNvPr id="41" name="对象 40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843855" y="5435162"/>
                        <a:ext cx="250825" cy="339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矩形 43"/>
          <p:cNvSpPr/>
          <p:nvPr/>
        </p:nvSpPr>
        <p:spPr>
          <a:xfrm>
            <a:off x="6828093" y="5235794"/>
            <a:ext cx="266587" cy="78747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" name="任意多边形 1"/>
          <p:cNvSpPr/>
          <p:nvPr/>
        </p:nvSpPr>
        <p:spPr>
          <a:xfrm>
            <a:off x="7142151" y="3771900"/>
            <a:ext cx="1356684" cy="1463894"/>
          </a:xfrm>
          <a:custGeom>
            <a:avLst/>
            <a:gdLst>
              <a:gd name="connsiteX0" fmla="*/ 3086100 w 4002033"/>
              <a:gd name="connsiteY0" fmla="*/ 0 h 1460500"/>
              <a:gd name="connsiteX1" fmla="*/ 4000500 w 4002033"/>
              <a:gd name="connsiteY1" fmla="*/ 685800 h 1460500"/>
              <a:gd name="connsiteX2" fmla="*/ 3200400 w 4002033"/>
              <a:gd name="connsiteY2" fmla="*/ 1219200 h 1460500"/>
              <a:gd name="connsiteX3" fmla="*/ 0 w 4002033"/>
              <a:gd name="connsiteY3" fmla="*/ 1460500 h 146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2033" h="1460500">
                <a:moveTo>
                  <a:pt x="3086100" y="0"/>
                </a:moveTo>
                <a:cubicBezTo>
                  <a:pt x="3533775" y="241300"/>
                  <a:pt x="3981450" y="482600"/>
                  <a:pt x="4000500" y="685800"/>
                </a:cubicBezTo>
                <a:cubicBezTo>
                  <a:pt x="4019550" y="889000"/>
                  <a:pt x="3867150" y="1090083"/>
                  <a:pt x="3200400" y="1219200"/>
                </a:cubicBezTo>
                <a:cubicBezTo>
                  <a:pt x="2533650" y="1348317"/>
                  <a:pt x="522817" y="1447800"/>
                  <a:pt x="0" y="1460500"/>
                </a:cubicBezTo>
              </a:path>
            </a:pathLst>
          </a:custGeom>
          <a:noFill/>
          <a:ln w="22225">
            <a:solidFill>
              <a:srgbClr val="C00000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7094681" y="4762500"/>
            <a:ext cx="687042" cy="473294"/>
          </a:xfrm>
          <a:custGeom>
            <a:avLst/>
            <a:gdLst>
              <a:gd name="connsiteX0" fmla="*/ 2996461 w 2996461"/>
              <a:gd name="connsiteY0" fmla="*/ 0 h 457200"/>
              <a:gd name="connsiteX1" fmla="*/ 2285261 w 2996461"/>
              <a:gd name="connsiteY1" fmla="*/ 241300 h 457200"/>
              <a:gd name="connsiteX2" fmla="*/ 342161 w 2996461"/>
              <a:gd name="connsiteY2" fmla="*/ 368300 h 457200"/>
              <a:gd name="connsiteX3" fmla="*/ 11961 w 2996461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6461" h="457200">
                <a:moveTo>
                  <a:pt x="2996461" y="0"/>
                </a:moveTo>
                <a:cubicBezTo>
                  <a:pt x="2862052" y="89958"/>
                  <a:pt x="2727644" y="179917"/>
                  <a:pt x="2285261" y="241300"/>
                </a:cubicBezTo>
                <a:cubicBezTo>
                  <a:pt x="1842878" y="302683"/>
                  <a:pt x="721044" y="332317"/>
                  <a:pt x="342161" y="368300"/>
                </a:cubicBezTo>
                <a:cubicBezTo>
                  <a:pt x="-36722" y="404283"/>
                  <a:pt x="-12381" y="430741"/>
                  <a:pt x="11961" y="457200"/>
                </a:cubicBezTo>
              </a:path>
            </a:pathLst>
          </a:custGeom>
          <a:noFill/>
          <a:ln w="22225">
            <a:solidFill>
              <a:srgbClr val="C00000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3843968" y="6142050"/>
            <a:ext cx="76936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用一个</a:t>
            </a: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主观设定大小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正则项系数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来平衡过拟合和欠拟合</a:t>
            </a:r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C6C1639-2C88-9994-A1E7-B864E0156D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242732"/>
              </p:ext>
            </p:extLst>
          </p:nvPr>
        </p:nvGraphicFramePr>
        <p:xfrm>
          <a:off x="8644220" y="4982607"/>
          <a:ext cx="1089025" cy="354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45760" imgH="177480" progId="Equation.DSMT4">
                  <p:embed/>
                </p:oleObj>
              </mc:Choice>
              <mc:Fallback>
                <p:oleObj name="Equation" r:id="rId24" imgW="5457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644220" y="4982607"/>
                        <a:ext cx="1089025" cy="3545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6178A83-2E48-0122-D56F-85520E9E1A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690406"/>
              </p:ext>
            </p:extLst>
          </p:nvPr>
        </p:nvGraphicFramePr>
        <p:xfrm>
          <a:off x="8667426" y="5688231"/>
          <a:ext cx="905376" cy="353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31640" imgH="177480" progId="Equation.DSMT4">
                  <p:embed/>
                </p:oleObj>
              </mc:Choice>
              <mc:Fallback>
                <p:oleObj name="Equation" r:id="rId26" imgW="4316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667426" y="5688231"/>
                        <a:ext cx="905376" cy="353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EC73062-3448-B45F-42F1-4E04379CBEE8}"/>
              </a:ext>
            </a:extLst>
          </p:cNvPr>
          <p:cNvCxnSpPr>
            <a:cxnSpLocks/>
          </p:cNvCxnSpPr>
          <p:nvPr/>
        </p:nvCxnSpPr>
        <p:spPr>
          <a:xfrm flipV="1">
            <a:off x="8235291" y="5297402"/>
            <a:ext cx="382406" cy="332128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E50AB8E-01F5-C538-14F5-0E292AC113ED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8235291" y="5611309"/>
            <a:ext cx="408929" cy="289870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F16FC48D-6691-5C07-A4E3-9670F23F7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580320"/>
              </p:ext>
            </p:extLst>
          </p:nvPr>
        </p:nvGraphicFramePr>
        <p:xfrm>
          <a:off x="9909531" y="4772242"/>
          <a:ext cx="1395413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96184" imgH="734786" progId="Equation.DSMT4">
                  <p:embed/>
                </p:oleObj>
              </mc:Choice>
              <mc:Fallback>
                <p:oleObj name="Equation" r:id="rId28" imgW="1396184" imgH="73478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909531" y="4772242"/>
                        <a:ext cx="1395413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0DBA62CE-2CD0-E6A6-4176-39C20916E5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636129"/>
              </p:ext>
            </p:extLst>
          </p:nvPr>
        </p:nvGraphicFramePr>
        <p:xfrm>
          <a:off x="9915525" y="5513872"/>
          <a:ext cx="22764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277170" imgH="734786" progId="Equation.DSMT4">
                  <p:embed/>
                </p:oleObj>
              </mc:Choice>
              <mc:Fallback>
                <p:oleObj name="Equation" r:id="rId30" imgW="2277170" imgH="73478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915525" y="5513872"/>
                        <a:ext cx="2276475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56017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*简单拓展：正则化 </a:t>
            </a:r>
            <a:r>
              <a:rPr lang="en-US" altLang="zh-CN" sz="3600" b="1" dirty="0"/>
              <a:t>Regularization</a:t>
            </a:r>
            <a:endParaRPr lang="zh-CN" altLang="en-US" sz="3600" dirty="0"/>
          </a:p>
        </p:txBody>
      </p:sp>
      <p:sp>
        <p:nvSpPr>
          <p:cNvPr id="42" name="矩形 41"/>
          <p:cNvSpPr/>
          <p:nvPr/>
        </p:nvSpPr>
        <p:spPr>
          <a:xfrm>
            <a:off x="1020354" y="1576682"/>
            <a:ext cx="3844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常见的</a:t>
            </a:r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正则化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 </a:t>
            </a:r>
            <a:r>
              <a:rPr lang="en-US" altLang="zh-CN" b="1" dirty="0">
                <a:solidFill>
                  <a:srgbClr val="C00000"/>
                </a:solidFill>
              </a:rPr>
              <a:t>Regularization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519652"/>
              </p:ext>
            </p:extLst>
          </p:nvPr>
        </p:nvGraphicFramePr>
        <p:xfrm>
          <a:off x="6438734" y="2080590"/>
          <a:ext cx="247173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200" imgH="482400" progId="Equation.DSMT4">
                  <p:embed/>
                </p:oleObj>
              </mc:Choice>
              <mc:Fallback>
                <p:oleObj name="Equation" r:id="rId2" imgW="1384200" imgH="482400" progId="Equation.DSMT4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38734" y="2080590"/>
                        <a:ext cx="2471737" cy="92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48223"/>
              </p:ext>
            </p:extLst>
          </p:nvPr>
        </p:nvGraphicFramePr>
        <p:xfrm>
          <a:off x="5089456" y="2092097"/>
          <a:ext cx="108902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480" imgH="431640" progId="Equation.DSMT4">
                  <p:embed/>
                </p:oleObj>
              </mc:Choice>
              <mc:Fallback>
                <p:oleObj name="Equation" r:id="rId4" imgW="609480" imgH="431640" progId="Equation.DSMT4">
                  <p:embed/>
                  <p:pic>
                    <p:nvPicPr>
                      <p:cNvPr id="32" name="对象 3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89456" y="2092097"/>
                        <a:ext cx="1089025" cy="823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矩形 47"/>
          <p:cNvSpPr/>
          <p:nvPr/>
        </p:nvSpPr>
        <p:spPr>
          <a:xfrm>
            <a:off x="1465188" y="231175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正则项不好优化：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465188" y="3316206"/>
            <a:ext cx="2440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Lasso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（套索回归）：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617262"/>
              </p:ext>
            </p:extLst>
          </p:nvPr>
        </p:nvGraphicFramePr>
        <p:xfrm>
          <a:off x="3707017" y="2285772"/>
          <a:ext cx="93027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20560" imgH="228600" progId="Equation.DSMT4">
                  <p:embed/>
                </p:oleObj>
              </mc:Choice>
              <mc:Fallback>
                <p:oleObj name="Equation" r:id="rId6" imgW="520560" imgH="228600" progId="Equation.DSMT4">
                  <p:embed/>
                  <p:pic>
                    <p:nvPicPr>
                      <p:cNvPr id="41" name="对象 4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07017" y="2285772"/>
                        <a:ext cx="930275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788836"/>
              </p:ext>
            </p:extLst>
          </p:nvPr>
        </p:nvGraphicFramePr>
        <p:xfrm>
          <a:off x="3776855" y="3316206"/>
          <a:ext cx="88582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5000" imgH="228600" progId="Equation.DSMT4">
                  <p:embed/>
                </p:oleObj>
              </mc:Choice>
              <mc:Fallback>
                <p:oleObj name="Equation" r:id="rId8" imgW="495000" imgH="228600" progId="Equation.DSMT4">
                  <p:embed/>
                  <p:pic>
                    <p:nvPicPr>
                      <p:cNvPr id="42" name="对象 4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76855" y="3316206"/>
                        <a:ext cx="885825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268804"/>
              </p:ext>
            </p:extLst>
          </p:nvPr>
        </p:nvGraphicFramePr>
        <p:xfrm>
          <a:off x="5089456" y="3088916"/>
          <a:ext cx="70326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480" imgH="431640" progId="Equation.DSMT4">
                  <p:embed/>
                </p:oleObj>
              </mc:Choice>
              <mc:Fallback>
                <p:oleObj name="Equation" r:id="rId10" imgW="393480" imgH="431640" progId="Equation.DSMT4">
                  <p:embed/>
                  <p:pic>
                    <p:nvPicPr>
                      <p:cNvPr id="43" name="对象 4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89456" y="3088916"/>
                        <a:ext cx="703263" cy="823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矩形 52"/>
          <p:cNvSpPr/>
          <p:nvPr/>
        </p:nvSpPr>
        <p:spPr>
          <a:xfrm>
            <a:off x="6178481" y="3228467"/>
            <a:ext cx="51188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数学上可以证明，用绝对值代替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In()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，也能保证</a:t>
            </a:r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稀疏性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Sparsity</a:t>
            </a:r>
          </a:p>
        </p:txBody>
      </p:sp>
      <p:sp>
        <p:nvSpPr>
          <p:cNvPr id="54" name="矩形 53"/>
          <p:cNvSpPr/>
          <p:nvPr/>
        </p:nvSpPr>
        <p:spPr>
          <a:xfrm>
            <a:off x="1465188" y="4384744"/>
            <a:ext cx="22429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Ridge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（岭回归）：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310280"/>
              </p:ext>
            </p:extLst>
          </p:nvPr>
        </p:nvGraphicFramePr>
        <p:xfrm>
          <a:off x="3773692" y="4365054"/>
          <a:ext cx="17272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65160" imgH="228600" progId="Equation.DSMT4">
                  <p:embed/>
                </p:oleObj>
              </mc:Choice>
              <mc:Fallback>
                <p:oleObj name="Equation" r:id="rId12" imgW="965160" imgH="228600" progId="Equation.DSMT4">
                  <p:embed/>
                  <p:pic>
                    <p:nvPicPr>
                      <p:cNvPr id="46" name="对象 4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73692" y="4365054"/>
                        <a:ext cx="1727200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8295596"/>
              </p:ext>
            </p:extLst>
          </p:nvPr>
        </p:nvGraphicFramePr>
        <p:xfrm>
          <a:off x="5633968" y="4049935"/>
          <a:ext cx="210978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80800" imgH="558720" progId="Equation.DSMT4">
                  <p:embed/>
                </p:oleObj>
              </mc:Choice>
              <mc:Fallback>
                <p:oleObj name="Equation" r:id="rId14" imgW="1180800" imgH="558720" progId="Equation.DSMT4">
                  <p:embed/>
                  <p:pic>
                    <p:nvPicPr>
                      <p:cNvPr id="47" name="对象 4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633968" y="4049935"/>
                        <a:ext cx="2109787" cy="106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矩形 56"/>
          <p:cNvSpPr/>
          <p:nvPr/>
        </p:nvSpPr>
        <p:spPr>
          <a:xfrm>
            <a:off x="8215744" y="4292411"/>
            <a:ext cx="38462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数学上可以证明，用平方代替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In()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，也能保证</a:t>
            </a:r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平滑性 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Smoothness</a:t>
            </a:r>
          </a:p>
        </p:txBody>
      </p:sp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E5183AF7-9A13-4236-A166-C38EFF0F89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145915"/>
              </p:ext>
            </p:extLst>
          </p:nvPr>
        </p:nvGraphicFramePr>
        <p:xfrm>
          <a:off x="10276438" y="5205902"/>
          <a:ext cx="1422400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52200" imgH="482400" progId="Equation.DSMT4">
                  <p:embed/>
                </p:oleObj>
              </mc:Choice>
              <mc:Fallback>
                <p:oleObj name="Equation" r:id="rId16" imgW="952200" imgH="482400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E5183AF7-9A13-4236-A166-C38EFF0F89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6438" y="5205902"/>
                        <a:ext cx="1422400" cy="7127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73299"/>
              </p:ext>
            </p:extLst>
          </p:nvPr>
        </p:nvGraphicFramePr>
        <p:xfrm>
          <a:off x="9027555" y="5344014"/>
          <a:ext cx="97631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45760" imgH="228600" progId="Equation.DSMT4">
                  <p:embed/>
                </p:oleObj>
              </mc:Choice>
              <mc:Fallback>
                <p:oleObj name="Equation" r:id="rId18" imgW="545760" imgH="228600" progId="Equation.DSMT4">
                  <p:embed/>
                  <p:pic>
                    <p:nvPicPr>
                      <p:cNvPr id="50" name="对象 49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027555" y="5344014"/>
                        <a:ext cx="976313" cy="436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矩形 59"/>
          <p:cNvSpPr/>
          <p:nvPr/>
        </p:nvSpPr>
        <p:spPr>
          <a:xfrm>
            <a:off x="8215099" y="5377629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备注：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861777"/>
              </p:ext>
            </p:extLst>
          </p:nvPr>
        </p:nvGraphicFramePr>
        <p:xfrm>
          <a:off x="4252623" y="5182636"/>
          <a:ext cx="3227387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854000" imgH="431640" progId="Equation.DSMT4">
                  <p:embed/>
                </p:oleObj>
              </mc:Choice>
              <mc:Fallback>
                <p:oleObj name="Equation" r:id="rId20" imgW="1854000" imgH="431640" progId="Equation.DSMT4">
                  <p:embed/>
                  <p:pic>
                    <p:nvPicPr>
                      <p:cNvPr id="52" name="对象 5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252623" y="5182636"/>
                        <a:ext cx="3227387" cy="735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矩形 61"/>
          <p:cNvSpPr/>
          <p:nvPr/>
        </p:nvSpPr>
        <p:spPr>
          <a:xfrm>
            <a:off x="1465188" y="5389198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总结：带有正则项的目标：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732936" y="5196321"/>
            <a:ext cx="1805594" cy="78747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6713498" y="5182636"/>
            <a:ext cx="766512" cy="78747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4856586" y="6071834"/>
            <a:ext cx="1452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损失项 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Loss</a:t>
            </a:r>
          </a:p>
        </p:txBody>
      </p:sp>
      <p:sp>
        <p:nvSpPr>
          <p:cNvPr id="66" name="矩形 65"/>
          <p:cNvSpPr/>
          <p:nvPr/>
        </p:nvSpPr>
        <p:spPr>
          <a:xfrm>
            <a:off x="6645836" y="6071834"/>
            <a:ext cx="2626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正则项 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Regularization</a:t>
            </a:r>
          </a:p>
        </p:txBody>
      </p:sp>
    </p:spTree>
    <p:extLst>
      <p:ext uri="{BB962C8B-B14F-4D97-AF65-F5344CB8AC3E}">
        <p14:creationId xmlns:p14="http://schemas.microsoft.com/office/powerpoint/2010/main" val="34225921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*简单拓展：正则化 </a:t>
            </a:r>
            <a:r>
              <a:rPr lang="en-US" altLang="zh-CN" sz="3600" b="1" dirty="0"/>
              <a:t>Regularization</a:t>
            </a:r>
            <a:endParaRPr lang="zh-CN" altLang="en-US" sz="3600" dirty="0"/>
          </a:p>
        </p:txBody>
      </p:sp>
      <p:sp>
        <p:nvSpPr>
          <p:cNvPr id="26" name="矩形 25"/>
          <p:cNvSpPr/>
          <p:nvPr/>
        </p:nvSpPr>
        <p:spPr>
          <a:xfrm>
            <a:off x="1020354" y="1576682"/>
            <a:ext cx="93012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为了突出机器学习建立模型的基本思想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模型，我们在后续讲解中一律</a:t>
            </a:r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不加入正则项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！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8224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回顾：新冠疫情预测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37" y="2219559"/>
            <a:ext cx="4469718" cy="311374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41294" y="1606364"/>
            <a:ext cx="9977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任务：根据</a:t>
            </a:r>
            <a:r>
              <a:rPr lang="en-US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月份数据（训练集）</a:t>
            </a:r>
            <a:r>
              <a:rPr lang="zh-CN" altLang="en-US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建立模型，</a:t>
            </a:r>
            <a:r>
              <a:rPr lang="zh-CN" altLang="zh-CN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预测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美国</a:t>
            </a:r>
            <a:r>
              <a:rPr lang="en-US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（测试集）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的新冠感染人数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变化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5308815" y="2127996"/>
            <a:ext cx="6214156" cy="3081442"/>
            <a:chOff x="5224692" y="3492885"/>
            <a:chExt cx="6214156" cy="3081442"/>
          </a:xfrm>
        </p:grpSpPr>
        <p:pic>
          <p:nvPicPr>
            <p:cNvPr id="28" name="图片 27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9913" y="3492885"/>
              <a:ext cx="4963714" cy="3081442"/>
            </a:xfrm>
            <a:prstGeom prst="rect">
              <a:avLst/>
            </a:prstGeom>
          </p:spPr>
        </p:pic>
        <p:grpSp>
          <p:nvGrpSpPr>
            <p:cNvPr id="29" name="组合 28"/>
            <p:cNvGrpSpPr/>
            <p:nvPr/>
          </p:nvGrpSpPr>
          <p:grpSpPr>
            <a:xfrm>
              <a:off x="5224692" y="3492885"/>
              <a:ext cx="6214156" cy="2921660"/>
              <a:chOff x="5224692" y="3492885"/>
              <a:chExt cx="6214156" cy="2921660"/>
            </a:xfrm>
          </p:grpSpPr>
          <p:sp>
            <p:nvSpPr>
              <p:cNvPr id="30" name="矩形 29"/>
              <p:cNvSpPr/>
              <p:nvPr/>
            </p:nvSpPr>
            <p:spPr>
              <a:xfrm rot="16200000">
                <a:off x="4624167" y="4477353"/>
                <a:ext cx="184738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C00000"/>
                    </a:solidFill>
                  </a:rPr>
                  <a:t>日新增人数</a:t>
                </a:r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r>
                  <a:rPr lang="en-US" altLang="zh-CN" b="1" dirty="0">
                    <a:solidFill>
                      <a:srgbClr val="C00000"/>
                    </a:solidFill>
                  </a:rPr>
                  <a:t>Daily Infections</a:t>
                </a: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10416543" y="5768214"/>
                <a:ext cx="81751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C00000"/>
                    </a:solidFill>
                  </a:rPr>
                  <a:t>日期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Date</a:t>
                </a:r>
              </a:p>
            </p:txBody>
          </p:sp>
          <p:sp>
            <p:nvSpPr>
              <p:cNvPr id="32" name="任意多边形 31"/>
              <p:cNvSpPr/>
              <p:nvPr/>
            </p:nvSpPr>
            <p:spPr>
              <a:xfrm>
                <a:off x="6864227" y="3767327"/>
                <a:ext cx="3645278" cy="2304105"/>
              </a:xfrm>
              <a:custGeom>
                <a:avLst/>
                <a:gdLst>
                  <a:gd name="connsiteX0" fmla="*/ 0 w 4135581"/>
                  <a:gd name="connsiteY0" fmla="*/ 2608118 h 2608118"/>
                  <a:gd name="connsiteX1" fmla="*/ 259772 w 4135581"/>
                  <a:gd name="connsiteY1" fmla="*/ 2587337 h 2608118"/>
                  <a:gd name="connsiteX2" fmla="*/ 363681 w 4135581"/>
                  <a:gd name="connsiteY2" fmla="*/ 2566555 h 2608118"/>
                  <a:gd name="connsiteX3" fmla="*/ 436418 w 4135581"/>
                  <a:gd name="connsiteY3" fmla="*/ 2556164 h 2608118"/>
                  <a:gd name="connsiteX4" fmla="*/ 540327 w 4135581"/>
                  <a:gd name="connsiteY4" fmla="*/ 2535382 h 2608118"/>
                  <a:gd name="connsiteX5" fmla="*/ 592281 w 4135581"/>
                  <a:gd name="connsiteY5" fmla="*/ 2514600 h 2608118"/>
                  <a:gd name="connsiteX6" fmla="*/ 685800 w 4135581"/>
                  <a:gd name="connsiteY6" fmla="*/ 2493818 h 2608118"/>
                  <a:gd name="connsiteX7" fmla="*/ 737754 w 4135581"/>
                  <a:gd name="connsiteY7" fmla="*/ 2473037 h 2608118"/>
                  <a:gd name="connsiteX8" fmla="*/ 820881 w 4135581"/>
                  <a:gd name="connsiteY8" fmla="*/ 2452255 h 2608118"/>
                  <a:gd name="connsiteX9" fmla="*/ 914400 w 4135581"/>
                  <a:gd name="connsiteY9" fmla="*/ 2410691 h 2608118"/>
                  <a:gd name="connsiteX10" fmla="*/ 976745 w 4135581"/>
                  <a:gd name="connsiteY10" fmla="*/ 2389909 h 2608118"/>
                  <a:gd name="connsiteX11" fmla="*/ 1039090 w 4135581"/>
                  <a:gd name="connsiteY11" fmla="*/ 2348346 h 2608118"/>
                  <a:gd name="connsiteX12" fmla="*/ 1070263 w 4135581"/>
                  <a:gd name="connsiteY12" fmla="*/ 2327564 h 2608118"/>
                  <a:gd name="connsiteX13" fmla="*/ 1122218 w 4135581"/>
                  <a:gd name="connsiteY13" fmla="*/ 2317173 h 2608118"/>
                  <a:gd name="connsiteX14" fmla="*/ 1163781 w 4135581"/>
                  <a:gd name="connsiteY14" fmla="*/ 2296391 h 2608118"/>
                  <a:gd name="connsiteX15" fmla="*/ 1194954 w 4135581"/>
                  <a:gd name="connsiteY15" fmla="*/ 2275609 h 2608118"/>
                  <a:gd name="connsiteX16" fmla="*/ 1226127 w 4135581"/>
                  <a:gd name="connsiteY16" fmla="*/ 2265218 h 2608118"/>
                  <a:gd name="connsiteX17" fmla="*/ 1278081 w 4135581"/>
                  <a:gd name="connsiteY17" fmla="*/ 2244437 h 2608118"/>
                  <a:gd name="connsiteX18" fmla="*/ 1340427 w 4135581"/>
                  <a:gd name="connsiteY18" fmla="*/ 2182091 h 2608118"/>
                  <a:gd name="connsiteX19" fmla="*/ 1371600 w 4135581"/>
                  <a:gd name="connsiteY19" fmla="*/ 2140527 h 2608118"/>
                  <a:gd name="connsiteX20" fmla="*/ 1413163 w 4135581"/>
                  <a:gd name="connsiteY20" fmla="*/ 2109355 h 2608118"/>
                  <a:gd name="connsiteX21" fmla="*/ 1496290 w 4135581"/>
                  <a:gd name="connsiteY21" fmla="*/ 2026227 h 2608118"/>
                  <a:gd name="connsiteX22" fmla="*/ 1589809 w 4135581"/>
                  <a:gd name="connsiteY22" fmla="*/ 1963882 h 2608118"/>
                  <a:gd name="connsiteX23" fmla="*/ 1631372 w 4135581"/>
                  <a:gd name="connsiteY23" fmla="*/ 1911927 h 2608118"/>
                  <a:gd name="connsiteX24" fmla="*/ 1672936 w 4135581"/>
                  <a:gd name="connsiteY24" fmla="*/ 1870364 h 2608118"/>
                  <a:gd name="connsiteX25" fmla="*/ 1704109 w 4135581"/>
                  <a:gd name="connsiteY25" fmla="*/ 1828800 h 2608118"/>
                  <a:gd name="connsiteX26" fmla="*/ 1735281 w 4135581"/>
                  <a:gd name="connsiteY26" fmla="*/ 1808018 h 2608118"/>
                  <a:gd name="connsiteX27" fmla="*/ 1766454 w 4135581"/>
                  <a:gd name="connsiteY27" fmla="*/ 1776846 h 2608118"/>
                  <a:gd name="connsiteX28" fmla="*/ 1984663 w 4135581"/>
                  <a:gd name="connsiteY28" fmla="*/ 1652155 h 2608118"/>
                  <a:gd name="connsiteX29" fmla="*/ 2015836 w 4135581"/>
                  <a:gd name="connsiteY29" fmla="*/ 1641764 h 2608118"/>
                  <a:gd name="connsiteX30" fmla="*/ 2098963 w 4135581"/>
                  <a:gd name="connsiteY30" fmla="*/ 1579418 h 2608118"/>
                  <a:gd name="connsiteX31" fmla="*/ 2130136 w 4135581"/>
                  <a:gd name="connsiteY31" fmla="*/ 1569027 h 2608118"/>
                  <a:gd name="connsiteX32" fmla="*/ 2161309 w 4135581"/>
                  <a:gd name="connsiteY32" fmla="*/ 1548246 h 2608118"/>
                  <a:gd name="connsiteX33" fmla="*/ 2202872 w 4135581"/>
                  <a:gd name="connsiteY33" fmla="*/ 1517073 h 2608118"/>
                  <a:gd name="connsiteX34" fmla="*/ 2234045 w 4135581"/>
                  <a:gd name="connsiteY34" fmla="*/ 1496291 h 2608118"/>
                  <a:gd name="connsiteX35" fmla="*/ 2296390 w 4135581"/>
                  <a:gd name="connsiteY35" fmla="*/ 1444337 h 2608118"/>
                  <a:gd name="connsiteX36" fmla="*/ 2348345 w 4135581"/>
                  <a:gd name="connsiteY36" fmla="*/ 1413164 h 2608118"/>
                  <a:gd name="connsiteX37" fmla="*/ 2410690 w 4135581"/>
                  <a:gd name="connsiteY37" fmla="*/ 1361209 h 2608118"/>
                  <a:gd name="connsiteX38" fmla="*/ 2452254 w 4135581"/>
                  <a:gd name="connsiteY38" fmla="*/ 1340427 h 2608118"/>
                  <a:gd name="connsiteX39" fmla="*/ 2504209 w 4135581"/>
                  <a:gd name="connsiteY39" fmla="*/ 1309255 h 2608118"/>
                  <a:gd name="connsiteX40" fmla="*/ 2566554 w 4135581"/>
                  <a:gd name="connsiteY40" fmla="*/ 1288473 h 2608118"/>
                  <a:gd name="connsiteX41" fmla="*/ 2670463 w 4135581"/>
                  <a:gd name="connsiteY41" fmla="*/ 1257300 h 2608118"/>
                  <a:gd name="connsiteX42" fmla="*/ 2763981 w 4135581"/>
                  <a:gd name="connsiteY42" fmla="*/ 1194955 h 2608118"/>
                  <a:gd name="connsiteX43" fmla="*/ 2815936 w 4135581"/>
                  <a:gd name="connsiteY43" fmla="*/ 1174173 h 2608118"/>
                  <a:gd name="connsiteX44" fmla="*/ 2857500 w 4135581"/>
                  <a:gd name="connsiteY44" fmla="*/ 1143000 h 2608118"/>
                  <a:gd name="connsiteX45" fmla="*/ 2940627 w 4135581"/>
                  <a:gd name="connsiteY45" fmla="*/ 1101437 h 2608118"/>
                  <a:gd name="connsiteX46" fmla="*/ 2982190 w 4135581"/>
                  <a:gd name="connsiteY46" fmla="*/ 1070264 h 2608118"/>
                  <a:gd name="connsiteX47" fmla="*/ 3200400 w 4135581"/>
                  <a:gd name="connsiteY47" fmla="*/ 945573 h 2608118"/>
                  <a:gd name="connsiteX48" fmla="*/ 3293918 w 4135581"/>
                  <a:gd name="connsiteY48" fmla="*/ 872837 h 2608118"/>
                  <a:gd name="connsiteX49" fmla="*/ 3325090 w 4135581"/>
                  <a:gd name="connsiteY49" fmla="*/ 862446 h 2608118"/>
                  <a:gd name="connsiteX50" fmla="*/ 3439390 w 4135581"/>
                  <a:gd name="connsiteY50" fmla="*/ 779318 h 2608118"/>
                  <a:gd name="connsiteX51" fmla="*/ 3543300 w 4135581"/>
                  <a:gd name="connsiteY51" fmla="*/ 665018 h 2608118"/>
                  <a:gd name="connsiteX52" fmla="*/ 3574472 w 4135581"/>
                  <a:gd name="connsiteY52" fmla="*/ 644237 h 2608118"/>
                  <a:gd name="connsiteX53" fmla="*/ 3605645 w 4135581"/>
                  <a:gd name="connsiteY53" fmla="*/ 602673 h 2608118"/>
                  <a:gd name="connsiteX54" fmla="*/ 3688772 w 4135581"/>
                  <a:gd name="connsiteY54" fmla="*/ 519546 h 2608118"/>
                  <a:gd name="connsiteX55" fmla="*/ 3719945 w 4135581"/>
                  <a:gd name="connsiteY55" fmla="*/ 446809 h 2608118"/>
                  <a:gd name="connsiteX56" fmla="*/ 3730336 w 4135581"/>
                  <a:gd name="connsiteY56" fmla="*/ 415637 h 2608118"/>
                  <a:gd name="connsiteX57" fmla="*/ 3792681 w 4135581"/>
                  <a:gd name="connsiteY57" fmla="*/ 290946 h 2608118"/>
                  <a:gd name="connsiteX58" fmla="*/ 3813463 w 4135581"/>
                  <a:gd name="connsiteY58" fmla="*/ 207818 h 2608118"/>
                  <a:gd name="connsiteX59" fmla="*/ 3823854 w 4135581"/>
                  <a:gd name="connsiteY59" fmla="*/ 103909 h 2608118"/>
                  <a:gd name="connsiteX60" fmla="*/ 3855027 w 4135581"/>
                  <a:gd name="connsiteY60" fmla="*/ 93518 h 2608118"/>
                  <a:gd name="connsiteX61" fmla="*/ 3958936 w 4135581"/>
                  <a:gd name="connsiteY61" fmla="*/ 83127 h 2608118"/>
                  <a:gd name="connsiteX62" fmla="*/ 4052454 w 4135581"/>
                  <a:gd name="connsiteY62" fmla="*/ 62346 h 2608118"/>
                  <a:gd name="connsiteX63" fmla="*/ 4104409 w 4135581"/>
                  <a:gd name="connsiteY63" fmla="*/ 20782 h 2608118"/>
                  <a:gd name="connsiteX64" fmla="*/ 4135581 w 4135581"/>
                  <a:gd name="connsiteY64" fmla="*/ 0 h 2608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4135581" h="2608118">
                    <a:moveTo>
                      <a:pt x="0" y="2608118"/>
                    </a:moveTo>
                    <a:cubicBezTo>
                      <a:pt x="86591" y="2601191"/>
                      <a:pt x="175498" y="2608405"/>
                      <a:pt x="259772" y="2587337"/>
                    </a:cubicBezTo>
                    <a:cubicBezTo>
                      <a:pt x="314867" y="2573563"/>
                      <a:pt x="297441" y="2576746"/>
                      <a:pt x="363681" y="2566555"/>
                    </a:cubicBezTo>
                    <a:cubicBezTo>
                      <a:pt x="387888" y="2562831"/>
                      <a:pt x="412299" y="2560420"/>
                      <a:pt x="436418" y="2556164"/>
                    </a:cubicBezTo>
                    <a:cubicBezTo>
                      <a:pt x="471203" y="2550025"/>
                      <a:pt x="540327" y="2535382"/>
                      <a:pt x="540327" y="2535382"/>
                    </a:cubicBezTo>
                    <a:cubicBezTo>
                      <a:pt x="557645" y="2528455"/>
                      <a:pt x="574586" y="2520498"/>
                      <a:pt x="592281" y="2514600"/>
                    </a:cubicBezTo>
                    <a:cubicBezTo>
                      <a:pt x="664217" y="2490621"/>
                      <a:pt x="603470" y="2518517"/>
                      <a:pt x="685800" y="2493818"/>
                    </a:cubicBezTo>
                    <a:cubicBezTo>
                      <a:pt x="703665" y="2488459"/>
                      <a:pt x="719889" y="2478396"/>
                      <a:pt x="737754" y="2473037"/>
                    </a:cubicBezTo>
                    <a:cubicBezTo>
                      <a:pt x="791966" y="2456774"/>
                      <a:pt x="778215" y="2470541"/>
                      <a:pt x="820881" y="2452255"/>
                    </a:cubicBezTo>
                    <a:cubicBezTo>
                      <a:pt x="912346" y="2413055"/>
                      <a:pt x="808064" y="2449359"/>
                      <a:pt x="914400" y="2410691"/>
                    </a:cubicBezTo>
                    <a:cubicBezTo>
                      <a:pt x="934987" y="2403205"/>
                      <a:pt x="958518" y="2402060"/>
                      <a:pt x="976745" y="2389909"/>
                    </a:cubicBezTo>
                    <a:lnTo>
                      <a:pt x="1039090" y="2348346"/>
                    </a:lnTo>
                    <a:cubicBezTo>
                      <a:pt x="1049481" y="2341419"/>
                      <a:pt x="1058017" y="2330013"/>
                      <a:pt x="1070263" y="2327564"/>
                    </a:cubicBezTo>
                    <a:lnTo>
                      <a:pt x="1122218" y="2317173"/>
                    </a:lnTo>
                    <a:cubicBezTo>
                      <a:pt x="1136072" y="2310246"/>
                      <a:pt x="1150332" y="2304076"/>
                      <a:pt x="1163781" y="2296391"/>
                    </a:cubicBezTo>
                    <a:cubicBezTo>
                      <a:pt x="1174624" y="2290195"/>
                      <a:pt x="1183784" y="2281194"/>
                      <a:pt x="1194954" y="2275609"/>
                    </a:cubicBezTo>
                    <a:cubicBezTo>
                      <a:pt x="1204751" y="2270711"/>
                      <a:pt x="1215871" y="2269064"/>
                      <a:pt x="1226127" y="2265218"/>
                    </a:cubicBezTo>
                    <a:cubicBezTo>
                      <a:pt x="1243591" y="2258669"/>
                      <a:pt x="1260763" y="2251364"/>
                      <a:pt x="1278081" y="2244437"/>
                    </a:cubicBezTo>
                    <a:cubicBezTo>
                      <a:pt x="1298863" y="2223655"/>
                      <a:pt x="1322793" y="2205603"/>
                      <a:pt x="1340427" y="2182091"/>
                    </a:cubicBezTo>
                    <a:cubicBezTo>
                      <a:pt x="1350818" y="2168236"/>
                      <a:pt x="1359354" y="2152773"/>
                      <a:pt x="1371600" y="2140527"/>
                    </a:cubicBezTo>
                    <a:cubicBezTo>
                      <a:pt x="1383846" y="2128281"/>
                      <a:pt x="1400397" y="2121057"/>
                      <a:pt x="1413163" y="2109355"/>
                    </a:cubicBezTo>
                    <a:cubicBezTo>
                      <a:pt x="1442050" y="2082875"/>
                      <a:pt x="1461240" y="2043751"/>
                      <a:pt x="1496290" y="2026227"/>
                    </a:cubicBezTo>
                    <a:cubicBezTo>
                      <a:pt x="1539798" y="2004474"/>
                      <a:pt x="1551378" y="2002313"/>
                      <a:pt x="1589809" y="1963882"/>
                    </a:cubicBezTo>
                    <a:cubicBezTo>
                      <a:pt x="1605491" y="1948200"/>
                      <a:pt x="1616638" y="1928503"/>
                      <a:pt x="1631372" y="1911927"/>
                    </a:cubicBezTo>
                    <a:cubicBezTo>
                      <a:pt x="1644389" y="1897283"/>
                      <a:pt x="1660034" y="1885109"/>
                      <a:pt x="1672936" y="1870364"/>
                    </a:cubicBezTo>
                    <a:cubicBezTo>
                      <a:pt x="1684340" y="1857331"/>
                      <a:pt x="1691863" y="1841046"/>
                      <a:pt x="1704109" y="1828800"/>
                    </a:cubicBezTo>
                    <a:cubicBezTo>
                      <a:pt x="1712939" y="1819969"/>
                      <a:pt x="1725687" y="1816013"/>
                      <a:pt x="1735281" y="1808018"/>
                    </a:cubicBezTo>
                    <a:cubicBezTo>
                      <a:pt x="1746570" y="1798611"/>
                      <a:pt x="1754345" y="1785171"/>
                      <a:pt x="1766454" y="1776846"/>
                    </a:cubicBezTo>
                    <a:cubicBezTo>
                      <a:pt x="1790309" y="1760446"/>
                      <a:pt x="1934881" y="1668749"/>
                      <a:pt x="1984663" y="1652155"/>
                    </a:cubicBezTo>
                    <a:cubicBezTo>
                      <a:pt x="1995054" y="1648691"/>
                      <a:pt x="2006039" y="1646662"/>
                      <a:pt x="2015836" y="1641764"/>
                    </a:cubicBezTo>
                    <a:cubicBezTo>
                      <a:pt x="2047942" y="1625711"/>
                      <a:pt x="2068371" y="1598538"/>
                      <a:pt x="2098963" y="1579418"/>
                    </a:cubicBezTo>
                    <a:cubicBezTo>
                      <a:pt x="2108251" y="1573613"/>
                      <a:pt x="2120339" y="1573925"/>
                      <a:pt x="2130136" y="1569027"/>
                    </a:cubicBezTo>
                    <a:cubicBezTo>
                      <a:pt x="2141306" y="1563442"/>
                      <a:pt x="2151147" y="1555505"/>
                      <a:pt x="2161309" y="1548246"/>
                    </a:cubicBezTo>
                    <a:cubicBezTo>
                      <a:pt x="2175401" y="1538180"/>
                      <a:pt x="2188780" y="1527139"/>
                      <a:pt x="2202872" y="1517073"/>
                    </a:cubicBezTo>
                    <a:cubicBezTo>
                      <a:pt x="2213034" y="1509814"/>
                      <a:pt x="2224187" y="1503958"/>
                      <a:pt x="2234045" y="1496291"/>
                    </a:cubicBezTo>
                    <a:cubicBezTo>
                      <a:pt x="2255398" y="1479683"/>
                      <a:pt x="2274512" y="1460248"/>
                      <a:pt x="2296390" y="1444337"/>
                    </a:cubicBezTo>
                    <a:cubicBezTo>
                      <a:pt x="2312724" y="1432458"/>
                      <a:pt x="2332188" y="1425282"/>
                      <a:pt x="2348345" y="1413164"/>
                    </a:cubicBezTo>
                    <a:cubicBezTo>
                      <a:pt x="2417114" y="1361587"/>
                      <a:pt x="2342845" y="1399978"/>
                      <a:pt x="2410690" y="1361209"/>
                    </a:cubicBezTo>
                    <a:cubicBezTo>
                      <a:pt x="2424139" y="1353524"/>
                      <a:pt x="2438713" y="1347949"/>
                      <a:pt x="2452254" y="1340427"/>
                    </a:cubicBezTo>
                    <a:cubicBezTo>
                      <a:pt x="2469909" y="1330619"/>
                      <a:pt x="2485823" y="1317612"/>
                      <a:pt x="2504209" y="1309255"/>
                    </a:cubicBezTo>
                    <a:cubicBezTo>
                      <a:pt x="2524151" y="1300190"/>
                      <a:pt x="2546215" y="1296609"/>
                      <a:pt x="2566554" y="1288473"/>
                    </a:cubicBezTo>
                    <a:cubicBezTo>
                      <a:pt x="2634907" y="1261132"/>
                      <a:pt x="2600219" y="1271349"/>
                      <a:pt x="2670463" y="1257300"/>
                    </a:cubicBezTo>
                    <a:cubicBezTo>
                      <a:pt x="2821337" y="1181863"/>
                      <a:pt x="2571827" y="1310247"/>
                      <a:pt x="2763981" y="1194955"/>
                    </a:cubicBezTo>
                    <a:cubicBezTo>
                      <a:pt x="2779975" y="1185358"/>
                      <a:pt x="2799631" y="1183231"/>
                      <a:pt x="2815936" y="1174173"/>
                    </a:cubicBezTo>
                    <a:cubicBezTo>
                      <a:pt x="2831075" y="1165762"/>
                      <a:pt x="2842541" y="1151726"/>
                      <a:pt x="2857500" y="1143000"/>
                    </a:cubicBezTo>
                    <a:cubicBezTo>
                      <a:pt x="2884260" y="1127390"/>
                      <a:pt x="2913868" y="1117047"/>
                      <a:pt x="2940627" y="1101437"/>
                    </a:cubicBezTo>
                    <a:cubicBezTo>
                      <a:pt x="2955586" y="1092711"/>
                      <a:pt x="2967548" y="1079512"/>
                      <a:pt x="2982190" y="1070264"/>
                    </a:cubicBezTo>
                    <a:cubicBezTo>
                      <a:pt x="3115784" y="985889"/>
                      <a:pt x="3100042" y="995752"/>
                      <a:pt x="3200400" y="945573"/>
                    </a:cubicBezTo>
                    <a:cubicBezTo>
                      <a:pt x="3238266" y="907705"/>
                      <a:pt x="3237985" y="903911"/>
                      <a:pt x="3293918" y="872837"/>
                    </a:cubicBezTo>
                    <a:cubicBezTo>
                      <a:pt x="3303492" y="867518"/>
                      <a:pt x="3314699" y="865910"/>
                      <a:pt x="3325090" y="862446"/>
                    </a:cubicBezTo>
                    <a:cubicBezTo>
                      <a:pt x="3363190" y="834737"/>
                      <a:pt x="3411123" y="817006"/>
                      <a:pt x="3439390" y="779318"/>
                    </a:cubicBezTo>
                    <a:cubicBezTo>
                      <a:pt x="3469674" y="738940"/>
                      <a:pt x="3500811" y="693343"/>
                      <a:pt x="3543300" y="665018"/>
                    </a:cubicBezTo>
                    <a:lnTo>
                      <a:pt x="3574472" y="644237"/>
                    </a:lnTo>
                    <a:cubicBezTo>
                      <a:pt x="3584863" y="630382"/>
                      <a:pt x="3593399" y="614919"/>
                      <a:pt x="3605645" y="602673"/>
                    </a:cubicBezTo>
                    <a:cubicBezTo>
                      <a:pt x="3710409" y="497909"/>
                      <a:pt x="3613617" y="619753"/>
                      <a:pt x="3688772" y="519546"/>
                    </a:cubicBezTo>
                    <a:cubicBezTo>
                      <a:pt x="3713139" y="446444"/>
                      <a:pt x="3681426" y="536685"/>
                      <a:pt x="3719945" y="446809"/>
                    </a:cubicBezTo>
                    <a:cubicBezTo>
                      <a:pt x="3724260" y="436742"/>
                      <a:pt x="3726123" y="425747"/>
                      <a:pt x="3730336" y="415637"/>
                    </a:cubicBezTo>
                    <a:cubicBezTo>
                      <a:pt x="3769200" y="322365"/>
                      <a:pt x="3755823" y="346234"/>
                      <a:pt x="3792681" y="290946"/>
                    </a:cubicBezTo>
                    <a:cubicBezTo>
                      <a:pt x="3799608" y="263237"/>
                      <a:pt x="3810621" y="236238"/>
                      <a:pt x="3813463" y="207818"/>
                    </a:cubicBezTo>
                    <a:cubicBezTo>
                      <a:pt x="3816927" y="173182"/>
                      <a:pt x="3811958" y="136622"/>
                      <a:pt x="3823854" y="103909"/>
                    </a:cubicBezTo>
                    <a:cubicBezTo>
                      <a:pt x="3827597" y="93615"/>
                      <a:pt x="3844201" y="95184"/>
                      <a:pt x="3855027" y="93518"/>
                    </a:cubicBezTo>
                    <a:cubicBezTo>
                      <a:pt x="3889431" y="88225"/>
                      <a:pt x="3924432" y="87727"/>
                      <a:pt x="3958936" y="83127"/>
                    </a:cubicBezTo>
                    <a:cubicBezTo>
                      <a:pt x="3987211" y="79357"/>
                      <a:pt x="4024228" y="69403"/>
                      <a:pt x="4052454" y="62346"/>
                    </a:cubicBezTo>
                    <a:cubicBezTo>
                      <a:pt x="4087487" y="9796"/>
                      <a:pt x="4054218" y="45878"/>
                      <a:pt x="4104409" y="20782"/>
                    </a:cubicBezTo>
                    <a:cubicBezTo>
                      <a:pt x="4115579" y="15197"/>
                      <a:pt x="4135581" y="0"/>
                      <a:pt x="4135581" y="0"/>
                    </a:cubicBezTo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33" name="对象 32"/>
              <p:cNvGraphicFramePr>
                <a:graphicFrameLocks noChangeAspect="1"/>
              </p:cNvGraphicFramePr>
              <p:nvPr/>
            </p:nvGraphicFramePr>
            <p:xfrm>
              <a:off x="8123507" y="4337380"/>
              <a:ext cx="974185" cy="4335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609480" imgH="253800" progId="Equation.DSMT4">
                      <p:embed/>
                    </p:oleObj>
                  </mc:Choice>
                  <mc:Fallback>
                    <p:oleObj name="Equation" r:id="rId4" imgW="609480" imgH="253800" progId="Equation.DSMT4">
                      <p:embed/>
                      <p:pic>
                        <p:nvPicPr>
                          <p:cNvPr id="13" name="对象 12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8123507" y="4337380"/>
                            <a:ext cx="974185" cy="43354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" name="文本框 33"/>
              <p:cNvSpPr txBox="1"/>
              <p:nvPr/>
            </p:nvSpPr>
            <p:spPr>
              <a:xfrm>
                <a:off x="6864226" y="3584448"/>
                <a:ext cx="33526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随便画一条：</a:t>
                </a:r>
                <a:r>
                  <a:rPr lang="en-US" altLang="zh-CN" b="1" dirty="0"/>
                  <a:t>Draw Randomly </a:t>
                </a:r>
                <a:endParaRPr lang="zh-CN" altLang="en-US" b="1" dirty="0"/>
              </a:p>
            </p:txBody>
          </p:sp>
          <p:graphicFrame>
            <p:nvGraphicFramePr>
              <p:cNvPr id="35" name="对象 34"/>
              <p:cNvGraphicFramePr>
                <a:graphicFrameLocks noChangeAspect="1"/>
              </p:cNvGraphicFramePr>
              <p:nvPr/>
            </p:nvGraphicFramePr>
            <p:xfrm>
              <a:off x="10949987" y="5747918"/>
              <a:ext cx="488861" cy="5728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26720" imgH="139680" progId="Equation.DSMT4">
                      <p:embed/>
                    </p:oleObj>
                  </mc:Choice>
                  <mc:Fallback>
                    <p:oleObj name="Equation" r:id="rId6" imgW="126720" imgH="139680" progId="Equation.DSMT4">
                      <p:embed/>
                      <p:pic>
                        <p:nvPicPr>
                          <p:cNvPr id="15" name="对象 14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10949987" y="5747918"/>
                            <a:ext cx="488861" cy="57288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" name="对象 35"/>
              <p:cNvGraphicFramePr>
                <a:graphicFrameLocks noChangeAspect="1"/>
              </p:cNvGraphicFramePr>
              <p:nvPr/>
            </p:nvGraphicFramePr>
            <p:xfrm>
              <a:off x="5806821" y="3492885"/>
              <a:ext cx="400728" cy="5030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39680" imgH="164880" progId="Equation.DSMT4">
                      <p:embed/>
                    </p:oleObj>
                  </mc:Choice>
                  <mc:Fallback>
                    <p:oleObj name="Equation" r:id="rId8" imgW="139680" imgH="164880" progId="Equation.DSMT4">
                      <p:embed/>
                      <p:pic>
                        <p:nvPicPr>
                          <p:cNvPr id="16" name="对象 15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5806821" y="3492885"/>
                            <a:ext cx="400728" cy="50304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7" name="矩形 36"/>
          <p:cNvSpPr/>
          <p:nvPr/>
        </p:nvSpPr>
        <p:spPr>
          <a:xfrm>
            <a:off x="7108278" y="5185729"/>
            <a:ext cx="30328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直观</a:t>
            </a:r>
            <a:r>
              <a:rPr lang="en-US" altLang="zh-CN" sz="1600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：近！</a:t>
            </a:r>
            <a:endParaRPr lang="en-US" altLang="zh-CN" sz="1600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直观</a:t>
            </a:r>
            <a:r>
              <a:rPr lang="en-US" altLang="zh-CN" sz="1600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：趋势！</a:t>
            </a:r>
            <a:endParaRPr lang="en-US" altLang="zh-CN" sz="1600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8770989" y="5301001"/>
            <a:ext cx="977729" cy="22296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V="1">
            <a:off x="8770989" y="5720424"/>
            <a:ext cx="977729" cy="14665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9786051" y="5431951"/>
            <a:ext cx="22659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kern="100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模型预测</a:t>
            </a:r>
            <a:endParaRPr lang="en-US" altLang="zh-CN" sz="1600" b="1" kern="100" dirty="0">
              <a:solidFill>
                <a:srgbClr val="0070C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4297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回顾：新冠疫情预测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41294" y="1606364"/>
            <a:ext cx="9977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任务：根据</a:t>
            </a:r>
            <a:r>
              <a:rPr lang="en-US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月份数据（训练集）</a:t>
            </a:r>
            <a:r>
              <a:rPr lang="zh-CN" altLang="en-US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建立模型，</a:t>
            </a:r>
            <a:r>
              <a:rPr lang="zh-CN" altLang="zh-CN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预测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美国</a:t>
            </a:r>
            <a:r>
              <a:rPr lang="en-US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（测试集）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的新冠感染人数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变化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150" y="2712257"/>
            <a:ext cx="3267074" cy="210312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995" y="2712257"/>
            <a:ext cx="3231606" cy="208029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69CB21E-5D00-4375-B97F-DB7B221427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94" y="2689425"/>
            <a:ext cx="3275101" cy="2103129"/>
          </a:xfrm>
          <a:prstGeom prst="rect">
            <a:avLst/>
          </a:prstGeom>
        </p:spPr>
      </p:pic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327130"/>
              </p:ext>
            </p:extLst>
          </p:nvPr>
        </p:nvGraphicFramePr>
        <p:xfrm>
          <a:off x="1154818" y="5040204"/>
          <a:ext cx="1972652" cy="950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4640" imgH="711000" progId="Equation.DSMT4">
                  <p:embed/>
                </p:oleObj>
              </mc:Choice>
              <mc:Fallback>
                <p:oleObj name="Equation" r:id="rId5" imgW="1574640" imgH="71100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54818" y="5040204"/>
                        <a:ext cx="1972652" cy="9502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701771"/>
              </p:ext>
            </p:extLst>
          </p:nvPr>
        </p:nvGraphicFramePr>
        <p:xfrm>
          <a:off x="4815701" y="4899698"/>
          <a:ext cx="2355449" cy="1231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63560" imgH="863280" progId="Equation.DSMT4">
                  <p:embed/>
                </p:oleObj>
              </mc:Choice>
              <mc:Fallback>
                <p:oleObj name="Equation" r:id="rId7" imgW="1663560" imgH="86328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5701" y="4899698"/>
                        <a:ext cx="2355449" cy="12312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707783"/>
              </p:ext>
            </p:extLst>
          </p:nvPr>
        </p:nvGraphicFramePr>
        <p:xfrm>
          <a:off x="9436116" y="5127977"/>
          <a:ext cx="11668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36560" imgH="228600" progId="Equation.DSMT4">
                  <p:embed/>
                </p:oleObj>
              </mc:Choice>
              <mc:Fallback>
                <p:oleObj name="Equation" r:id="rId9" imgW="736560" imgH="2286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436116" y="5127977"/>
                        <a:ext cx="1166813" cy="38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10284409" y="5640542"/>
            <a:ext cx="1335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√</a:t>
            </a:r>
          </a:p>
        </p:txBody>
      </p:sp>
      <p:sp>
        <p:nvSpPr>
          <p:cNvPr id="23" name="矩形 22"/>
          <p:cNvSpPr/>
          <p:nvPr/>
        </p:nvSpPr>
        <p:spPr>
          <a:xfrm>
            <a:off x="8046036" y="2529694"/>
            <a:ext cx="3573687" cy="24157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234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回顾：新冠疫情预测 </a:t>
            </a:r>
            <a:r>
              <a:rPr lang="en-US" altLang="zh-CN" sz="3600" b="1" dirty="0" err="1"/>
              <a:t>Covid</a:t>
            </a:r>
            <a:r>
              <a:rPr lang="en-US" altLang="zh-CN" sz="3600" b="1" dirty="0"/>
              <a:t>-19 Prediction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41294" y="1606364"/>
            <a:ext cx="9977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任务：根据</a:t>
            </a:r>
            <a:r>
              <a:rPr lang="en-US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月份数据（训练集）</a:t>
            </a:r>
            <a:r>
              <a:rPr lang="zh-CN" altLang="en-US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建立模型，</a:t>
            </a:r>
            <a:r>
              <a:rPr lang="zh-CN" altLang="zh-CN" kern="100" dirty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预测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美国</a:t>
            </a:r>
            <a:r>
              <a:rPr lang="en-US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（测试集）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的新冠感染人数</a:t>
            </a:r>
            <a:r>
              <a:rPr lang="zh-CN" altLang="en-US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变化</a:t>
            </a:r>
            <a:r>
              <a:rPr lang="zh-CN" altLang="zh-CN" kern="100" dirty="0"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434571"/>
              </p:ext>
            </p:extLst>
          </p:nvPr>
        </p:nvGraphicFramePr>
        <p:xfrm>
          <a:off x="4486366" y="4548558"/>
          <a:ext cx="2495675" cy="484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0" imgH="253800" progId="Equation.DSMT4">
                  <p:embed/>
                </p:oleObj>
              </mc:Choice>
              <mc:Fallback>
                <p:oleObj name="Equation" r:id="rId2" imgW="1396800" imgH="25380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86366" y="4548558"/>
                        <a:ext cx="2495675" cy="484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EB2D92F9-90DB-4A1F-903D-3CB62A716E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767" y="2614768"/>
            <a:ext cx="2868586" cy="184208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34" y="2657225"/>
            <a:ext cx="2807589" cy="1807343"/>
          </a:xfrm>
          <a:prstGeom prst="rect">
            <a:avLst/>
          </a:prstGeom>
        </p:spPr>
      </p:pic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313098"/>
              </p:ext>
            </p:extLst>
          </p:nvPr>
        </p:nvGraphicFramePr>
        <p:xfrm>
          <a:off x="1319964" y="4499307"/>
          <a:ext cx="20002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253800" progId="Equation.DSMT4">
                  <p:embed/>
                </p:oleObj>
              </mc:Choice>
              <mc:Fallback>
                <p:oleObj name="Equation" r:id="rId6" imgW="1015920" imgH="25380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19964" y="4499307"/>
                        <a:ext cx="200025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/>
          <p:cNvSpPr/>
          <p:nvPr/>
        </p:nvSpPr>
        <p:spPr>
          <a:xfrm>
            <a:off x="7558996" y="3376230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59E503DD-D2D4-4935-8204-66CE6CC384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194" y="2657225"/>
            <a:ext cx="2862448" cy="1842657"/>
          </a:xfrm>
          <a:prstGeom prst="rect">
            <a:avLst/>
          </a:prstGeom>
        </p:spPr>
      </p:pic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643002"/>
              </p:ext>
            </p:extLst>
          </p:nvPr>
        </p:nvGraphicFramePr>
        <p:xfrm>
          <a:off x="8287935" y="4549334"/>
          <a:ext cx="29495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50960" imgH="253800" progId="Equation.DSMT4">
                  <p:embed/>
                </p:oleObj>
              </mc:Choice>
              <mc:Fallback>
                <p:oleObj name="Equation" r:id="rId9" imgW="1650960" imgH="253800" progId="Equation.DSMT4">
                  <p:embed/>
                  <p:pic>
                    <p:nvPicPr>
                      <p:cNvPr id="29" name="对象 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287935" y="4549334"/>
                        <a:ext cx="294957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787315" y="5233470"/>
            <a:ext cx="3065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欠拟合 </a:t>
            </a:r>
            <a:r>
              <a:rPr lang="en-US" altLang="zh-CN" b="1" dirty="0">
                <a:solidFill>
                  <a:srgbClr val="C00000"/>
                </a:solidFill>
              </a:rPr>
              <a:t>Under-fitting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对训练数据拟合的不够，模型不够精确，自然对测试数据预测也会有一定偏离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294268" y="5233470"/>
            <a:ext cx="3059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过拟合 </a:t>
            </a:r>
            <a:r>
              <a:rPr lang="en-US" altLang="zh-CN" b="1" dirty="0">
                <a:solidFill>
                  <a:srgbClr val="C00000"/>
                </a:solidFill>
              </a:rPr>
              <a:t>Over-fitting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对训练数据拟合的过分了，导致看不出趋势，无法预测测试数据（失去</a:t>
            </a:r>
            <a:r>
              <a:rPr lang="zh-CN" altLang="en-US" b="1" dirty="0">
                <a:solidFill>
                  <a:srgbClr val="C00000"/>
                </a:solidFill>
              </a:rPr>
              <a:t>泛化</a:t>
            </a:r>
            <a:r>
              <a:rPr lang="zh-CN" altLang="en-US" dirty="0"/>
              <a:t>能力）</a:t>
            </a:r>
          </a:p>
        </p:txBody>
      </p:sp>
      <p:sp>
        <p:nvSpPr>
          <p:cNvPr id="30" name="矩形 29"/>
          <p:cNvSpPr/>
          <p:nvPr/>
        </p:nvSpPr>
        <p:spPr>
          <a:xfrm>
            <a:off x="4300830" y="5255808"/>
            <a:ext cx="35454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较好的拟合 </a:t>
            </a:r>
            <a:r>
              <a:rPr lang="en-US" altLang="zh-CN" b="1" dirty="0">
                <a:solidFill>
                  <a:srgbClr val="C00000"/>
                </a:solidFill>
              </a:rPr>
              <a:t>Proper-fitting</a:t>
            </a:r>
            <a:r>
              <a:rPr lang="zh-CN" altLang="en-US" b="1" dirty="0">
                <a:solidFill>
                  <a:srgbClr val="C00000"/>
                </a:solidFill>
              </a:rPr>
              <a:t>：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dirty="0"/>
              <a:t>① 对训练数据拟合准确</a:t>
            </a:r>
            <a:endParaRPr lang="en-US" altLang="zh-CN" dirty="0"/>
          </a:p>
          <a:p>
            <a:r>
              <a:rPr lang="zh-CN" altLang="en-US" dirty="0"/>
              <a:t>② 能预测测试数据，有</a:t>
            </a:r>
            <a:r>
              <a:rPr lang="zh-CN" altLang="en-US" b="1" dirty="0">
                <a:solidFill>
                  <a:srgbClr val="C00000"/>
                </a:solidFill>
              </a:rPr>
              <a:t>泛化</a:t>
            </a:r>
            <a:r>
              <a:rPr lang="zh-CN" altLang="en-US" dirty="0"/>
              <a:t>能力</a:t>
            </a:r>
            <a:endParaRPr lang="en-US" altLang="zh-CN" dirty="0"/>
          </a:p>
        </p:txBody>
      </p:sp>
      <p:sp>
        <p:nvSpPr>
          <p:cNvPr id="31" name="右箭头 30"/>
          <p:cNvSpPr/>
          <p:nvPr/>
        </p:nvSpPr>
        <p:spPr>
          <a:xfrm>
            <a:off x="3783196" y="5566732"/>
            <a:ext cx="330200" cy="190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右箭头 31"/>
          <p:cNvSpPr/>
          <p:nvPr/>
        </p:nvSpPr>
        <p:spPr>
          <a:xfrm rot="10800000">
            <a:off x="7703535" y="5622223"/>
            <a:ext cx="330200" cy="190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8939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78D9F-3607-4568-ACCD-3B4755798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 </a:t>
            </a:r>
            <a:r>
              <a:rPr lang="en-US" altLang="zh-CN" b="1" dirty="0"/>
              <a:t>Content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8F8C92-E48F-435F-8F9A-6E579860B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案例：新冠疫情预测 </a:t>
            </a:r>
            <a:r>
              <a:rPr lang="en-US" altLang="zh-CN" sz="3200" b="1" dirty="0"/>
              <a:t>Covid-19 Prediction</a:t>
            </a:r>
          </a:p>
          <a:p>
            <a:endParaRPr lang="en-US" altLang="zh-CN" sz="3200" b="1" dirty="0"/>
          </a:p>
          <a:p>
            <a:r>
              <a:rPr lang="zh-CN" altLang="en-US" sz="3200" b="1" dirty="0">
                <a:solidFill>
                  <a:srgbClr val="C00000"/>
                </a:solidFill>
              </a:rPr>
              <a:t>机器学习的数学范式 </a:t>
            </a:r>
            <a:r>
              <a:rPr lang="en-US" altLang="zh-CN" sz="3200" b="1" dirty="0">
                <a:solidFill>
                  <a:srgbClr val="C00000"/>
                </a:solidFill>
              </a:rPr>
              <a:t>Mathematical Paradigm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604854-A6B6-4801-82D0-E453A3833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1606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629769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机器学习训练模型的数学范式 </a:t>
            </a:r>
            <a:r>
              <a:rPr lang="en-US" altLang="zh-CN" sz="4000" b="1" dirty="0"/>
              <a:t>Mathematical Paradigm</a:t>
            </a:r>
            <a:endParaRPr lang="zh-CN" altLang="en-US" sz="40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05" y="2029727"/>
            <a:ext cx="4394938" cy="28291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327001" y="1723595"/>
            <a:ext cx="65671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选择一个模型的基本形式</a:t>
            </a:r>
            <a:endParaRPr lang="en-US" altLang="zh-CN" b="1" dirty="0"/>
          </a:p>
          <a:p>
            <a:r>
              <a:rPr lang="en-US" altLang="zh-CN" b="1" dirty="0"/>
              <a:t>    </a:t>
            </a:r>
            <a:r>
              <a:rPr lang="zh-CN" altLang="en-US" b="1" dirty="0"/>
              <a:t> </a:t>
            </a:r>
            <a:r>
              <a:rPr lang="en-US" altLang="zh-CN" b="1" dirty="0"/>
              <a:t>Find a basic form of model</a:t>
            </a:r>
          </a:p>
          <a:p>
            <a:r>
              <a:rPr lang="en-US" altLang="zh-CN" sz="2000" b="1" dirty="0"/>
              <a:t>     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723480" y="2304301"/>
          <a:ext cx="181451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23480" y="2304301"/>
                        <a:ext cx="1814513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7631856" y="2381359"/>
            <a:ext cx="3102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决策函数 </a:t>
            </a:r>
            <a:r>
              <a:rPr lang="en-US" altLang="zh-CN" b="1" dirty="0">
                <a:solidFill>
                  <a:srgbClr val="C00000"/>
                </a:solidFill>
              </a:rPr>
              <a:t>Decision Function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81868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322379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机器学习训练模型的数学范式 </a:t>
            </a:r>
            <a:r>
              <a:rPr lang="en-US" altLang="zh-CN" sz="4000" b="1" dirty="0"/>
              <a:t>Mathematical Paradigm</a:t>
            </a:r>
            <a:endParaRPr lang="zh-CN" altLang="en-US" sz="40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05" y="2029727"/>
            <a:ext cx="4394938" cy="28291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327001" y="1723595"/>
            <a:ext cx="65671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选择一个模型的基本形式</a:t>
            </a:r>
            <a:endParaRPr lang="en-US" altLang="zh-CN" b="1" dirty="0"/>
          </a:p>
          <a:p>
            <a:r>
              <a:rPr lang="en-US" altLang="zh-CN" b="1" dirty="0"/>
              <a:t>    </a:t>
            </a:r>
            <a:r>
              <a:rPr lang="zh-CN" altLang="en-US" b="1" dirty="0"/>
              <a:t> </a:t>
            </a:r>
            <a:r>
              <a:rPr lang="en-US" altLang="zh-CN" b="1" dirty="0"/>
              <a:t>Find a basic form of model</a:t>
            </a:r>
          </a:p>
          <a:p>
            <a:r>
              <a:rPr lang="en-US" altLang="zh-CN" sz="2000" b="1" dirty="0"/>
              <a:t>     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723480" y="2304301"/>
          <a:ext cx="181451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23480" y="2304301"/>
                        <a:ext cx="1814513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272057" y="2853087"/>
            <a:ext cx="65671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② 定义拟合好坏的判定函数（距离远近）</a:t>
            </a:r>
            <a:endParaRPr lang="en-US" altLang="zh-CN" b="1" dirty="0"/>
          </a:p>
          <a:p>
            <a:r>
              <a:rPr lang="en-US" altLang="zh-CN" b="1" dirty="0"/>
              <a:t>     Define the judgment function of good or bad fitting (the distance between training data and model)</a:t>
            </a:r>
            <a:r>
              <a:rPr lang="zh-CN" altLang="en-US" b="1" dirty="0">
                <a:solidFill>
                  <a:srgbClr val="C00000"/>
                </a:solidFill>
              </a:rPr>
              <a:t>    </a:t>
            </a:r>
          </a:p>
        </p:txBody>
      </p:sp>
      <p:sp>
        <p:nvSpPr>
          <p:cNvPr id="10" name="矩形 9"/>
          <p:cNvSpPr/>
          <p:nvPr/>
        </p:nvSpPr>
        <p:spPr>
          <a:xfrm>
            <a:off x="7631856" y="2381359"/>
            <a:ext cx="3102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决策函数 </a:t>
            </a:r>
            <a:r>
              <a:rPr lang="en-US" altLang="zh-CN" b="1" dirty="0">
                <a:solidFill>
                  <a:srgbClr val="C00000"/>
                </a:solidFill>
              </a:rPr>
              <a:t>Decision Function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8516736" y="3849406"/>
            <a:ext cx="2595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损失函数 </a:t>
            </a:r>
            <a:r>
              <a:rPr lang="en-US" altLang="zh-CN" b="1" dirty="0">
                <a:solidFill>
                  <a:srgbClr val="C00000"/>
                </a:solidFill>
              </a:rPr>
              <a:t>Loss Function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578274" y="3715540"/>
          <a:ext cx="2938462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88760" imgH="291960" progId="Equation.DSMT4">
                  <p:embed/>
                </p:oleObj>
              </mc:Choice>
              <mc:Fallback>
                <p:oleObj name="Equation" r:id="rId5" imgW="1688760" imgH="29196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78274" y="3715540"/>
                        <a:ext cx="2938462" cy="496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92374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815119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机器学习训练模型的数学范式 </a:t>
            </a:r>
            <a:r>
              <a:rPr lang="en-US" altLang="zh-CN" sz="4000" b="1" dirty="0"/>
              <a:t>Mathematical Paradigm</a:t>
            </a:r>
            <a:endParaRPr lang="zh-CN" altLang="en-US" sz="40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6ADC07-70E8-40EB-88A9-D32B222C2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05" y="2029727"/>
            <a:ext cx="4394938" cy="28291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327001" y="1723595"/>
            <a:ext cx="65671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选择一个模型的基本形式</a:t>
            </a:r>
            <a:endParaRPr lang="en-US" altLang="zh-CN" b="1" dirty="0"/>
          </a:p>
          <a:p>
            <a:r>
              <a:rPr lang="en-US" altLang="zh-CN" b="1" dirty="0"/>
              <a:t>    </a:t>
            </a:r>
            <a:r>
              <a:rPr lang="zh-CN" altLang="en-US" b="1" dirty="0"/>
              <a:t> </a:t>
            </a:r>
            <a:r>
              <a:rPr lang="en-US" altLang="zh-CN" b="1" dirty="0"/>
              <a:t>Find a basic form of model</a:t>
            </a:r>
          </a:p>
          <a:p>
            <a:r>
              <a:rPr lang="en-US" altLang="zh-CN" sz="2000" b="1" dirty="0"/>
              <a:t>     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4249448"/>
              </p:ext>
            </p:extLst>
          </p:nvPr>
        </p:nvGraphicFramePr>
        <p:xfrm>
          <a:off x="5723480" y="2304301"/>
          <a:ext cx="181451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920" imgH="253800" progId="Equation.DSMT4">
                  <p:embed/>
                </p:oleObj>
              </mc:Choice>
              <mc:Fallback>
                <p:oleObj name="Equation" r:id="rId4" imgW="1015920" imgH="25380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23480" y="2304301"/>
                        <a:ext cx="1814513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272057" y="2853087"/>
            <a:ext cx="65671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② 定义拟合好坏的判定函数（距离远近）</a:t>
            </a:r>
            <a:endParaRPr lang="en-US" altLang="zh-CN" b="1" dirty="0"/>
          </a:p>
          <a:p>
            <a:r>
              <a:rPr lang="en-US" altLang="zh-CN" b="1" dirty="0"/>
              <a:t>     Define the judgment function of good or bad fitting (the distance between training data and model)</a:t>
            </a:r>
            <a:r>
              <a:rPr lang="zh-CN" altLang="en-US" b="1" dirty="0">
                <a:solidFill>
                  <a:srgbClr val="C00000"/>
                </a:solidFill>
              </a:rPr>
              <a:t>    </a:t>
            </a:r>
          </a:p>
        </p:txBody>
      </p:sp>
      <p:sp>
        <p:nvSpPr>
          <p:cNvPr id="10" name="矩形 9"/>
          <p:cNvSpPr/>
          <p:nvPr/>
        </p:nvSpPr>
        <p:spPr>
          <a:xfrm>
            <a:off x="7631856" y="2381359"/>
            <a:ext cx="3102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决策函数 </a:t>
            </a:r>
            <a:r>
              <a:rPr lang="en-US" altLang="zh-CN" b="1" dirty="0">
                <a:solidFill>
                  <a:srgbClr val="C00000"/>
                </a:solidFill>
              </a:rPr>
              <a:t>Decision Function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8516736" y="3849406"/>
            <a:ext cx="2595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损失函数 </a:t>
            </a:r>
            <a:r>
              <a:rPr lang="en-US" altLang="zh-CN" b="1" dirty="0">
                <a:solidFill>
                  <a:srgbClr val="C00000"/>
                </a:solidFill>
              </a:rPr>
              <a:t>Loss Function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610068"/>
              </p:ext>
            </p:extLst>
          </p:nvPr>
        </p:nvGraphicFramePr>
        <p:xfrm>
          <a:off x="5578274" y="3715540"/>
          <a:ext cx="2938462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8760" imgH="291960" progId="Equation.DSMT4">
                  <p:embed/>
                </p:oleObj>
              </mc:Choice>
              <mc:Fallback>
                <p:oleObj name="Equation" r:id="rId6" imgW="1688760" imgH="29196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78274" y="3715540"/>
                        <a:ext cx="2938462" cy="496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272058" y="4357903"/>
            <a:ext cx="6567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③ 参数确定：</a:t>
            </a:r>
            <a:r>
              <a:rPr lang="zh-CN" altLang="en-US" b="1" dirty="0">
                <a:solidFill>
                  <a:srgbClr val="C00000"/>
                </a:solidFill>
              </a:rPr>
              <a:t>最小化损失和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/>
              <a:t>     Objective</a:t>
            </a:r>
            <a:r>
              <a:rPr lang="zh-CN" altLang="en-US" b="1" dirty="0"/>
              <a:t>：</a:t>
            </a:r>
            <a:r>
              <a:rPr lang="en-US" altLang="zh-CN" b="1" dirty="0"/>
              <a:t>minimize the sum loss of the data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72780"/>
              </p:ext>
            </p:extLst>
          </p:nvPr>
        </p:nvGraphicFramePr>
        <p:xfrm>
          <a:off x="5704819" y="5001756"/>
          <a:ext cx="22764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07880" imgH="431640" progId="Equation.DSMT4">
                  <p:embed/>
                </p:oleObj>
              </mc:Choice>
              <mc:Fallback>
                <p:oleObj name="Equation" r:id="rId8" imgW="1307880" imgH="43164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04819" y="5001756"/>
                        <a:ext cx="2276475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右箭头 14"/>
          <p:cNvSpPr/>
          <p:nvPr/>
        </p:nvSpPr>
        <p:spPr>
          <a:xfrm>
            <a:off x="8106189" y="5254171"/>
            <a:ext cx="821094" cy="2301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991784"/>
              </p:ext>
            </p:extLst>
          </p:nvPr>
        </p:nvGraphicFramePr>
        <p:xfrm>
          <a:off x="9052178" y="5154601"/>
          <a:ext cx="10826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22080" imgH="253800" progId="Equation.DSMT4">
                  <p:embed/>
                </p:oleObj>
              </mc:Choice>
              <mc:Fallback>
                <p:oleObj name="Equation" r:id="rId10" imgW="622080" imgH="25380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052178" y="5154601"/>
                        <a:ext cx="1082675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F4CB9EC3-2010-E46C-7A5D-E6731AF8410A}"/>
              </a:ext>
            </a:extLst>
          </p:cNvPr>
          <p:cNvSpPr txBox="1"/>
          <p:nvPr/>
        </p:nvSpPr>
        <p:spPr>
          <a:xfrm>
            <a:off x="5272057" y="5774183"/>
            <a:ext cx="656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④ 怎么求解？（后续再说）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5322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6" name="流程图: 磁盘 5"/>
          <p:cNvSpPr/>
          <p:nvPr/>
        </p:nvSpPr>
        <p:spPr>
          <a:xfrm>
            <a:off x="1736978" y="440963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磁盘 6"/>
          <p:cNvSpPr/>
          <p:nvPr/>
        </p:nvSpPr>
        <p:spPr>
          <a:xfrm>
            <a:off x="1736978" y="424337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磁盘 7"/>
          <p:cNvSpPr/>
          <p:nvPr/>
        </p:nvSpPr>
        <p:spPr>
          <a:xfrm>
            <a:off x="1736978" y="407712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磁盘 8"/>
          <p:cNvSpPr/>
          <p:nvPr/>
        </p:nvSpPr>
        <p:spPr>
          <a:xfrm>
            <a:off x="1736978" y="391086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磁盘 9"/>
          <p:cNvSpPr/>
          <p:nvPr/>
        </p:nvSpPr>
        <p:spPr>
          <a:xfrm>
            <a:off x="1736978" y="374461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磁盘 10"/>
          <p:cNvSpPr/>
          <p:nvPr/>
        </p:nvSpPr>
        <p:spPr>
          <a:xfrm>
            <a:off x="1736978" y="357835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磁盘 11"/>
          <p:cNvSpPr/>
          <p:nvPr/>
        </p:nvSpPr>
        <p:spPr>
          <a:xfrm>
            <a:off x="1736978" y="341210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磁盘 12"/>
          <p:cNvSpPr/>
          <p:nvPr/>
        </p:nvSpPr>
        <p:spPr>
          <a:xfrm>
            <a:off x="1736978" y="324584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磁盘 13"/>
          <p:cNvSpPr/>
          <p:nvPr/>
        </p:nvSpPr>
        <p:spPr>
          <a:xfrm>
            <a:off x="1736978" y="307959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磁盘 14"/>
          <p:cNvSpPr/>
          <p:nvPr/>
        </p:nvSpPr>
        <p:spPr>
          <a:xfrm>
            <a:off x="1736978" y="291333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936607" y="4647249"/>
            <a:ext cx="673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数据</a:t>
            </a:r>
            <a:endParaRPr lang="en-US" altLang="zh-CN" b="1" dirty="0"/>
          </a:p>
          <a:p>
            <a:pPr algn="ctr"/>
            <a:r>
              <a:rPr lang="en-US" altLang="zh-CN" b="1" dirty="0"/>
              <a:t>Data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013276" y="4910858"/>
            <a:ext cx="7120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</a:t>
            </a:r>
            <a:endParaRPr lang="en-US" altLang="zh-CN" b="1" dirty="0"/>
          </a:p>
          <a:p>
            <a:pPr algn="ctr"/>
            <a:r>
              <a:rPr lang="en-US" altLang="zh-CN" b="1" dirty="0"/>
              <a:t>Train</a:t>
            </a:r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8102623" y="2871214"/>
            <a:ext cx="2159635" cy="2304610"/>
            <a:chOff x="4449907" y="3191494"/>
            <a:chExt cx="2159635" cy="2304610"/>
          </a:xfrm>
        </p:grpSpPr>
        <p:grpSp>
          <p:nvGrpSpPr>
            <p:cNvPr id="18" name="组合 17"/>
            <p:cNvGrpSpPr/>
            <p:nvPr/>
          </p:nvGrpSpPr>
          <p:grpSpPr>
            <a:xfrm>
              <a:off x="4449907" y="3191494"/>
              <a:ext cx="2159635" cy="1905240"/>
              <a:chOff x="7411085" y="4840845"/>
              <a:chExt cx="2159635" cy="1905240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7947660" y="5070873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7947660" y="5532836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947660" y="5994799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8488680" y="4840845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8488680" y="5299473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8488680" y="57661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8488680" y="62233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029700" y="5528073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5" name="直接箭头连接符 34"/>
              <p:cNvCxnSpPr>
                <a:endCxn id="27" idx="2"/>
              </p:cNvCxnSpPr>
              <p:nvPr/>
            </p:nvCxnSpPr>
            <p:spPr>
              <a:xfrm>
                <a:off x="7415530" y="51851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>
                <a:off x="7415530" y="56423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>
                <a:off x="7415530" y="6109099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9239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>
                <a:endCxn id="28" idx="2"/>
              </p:cNvCxnSpPr>
              <p:nvPr/>
            </p:nvCxnSpPr>
            <p:spPr>
              <a:xfrm flipV="1">
                <a:off x="7411085" y="5647136"/>
                <a:ext cx="536575" cy="4460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>
                <a:endCxn id="28" idx="2"/>
              </p:cNvCxnSpPr>
              <p:nvPr/>
            </p:nvCxnSpPr>
            <p:spPr>
              <a:xfrm>
                <a:off x="7415530" y="5188348"/>
                <a:ext cx="532130" cy="4587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>
                <a:endCxn id="29" idx="2"/>
              </p:cNvCxnSpPr>
              <p:nvPr/>
            </p:nvCxnSpPr>
            <p:spPr>
              <a:xfrm>
                <a:off x="7411085" y="5201050"/>
                <a:ext cx="536575" cy="9080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4572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endCxn id="29" idx="2"/>
              </p:cNvCxnSpPr>
              <p:nvPr/>
            </p:nvCxnSpPr>
            <p:spPr>
              <a:xfrm>
                <a:off x="7411085" y="5658249"/>
                <a:ext cx="536575" cy="45085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>
                <a:stCxn id="27" idx="6"/>
                <a:endCxn id="30" idx="2"/>
              </p:cNvCxnSpPr>
              <p:nvPr/>
            </p:nvCxnSpPr>
            <p:spPr>
              <a:xfrm flipV="1">
                <a:off x="8176260" y="4955145"/>
                <a:ext cx="312420" cy="23002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27" idx="6"/>
                <a:endCxn id="31" idx="2"/>
              </p:cNvCxnSpPr>
              <p:nvPr/>
            </p:nvCxnSpPr>
            <p:spPr>
              <a:xfrm>
                <a:off x="8176260" y="51851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>
                <a:stCxn id="27" idx="6"/>
                <a:endCxn id="32" idx="2"/>
              </p:cNvCxnSpPr>
              <p:nvPr/>
            </p:nvCxnSpPr>
            <p:spPr>
              <a:xfrm>
                <a:off x="8176260" y="51851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>
                <a:stCxn id="27" idx="6"/>
                <a:endCxn id="33" idx="2"/>
              </p:cNvCxnSpPr>
              <p:nvPr/>
            </p:nvCxnSpPr>
            <p:spPr>
              <a:xfrm>
                <a:off x="8176260" y="5185173"/>
                <a:ext cx="312420" cy="11525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/>
              <p:cNvCxnSpPr>
                <a:stCxn id="28" idx="6"/>
                <a:endCxn id="30" idx="2"/>
              </p:cNvCxnSpPr>
              <p:nvPr/>
            </p:nvCxnSpPr>
            <p:spPr>
              <a:xfrm flipV="1">
                <a:off x="8176260" y="4955145"/>
                <a:ext cx="312420" cy="69199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/>
              <p:cNvCxnSpPr>
                <a:stCxn id="28" idx="6"/>
                <a:endCxn id="31" idx="2"/>
              </p:cNvCxnSpPr>
              <p:nvPr/>
            </p:nvCxnSpPr>
            <p:spPr>
              <a:xfrm flipV="1">
                <a:off x="8176260" y="5413773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>
                <a:stCxn id="28" idx="6"/>
                <a:endCxn id="32" idx="2"/>
              </p:cNvCxnSpPr>
              <p:nvPr/>
            </p:nvCxnSpPr>
            <p:spPr>
              <a:xfrm>
                <a:off x="8176260" y="5647136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>
                <a:stCxn id="28" idx="6"/>
                <a:endCxn id="33" idx="2"/>
              </p:cNvCxnSpPr>
              <p:nvPr/>
            </p:nvCxnSpPr>
            <p:spPr>
              <a:xfrm>
                <a:off x="8176260" y="5647136"/>
                <a:ext cx="312420" cy="6905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>
                <a:stCxn id="29" idx="6"/>
                <a:endCxn id="30" idx="2"/>
              </p:cNvCxnSpPr>
              <p:nvPr/>
            </p:nvCxnSpPr>
            <p:spPr>
              <a:xfrm flipV="1">
                <a:off x="8176260" y="4955145"/>
                <a:ext cx="312420" cy="11539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/>
              <p:cNvCxnSpPr>
                <a:stCxn id="29" idx="6"/>
                <a:endCxn id="31" idx="2"/>
              </p:cNvCxnSpPr>
              <p:nvPr/>
            </p:nvCxnSpPr>
            <p:spPr>
              <a:xfrm flipV="1">
                <a:off x="8176260" y="54137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/>
              <p:cNvCxnSpPr>
                <a:stCxn id="29" idx="6"/>
                <a:endCxn id="32" idx="2"/>
              </p:cNvCxnSpPr>
              <p:nvPr/>
            </p:nvCxnSpPr>
            <p:spPr>
              <a:xfrm flipV="1">
                <a:off x="8176260" y="5880499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/>
              <p:cNvCxnSpPr>
                <a:endCxn id="33" idx="2"/>
              </p:cNvCxnSpPr>
              <p:nvPr/>
            </p:nvCxnSpPr>
            <p:spPr>
              <a:xfrm>
                <a:off x="8176260" y="6113863"/>
                <a:ext cx="312420" cy="2238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>
                <a:stCxn id="33" idx="6"/>
                <a:endCxn id="34" idx="3"/>
              </p:cNvCxnSpPr>
              <p:nvPr/>
            </p:nvCxnSpPr>
            <p:spPr>
              <a:xfrm flipV="1">
                <a:off x="8717280" y="5723195"/>
                <a:ext cx="345898" cy="6145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/>
              <p:cNvCxnSpPr>
                <a:stCxn id="32" idx="6"/>
                <a:endCxn id="34" idx="2"/>
              </p:cNvCxnSpPr>
              <p:nvPr/>
            </p:nvCxnSpPr>
            <p:spPr>
              <a:xfrm flipV="1">
                <a:off x="8717280" y="5642373"/>
                <a:ext cx="312420" cy="2381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/>
              <p:cNvCxnSpPr>
                <a:stCxn id="31" idx="6"/>
                <a:endCxn id="34" idx="2"/>
              </p:cNvCxnSpPr>
              <p:nvPr/>
            </p:nvCxnSpPr>
            <p:spPr>
              <a:xfrm>
                <a:off x="8717280" y="54137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/>
              <p:cNvCxnSpPr>
                <a:stCxn id="30" idx="6"/>
                <a:endCxn id="34" idx="1"/>
              </p:cNvCxnSpPr>
              <p:nvPr/>
            </p:nvCxnSpPr>
            <p:spPr>
              <a:xfrm>
                <a:off x="8717280" y="4955145"/>
                <a:ext cx="345898" cy="60640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/>
              <p:cNvCxnSpPr>
                <a:stCxn id="34" idx="6"/>
              </p:cNvCxnSpPr>
              <p:nvPr/>
            </p:nvCxnSpPr>
            <p:spPr>
              <a:xfrm>
                <a:off x="9258300" y="5642373"/>
                <a:ext cx="3124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矩形 60"/>
              <p:cNvSpPr/>
              <p:nvPr/>
            </p:nvSpPr>
            <p:spPr>
              <a:xfrm>
                <a:off x="7981656" y="6438308"/>
                <a:ext cx="18473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zh-CN" alt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4912744" y="4849773"/>
              <a:ext cx="85953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/>
                <a:t>模型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Model</a:t>
              </a:r>
              <a:endParaRPr lang="zh-CN" altLang="en-US" dirty="0"/>
            </a:p>
          </p:txBody>
        </p:sp>
      </p:grpSp>
      <p:sp>
        <p:nvSpPr>
          <p:cNvPr id="22" name="矩形 21"/>
          <p:cNvSpPr/>
          <p:nvPr/>
        </p:nvSpPr>
        <p:spPr>
          <a:xfrm>
            <a:off x="7078999" y="1957785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</a:t>
            </a:r>
            <a:endParaRPr lang="en-US" altLang="zh-CN" b="1" dirty="0"/>
          </a:p>
          <a:p>
            <a:pPr algn="ctr"/>
            <a:r>
              <a:rPr lang="en-US" altLang="zh-CN" b="1" dirty="0"/>
              <a:t>Test</a:t>
            </a:r>
            <a:endParaRPr lang="zh-CN" altLang="en-US" dirty="0"/>
          </a:p>
        </p:txBody>
      </p:sp>
      <p:sp>
        <p:nvSpPr>
          <p:cNvPr id="23" name="流程图: 磁盘 22"/>
          <p:cNvSpPr/>
          <p:nvPr/>
        </p:nvSpPr>
        <p:spPr>
          <a:xfrm>
            <a:off x="4959488" y="231868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磁盘 23"/>
          <p:cNvSpPr/>
          <p:nvPr/>
        </p:nvSpPr>
        <p:spPr>
          <a:xfrm>
            <a:off x="4959488" y="2152428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磁盘 24"/>
          <p:cNvSpPr/>
          <p:nvPr/>
        </p:nvSpPr>
        <p:spPr>
          <a:xfrm>
            <a:off x="4959488" y="198617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流程图: 磁盘 62"/>
          <p:cNvSpPr/>
          <p:nvPr/>
        </p:nvSpPr>
        <p:spPr>
          <a:xfrm>
            <a:off x="4959488" y="574208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流程图: 磁盘 63"/>
          <p:cNvSpPr/>
          <p:nvPr/>
        </p:nvSpPr>
        <p:spPr>
          <a:xfrm>
            <a:off x="4959488" y="557582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流程图: 磁盘 64"/>
          <p:cNvSpPr/>
          <p:nvPr/>
        </p:nvSpPr>
        <p:spPr>
          <a:xfrm>
            <a:off x="4959488" y="540957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流程图: 磁盘 65"/>
          <p:cNvSpPr/>
          <p:nvPr/>
        </p:nvSpPr>
        <p:spPr>
          <a:xfrm>
            <a:off x="4959488" y="524331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流程图: 磁盘 66"/>
          <p:cNvSpPr/>
          <p:nvPr/>
        </p:nvSpPr>
        <p:spPr>
          <a:xfrm>
            <a:off x="4959488" y="507706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流程图: 磁盘 67"/>
          <p:cNvSpPr/>
          <p:nvPr/>
        </p:nvSpPr>
        <p:spPr>
          <a:xfrm>
            <a:off x="4959488" y="491080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流程图: 磁盘 68"/>
          <p:cNvSpPr/>
          <p:nvPr/>
        </p:nvSpPr>
        <p:spPr>
          <a:xfrm>
            <a:off x="4959488" y="474455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右箭头 72"/>
          <p:cNvSpPr/>
          <p:nvPr/>
        </p:nvSpPr>
        <p:spPr>
          <a:xfrm rot="20218143">
            <a:off x="3261924" y="2675200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907276" y="1746134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假装的“新数据”</a:t>
            </a:r>
            <a:endParaRPr lang="en-US" altLang="zh-CN" b="1" dirty="0"/>
          </a:p>
          <a:p>
            <a:pPr algn="ctr"/>
            <a:r>
              <a:rPr lang="en-US" altLang="zh-CN" b="1" dirty="0"/>
              <a:t>Fake New Data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4892093" y="2581585"/>
            <a:ext cx="13484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测试集</a:t>
            </a:r>
            <a:endParaRPr lang="en-US" altLang="zh-CN" b="1" dirty="0"/>
          </a:p>
          <a:p>
            <a:pPr algn="ctr"/>
            <a:r>
              <a:rPr lang="en-US" altLang="zh-CN" b="1" dirty="0"/>
              <a:t>Testing Set</a:t>
            </a:r>
            <a:endParaRPr lang="zh-CN" altLang="en-US" dirty="0"/>
          </a:p>
        </p:txBody>
      </p:sp>
      <p:sp>
        <p:nvSpPr>
          <p:cNvPr id="77" name="矩形 76"/>
          <p:cNvSpPr/>
          <p:nvPr/>
        </p:nvSpPr>
        <p:spPr>
          <a:xfrm>
            <a:off x="4844804" y="5997284"/>
            <a:ext cx="14430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训练集</a:t>
            </a:r>
            <a:endParaRPr lang="en-US" altLang="zh-CN" b="1" dirty="0"/>
          </a:p>
          <a:p>
            <a:pPr algn="ctr"/>
            <a:r>
              <a:rPr lang="en-US" altLang="zh-CN" b="1" dirty="0"/>
              <a:t>Training Set</a:t>
            </a:r>
            <a:endParaRPr lang="zh-CN" altLang="en-US" dirty="0"/>
          </a:p>
        </p:txBody>
      </p:sp>
      <p:sp>
        <p:nvSpPr>
          <p:cNvPr id="78" name="矩形 77"/>
          <p:cNvSpPr/>
          <p:nvPr/>
        </p:nvSpPr>
        <p:spPr>
          <a:xfrm>
            <a:off x="2907276" y="5006452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剩下的“老数据”</a:t>
            </a:r>
            <a:endParaRPr lang="en-US" altLang="zh-CN" b="1" dirty="0"/>
          </a:p>
          <a:p>
            <a:pPr algn="ctr"/>
            <a:r>
              <a:rPr lang="en-US" altLang="zh-CN" b="1" dirty="0"/>
              <a:t>Rest Old Data</a:t>
            </a:r>
            <a:endParaRPr lang="zh-CN" altLang="en-US" dirty="0"/>
          </a:p>
        </p:txBody>
      </p:sp>
      <p:sp>
        <p:nvSpPr>
          <p:cNvPr id="79" name="右箭头 78"/>
          <p:cNvSpPr/>
          <p:nvPr/>
        </p:nvSpPr>
        <p:spPr>
          <a:xfrm rot="1641280">
            <a:off x="3262989" y="4510312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右箭头 79"/>
          <p:cNvSpPr/>
          <p:nvPr/>
        </p:nvSpPr>
        <p:spPr>
          <a:xfrm rot="20218143">
            <a:off x="6589844" y="4550189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右箭头 81"/>
          <p:cNvSpPr/>
          <p:nvPr/>
        </p:nvSpPr>
        <p:spPr>
          <a:xfrm rot="12384537">
            <a:off x="6578310" y="2706208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标题 1"/>
          <p:cNvSpPr txBox="1">
            <a:spLocks/>
          </p:cNvSpPr>
          <p:nvPr/>
        </p:nvSpPr>
        <p:spPr>
          <a:xfrm>
            <a:off x="915346" y="3875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机器学习的基本流程 </a:t>
            </a:r>
            <a:r>
              <a:rPr lang="en-US" altLang="zh-CN" sz="3600" b="1" dirty="0"/>
              <a:t>Process 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Machine Learning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202169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81" name="标题 1"/>
          <p:cNvSpPr txBox="1">
            <a:spLocks/>
          </p:cNvSpPr>
          <p:nvPr/>
        </p:nvSpPr>
        <p:spPr>
          <a:xfrm>
            <a:off x="915346" y="3875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机器学习的基本流程 </a:t>
            </a:r>
            <a:r>
              <a:rPr lang="en-US" altLang="zh-CN" sz="3600" b="1" dirty="0"/>
              <a:t>Process 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Machine Learning</a:t>
            </a:r>
            <a:endParaRPr lang="zh-CN" altLang="en-US" sz="3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60" y="2077070"/>
            <a:ext cx="5352587" cy="2917643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6021938" y="1728068"/>
            <a:ext cx="59772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选择一个模型的基本形式</a:t>
            </a:r>
            <a:endParaRPr lang="en-US" altLang="zh-CN" b="1" dirty="0"/>
          </a:p>
          <a:p>
            <a:r>
              <a:rPr lang="en-US" altLang="zh-CN" b="1" dirty="0"/>
              <a:t>    </a:t>
            </a:r>
            <a:r>
              <a:rPr lang="zh-CN" altLang="en-US" b="1" dirty="0"/>
              <a:t> </a:t>
            </a:r>
            <a:r>
              <a:rPr lang="en-US" altLang="zh-CN" b="1" dirty="0"/>
              <a:t>Find a basic form of model</a:t>
            </a:r>
          </a:p>
          <a:p>
            <a:r>
              <a:rPr lang="en-US" altLang="zh-CN" sz="2000" b="1" dirty="0"/>
              <a:t>     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84" name="对象 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116774"/>
              </p:ext>
            </p:extLst>
          </p:nvPr>
        </p:nvGraphicFramePr>
        <p:xfrm>
          <a:off x="6418416" y="2301188"/>
          <a:ext cx="1814513" cy="491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18416" y="2301188"/>
                        <a:ext cx="1814513" cy="4917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文本框 84"/>
          <p:cNvSpPr txBox="1"/>
          <p:nvPr/>
        </p:nvSpPr>
        <p:spPr>
          <a:xfrm>
            <a:off x="5966993" y="2857560"/>
            <a:ext cx="5840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② 定义拟合好坏的判定函数（距离远近）</a:t>
            </a:r>
            <a:endParaRPr lang="en-US" altLang="zh-CN" b="1" dirty="0"/>
          </a:p>
          <a:p>
            <a:r>
              <a:rPr lang="en-US" altLang="zh-CN" b="1" dirty="0"/>
              <a:t>     Define the judgment function of good or bad fitting (the distance between training data and model)</a:t>
            </a:r>
            <a:r>
              <a:rPr lang="zh-CN" altLang="en-US" b="1" dirty="0">
                <a:solidFill>
                  <a:srgbClr val="C00000"/>
                </a:solidFill>
              </a:rPr>
              <a:t>    </a:t>
            </a:r>
          </a:p>
        </p:txBody>
      </p:sp>
      <p:sp>
        <p:nvSpPr>
          <p:cNvPr id="86" name="矩形 85"/>
          <p:cNvSpPr/>
          <p:nvPr/>
        </p:nvSpPr>
        <p:spPr>
          <a:xfrm>
            <a:off x="8326792" y="2385832"/>
            <a:ext cx="3102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决策函数 </a:t>
            </a:r>
            <a:r>
              <a:rPr lang="en-US" altLang="zh-CN" b="1" dirty="0">
                <a:solidFill>
                  <a:srgbClr val="C00000"/>
                </a:solidFill>
              </a:rPr>
              <a:t>Decision Function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9211672" y="3853879"/>
            <a:ext cx="2595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损失函数 </a:t>
            </a:r>
            <a:r>
              <a:rPr lang="en-US" altLang="zh-CN" b="1" dirty="0">
                <a:solidFill>
                  <a:srgbClr val="C00000"/>
                </a:solidFill>
              </a:rPr>
              <a:t>Loss Function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88" name="对象 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066212"/>
              </p:ext>
            </p:extLst>
          </p:nvPr>
        </p:nvGraphicFramePr>
        <p:xfrm>
          <a:off x="6273210" y="3712229"/>
          <a:ext cx="2938462" cy="504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88760" imgH="291960" progId="Equation.DSMT4">
                  <p:embed/>
                </p:oleObj>
              </mc:Choice>
              <mc:Fallback>
                <p:oleObj name="Equation" r:id="rId5" imgW="1688760" imgH="29196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73210" y="3712229"/>
                        <a:ext cx="2938462" cy="5046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文本框 88"/>
          <p:cNvSpPr txBox="1"/>
          <p:nvPr/>
        </p:nvSpPr>
        <p:spPr>
          <a:xfrm>
            <a:off x="5966995" y="4362376"/>
            <a:ext cx="5666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③ 参数确定：</a:t>
            </a:r>
            <a:r>
              <a:rPr lang="zh-CN" altLang="en-US" b="1" dirty="0">
                <a:solidFill>
                  <a:srgbClr val="C00000"/>
                </a:solidFill>
              </a:rPr>
              <a:t>最小化损失和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/>
              <a:t>     Objective</a:t>
            </a:r>
            <a:r>
              <a:rPr lang="zh-CN" altLang="en-US" b="1" dirty="0"/>
              <a:t>：</a:t>
            </a:r>
            <a:r>
              <a:rPr lang="en-US" altLang="zh-CN" b="1" dirty="0"/>
              <a:t>minimize the sum loss of the data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90" name="对象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295201"/>
              </p:ext>
            </p:extLst>
          </p:nvPr>
        </p:nvGraphicFramePr>
        <p:xfrm>
          <a:off x="6399755" y="4994713"/>
          <a:ext cx="2276475" cy="746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07880" imgH="431640" progId="Equation.DSMT4">
                  <p:embed/>
                </p:oleObj>
              </mc:Choice>
              <mc:Fallback>
                <p:oleObj name="Equation" r:id="rId7" imgW="1307880" imgH="43164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99755" y="4994713"/>
                        <a:ext cx="2276475" cy="746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" name="右箭头 90"/>
          <p:cNvSpPr/>
          <p:nvPr/>
        </p:nvSpPr>
        <p:spPr>
          <a:xfrm>
            <a:off x="8801125" y="5255038"/>
            <a:ext cx="821094" cy="2337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2" name="对象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7134618"/>
              </p:ext>
            </p:extLst>
          </p:nvPr>
        </p:nvGraphicFramePr>
        <p:xfrm>
          <a:off x="9747114" y="5152309"/>
          <a:ext cx="1082675" cy="438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22080" imgH="253800" progId="Equation.DSMT4">
                  <p:embed/>
                </p:oleObj>
              </mc:Choice>
              <mc:Fallback>
                <p:oleObj name="Equation" r:id="rId9" imgW="622080" imgH="2538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47114" y="5152309"/>
                        <a:ext cx="1082675" cy="438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87767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05882" y="991793"/>
            <a:ext cx="109479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案例：结合第四讲介绍的各种</a:t>
            </a:r>
            <a:r>
              <a:rPr lang="en-US" altLang="zh-CN" sz="2400" b="1" dirty="0"/>
              <a:t>python</a:t>
            </a:r>
            <a:r>
              <a:rPr lang="zh-CN" altLang="en-US" sz="2400" b="1" dirty="0"/>
              <a:t>库，实现</a:t>
            </a:r>
            <a:r>
              <a:rPr lang="zh-CN" altLang="en-US" sz="2400" b="1" dirty="0">
                <a:solidFill>
                  <a:srgbClr val="C00000"/>
                </a:solidFill>
              </a:rPr>
              <a:t>学习时间和最终成绩之间的关系</a:t>
            </a:r>
            <a:r>
              <a:rPr lang="zh-CN" altLang="en-US" sz="2400" b="1" dirty="0"/>
              <a:t>的机器学习过程。</a:t>
            </a:r>
            <a:r>
              <a:rPr lang="zh-CN" altLang="en-US" sz="2400" b="1" dirty="0">
                <a:solidFill>
                  <a:srgbClr val="C00000"/>
                </a:solidFill>
              </a:rPr>
              <a:t> 具体数据见案例</a:t>
            </a:r>
            <a:r>
              <a:rPr lang="en-US" altLang="zh-CN" sz="2400" b="1" dirty="0">
                <a:solidFill>
                  <a:srgbClr val="C00000"/>
                </a:solidFill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</a:rPr>
              <a:t>的文件夹</a:t>
            </a:r>
            <a:endParaRPr lang="en-US" altLang="zh-CN" sz="2400" b="1" dirty="0">
              <a:solidFill>
                <a:srgbClr val="C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773" y="2226359"/>
            <a:ext cx="4344845" cy="29263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67" y="2226359"/>
            <a:ext cx="5352587" cy="291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645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65914" y="2307771"/>
            <a:ext cx="2826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/>
              <a:t>Thanks</a:t>
            </a:r>
            <a:r>
              <a:rPr lang="zh-CN" altLang="en-US" sz="4800" b="1" dirty="0"/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107619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2771</TotalTime>
  <Words>2931</Words>
  <Application>Microsoft Office PowerPoint</Application>
  <PresentationFormat>宽屏</PresentationFormat>
  <Paragraphs>564</Paragraphs>
  <Slides>64</Slides>
  <Notes>27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64</vt:i4>
      </vt:variant>
    </vt:vector>
  </HeadingPairs>
  <TitlesOfParts>
    <vt:vector size="73" baseType="lpstr">
      <vt:lpstr>等线</vt:lpstr>
      <vt:lpstr>等线 Light</vt:lpstr>
      <vt:lpstr>微软雅黑</vt:lpstr>
      <vt:lpstr>Arial</vt:lpstr>
      <vt:lpstr>Arial</vt:lpstr>
      <vt:lpstr>Times New Roman</vt:lpstr>
      <vt:lpstr>Office 主题​​</vt:lpstr>
      <vt:lpstr>Equation</vt:lpstr>
      <vt:lpstr>MathType 7.0 Equation</vt:lpstr>
      <vt:lpstr>第五讲 机器学习训练模型的数学范式</vt:lpstr>
      <vt:lpstr>机器学习的基本流程 Process of Machine Learning</vt:lpstr>
      <vt:lpstr>机器学习的基本流程 Process of Machine Learning</vt:lpstr>
      <vt:lpstr>机器学习的基本流程 Process of Machine Learning</vt:lpstr>
      <vt:lpstr>机器学习的基本流程 Process of Machine Learning</vt:lpstr>
      <vt:lpstr>机器学习的基本流程 Process of Machine Learning</vt:lpstr>
      <vt:lpstr>机器学习的基本流程 Process of Machine Learning</vt:lpstr>
      <vt:lpstr>机器学习的基本流程 Process of Machine Learning</vt:lpstr>
      <vt:lpstr>机器学习训练模型的数学范式 Mathematical Paradigm</vt:lpstr>
      <vt:lpstr>PowerPoint 演示文稿</vt:lpstr>
      <vt:lpstr>目录 Content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实例：新冠疫情预测 Covid-19 Prediction</vt:lpstr>
      <vt:lpstr>实例Example：新冠疫情预测 Covid-19 Prediction</vt:lpstr>
      <vt:lpstr>实例Example：新冠疫情预测 Covid-19 Prediction</vt:lpstr>
      <vt:lpstr>实例Example：新冠疫情预测 Covid-19 Prediction</vt:lpstr>
      <vt:lpstr>实例Example：新冠疫情预测 Covid-19 Prediction</vt:lpstr>
      <vt:lpstr>实例Example：新冠疫情预测 Covid-19 Prediction</vt:lpstr>
      <vt:lpstr>实例Example：新冠疫情预测 Covid-19 Prediction</vt:lpstr>
      <vt:lpstr>实例Example：新冠疫情预测 Covid-19 Prediction</vt:lpstr>
      <vt:lpstr>*简单拓展：正则化 Regularization</vt:lpstr>
      <vt:lpstr>*简单拓展：正则化 Regularization</vt:lpstr>
      <vt:lpstr>*简单拓展：正则化 Regularization</vt:lpstr>
      <vt:lpstr>*简单拓展：正则化 Regularization</vt:lpstr>
      <vt:lpstr>*简单拓展：正则化 Regularization</vt:lpstr>
      <vt:lpstr>*简单拓展：正则化 Regularization</vt:lpstr>
      <vt:lpstr>*简单拓展：正则化 Regularization</vt:lpstr>
      <vt:lpstr>*简单拓展：正则化 Regularization</vt:lpstr>
      <vt:lpstr>回顾：新冠疫情预测 Covid-19 Prediction</vt:lpstr>
      <vt:lpstr>回顾：新冠疫情预测 Covid-19 Prediction</vt:lpstr>
      <vt:lpstr>回顾：新冠疫情预测 Covid-19 Prediction</vt:lpstr>
      <vt:lpstr>目录 Content</vt:lpstr>
      <vt:lpstr>机器学习训练模型的数学范式 Mathematical Paradigm</vt:lpstr>
      <vt:lpstr>机器学习训练模型的数学范式 Mathematical Paradigm</vt:lpstr>
      <vt:lpstr>机器学习训练模型的数学范式 Mathematical Paradigm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NING MEI</dc:creator>
  <cp:lastModifiedBy>郑 子杰</cp:lastModifiedBy>
  <cp:revision>561</cp:revision>
  <dcterms:created xsi:type="dcterms:W3CDTF">2021-12-09T06:18:18Z</dcterms:created>
  <dcterms:modified xsi:type="dcterms:W3CDTF">2023-08-01T06:16:36Z</dcterms:modified>
</cp:coreProperties>
</file>