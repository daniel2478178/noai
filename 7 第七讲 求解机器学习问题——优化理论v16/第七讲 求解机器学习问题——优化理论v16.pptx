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5" r:id="rId10"/>
    <p:sldId id="393" r:id="rId11"/>
    <p:sldId id="394" r:id="rId12"/>
    <p:sldId id="396" r:id="rId13"/>
    <p:sldId id="397" r:id="rId14"/>
    <p:sldId id="398" r:id="rId15"/>
    <p:sldId id="399" r:id="rId16"/>
    <p:sldId id="402" r:id="rId17"/>
    <p:sldId id="401" r:id="rId18"/>
    <p:sldId id="408" r:id="rId19"/>
    <p:sldId id="407" r:id="rId20"/>
    <p:sldId id="406" r:id="rId21"/>
    <p:sldId id="400" r:id="rId22"/>
    <p:sldId id="411" r:id="rId23"/>
    <p:sldId id="412" r:id="rId24"/>
    <p:sldId id="413" r:id="rId25"/>
    <p:sldId id="416" r:id="rId26"/>
    <p:sldId id="415" r:id="rId27"/>
    <p:sldId id="414" r:id="rId28"/>
    <p:sldId id="417" r:id="rId29"/>
    <p:sldId id="409" r:id="rId30"/>
    <p:sldId id="410" r:id="rId31"/>
    <p:sldId id="418" r:id="rId32"/>
    <p:sldId id="421" r:id="rId33"/>
    <p:sldId id="420" r:id="rId34"/>
    <p:sldId id="419" r:id="rId35"/>
    <p:sldId id="424" r:id="rId36"/>
    <p:sldId id="423" r:id="rId37"/>
    <p:sldId id="422" r:id="rId38"/>
    <p:sldId id="428" r:id="rId39"/>
    <p:sldId id="427" r:id="rId40"/>
    <p:sldId id="426" r:id="rId41"/>
    <p:sldId id="425" r:id="rId42"/>
    <p:sldId id="431" r:id="rId43"/>
    <p:sldId id="432" r:id="rId44"/>
    <p:sldId id="433" r:id="rId45"/>
    <p:sldId id="430" r:id="rId46"/>
    <p:sldId id="435" r:id="rId47"/>
    <p:sldId id="434" r:id="rId48"/>
    <p:sldId id="429" r:id="rId49"/>
    <p:sldId id="438" r:id="rId50"/>
    <p:sldId id="437" r:id="rId51"/>
    <p:sldId id="436" r:id="rId52"/>
    <p:sldId id="441" r:id="rId53"/>
    <p:sldId id="440" r:id="rId54"/>
    <p:sldId id="439" r:id="rId55"/>
    <p:sldId id="442" r:id="rId56"/>
    <p:sldId id="443" r:id="rId57"/>
    <p:sldId id="444" r:id="rId58"/>
    <p:sldId id="445" r:id="rId59"/>
    <p:sldId id="446" r:id="rId60"/>
    <p:sldId id="447" r:id="rId61"/>
    <p:sldId id="452" r:id="rId62"/>
    <p:sldId id="449" r:id="rId63"/>
    <p:sldId id="450" r:id="rId64"/>
    <p:sldId id="457" r:id="rId65"/>
    <p:sldId id="456" r:id="rId66"/>
    <p:sldId id="455" r:id="rId67"/>
    <p:sldId id="454" r:id="rId68"/>
    <p:sldId id="453" r:id="rId69"/>
    <p:sldId id="300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66550" autoAdjust="0"/>
  </p:normalViewPr>
  <p:slideViewPr>
    <p:cSldViewPr snapToGrid="0">
      <p:cViewPr varScale="1">
        <p:scale>
          <a:sx n="75" d="100"/>
          <a:sy n="75" d="100"/>
        </p:scale>
        <p:origin x="20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24957-F043-4A67-B583-2D01282B6A0B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35FCC-DBA1-4D6B-AA09-F4D87A57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18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896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062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07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714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34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82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149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475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014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595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071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593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28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04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967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398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725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397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335FCC-DBA1-4D6B-AA09-F4D87A578E5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44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6283-0BA8-496B-9B7D-D96FB8E1B44C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1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08D13-BB64-4037-B97D-FF22DD47A0CB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8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8B49-0ECD-448C-A632-FE3651B055C5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8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36D5-9F28-45D8-ADBE-206FC78C7B09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90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E147-4129-4A3B-9383-F6D8D5D66529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0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08601-C1EA-4621-8063-CE081694931B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93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272A-059B-492D-BDA6-34038D12BFFC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14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C416-A810-4C40-AAEA-43CEF40E7D28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580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5B66C-B0E7-4B0D-8701-3A4381D3D4E4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4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7771C-B7CC-4728-BF6A-1EFDFB48FB08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5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2258E-8B9C-411C-B898-65BED14876C9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4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41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FFD79-FADF-4760-B260-9E78EEDF2DE0}" type="datetime1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D5434-05AA-4028-98DA-4ABF0C3BEA2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Picture 12" descr="幻灯片子页-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" y="3657600"/>
            <a:ext cx="4500563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2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255" y="173282"/>
            <a:ext cx="1672741" cy="41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92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2.wmf"/><Relationship Id="rId18" Type="http://schemas.openxmlformats.org/officeDocument/2006/relationships/image" Target="../media/image14.wmf"/><Relationship Id="rId3" Type="http://schemas.openxmlformats.org/officeDocument/2006/relationships/image" Target="../media/image6.wmf"/><Relationship Id="rId21" Type="http://schemas.openxmlformats.org/officeDocument/2006/relationships/image" Target="../media/image15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3.bin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9.bin"/><Relationship Id="rId19" Type="http://schemas.openxmlformats.org/officeDocument/2006/relationships/oleObject" Target="../embeddings/oleObject14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6.wmf"/><Relationship Id="rId7" Type="http://schemas.openxmlformats.org/officeDocument/2006/relationships/oleObject" Target="../embeddings/oleObject18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2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9.wmf"/><Relationship Id="rId7" Type="http://schemas.openxmlformats.org/officeDocument/2006/relationships/oleObject" Target="../embeddings/oleObject25.bin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3.wmf"/><Relationship Id="rId3" Type="http://schemas.openxmlformats.org/officeDocument/2006/relationships/oleObject" Target="../embeddings/oleObject23.bin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35.wmf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2.wmf"/><Relationship Id="rId5" Type="http://schemas.openxmlformats.org/officeDocument/2006/relationships/image" Target="../media/image28.png"/><Relationship Id="rId15" Type="http://schemas.openxmlformats.org/officeDocument/2006/relationships/image" Target="../media/image34.wmf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29.wmf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2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6.wmf"/><Relationship Id="rId3" Type="http://schemas.openxmlformats.org/officeDocument/2006/relationships/image" Target="../media/image29.wmf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0.bin"/><Relationship Id="rId2" Type="http://schemas.openxmlformats.org/officeDocument/2006/relationships/oleObject" Target="../embeddings/oleObject23.bin"/><Relationship Id="rId16" Type="http://schemas.openxmlformats.org/officeDocument/2006/relationships/image" Target="../media/image3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2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w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7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w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7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3" Type="http://schemas.openxmlformats.org/officeDocument/2006/relationships/image" Target="../media/image32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18" Type="http://schemas.openxmlformats.org/officeDocument/2006/relationships/image" Target="../media/image45.png"/><Relationship Id="rId3" Type="http://schemas.openxmlformats.org/officeDocument/2006/relationships/image" Target="../media/image32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18" Type="http://schemas.openxmlformats.org/officeDocument/2006/relationships/image" Target="../media/image45.png"/><Relationship Id="rId3" Type="http://schemas.openxmlformats.org/officeDocument/2006/relationships/image" Target="../media/image32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6.png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8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8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8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7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jpg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7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49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49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49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45.png"/><Relationship Id="rId3" Type="http://schemas.openxmlformats.org/officeDocument/2006/relationships/image" Target="../media/image54.wmf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7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5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2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image" Target="../media/image3.pn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9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87345" cy="2387600"/>
          </a:xfrm>
        </p:spPr>
        <p:txBody>
          <a:bodyPr/>
          <a:lstStyle/>
          <a:p>
            <a:r>
              <a:rPr lang="zh-CN" altLang="en-US" b="1" dirty="0"/>
              <a:t>第七讲 优化理论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郑子杰 韩思瑶</a:t>
            </a:r>
            <a:endParaRPr lang="en-US" altLang="zh-CN" dirty="0"/>
          </a:p>
          <a:p>
            <a:r>
              <a:rPr lang="zh-CN" altLang="en-US" dirty="0"/>
              <a:t>北京市十一学校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45530" y="6400412"/>
            <a:ext cx="5150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所有课件可以用来教学使用，未经允许不得以盈利为目的进行分享</a:t>
            </a:r>
          </a:p>
        </p:txBody>
      </p:sp>
    </p:spTree>
    <p:extLst>
      <p:ext uri="{BB962C8B-B14F-4D97-AF65-F5344CB8AC3E}">
        <p14:creationId xmlns:p14="http://schemas.microsoft.com/office/powerpoint/2010/main" val="296594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2055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54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82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7078999" y="195778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</a:t>
            </a:r>
            <a:endParaRPr lang="en-US" altLang="zh-CN" b="1" dirty="0"/>
          </a:p>
          <a:p>
            <a:pPr algn="ctr"/>
            <a:r>
              <a:rPr lang="en-US" altLang="zh-CN" b="1" dirty="0"/>
              <a:t>Test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 rot="12384537">
            <a:off x="6578310" y="2706208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1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7078999" y="195778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</a:t>
            </a:r>
            <a:endParaRPr lang="en-US" altLang="zh-CN" b="1" dirty="0"/>
          </a:p>
          <a:p>
            <a:pPr algn="ctr"/>
            <a:r>
              <a:rPr lang="en-US" altLang="zh-CN" b="1" dirty="0"/>
              <a:t>Test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 rot="12384537">
            <a:off x="6578310" y="2706208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604689" y="2743200"/>
            <a:ext cx="3977967" cy="29095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13567" y="5187857"/>
            <a:ext cx="124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怎么训练？</a:t>
            </a:r>
          </a:p>
        </p:txBody>
      </p:sp>
    </p:spTree>
    <p:extLst>
      <p:ext uri="{BB962C8B-B14F-4D97-AF65-F5344CB8AC3E}">
        <p14:creationId xmlns:p14="http://schemas.microsoft.com/office/powerpoint/2010/main" val="3649915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0" y="2077070"/>
            <a:ext cx="5352587" cy="2917643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6021938" y="1728068"/>
            <a:ext cx="5977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4" name="对象 83"/>
          <p:cNvGraphicFramePr>
            <a:graphicFrameLocks noChangeAspect="1"/>
          </p:cNvGraphicFramePr>
          <p:nvPr/>
        </p:nvGraphicFramePr>
        <p:xfrm>
          <a:off x="6418416" y="2301188"/>
          <a:ext cx="1814513" cy="49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84" name="对象 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8416" y="2301188"/>
                        <a:ext cx="1814513" cy="491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文本框 84"/>
          <p:cNvSpPr txBox="1"/>
          <p:nvPr/>
        </p:nvSpPr>
        <p:spPr>
          <a:xfrm>
            <a:off x="5966993" y="2857560"/>
            <a:ext cx="5840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endParaRPr lang="en-US" altLang="zh-CN" b="1" dirty="0"/>
          </a:p>
          <a:p>
            <a:r>
              <a:rPr lang="en-US" altLang="zh-CN" b="1" dirty="0"/>
              <a:t>     Define the judgment function of good or bad fitting (the distance between training data and model)</a:t>
            </a:r>
            <a:r>
              <a:rPr lang="zh-CN" altLang="en-US" b="1" dirty="0">
                <a:solidFill>
                  <a:srgbClr val="C00000"/>
                </a:solidFill>
              </a:rPr>
              <a:t>    </a:t>
            </a:r>
          </a:p>
        </p:txBody>
      </p:sp>
      <p:sp>
        <p:nvSpPr>
          <p:cNvPr id="86" name="矩形 85"/>
          <p:cNvSpPr/>
          <p:nvPr/>
        </p:nvSpPr>
        <p:spPr>
          <a:xfrm>
            <a:off x="8326792" y="2385832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9211672" y="3853879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88" name="对象 87"/>
          <p:cNvGraphicFramePr>
            <a:graphicFrameLocks noChangeAspect="1"/>
          </p:cNvGraphicFramePr>
          <p:nvPr/>
        </p:nvGraphicFramePr>
        <p:xfrm>
          <a:off x="6273210" y="3712229"/>
          <a:ext cx="2938462" cy="50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291960" progId="Equation.DSMT4">
                  <p:embed/>
                </p:oleObj>
              </mc:Choice>
              <mc:Fallback>
                <p:oleObj name="Equation" r:id="rId5" imgW="1688760" imgH="291960" progId="Equation.DSMT4">
                  <p:embed/>
                  <p:pic>
                    <p:nvPicPr>
                      <p:cNvPr id="88" name="对象 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3210" y="3712229"/>
                        <a:ext cx="2938462" cy="504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文本框 88"/>
          <p:cNvSpPr txBox="1"/>
          <p:nvPr/>
        </p:nvSpPr>
        <p:spPr>
          <a:xfrm>
            <a:off x="5966995" y="4362376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Objective</a:t>
            </a:r>
            <a:r>
              <a:rPr lang="zh-CN" altLang="en-US" b="1" dirty="0"/>
              <a:t>：</a:t>
            </a:r>
            <a:r>
              <a:rPr lang="en-US" altLang="zh-CN" b="1" dirty="0"/>
              <a:t>minimize the sum loss of the data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90" name="对象 89"/>
          <p:cNvGraphicFramePr>
            <a:graphicFrameLocks noChangeAspect="1"/>
          </p:cNvGraphicFramePr>
          <p:nvPr/>
        </p:nvGraphicFramePr>
        <p:xfrm>
          <a:off x="6399755" y="4994713"/>
          <a:ext cx="2276475" cy="74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431640" progId="Equation.DSMT4">
                  <p:embed/>
                </p:oleObj>
              </mc:Choice>
              <mc:Fallback>
                <p:oleObj name="Equation" r:id="rId7" imgW="1307880" imgH="431640" progId="Equation.DSMT4">
                  <p:embed/>
                  <p:pic>
                    <p:nvPicPr>
                      <p:cNvPr id="90" name="对象 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9755" y="4994713"/>
                        <a:ext cx="2276475" cy="746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右箭头 90"/>
          <p:cNvSpPr/>
          <p:nvPr/>
        </p:nvSpPr>
        <p:spPr>
          <a:xfrm>
            <a:off x="8801125" y="5255038"/>
            <a:ext cx="821094" cy="233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/>
        </p:nvGraphicFramePr>
        <p:xfrm>
          <a:off x="9747114" y="5152309"/>
          <a:ext cx="1082675" cy="43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253800" progId="Equation.DSMT4">
                  <p:embed/>
                </p:oleObj>
              </mc:Choice>
              <mc:Fallback>
                <p:oleObj name="Equation" r:id="rId9" imgW="622080" imgH="253800" progId="Equation.DSMT4">
                  <p:embed/>
                  <p:pic>
                    <p:nvPicPr>
                      <p:cNvPr id="92" name="对象 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47114" y="5152309"/>
                        <a:ext cx="1082675" cy="438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8086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0" y="2077070"/>
            <a:ext cx="5352587" cy="2917643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6021938" y="1728068"/>
            <a:ext cx="5977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4" name="对象 83"/>
          <p:cNvGraphicFramePr>
            <a:graphicFrameLocks noChangeAspect="1"/>
          </p:cNvGraphicFramePr>
          <p:nvPr/>
        </p:nvGraphicFramePr>
        <p:xfrm>
          <a:off x="6418416" y="2301188"/>
          <a:ext cx="1814513" cy="49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53800" progId="Equation.DSMT4">
                  <p:embed/>
                </p:oleObj>
              </mc:Choice>
              <mc:Fallback>
                <p:oleObj name="Equation" r:id="rId3" imgW="1015920" imgH="253800" progId="Equation.DSMT4">
                  <p:embed/>
                  <p:pic>
                    <p:nvPicPr>
                      <p:cNvPr id="84" name="对象 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8416" y="2301188"/>
                        <a:ext cx="1814513" cy="491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文本框 84"/>
          <p:cNvSpPr txBox="1"/>
          <p:nvPr/>
        </p:nvSpPr>
        <p:spPr>
          <a:xfrm>
            <a:off x="5966993" y="2857560"/>
            <a:ext cx="5840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endParaRPr lang="en-US" altLang="zh-CN" b="1" dirty="0"/>
          </a:p>
          <a:p>
            <a:r>
              <a:rPr lang="en-US" altLang="zh-CN" b="1" dirty="0"/>
              <a:t>     Define the judgment function of good or bad fitting (the distance between training data and model)</a:t>
            </a:r>
            <a:r>
              <a:rPr lang="zh-CN" altLang="en-US" b="1" dirty="0">
                <a:solidFill>
                  <a:srgbClr val="C00000"/>
                </a:solidFill>
              </a:rPr>
              <a:t>    </a:t>
            </a:r>
          </a:p>
        </p:txBody>
      </p:sp>
      <p:sp>
        <p:nvSpPr>
          <p:cNvPr id="86" name="矩形 85"/>
          <p:cNvSpPr/>
          <p:nvPr/>
        </p:nvSpPr>
        <p:spPr>
          <a:xfrm>
            <a:off x="8326792" y="2385832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9211672" y="3853879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88" name="对象 87"/>
          <p:cNvGraphicFramePr>
            <a:graphicFrameLocks noChangeAspect="1"/>
          </p:cNvGraphicFramePr>
          <p:nvPr/>
        </p:nvGraphicFramePr>
        <p:xfrm>
          <a:off x="6273210" y="3712229"/>
          <a:ext cx="2938462" cy="50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291960" progId="Equation.DSMT4">
                  <p:embed/>
                </p:oleObj>
              </mc:Choice>
              <mc:Fallback>
                <p:oleObj name="Equation" r:id="rId5" imgW="1688760" imgH="291960" progId="Equation.DSMT4">
                  <p:embed/>
                  <p:pic>
                    <p:nvPicPr>
                      <p:cNvPr id="88" name="对象 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3210" y="3712229"/>
                        <a:ext cx="2938462" cy="504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文本框 88"/>
          <p:cNvSpPr txBox="1"/>
          <p:nvPr/>
        </p:nvSpPr>
        <p:spPr>
          <a:xfrm>
            <a:off x="5966995" y="4362376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Objective</a:t>
            </a:r>
            <a:r>
              <a:rPr lang="zh-CN" altLang="en-US" b="1" dirty="0"/>
              <a:t>：</a:t>
            </a:r>
            <a:r>
              <a:rPr lang="en-US" altLang="zh-CN" b="1" dirty="0"/>
              <a:t>minimize the sum loss of the data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90" name="对象 89"/>
          <p:cNvGraphicFramePr>
            <a:graphicFrameLocks noChangeAspect="1"/>
          </p:cNvGraphicFramePr>
          <p:nvPr/>
        </p:nvGraphicFramePr>
        <p:xfrm>
          <a:off x="6399755" y="4994713"/>
          <a:ext cx="2276475" cy="74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431640" progId="Equation.DSMT4">
                  <p:embed/>
                </p:oleObj>
              </mc:Choice>
              <mc:Fallback>
                <p:oleObj name="Equation" r:id="rId7" imgW="1307880" imgH="431640" progId="Equation.DSMT4">
                  <p:embed/>
                  <p:pic>
                    <p:nvPicPr>
                      <p:cNvPr id="90" name="对象 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9755" y="4994713"/>
                        <a:ext cx="2276475" cy="746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右箭头 90"/>
          <p:cNvSpPr/>
          <p:nvPr/>
        </p:nvSpPr>
        <p:spPr>
          <a:xfrm>
            <a:off x="8801125" y="5255038"/>
            <a:ext cx="821094" cy="233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/>
        </p:nvGraphicFramePr>
        <p:xfrm>
          <a:off x="9747114" y="5152309"/>
          <a:ext cx="1082675" cy="43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253800" progId="Equation.DSMT4">
                  <p:embed/>
                </p:oleObj>
              </mc:Choice>
              <mc:Fallback>
                <p:oleObj name="Equation" r:id="rId9" imgW="622080" imgH="253800" progId="Equation.DSMT4">
                  <p:embed/>
                  <p:pic>
                    <p:nvPicPr>
                      <p:cNvPr id="92" name="对象 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47114" y="5152309"/>
                        <a:ext cx="1082675" cy="438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01432" y="5836650"/>
            <a:ext cx="405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怎么求解关于</a:t>
            </a:r>
            <a:r>
              <a:rPr lang="en-US" altLang="zh-CN" b="1" dirty="0">
                <a:solidFill>
                  <a:srgbClr val="C00000"/>
                </a:solidFill>
              </a:rPr>
              <a:t>θ</a:t>
            </a:r>
            <a:r>
              <a:rPr lang="zh-CN" altLang="en-US" b="1" dirty="0">
                <a:solidFill>
                  <a:srgbClr val="C00000"/>
                </a:solidFill>
              </a:rPr>
              <a:t>的函数的最小值？</a:t>
            </a:r>
          </a:p>
        </p:txBody>
      </p:sp>
    </p:spTree>
    <p:extLst>
      <p:ext uri="{BB962C8B-B14F-4D97-AF65-F5344CB8AC3E}">
        <p14:creationId xmlns:p14="http://schemas.microsoft.com/office/powerpoint/2010/main" val="38559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如何求解函数的最小值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5107" y="1523309"/>
            <a:ext cx="54317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回顾：线性回归 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Linear Regression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988429" y="1958055"/>
          <a:ext cx="2276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431640" progId="Equation.DSMT4">
                  <p:embed/>
                </p:oleObj>
              </mc:Choice>
              <mc:Fallback>
                <p:oleObj name="Equation" r:id="rId2" imgW="1307880" imgH="43164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8429" y="1958055"/>
                        <a:ext cx="2276475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下箭头 11"/>
          <p:cNvSpPr/>
          <p:nvPr/>
        </p:nvSpPr>
        <p:spPr>
          <a:xfrm rot="16200000">
            <a:off x="3404734" y="2128933"/>
            <a:ext cx="283858" cy="3566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868418" y="1958054"/>
          <a:ext cx="240823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431640" progId="Equation.DSMT4">
                  <p:embed/>
                </p:oleObj>
              </mc:Choice>
              <mc:Fallback>
                <p:oleObj name="Equation" r:id="rId4" imgW="1384200" imgH="4316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68418" y="1958054"/>
                        <a:ext cx="2408237" cy="735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6296575" y="2165347"/>
            <a:ext cx="30135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最小二乘原则 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Least Squares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921157" y="2733831"/>
            <a:ext cx="5894521" cy="623572"/>
            <a:chOff x="5992678" y="3202992"/>
            <a:chExt cx="5894521" cy="623572"/>
          </a:xfrm>
        </p:grpSpPr>
        <p:sp>
          <p:nvSpPr>
            <p:cNvPr id="16" name="矩形 15"/>
            <p:cNvSpPr/>
            <p:nvPr/>
          </p:nvSpPr>
          <p:spPr>
            <a:xfrm>
              <a:off x="5992678" y="3241789"/>
              <a:ext cx="589452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暴力</a:t>
              </a:r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配方</a:t>
              </a:r>
              <a:r>
                <a:rPr lang="zh-CN" altLang="en-US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，未知数是      和</a:t>
              </a:r>
              <a:endParaRPr lang="en-US" altLang="zh-CN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r>
                <a:rPr lang="en-US" altLang="zh-CN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Approach </a:t>
              </a:r>
              <a:r>
                <a:rPr lang="zh-CN" altLang="en-US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6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Complete the Square</a:t>
              </a: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7995260" y="3202992"/>
            <a:ext cx="287338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28600" progId="Equation.DSMT4">
                    <p:embed/>
                  </p:oleObj>
                </mc:Choice>
                <mc:Fallback>
                  <p:oleObj name="Equation" r:id="rId6" imgW="164880" imgH="228600" progId="Equation.DSMT4">
                    <p:embed/>
                    <p:pic>
                      <p:nvPicPr>
                        <p:cNvPr id="17" name="对象 1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995260" y="3202992"/>
                          <a:ext cx="287338" cy="3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/>
          </p:nvGraphicFramePr>
          <p:xfrm>
            <a:off x="8519223" y="3210605"/>
            <a:ext cx="265113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80" imgH="228600" progId="Equation.DSMT4">
                    <p:embed/>
                  </p:oleObj>
                </mc:Choice>
                <mc:Fallback>
                  <p:oleObj name="Equation" r:id="rId8" imgW="152280" imgH="22860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519223" y="3210605"/>
                          <a:ext cx="265113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988429" y="3438158"/>
          <a:ext cx="9522914" cy="236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64080" imgH="1828800" progId="Equation.DSMT4">
                  <p:embed/>
                </p:oleObj>
              </mc:Choice>
              <mc:Fallback>
                <p:oleObj name="Equation" r:id="rId10" imgW="7264080" imgH="182880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429" y="3438158"/>
                        <a:ext cx="9522914" cy="2361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126288" y="4621664"/>
            <a:ext cx="3356263" cy="11778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577246" y="3756899"/>
          <a:ext cx="777295" cy="78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880" imgH="609480" progId="Equation.DSMT4">
                  <p:embed/>
                </p:oleObj>
              </mc:Choice>
              <mc:Fallback>
                <p:oleObj name="Equation" r:id="rId12" imgW="596880" imgH="60948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7246" y="3756899"/>
                        <a:ext cx="777295" cy="789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>
          <a:xfrm>
            <a:off x="6863416" y="4119839"/>
            <a:ext cx="9546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其中：</a:t>
            </a:r>
            <a:endParaRPr lang="en-US" altLang="zh-CN" sz="16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501617" y="3748985"/>
          <a:ext cx="789633" cy="78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80" imgH="609480" progId="Equation.DSMT4">
                  <p:embed/>
                </p:oleObj>
              </mc:Choice>
              <mc:Fallback>
                <p:oleObj name="Equation" r:id="rId14" imgW="622080" imgH="60948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1617" y="3748985"/>
                        <a:ext cx="789633" cy="789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4613469" y="4621664"/>
            <a:ext cx="1464442" cy="11778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260783" y="4618844"/>
            <a:ext cx="4250559" cy="117786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126288" y="5904561"/>
            <a:ext cx="3636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关于     的完全平方式，</a:t>
            </a:r>
            <a:endParaRPr lang="en-US" altLang="zh-CN" sz="16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等于</a:t>
            </a:r>
            <a:r>
              <a: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可以直接解出</a:t>
            </a:r>
            <a:endParaRPr lang="en-US" altLang="zh-CN" sz="16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632507" y="5892022"/>
          <a:ext cx="2651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32507" y="5892022"/>
                        <a:ext cx="265113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4259423" y="5879369"/>
            <a:ext cx="3636976" cy="388937"/>
            <a:chOff x="4661354" y="5851342"/>
            <a:chExt cx="3636976" cy="388937"/>
          </a:xfrm>
        </p:grpSpPr>
        <p:sp>
          <p:nvSpPr>
            <p:cNvPr id="29" name="矩形 28"/>
            <p:cNvSpPr/>
            <p:nvPr/>
          </p:nvSpPr>
          <p:spPr>
            <a:xfrm>
              <a:off x="4661354" y="5851342"/>
              <a:ext cx="36369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关于         的完全平方式</a:t>
              </a:r>
              <a:endPara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5164926" y="5851342"/>
            <a:ext cx="506488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30120" imgH="228600" progId="Equation.DSMT4">
                    <p:embed/>
                  </p:oleObj>
                </mc:Choice>
                <mc:Fallback>
                  <p:oleObj name="Equation" r:id="rId17" imgW="330120" imgH="228600" progId="Equation.DSMT4">
                    <p:embed/>
                    <p:pic>
                      <p:nvPicPr>
                        <p:cNvPr id="30" name="对象 2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164926" y="5851342"/>
                          <a:ext cx="506488" cy="388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078521" y="6156921"/>
          <a:ext cx="2651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80" imgH="228600" progId="Equation.DSMT4">
                  <p:embed/>
                </p:oleObj>
              </mc:Choice>
              <mc:Fallback>
                <p:oleObj name="Equation" r:id="rId19" imgW="152280" imgH="22860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78521" y="6156921"/>
                        <a:ext cx="265113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4259423" y="6156921"/>
            <a:ext cx="3636976" cy="388938"/>
            <a:chOff x="4661354" y="5851341"/>
            <a:chExt cx="3636976" cy="388938"/>
          </a:xfrm>
        </p:grpSpPr>
        <p:sp>
          <p:nvSpPr>
            <p:cNvPr id="33" name="矩形 32"/>
            <p:cNvSpPr/>
            <p:nvPr/>
          </p:nvSpPr>
          <p:spPr>
            <a:xfrm>
              <a:off x="4661354" y="5851342"/>
              <a:ext cx="36369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等于</a:t>
              </a:r>
              <a:r>
                <a:rPr lang="en-US" altLang="zh-CN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1600" b="1" kern="1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，可以直接解出</a:t>
              </a:r>
              <a:endParaRPr lang="en-US" altLang="zh-CN" sz="16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对象 33"/>
            <p:cNvGraphicFramePr>
              <a:graphicFrameLocks noChangeAspect="1"/>
            </p:cNvGraphicFramePr>
            <p:nvPr/>
          </p:nvGraphicFramePr>
          <p:xfrm>
            <a:off x="6718750" y="5851341"/>
            <a:ext cx="254000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228600" progId="Equation.DSMT4">
                    <p:embed/>
                  </p:oleObj>
                </mc:Choice>
                <mc:Fallback>
                  <p:oleObj name="Equation" r:id="rId20" imgW="164880" imgH="228600" progId="Equation.DSMT4">
                    <p:embed/>
                    <p:pic>
                      <p:nvPicPr>
                        <p:cNvPr id="34" name="对象 33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718750" y="5851341"/>
                          <a:ext cx="254000" cy="388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26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如何求解函数的最小值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10</a:t>
            </a:fld>
            <a:endParaRPr lang="zh-CN" altLang="en-US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2C6D31BB-94EA-4C74-8F99-C32B82F85E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613124"/>
              </p:ext>
            </p:extLst>
          </p:nvPr>
        </p:nvGraphicFramePr>
        <p:xfrm>
          <a:off x="1111242" y="2782618"/>
          <a:ext cx="4624397" cy="502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291960" progId="Equation.DSMT4">
                  <p:embed/>
                </p:oleObj>
              </mc:Choice>
              <mc:Fallback>
                <p:oleObj name="Equation" r:id="rId2" imgW="2654280" imgH="291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C6D31BB-94EA-4C74-8F99-C32B82F85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42" y="2782618"/>
                        <a:ext cx="4624397" cy="5020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2C6D31BB-94EA-4C74-8F99-C32B82F85E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233142"/>
              </p:ext>
            </p:extLst>
          </p:nvPr>
        </p:nvGraphicFramePr>
        <p:xfrm>
          <a:off x="1111242" y="2082765"/>
          <a:ext cx="2080664" cy="62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380880" progId="Equation.DSMT4">
                  <p:embed/>
                </p:oleObj>
              </mc:Choice>
              <mc:Fallback>
                <p:oleObj name="Equation" r:id="rId4" imgW="1257120" imgH="380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C6D31BB-94EA-4C74-8F99-C32B82F85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42" y="2082765"/>
                        <a:ext cx="2080664" cy="621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1111242" y="3580527"/>
            <a:ext cx="8000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如果是</a:t>
            </a:r>
            <a:r>
              <a:rPr lang="zh-CN" altLang="en-US" sz="1600" dirty="0">
                <a:solidFill>
                  <a:srgbClr val="C00000"/>
                </a:solidFill>
              </a:rPr>
              <a:t>逻辑斯蒂回归</a:t>
            </a:r>
            <a:r>
              <a:rPr lang="zh-CN" altLang="en-US" sz="1600" dirty="0"/>
              <a:t>，怎么求最小值呢？</a:t>
            </a:r>
            <a:endParaRPr lang="en-US" altLang="zh-CN" sz="1600" dirty="0"/>
          </a:p>
          <a:p>
            <a:endParaRPr lang="en-US" altLang="zh-CN" sz="1600" dirty="0"/>
          </a:p>
          <a:p>
            <a:endParaRPr lang="zh-CN" altLang="en-US" sz="16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5C751B8-E6E9-4A8F-A612-3187493571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837" y="2199739"/>
            <a:ext cx="3788963" cy="2397327"/>
          </a:xfrm>
          <a:prstGeom prst="rect">
            <a:avLst/>
          </a:prstGeom>
        </p:spPr>
      </p:pic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2C6D31BB-94EA-4C74-8F99-C32B82F85E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124946"/>
              </p:ext>
            </p:extLst>
          </p:nvPr>
        </p:nvGraphicFramePr>
        <p:xfrm>
          <a:off x="1216571" y="4005836"/>
          <a:ext cx="2126541" cy="8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040" imgH="545760" progId="Equation.DSMT4">
                  <p:embed/>
                </p:oleObj>
              </mc:Choice>
              <mc:Fallback>
                <p:oleObj name="Equation" r:id="rId7" imgW="1346040" imgH="5457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C6D31BB-94EA-4C74-8F99-C32B82F85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571" y="4005836"/>
                        <a:ext cx="2126541" cy="851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885107" y="1523309"/>
            <a:ext cx="54317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回顾：逻辑斯蒂回归</a:t>
            </a: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Logistic Regression</a:t>
            </a:r>
            <a:endParaRPr lang="en-US" altLang="zh-CN" sz="20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96849E-AC36-088F-6ED1-28A274567FC7}"/>
              </a:ext>
            </a:extLst>
          </p:cNvPr>
          <p:cNvSpPr txBox="1"/>
          <p:nvPr/>
        </p:nvSpPr>
        <p:spPr>
          <a:xfrm>
            <a:off x="1216571" y="5168900"/>
            <a:ext cx="35459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但是偏导数难以计算，怎么办呢？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46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如何求解函数的最小值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78787" y="1690688"/>
            <a:ext cx="102344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有没有</a:t>
            </a:r>
            <a:r>
              <a:rPr lang="zh-CN" altLang="en-US" sz="2000" dirty="0">
                <a:solidFill>
                  <a:srgbClr val="C00000"/>
                </a:solidFill>
              </a:rPr>
              <a:t>通用</a:t>
            </a:r>
            <a:r>
              <a:rPr lang="zh-CN" altLang="en-US" sz="2000" dirty="0"/>
              <a:t>的方法？</a:t>
            </a:r>
            <a:endParaRPr lang="en-US" altLang="zh-CN" sz="2000" dirty="0"/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不依赖于函数形式求解函数的最小值？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C00000"/>
                </a:solidFill>
              </a:rPr>
              <a:t>数值化求近似解的方法</a:t>
            </a:r>
            <a:r>
              <a:rPr lang="en-US" altLang="zh-CN" sz="2000" b="1" dirty="0">
                <a:solidFill>
                  <a:srgbClr val="C00000"/>
                </a:solidFill>
              </a:rPr>
              <a:t>——</a:t>
            </a:r>
            <a:r>
              <a:rPr lang="zh-CN" altLang="en-US" sz="2000" b="1" dirty="0">
                <a:solidFill>
                  <a:srgbClr val="C00000"/>
                </a:solidFill>
              </a:rPr>
              <a:t>有！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54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 </a:t>
            </a:r>
            <a:r>
              <a:rPr lang="en-US" altLang="zh-CN" b="1" dirty="0"/>
              <a:t>Content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随机优化</a:t>
            </a:r>
            <a:r>
              <a:rPr lang="en-US" altLang="zh-CN" sz="3200" b="1" dirty="0"/>
              <a:t> Stochastic Optimization</a:t>
            </a:r>
          </a:p>
          <a:p>
            <a:endParaRPr lang="en-US" altLang="zh-CN" sz="3200" b="1" dirty="0"/>
          </a:p>
          <a:p>
            <a:r>
              <a:rPr lang="zh-CN" altLang="en-US" sz="3200" b="1" dirty="0"/>
              <a:t>凸优化 </a:t>
            </a:r>
            <a:r>
              <a:rPr lang="en-US" altLang="zh-CN" sz="3200" b="1" dirty="0"/>
              <a:t>Convex Optimization</a:t>
            </a:r>
            <a:endParaRPr lang="zh-CN" altLang="en-US" sz="3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23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1360" y="16273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例：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845285"/>
              </p:ext>
            </p:extLst>
          </p:nvPr>
        </p:nvGraphicFramePr>
        <p:xfrm>
          <a:off x="1726811" y="1608482"/>
          <a:ext cx="1190642" cy="55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811" y="1608482"/>
                        <a:ext cx="1190642" cy="550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449352"/>
              </p:ext>
            </p:extLst>
          </p:nvPr>
        </p:nvGraphicFramePr>
        <p:xfrm>
          <a:off x="3282584" y="1499325"/>
          <a:ext cx="4952979" cy="582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2584" y="1499325"/>
                        <a:ext cx="4952979" cy="582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620188" y="225829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求解这个函数的最小值点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167492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1360" y="16273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例：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6811" y="1608482"/>
          <a:ext cx="1190642" cy="55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811" y="1608482"/>
                        <a:ext cx="1190642" cy="550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584" y="1499325"/>
          <a:ext cx="4952979" cy="582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2584" y="1499325"/>
                        <a:ext cx="4952979" cy="582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620188" y="225829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求解这个函数的最小值点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620188" y="2804394"/>
            <a:ext cx="6405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纸笔已就绪</a:t>
            </a:r>
            <a:r>
              <a:rPr lang="en-US" altLang="zh-CN" b="1" dirty="0">
                <a:solidFill>
                  <a:srgbClr val="C00000"/>
                </a:solidFill>
              </a:rPr>
              <a:t>…</a:t>
            </a:r>
            <a:r>
              <a:rPr lang="zh-CN" altLang="en-US" b="1" dirty="0">
                <a:solidFill>
                  <a:srgbClr val="C00000"/>
                </a:solidFill>
              </a:rPr>
              <a:t>我可以开始求导了！！</a:t>
            </a:r>
          </a:p>
        </p:txBody>
      </p:sp>
    </p:spTree>
    <p:extLst>
      <p:ext uri="{BB962C8B-B14F-4D97-AF65-F5344CB8AC3E}">
        <p14:creationId xmlns:p14="http://schemas.microsoft.com/office/powerpoint/2010/main" val="2455658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1360" y="16273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例：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6811" y="1608482"/>
          <a:ext cx="1190642" cy="55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811" y="1608482"/>
                        <a:ext cx="1190642" cy="550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584" y="1499325"/>
          <a:ext cx="4952979" cy="582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2584" y="1499325"/>
                        <a:ext cx="4952979" cy="582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620188" y="225829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求解这个函数的最小值点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620188" y="2804394"/>
            <a:ext cx="6405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纸笔已就绪</a:t>
            </a:r>
            <a:r>
              <a:rPr lang="en-US" altLang="zh-CN" b="1" dirty="0">
                <a:solidFill>
                  <a:srgbClr val="C00000"/>
                </a:solidFill>
              </a:rPr>
              <a:t>…</a:t>
            </a:r>
            <a:r>
              <a:rPr lang="zh-CN" altLang="en-US" b="1" dirty="0">
                <a:solidFill>
                  <a:srgbClr val="C00000"/>
                </a:solidFill>
              </a:rPr>
              <a:t>我可以开始求导了！！ （时代已经发生改变）</a:t>
            </a:r>
          </a:p>
        </p:txBody>
      </p:sp>
    </p:spTree>
    <p:extLst>
      <p:ext uri="{BB962C8B-B14F-4D97-AF65-F5344CB8AC3E}">
        <p14:creationId xmlns:p14="http://schemas.microsoft.com/office/powerpoint/2010/main" val="3376410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1360" y="16273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例：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6811" y="1608482"/>
          <a:ext cx="1190642" cy="55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811" y="1608482"/>
                        <a:ext cx="1190642" cy="550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584" y="1499325"/>
          <a:ext cx="4952979" cy="582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2584" y="1499325"/>
                        <a:ext cx="4952979" cy="582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620188" y="225829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求解这个函数的最小值点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620188" y="2804394"/>
            <a:ext cx="6405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纸笔已就绪</a:t>
            </a:r>
            <a:r>
              <a:rPr lang="en-US" altLang="zh-CN" b="1" dirty="0">
                <a:solidFill>
                  <a:srgbClr val="C00000"/>
                </a:solidFill>
              </a:rPr>
              <a:t>…</a:t>
            </a:r>
            <a:r>
              <a:rPr lang="zh-CN" altLang="en-US" b="1" dirty="0">
                <a:solidFill>
                  <a:srgbClr val="C00000"/>
                </a:solidFill>
              </a:rPr>
              <a:t>我可以开始求导了！！ （时代已经发生改变）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1620188" y="2804394"/>
            <a:ext cx="6060772" cy="3693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58987" y="2804394"/>
            <a:ext cx="6021973" cy="3693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839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1360" y="16273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例：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6811" y="1608482"/>
          <a:ext cx="1190642" cy="55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811" y="1608482"/>
                        <a:ext cx="1190642" cy="5500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584" y="1499325"/>
          <a:ext cx="4952979" cy="582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2584" y="1499325"/>
                        <a:ext cx="4952979" cy="582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620188" y="225829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求解这个函数的最小值点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620188" y="2804394"/>
            <a:ext cx="6405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纸笔已就绪</a:t>
            </a:r>
            <a:r>
              <a:rPr lang="en-US" altLang="zh-CN" b="1" dirty="0">
                <a:solidFill>
                  <a:srgbClr val="C00000"/>
                </a:solidFill>
              </a:rPr>
              <a:t>…</a:t>
            </a:r>
            <a:r>
              <a:rPr lang="zh-CN" altLang="en-US" b="1" dirty="0">
                <a:solidFill>
                  <a:srgbClr val="C00000"/>
                </a:solidFill>
              </a:rPr>
              <a:t>我可以开始求导了！！ （时代已经发生改变）</a:t>
            </a: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1620188" y="2804394"/>
            <a:ext cx="6060772" cy="3693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58987" y="2804394"/>
            <a:ext cx="6021973" cy="3693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7B285D22-98BD-4933-837B-FACA9E595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737" y="3173726"/>
            <a:ext cx="3959463" cy="322727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658987" y="3550019"/>
            <a:ext cx="197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找个软件画图</a:t>
            </a:r>
          </a:p>
        </p:txBody>
      </p:sp>
    </p:spTree>
    <p:extLst>
      <p:ext uri="{BB962C8B-B14F-4D97-AF65-F5344CB8AC3E}">
        <p14:creationId xmlns:p14="http://schemas.microsoft.com/office/powerpoint/2010/main" val="3718344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0358" y="2031379"/>
          <a:ext cx="1405867" cy="64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358" y="2031379"/>
                        <a:ext cx="1405867" cy="649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1623" y="1921808"/>
          <a:ext cx="5476202" cy="64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21623" y="1921808"/>
                        <a:ext cx="5476202" cy="643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7B285D22-98BD-4933-837B-FACA9E595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7106"/>
            <a:ext cx="2802792" cy="22844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CFE802-0274-4EF7-8B0B-36FD2C816129}"/>
              </a:ext>
            </a:extLst>
          </p:cNvPr>
          <p:cNvSpPr txBox="1"/>
          <p:nvPr/>
        </p:nvSpPr>
        <p:spPr>
          <a:xfrm>
            <a:off x="1240358" y="5417491"/>
            <a:ext cx="199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Maybe here…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2239596" y="4456568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249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0358" y="2031379"/>
          <a:ext cx="1405867" cy="64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358" y="2031379"/>
                        <a:ext cx="1405867" cy="649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1623" y="1921808"/>
          <a:ext cx="5476202" cy="64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21623" y="1921808"/>
                        <a:ext cx="5476202" cy="643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7B285D22-98BD-4933-837B-FACA9E595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7106"/>
            <a:ext cx="2802792" cy="22844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CFE802-0274-4EF7-8B0B-36FD2C816129}"/>
              </a:ext>
            </a:extLst>
          </p:cNvPr>
          <p:cNvSpPr txBox="1"/>
          <p:nvPr/>
        </p:nvSpPr>
        <p:spPr>
          <a:xfrm>
            <a:off x="1240358" y="5417491"/>
            <a:ext cx="199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Maybe here…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135CEF-3BDC-462B-9D52-F7E2D843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548" y="2670052"/>
            <a:ext cx="3250927" cy="24381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9AD8474-F068-408A-AA35-6DDF6AFD9282}"/>
              </a:ext>
            </a:extLst>
          </p:cNvPr>
          <p:cNvSpPr txBox="1"/>
          <p:nvPr/>
        </p:nvSpPr>
        <p:spPr>
          <a:xfrm>
            <a:off x="4519277" y="5417491"/>
            <a:ext cx="2874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更有可能在这附近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Possibly here…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2664493" y="4146799"/>
            <a:ext cx="1854784" cy="476288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2239596" y="4456568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5752846" y="4528784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613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0358" y="2031379"/>
          <a:ext cx="1405867" cy="64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358" y="2031379"/>
                        <a:ext cx="1405867" cy="649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1623" y="1921808"/>
          <a:ext cx="5476202" cy="64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21623" y="1921808"/>
                        <a:ext cx="5476202" cy="643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7B285D22-98BD-4933-837B-FACA9E595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7106"/>
            <a:ext cx="2802792" cy="22844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CFE802-0274-4EF7-8B0B-36FD2C816129}"/>
              </a:ext>
            </a:extLst>
          </p:cNvPr>
          <p:cNvSpPr txBox="1"/>
          <p:nvPr/>
        </p:nvSpPr>
        <p:spPr>
          <a:xfrm>
            <a:off x="1240358" y="5417491"/>
            <a:ext cx="199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Maybe here…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135CEF-3BDC-462B-9D52-F7E2D843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548" y="2670052"/>
            <a:ext cx="3250927" cy="24381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9AD8474-F068-408A-AA35-6DDF6AFD9282}"/>
              </a:ext>
            </a:extLst>
          </p:cNvPr>
          <p:cNvSpPr txBox="1"/>
          <p:nvPr/>
        </p:nvSpPr>
        <p:spPr>
          <a:xfrm>
            <a:off x="4519277" y="5417491"/>
            <a:ext cx="2874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更有可能在这附近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Possibly here…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9CBBE4E-61BE-4762-8A56-C4BCE04514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031" y="2674837"/>
            <a:ext cx="3244546" cy="243341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8394927" y="5409115"/>
            <a:ext cx="2440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极有可能在这附近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Approximately here…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2664493" y="4146799"/>
            <a:ext cx="1854784" cy="476288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2239596" y="4456568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5752846" y="4528784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6138247" y="4146799"/>
            <a:ext cx="2055604" cy="566712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25759CE3-3F3E-4B61-A491-2925EC0B845B}"/>
              </a:ext>
            </a:extLst>
          </p:cNvPr>
          <p:cNvSpPr/>
          <p:nvPr/>
        </p:nvSpPr>
        <p:spPr>
          <a:xfrm>
            <a:off x="7993031" y="6117001"/>
            <a:ext cx="2501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在图上读点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0.417…</a:t>
            </a:r>
          </a:p>
        </p:txBody>
      </p:sp>
    </p:spTree>
    <p:extLst>
      <p:ext uri="{BB962C8B-B14F-4D97-AF65-F5344CB8AC3E}">
        <p14:creationId xmlns:p14="http://schemas.microsoft.com/office/powerpoint/2010/main" val="2198131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073522"/>
              </p:ext>
            </p:extLst>
          </p:nvPr>
        </p:nvGraphicFramePr>
        <p:xfrm>
          <a:off x="1240358" y="2031379"/>
          <a:ext cx="1405867" cy="64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358" y="2031379"/>
                        <a:ext cx="1405867" cy="649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725072"/>
              </p:ext>
            </p:extLst>
          </p:nvPr>
        </p:nvGraphicFramePr>
        <p:xfrm>
          <a:off x="3021623" y="1921808"/>
          <a:ext cx="5476202" cy="64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21623" y="1921808"/>
                        <a:ext cx="5476202" cy="643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7B285D22-98BD-4933-837B-FACA9E595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7106"/>
            <a:ext cx="2802792" cy="22844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CFE802-0274-4EF7-8B0B-36FD2C816129}"/>
              </a:ext>
            </a:extLst>
          </p:cNvPr>
          <p:cNvSpPr txBox="1"/>
          <p:nvPr/>
        </p:nvSpPr>
        <p:spPr>
          <a:xfrm>
            <a:off x="1240358" y="5417491"/>
            <a:ext cx="199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Maybe here…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135CEF-3BDC-462B-9D52-F7E2D843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548" y="2670052"/>
            <a:ext cx="3250927" cy="24381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9AD8474-F068-408A-AA35-6DDF6AFD9282}"/>
              </a:ext>
            </a:extLst>
          </p:cNvPr>
          <p:cNvSpPr txBox="1"/>
          <p:nvPr/>
        </p:nvSpPr>
        <p:spPr>
          <a:xfrm>
            <a:off x="4519277" y="5417491"/>
            <a:ext cx="2874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更有可能在这附近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Possibly here…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9CBBE4E-61BE-4762-8A56-C4BCE04514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031" y="2674837"/>
            <a:ext cx="3244546" cy="243341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8394927" y="5409115"/>
            <a:ext cx="2440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极有可能在这附近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Approximately here…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2664493" y="4146799"/>
            <a:ext cx="1854784" cy="476288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2239596" y="4456568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5752846" y="4528784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6138247" y="4146799"/>
            <a:ext cx="2055604" cy="566712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25759CE3-3F3E-4B61-A491-2925EC0B845B}"/>
              </a:ext>
            </a:extLst>
          </p:cNvPr>
          <p:cNvSpPr/>
          <p:nvPr/>
        </p:nvSpPr>
        <p:spPr>
          <a:xfrm>
            <a:off x="7993031" y="6117001"/>
            <a:ext cx="2501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在图上读点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0.417…</a:t>
            </a:r>
          </a:p>
        </p:txBody>
      </p:sp>
    </p:spTree>
    <p:extLst>
      <p:ext uri="{BB962C8B-B14F-4D97-AF65-F5344CB8AC3E}">
        <p14:creationId xmlns:p14="http://schemas.microsoft.com/office/powerpoint/2010/main" val="1499447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0358" y="2031379"/>
          <a:ext cx="1405867" cy="64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358" y="2031379"/>
                        <a:ext cx="1405867" cy="649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581481"/>
              </p:ext>
            </p:extLst>
          </p:nvPr>
        </p:nvGraphicFramePr>
        <p:xfrm>
          <a:off x="3014745" y="1926348"/>
          <a:ext cx="5476202" cy="64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14745" y="1926348"/>
                        <a:ext cx="5476202" cy="643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7B285D22-98BD-4933-837B-FACA9E595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7106"/>
            <a:ext cx="2802792" cy="22844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CFE802-0274-4EF7-8B0B-36FD2C816129}"/>
              </a:ext>
            </a:extLst>
          </p:cNvPr>
          <p:cNvSpPr txBox="1"/>
          <p:nvPr/>
        </p:nvSpPr>
        <p:spPr>
          <a:xfrm>
            <a:off x="1240358" y="5417491"/>
            <a:ext cx="199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Maybe here…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135CEF-3BDC-462B-9D52-F7E2D8434F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548" y="2670052"/>
            <a:ext cx="3250927" cy="24381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9AD8474-F068-408A-AA35-6DDF6AFD9282}"/>
              </a:ext>
            </a:extLst>
          </p:cNvPr>
          <p:cNvSpPr txBox="1"/>
          <p:nvPr/>
        </p:nvSpPr>
        <p:spPr>
          <a:xfrm>
            <a:off x="4519277" y="5417491"/>
            <a:ext cx="2874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更有可能在这附近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Possibly here…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9CBBE4E-61BE-4762-8A56-C4BCE04514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031" y="2674837"/>
            <a:ext cx="3244546" cy="243341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8394927" y="5409115"/>
            <a:ext cx="2440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极有可能在这附近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Approximately here…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2664493" y="4146799"/>
            <a:ext cx="1854784" cy="476288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2239596" y="4456568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4CDD793-7C60-4693-8189-036E03E26003}"/>
              </a:ext>
            </a:extLst>
          </p:cNvPr>
          <p:cNvSpPr/>
          <p:nvPr/>
        </p:nvSpPr>
        <p:spPr>
          <a:xfrm>
            <a:off x="5752846" y="4528784"/>
            <a:ext cx="378691" cy="369454"/>
          </a:xfrm>
          <a:prstGeom prst="ellipse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D63DEA6-249C-492B-BF93-011DC3DED2D0}"/>
              </a:ext>
            </a:extLst>
          </p:cNvPr>
          <p:cNvCxnSpPr>
            <a:cxnSpLocks/>
          </p:cNvCxnSpPr>
          <p:nvPr/>
        </p:nvCxnSpPr>
        <p:spPr>
          <a:xfrm flipV="1">
            <a:off x="6138247" y="4146799"/>
            <a:ext cx="2055604" cy="566712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25759CE3-3F3E-4B61-A491-2925EC0B845B}"/>
              </a:ext>
            </a:extLst>
          </p:cNvPr>
          <p:cNvSpPr/>
          <p:nvPr/>
        </p:nvSpPr>
        <p:spPr>
          <a:xfrm>
            <a:off x="7993031" y="6117001"/>
            <a:ext cx="2501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在图上读点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0.417…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1240358" y="6210877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计算机有不会看图，不能一眼看出来，怎么办？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62189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42771"/>
              </p:ext>
            </p:extLst>
          </p:nvPr>
        </p:nvGraphicFramePr>
        <p:xfrm>
          <a:off x="1346749" y="1656296"/>
          <a:ext cx="1205952" cy="557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749" y="1656296"/>
                        <a:ext cx="1205952" cy="557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090381"/>
              </p:ext>
            </p:extLst>
          </p:nvPr>
        </p:nvGraphicFramePr>
        <p:xfrm>
          <a:off x="2824245" y="1543260"/>
          <a:ext cx="5011655" cy="589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24245" y="1543260"/>
                        <a:ext cx="5011655" cy="589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1257848" y="2338235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计算机有不会看图，不能一眼看出来，怎么办？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35551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749" y="1656296"/>
          <a:ext cx="1205952" cy="557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79360" progId="Equation.DSMT4">
                  <p:embed/>
                </p:oleObj>
              </mc:Choice>
              <mc:Fallback>
                <p:oleObj name="Equation" r:id="rId2" imgW="596880" imgH="279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749" y="1656296"/>
                        <a:ext cx="1205952" cy="557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4245" y="1543260"/>
          <a:ext cx="5011655" cy="589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24245" y="1543260"/>
                        <a:ext cx="5011655" cy="589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1257848" y="2338235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计算机有不会看图，不能一眼看出来，怎么办？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C3F8CC-944A-4620-A26C-56C2077794FD}"/>
              </a:ext>
            </a:extLst>
          </p:cNvPr>
          <p:cNvSpPr txBox="1"/>
          <p:nvPr/>
        </p:nvSpPr>
        <p:spPr>
          <a:xfrm>
            <a:off x="1257848" y="2779905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计算机可以算</a:t>
            </a:r>
            <a:r>
              <a:rPr lang="zh-CN" altLang="en-US" b="1" dirty="0">
                <a:solidFill>
                  <a:srgbClr val="C00000"/>
                </a:solidFill>
              </a:rPr>
              <a:t>大量</a:t>
            </a:r>
            <a:r>
              <a:rPr lang="zh-CN" altLang="en-US" b="1" dirty="0"/>
              <a:t>点的值</a:t>
            </a:r>
            <a:endParaRPr lang="en-US" altLang="zh-CN" b="1" dirty="0"/>
          </a:p>
          <a:p>
            <a:r>
              <a:rPr lang="zh-CN" altLang="en-US" b="1" dirty="0"/>
              <a:t>② 哪些</a:t>
            </a:r>
            <a:r>
              <a:rPr lang="en-US" altLang="zh-CN" b="1" dirty="0"/>
              <a:t>x</a:t>
            </a:r>
            <a:r>
              <a:rPr lang="zh-CN" altLang="en-US" b="1" dirty="0"/>
              <a:t>附近对应的</a:t>
            </a:r>
            <a:r>
              <a:rPr lang="en-US" altLang="zh-CN" b="1" dirty="0"/>
              <a:t>f(x)</a:t>
            </a:r>
            <a:r>
              <a:rPr lang="zh-CN" altLang="en-US" b="1" dirty="0"/>
              <a:t>小可以通过数值判断出来</a:t>
            </a:r>
            <a:endParaRPr lang="en-US" altLang="zh-CN" b="1" dirty="0"/>
          </a:p>
          <a:p>
            <a:r>
              <a:rPr lang="zh-CN" altLang="en-US" b="1" dirty="0"/>
              <a:t>③ 所以人类的</a:t>
            </a:r>
            <a:r>
              <a:rPr lang="zh-CN" altLang="en-US" b="1" dirty="0">
                <a:solidFill>
                  <a:srgbClr val="C00000"/>
                </a:solidFill>
              </a:rPr>
              <a:t>看图找最小</a:t>
            </a:r>
            <a:r>
              <a:rPr lang="en-US" altLang="zh-CN" b="1" dirty="0"/>
              <a:t>=</a:t>
            </a:r>
            <a:r>
              <a:rPr lang="zh-CN" altLang="en-US" b="1" dirty="0"/>
              <a:t>计算机</a:t>
            </a:r>
            <a:r>
              <a:rPr lang="zh-CN" altLang="en-US" b="1" dirty="0">
                <a:solidFill>
                  <a:srgbClr val="C00000"/>
                </a:solidFill>
              </a:rPr>
              <a:t>抽样</a:t>
            </a:r>
            <a:r>
              <a:rPr lang="zh-CN" altLang="en-US" b="1" dirty="0"/>
              <a:t>找最小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04136E9-38D2-490E-AD2C-AAB02FCB4ED6}"/>
              </a:ext>
            </a:extLst>
          </p:cNvPr>
          <p:cNvGrpSpPr/>
          <p:nvPr/>
        </p:nvGrpSpPr>
        <p:grpSpPr>
          <a:xfrm>
            <a:off x="6919167" y="2412961"/>
            <a:ext cx="4434633" cy="3109186"/>
            <a:chOff x="14413314" y="7479976"/>
            <a:chExt cx="5137060" cy="418710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6E9D73D-0B54-401B-A71E-5D7712A50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3314" y="7479976"/>
              <a:ext cx="5137060" cy="4187107"/>
            </a:xfrm>
            <a:prstGeom prst="rect">
              <a:avLst/>
            </a:prstGeom>
          </p:spPr>
        </p:pic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DD673C1-A9B7-4849-87E8-5C30BA0FE2B8}"/>
                </a:ext>
              </a:extLst>
            </p:cNvPr>
            <p:cNvCxnSpPr>
              <a:cxnSpLocks/>
            </p:cNvCxnSpPr>
            <p:nvPr/>
          </p:nvCxnSpPr>
          <p:spPr>
            <a:xfrm>
              <a:off x="15251631" y="8187863"/>
              <a:ext cx="0" cy="3021157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F3815B9-7E28-414B-8059-92ED9D8814E5}"/>
                </a:ext>
              </a:extLst>
            </p:cNvPr>
            <p:cNvCxnSpPr>
              <a:cxnSpLocks/>
            </p:cNvCxnSpPr>
            <p:nvPr/>
          </p:nvCxnSpPr>
          <p:spPr>
            <a:xfrm>
              <a:off x="15385182" y="8340263"/>
              <a:ext cx="0" cy="2868757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91227AC-E127-4D95-8DEA-88EDDAC6967D}"/>
                </a:ext>
              </a:extLst>
            </p:cNvPr>
            <p:cNvCxnSpPr>
              <a:cxnSpLocks/>
            </p:cNvCxnSpPr>
            <p:nvPr/>
          </p:nvCxnSpPr>
          <p:spPr>
            <a:xfrm>
              <a:off x="15537582" y="8613445"/>
              <a:ext cx="0" cy="2595575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3366822-419D-46BD-86AE-1C5E03B3314B}"/>
                </a:ext>
              </a:extLst>
            </p:cNvPr>
            <p:cNvCxnSpPr>
              <a:cxnSpLocks/>
            </p:cNvCxnSpPr>
            <p:nvPr/>
          </p:nvCxnSpPr>
          <p:spPr>
            <a:xfrm>
              <a:off x="15689982" y="8839200"/>
              <a:ext cx="0" cy="236982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E0DC0B91-B76B-4E61-B975-62EA643C5983}"/>
                </a:ext>
              </a:extLst>
            </p:cNvPr>
            <p:cNvCxnSpPr>
              <a:cxnSpLocks/>
            </p:cNvCxnSpPr>
            <p:nvPr/>
          </p:nvCxnSpPr>
          <p:spPr>
            <a:xfrm>
              <a:off x="15842382" y="8991600"/>
              <a:ext cx="0" cy="221742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3BF58DA-FA58-4BA9-8C63-BA472C72CB78}"/>
                </a:ext>
              </a:extLst>
            </p:cNvPr>
            <p:cNvCxnSpPr>
              <a:cxnSpLocks/>
            </p:cNvCxnSpPr>
            <p:nvPr/>
          </p:nvCxnSpPr>
          <p:spPr>
            <a:xfrm>
              <a:off x="15994782" y="9163711"/>
              <a:ext cx="0" cy="204530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AF25450-9B2D-425F-BEE4-0BED95D0E14A}"/>
                </a:ext>
              </a:extLst>
            </p:cNvPr>
            <p:cNvCxnSpPr>
              <a:cxnSpLocks/>
            </p:cNvCxnSpPr>
            <p:nvPr/>
          </p:nvCxnSpPr>
          <p:spPr>
            <a:xfrm>
              <a:off x="16147182" y="9387840"/>
              <a:ext cx="0" cy="182118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F2CA450-EA72-4C1D-A0CF-361F832193A1}"/>
                </a:ext>
              </a:extLst>
            </p:cNvPr>
            <p:cNvCxnSpPr>
              <a:cxnSpLocks/>
            </p:cNvCxnSpPr>
            <p:nvPr/>
          </p:nvCxnSpPr>
          <p:spPr>
            <a:xfrm>
              <a:off x="16307202" y="9529471"/>
              <a:ext cx="0" cy="16795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30C0A3E-69F7-4464-B932-71A4A642BFA8}"/>
                </a:ext>
              </a:extLst>
            </p:cNvPr>
            <p:cNvCxnSpPr>
              <a:cxnSpLocks/>
            </p:cNvCxnSpPr>
            <p:nvPr/>
          </p:nvCxnSpPr>
          <p:spPr>
            <a:xfrm>
              <a:off x="16459602" y="9681871"/>
              <a:ext cx="0" cy="15271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88792507-ECB9-48AC-A2CF-EF514616AB25}"/>
                </a:ext>
              </a:extLst>
            </p:cNvPr>
            <p:cNvCxnSpPr>
              <a:cxnSpLocks/>
            </p:cNvCxnSpPr>
            <p:nvPr/>
          </p:nvCxnSpPr>
          <p:spPr>
            <a:xfrm>
              <a:off x="16612002" y="9834271"/>
              <a:ext cx="0" cy="13747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9FB5753-C4F1-4075-B58D-051822209748}"/>
                </a:ext>
              </a:extLst>
            </p:cNvPr>
            <p:cNvCxnSpPr>
              <a:cxnSpLocks/>
            </p:cNvCxnSpPr>
            <p:nvPr/>
          </p:nvCxnSpPr>
          <p:spPr>
            <a:xfrm>
              <a:off x="16764402" y="9986671"/>
              <a:ext cx="0" cy="12223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A8BEA49-3AA4-4F14-BE90-662758926973}"/>
                </a:ext>
              </a:extLst>
            </p:cNvPr>
            <p:cNvCxnSpPr>
              <a:cxnSpLocks/>
            </p:cNvCxnSpPr>
            <p:nvPr/>
          </p:nvCxnSpPr>
          <p:spPr>
            <a:xfrm>
              <a:off x="16916802" y="10139071"/>
              <a:ext cx="0" cy="10699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DDE5961-0258-4CFD-A4F5-1291F2E129FA}"/>
                </a:ext>
              </a:extLst>
            </p:cNvPr>
            <p:cNvCxnSpPr>
              <a:cxnSpLocks/>
            </p:cNvCxnSpPr>
            <p:nvPr/>
          </p:nvCxnSpPr>
          <p:spPr>
            <a:xfrm>
              <a:off x="17069202" y="10291471"/>
              <a:ext cx="0" cy="9175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72AE9E30-6029-443A-A5E8-B79A3B68F10F}"/>
                </a:ext>
              </a:extLst>
            </p:cNvPr>
            <p:cNvCxnSpPr>
              <a:cxnSpLocks/>
            </p:cNvCxnSpPr>
            <p:nvPr/>
          </p:nvCxnSpPr>
          <p:spPr>
            <a:xfrm>
              <a:off x="17221602" y="10599420"/>
              <a:ext cx="0" cy="60960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1EBF1C0-FDB9-4E12-ABFA-F8AD4C8578A4}"/>
                </a:ext>
              </a:extLst>
            </p:cNvPr>
            <p:cNvCxnSpPr>
              <a:cxnSpLocks/>
            </p:cNvCxnSpPr>
            <p:nvPr/>
          </p:nvCxnSpPr>
          <p:spPr>
            <a:xfrm>
              <a:off x="17374002" y="10957560"/>
              <a:ext cx="0" cy="25146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812635A-D9F0-42B1-9909-508F10CD04DE}"/>
                </a:ext>
              </a:extLst>
            </p:cNvPr>
            <p:cNvCxnSpPr>
              <a:cxnSpLocks/>
            </p:cNvCxnSpPr>
            <p:nvPr/>
          </p:nvCxnSpPr>
          <p:spPr>
            <a:xfrm>
              <a:off x="17526402" y="10736580"/>
              <a:ext cx="0" cy="47244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219FD76-398D-4A84-9B76-A6F0B6304942}"/>
                </a:ext>
              </a:extLst>
            </p:cNvPr>
            <p:cNvCxnSpPr>
              <a:cxnSpLocks/>
            </p:cNvCxnSpPr>
            <p:nvPr/>
          </p:nvCxnSpPr>
          <p:spPr>
            <a:xfrm>
              <a:off x="17678802" y="10469880"/>
              <a:ext cx="0" cy="73914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833BBA8-A47D-414B-A599-C59AF8323A99}"/>
                </a:ext>
              </a:extLst>
            </p:cNvPr>
            <p:cNvCxnSpPr>
              <a:cxnSpLocks/>
            </p:cNvCxnSpPr>
            <p:nvPr/>
          </p:nvCxnSpPr>
          <p:spPr>
            <a:xfrm>
              <a:off x="17831202" y="10291471"/>
              <a:ext cx="0" cy="9175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581D8F8-1E2E-42EE-9CC2-703D7ECCD8F7}"/>
                </a:ext>
              </a:extLst>
            </p:cNvPr>
            <p:cNvCxnSpPr>
              <a:cxnSpLocks/>
            </p:cNvCxnSpPr>
            <p:nvPr/>
          </p:nvCxnSpPr>
          <p:spPr>
            <a:xfrm>
              <a:off x="17983602" y="10232231"/>
              <a:ext cx="0" cy="97678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9F69023-C6F1-4A32-BFFD-E0D1E9C3CDA6}"/>
                </a:ext>
              </a:extLst>
            </p:cNvPr>
            <p:cNvCxnSpPr>
              <a:cxnSpLocks/>
            </p:cNvCxnSpPr>
            <p:nvPr/>
          </p:nvCxnSpPr>
          <p:spPr>
            <a:xfrm>
              <a:off x="18136002" y="10232231"/>
              <a:ext cx="0" cy="97678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B268307-47BA-4C10-BF09-86A836C3B1B2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402" y="10183105"/>
              <a:ext cx="0" cy="1025915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F584D07-73CA-46DE-9A0F-C73189E6EC17}"/>
                </a:ext>
              </a:extLst>
            </p:cNvPr>
            <p:cNvCxnSpPr>
              <a:cxnSpLocks/>
            </p:cNvCxnSpPr>
            <p:nvPr/>
          </p:nvCxnSpPr>
          <p:spPr>
            <a:xfrm>
              <a:off x="18440802" y="9906000"/>
              <a:ext cx="0" cy="130302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813A5E0-2086-4880-BBD9-8BAF545B70CF}"/>
                </a:ext>
              </a:extLst>
            </p:cNvPr>
            <p:cNvCxnSpPr>
              <a:cxnSpLocks/>
            </p:cNvCxnSpPr>
            <p:nvPr/>
          </p:nvCxnSpPr>
          <p:spPr>
            <a:xfrm>
              <a:off x="18593202" y="9616440"/>
              <a:ext cx="0" cy="159258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5DEBD68-71BA-491B-8631-D2CB0248AF40}"/>
                </a:ext>
              </a:extLst>
            </p:cNvPr>
            <p:cNvCxnSpPr>
              <a:cxnSpLocks/>
            </p:cNvCxnSpPr>
            <p:nvPr/>
          </p:nvCxnSpPr>
          <p:spPr>
            <a:xfrm>
              <a:off x="18745602" y="9387840"/>
              <a:ext cx="0" cy="182118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A5877C4-69EB-4926-B107-844DBA6B8DD0}"/>
                </a:ext>
              </a:extLst>
            </p:cNvPr>
            <p:cNvCxnSpPr>
              <a:cxnSpLocks/>
            </p:cNvCxnSpPr>
            <p:nvPr/>
          </p:nvCxnSpPr>
          <p:spPr>
            <a:xfrm>
              <a:off x="18877300" y="9163711"/>
              <a:ext cx="0" cy="204530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6053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25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8901" y="1786268"/>
          <a:ext cx="1030931" cy="4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79360" progId="Equation.DSMT4">
                  <p:embed/>
                </p:oleObj>
              </mc:Choice>
              <mc:Fallback>
                <p:oleObj name="Equation" r:id="rId3" imgW="59688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901" y="1786268"/>
                        <a:ext cx="1030931" cy="476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266" y="2386066"/>
          <a:ext cx="3896429" cy="4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560" imgH="279360" progId="Equation.DSMT4">
                  <p:embed/>
                </p:oleObj>
              </mc:Choice>
              <mc:Fallback>
                <p:oleObj name="Equation" r:id="rId5" imgW="23745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2266" y="2386066"/>
                        <a:ext cx="3896429" cy="458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69" y="1393382"/>
            <a:ext cx="6307316" cy="2290111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918494" y="3539452"/>
            <a:ext cx="6898433" cy="2413001"/>
            <a:chOff x="1534367" y="4219199"/>
            <a:chExt cx="6898433" cy="241300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D30DF4-9448-464E-9AB1-DFB48F98D76D}"/>
                </a:ext>
              </a:extLst>
            </p:cNvPr>
            <p:cNvSpPr txBox="1"/>
            <p:nvPr/>
          </p:nvSpPr>
          <p:spPr>
            <a:xfrm>
              <a:off x="4968989" y="4368111"/>
              <a:ext cx="34638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① 抽样</a:t>
              </a:r>
              <a:endParaRPr lang="en-US" altLang="zh-CN" sz="2000" dirty="0"/>
            </a:p>
            <a:p>
              <a:endParaRPr lang="en-US" altLang="zh-CN" sz="2000" dirty="0"/>
            </a:p>
            <a:p>
              <a:endParaRPr lang="en-US" altLang="zh-CN" sz="2000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04136E9-38D2-490E-AD2C-AAB02FCB4ED6}"/>
                </a:ext>
              </a:extLst>
            </p:cNvPr>
            <p:cNvGrpSpPr/>
            <p:nvPr/>
          </p:nvGrpSpPr>
          <p:grpSpPr>
            <a:xfrm>
              <a:off x="1534367" y="4219199"/>
              <a:ext cx="3124504" cy="2413001"/>
              <a:chOff x="14413314" y="7479976"/>
              <a:chExt cx="5137060" cy="4187107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36E9D73D-0B54-401B-A71E-5D7712A50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13314" y="7479976"/>
                <a:ext cx="5137060" cy="4187107"/>
              </a:xfrm>
              <a:prstGeom prst="rect">
                <a:avLst/>
              </a:prstGeom>
            </p:spPr>
          </p:pic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DD673C1-A9B7-4849-87E8-5C30BA0FE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1631" y="8187863"/>
                <a:ext cx="0" cy="30211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F3815B9-7E28-414B-8059-92ED9D8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85182" y="8340263"/>
                <a:ext cx="0" cy="28687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91227AC-E127-4D95-8DEA-88EDDAC69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7582" y="8613445"/>
                <a:ext cx="0" cy="259557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3366822-419D-46BD-86AE-1C5E03B33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89982" y="8839200"/>
                <a:ext cx="0" cy="23698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0DC0B91-B76B-4E61-B975-62EA643C5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42382" y="8991600"/>
                <a:ext cx="0" cy="22174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3BF58DA-FA58-4BA9-8C63-BA472C72C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94782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AF25450-9B2D-425F-BEE4-0BED95D0E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4718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F2CA450-EA72-4C1D-A0CF-361F83219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07202" y="9529471"/>
                <a:ext cx="0" cy="1679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30C0A3E-69F7-4464-B932-71A4A642B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59602" y="9681871"/>
                <a:ext cx="0" cy="15271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8792507-ECB9-48AC-A2CF-EF514616A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12002" y="9834271"/>
                <a:ext cx="0" cy="13747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9FB5753-C4F1-4075-B58D-051822209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64402" y="9986671"/>
                <a:ext cx="0" cy="12223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A8BEA49-3AA4-4F14-BE90-662758926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16802" y="10139071"/>
                <a:ext cx="0" cy="10699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DDE5961-0258-4CFD-A4F5-1291F2E1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2AE9E30-6029-443A-A5E8-B79A3B68F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21602" y="10599420"/>
                <a:ext cx="0" cy="60960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1EBF1C0-FDB9-4E12-ABFA-F8AD4C857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74002" y="10957560"/>
                <a:ext cx="0" cy="25146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812635A-D9F0-42B1-9909-508F10CD0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402" y="10736580"/>
                <a:ext cx="0" cy="4724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219FD76-398D-4A84-9B76-A6F0B6304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8802" y="10469880"/>
                <a:ext cx="0" cy="7391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833BBA8-A47D-414B-A599-C59AF8323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1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581D8F8-1E2E-42EE-9CC2-703D7ECCD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36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9F69023-C6F1-4A32-BFFD-E0D1E9C3C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360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B268307-47BA-4C10-BF09-86A836C3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402" y="10183105"/>
                <a:ext cx="0" cy="102591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584D07-73CA-46DE-9A0F-C73189E6E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40802" y="9906000"/>
                <a:ext cx="0" cy="13030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813A5E0-2086-4880-BBD9-8BAF545B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3202" y="9616440"/>
                <a:ext cx="0" cy="15925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5DEBD68-71BA-491B-8631-D2CB0248A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4560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5877C4-69EB-4926-B107-844DBA6B8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7300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9544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26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8901" y="1786268"/>
          <a:ext cx="1030931" cy="4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79360" progId="Equation.DSMT4">
                  <p:embed/>
                </p:oleObj>
              </mc:Choice>
              <mc:Fallback>
                <p:oleObj name="Equation" r:id="rId3" imgW="59688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901" y="1786268"/>
                        <a:ext cx="1030931" cy="476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266" y="2386066"/>
          <a:ext cx="3896429" cy="4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560" imgH="279360" progId="Equation.DSMT4">
                  <p:embed/>
                </p:oleObj>
              </mc:Choice>
              <mc:Fallback>
                <p:oleObj name="Equation" r:id="rId5" imgW="23745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2266" y="2386066"/>
                        <a:ext cx="3896429" cy="458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69" y="1393382"/>
            <a:ext cx="6307316" cy="2290111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918494" y="3539452"/>
            <a:ext cx="6898433" cy="2413001"/>
            <a:chOff x="1534367" y="4219199"/>
            <a:chExt cx="6898433" cy="241300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D30DF4-9448-464E-9AB1-DFB48F98D76D}"/>
                </a:ext>
              </a:extLst>
            </p:cNvPr>
            <p:cNvSpPr txBox="1"/>
            <p:nvPr/>
          </p:nvSpPr>
          <p:spPr>
            <a:xfrm>
              <a:off x="4968989" y="4368111"/>
              <a:ext cx="346381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① 抽样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② 选出产生较小值的区间</a:t>
              </a:r>
              <a:endParaRPr lang="en-US" altLang="zh-CN" sz="2000" dirty="0"/>
            </a:p>
            <a:p>
              <a:endParaRPr lang="en-US" altLang="zh-CN" sz="2000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04136E9-38D2-490E-AD2C-AAB02FCB4ED6}"/>
                </a:ext>
              </a:extLst>
            </p:cNvPr>
            <p:cNvGrpSpPr/>
            <p:nvPr/>
          </p:nvGrpSpPr>
          <p:grpSpPr>
            <a:xfrm>
              <a:off x="1534367" y="4219199"/>
              <a:ext cx="3124504" cy="2413001"/>
              <a:chOff x="14413314" y="7479976"/>
              <a:chExt cx="5137060" cy="4187107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36E9D73D-0B54-401B-A71E-5D7712A50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13314" y="7479976"/>
                <a:ext cx="5137060" cy="4187107"/>
              </a:xfrm>
              <a:prstGeom prst="rect">
                <a:avLst/>
              </a:prstGeom>
            </p:spPr>
          </p:pic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DD673C1-A9B7-4849-87E8-5C30BA0FE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1631" y="8187863"/>
                <a:ext cx="0" cy="30211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F3815B9-7E28-414B-8059-92ED9D8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85182" y="8340263"/>
                <a:ext cx="0" cy="28687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91227AC-E127-4D95-8DEA-88EDDAC69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7582" y="8613445"/>
                <a:ext cx="0" cy="259557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3366822-419D-46BD-86AE-1C5E03B33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89982" y="8839200"/>
                <a:ext cx="0" cy="23698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0DC0B91-B76B-4E61-B975-62EA643C5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42382" y="8991600"/>
                <a:ext cx="0" cy="22174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3BF58DA-FA58-4BA9-8C63-BA472C72C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94782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AF25450-9B2D-425F-BEE4-0BED95D0E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4718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F2CA450-EA72-4C1D-A0CF-361F83219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07202" y="9529471"/>
                <a:ext cx="0" cy="1679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30C0A3E-69F7-4464-B932-71A4A642B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59602" y="9681871"/>
                <a:ext cx="0" cy="15271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8792507-ECB9-48AC-A2CF-EF514616A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12002" y="9834271"/>
                <a:ext cx="0" cy="13747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9FB5753-C4F1-4075-B58D-051822209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64402" y="9986671"/>
                <a:ext cx="0" cy="12223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A8BEA49-3AA4-4F14-BE90-662758926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16802" y="10139071"/>
                <a:ext cx="0" cy="10699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DDE5961-0258-4CFD-A4F5-1291F2E1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2AE9E30-6029-443A-A5E8-B79A3B68F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21602" y="10599420"/>
                <a:ext cx="0" cy="60960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1EBF1C0-FDB9-4E12-ABFA-F8AD4C857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74002" y="10957560"/>
                <a:ext cx="0" cy="25146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812635A-D9F0-42B1-9909-508F10CD0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402" y="10736580"/>
                <a:ext cx="0" cy="4724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219FD76-398D-4A84-9B76-A6F0B6304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8802" y="10469880"/>
                <a:ext cx="0" cy="7391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833BBA8-A47D-414B-A599-C59AF8323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1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581D8F8-1E2E-42EE-9CC2-703D7ECCD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36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9F69023-C6F1-4A32-BFFD-E0D1E9C3C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360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B268307-47BA-4C10-BF09-86A836C3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402" y="10183105"/>
                <a:ext cx="0" cy="102591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584D07-73CA-46DE-9A0F-C73189E6E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40802" y="9906000"/>
                <a:ext cx="0" cy="13030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813A5E0-2086-4880-BBD9-8BAF545B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3202" y="9616440"/>
                <a:ext cx="0" cy="15925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5DEBD68-71BA-491B-8631-D2CB0248A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4560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5877C4-69EB-4926-B107-844DBA6B8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7300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右箭头 35"/>
            <p:cNvSpPr/>
            <p:nvPr/>
          </p:nvSpPr>
          <p:spPr>
            <a:xfrm rot="5400000">
              <a:off x="5618234" y="4768394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5163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27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8901" y="1786268"/>
          <a:ext cx="1030931" cy="4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79360" progId="Equation.DSMT4">
                  <p:embed/>
                </p:oleObj>
              </mc:Choice>
              <mc:Fallback>
                <p:oleObj name="Equation" r:id="rId3" imgW="59688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901" y="1786268"/>
                        <a:ext cx="1030931" cy="476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266" y="2386066"/>
          <a:ext cx="3896429" cy="4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560" imgH="279360" progId="Equation.DSMT4">
                  <p:embed/>
                </p:oleObj>
              </mc:Choice>
              <mc:Fallback>
                <p:oleObj name="Equation" r:id="rId5" imgW="23745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2266" y="2386066"/>
                        <a:ext cx="3896429" cy="458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69" y="1393382"/>
            <a:ext cx="6307316" cy="2290111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918494" y="3539452"/>
            <a:ext cx="6898433" cy="2413001"/>
            <a:chOff x="1534367" y="4219199"/>
            <a:chExt cx="6898433" cy="241300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D30DF4-9448-464E-9AB1-DFB48F98D76D}"/>
                </a:ext>
              </a:extLst>
            </p:cNvPr>
            <p:cNvSpPr txBox="1"/>
            <p:nvPr/>
          </p:nvSpPr>
          <p:spPr>
            <a:xfrm>
              <a:off x="4968989" y="4368111"/>
              <a:ext cx="346381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① 抽样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② 选出产生较小值的区间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③ 随机再选择一些其他点，避免抽样间隔导致落入局部最优点的问题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04136E9-38D2-490E-AD2C-AAB02FCB4ED6}"/>
                </a:ext>
              </a:extLst>
            </p:cNvPr>
            <p:cNvGrpSpPr/>
            <p:nvPr/>
          </p:nvGrpSpPr>
          <p:grpSpPr>
            <a:xfrm>
              <a:off x="1534367" y="4219199"/>
              <a:ext cx="3124504" cy="2413001"/>
              <a:chOff x="14413314" y="7479976"/>
              <a:chExt cx="5137060" cy="4187107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36E9D73D-0B54-401B-A71E-5D7712A50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13314" y="7479976"/>
                <a:ext cx="5137060" cy="4187107"/>
              </a:xfrm>
              <a:prstGeom prst="rect">
                <a:avLst/>
              </a:prstGeom>
            </p:spPr>
          </p:pic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DD673C1-A9B7-4849-87E8-5C30BA0FE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1631" y="8187863"/>
                <a:ext cx="0" cy="30211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F3815B9-7E28-414B-8059-92ED9D8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85182" y="8340263"/>
                <a:ext cx="0" cy="28687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91227AC-E127-4D95-8DEA-88EDDAC69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7582" y="8613445"/>
                <a:ext cx="0" cy="259557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3366822-419D-46BD-86AE-1C5E03B33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89982" y="8839200"/>
                <a:ext cx="0" cy="23698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0DC0B91-B76B-4E61-B975-62EA643C5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42382" y="8991600"/>
                <a:ext cx="0" cy="22174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3BF58DA-FA58-4BA9-8C63-BA472C72C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94782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AF25450-9B2D-425F-BEE4-0BED95D0E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4718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F2CA450-EA72-4C1D-A0CF-361F83219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07202" y="9529471"/>
                <a:ext cx="0" cy="1679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30C0A3E-69F7-4464-B932-71A4A642B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59602" y="9681871"/>
                <a:ext cx="0" cy="15271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8792507-ECB9-48AC-A2CF-EF514616A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12002" y="9834271"/>
                <a:ext cx="0" cy="13747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9FB5753-C4F1-4075-B58D-051822209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64402" y="9986671"/>
                <a:ext cx="0" cy="12223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A8BEA49-3AA4-4F14-BE90-662758926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16802" y="10139071"/>
                <a:ext cx="0" cy="10699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DDE5961-0258-4CFD-A4F5-1291F2E1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2AE9E30-6029-443A-A5E8-B79A3B68F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21602" y="10599420"/>
                <a:ext cx="0" cy="60960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1EBF1C0-FDB9-4E12-ABFA-F8AD4C857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74002" y="10957560"/>
                <a:ext cx="0" cy="25146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812635A-D9F0-42B1-9909-508F10CD0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402" y="10736580"/>
                <a:ext cx="0" cy="4724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219FD76-398D-4A84-9B76-A6F0B6304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8802" y="10469880"/>
                <a:ext cx="0" cy="7391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833BBA8-A47D-414B-A599-C59AF8323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1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581D8F8-1E2E-42EE-9CC2-703D7ECCD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36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9F69023-C6F1-4A32-BFFD-E0D1E9C3C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360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B268307-47BA-4C10-BF09-86A836C3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402" y="10183105"/>
                <a:ext cx="0" cy="102591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584D07-73CA-46DE-9A0F-C73189E6E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40802" y="9906000"/>
                <a:ext cx="0" cy="13030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813A5E0-2086-4880-BBD9-8BAF545B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3202" y="9616440"/>
                <a:ext cx="0" cy="15925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5DEBD68-71BA-491B-8631-D2CB0248A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4560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5877C4-69EB-4926-B107-844DBA6B8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7300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右箭头 35"/>
            <p:cNvSpPr/>
            <p:nvPr/>
          </p:nvSpPr>
          <p:spPr>
            <a:xfrm rot="5400000">
              <a:off x="5618234" y="4768394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右箭头 36"/>
            <p:cNvSpPr/>
            <p:nvPr/>
          </p:nvSpPr>
          <p:spPr>
            <a:xfrm rot="5400000">
              <a:off x="5618234" y="5400268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左弧形 8989">
              <a:extLst>
                <a:ext uri="{FF2B5EF4-FFF2-40B4-BE49-F238E27FC236}">
                  <a16:creationId xmlns:a16="http://schemas.microsoft.com/office/drawing/2014/main" id="{584E2515-10F7-4261-82CE-404D93892549}"/>
                </a:ext>
              </a:extLst>
            </p:cNvPr>
            <p:cNvSpPr/>
            <p:nvPr/>
          </p:nvSpPr>
          <p:spPr>
            <a:xfrm rot="10800000">
              <a:off x="8064500" y="4714973"/>
              <a:ext cx="368300" cy="189990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04136E9-38D2-490E-AD2C-AAB02FCB4ED6}"/>
              </a:ext>
            </a:extLst>
          </p:cNvPr>
          <p:cNvGrpSpPr/>
          <p:nvPr/>
        </p:nvGrpSpPr>
        <p:grpSpPr>
          <a:xfrm>
            <a:off x="8248727" y="3462764"/>
            <a:ext cx="3348180" cy="2691249"/>
            <a:chOff x="14413314" y="7479976"/>
            <a:chExt cx="5137060" cy="4187107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36E9D73D-0B54-401B-A71E-5D7712A50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3314" y="7479976"/>
              <a:ext cx="5137060" cy="4187107"/>
            </a:xfrm>
            <a:prstGeom prst="rect">
              <a:avLst/>
            </a:prstGeom>
          </p:spPr>
        </p:pic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DD673C1-A9B7-4849-87E8-5C30BA0FE2B8}"/>
                </a:ext>
              </a:extLst>
            </p:cNvPr>
            <p:cNvCxnSpPr>
              <a:cxnSpLocks/>
            </p:cNvCxnSpPr>
            <p:nvPr/>
          </p:nvCxnSpPr>
          <p:spPr>
            <a:xfrm>
              <a:off x="15251631" y="8187863"/>
              <a:ext cx="0" cy="3021157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3BF58DA-FA58-4BA9-8C63-BA472C72CB78}"/>
                </a:ext>
              </a:extLst>
            </p:cNvPr>
            <p:cNvCxnSpPr>
              <a:cxnSpLocks/>
            </p:cNvCxnSpPr>
            <p:nvPr/>
          </p:nvCxnSpPr>
          <p:spPr>
            <a:xfrm>
              <a:off x="16072724" y="9203229"/>
              <a:ext cx="0" cy="204531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F9FB5753-C4F1-4075-B58D-051822209748}"/>
                </a:ext>
              </a:extLst>
            </p:cNvPr>
            <p:cNvCxnSpPr>
              <a:cxnSpLocks/>
            </p:cNvCxnSpPr>
            <p:nvPr/>
          </p:nvCxnSpPr>
          <p:spPr>
            <a:xfrm>
              <a:off x="16861829" y="10006430"/>
              <a:ext cx="0" cy="1222349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B219FD76-398D-4A84-9B76-A6F0B6304942}"/>
                </a:ext>
              </a:extLst>
            </p:cNvPr>
            <p:cNvCxnSpPr>
              <a:cxnSpLocks/>
            </p:cNvCxnSpPr>
            <p:nvPr/>
          </p:nvCxnSpPr>
          <p:spPr>
            <a:xfrm>
              <a:off x="17774429" y="10358636"/>
              <a:ext cx="1800" cy="840991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B268307-47BA-4C10-BF09-86A836C3B1B2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402" y="10183105"/>
              <a:ext cx="0" cy="1025915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A5877C4-69EB-4926-B107-844DBA6B8DD0}"/>
                </a:ext>
              </a:extLst>
            </p:cNvPr>
            <p:cNvCxnSpPr>
              <a:cxnSpLocks/>
            </p:cNvCxnSpPr>
            <p:nvPr/>
          </p:nvCxnSpPr>
          <p:spPr>
            <a:xfrm>
              <a:off x="18818844" y="9163711"/>
              <a:ext cx="0" cy="204531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5955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8901" y="1786268"/>
          <a:ext cx="1030931" cy="4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79360" progId="Equation.DSMT4">
                  <p:embed/>
                </p:oleObj>
              </mc:Choice>
              <mc:Fallback>
                <p:oleObj name="Equation" r:id="rId3" imgW="59688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901" y="1786268"/>
                        <a:ext cx="1030931" cy="476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266" y="2386066"/>
          <a:ext cx="3896429" cy="4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560" imgH="279360" progId="Equation.DSMT4">
                  <p:embed/>
                </p:oleObj>
              </mc:Choice>
              <mc:Fallback>
                <p:oleObj name="Equation" r:id="rId5" imgW="23745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2266" y="2386066"/>
                        <a:ext cx="3896429" cy="458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69" y="1393382"/>
            <a:ext cx="6307316" cy="2290111"/>
          </a:xfrm>
          <a:prstGeom prst="rect">
            <a:avLst/>
          </a:prstGeom>
        </p:spPr>
      </p:pic>
      <p:cxnSp>
        <p:nvCxnSpPr>
          <p:cNvPr id="39" name="直接箭头连接符 38"/>
          <p:cNvCxnSpPr/>
          <p:nvPr/>
        </p:nvCxnSpPr>
        <p:spPr>
          <a:xfrm>
            <a:off x="6038927" y="3947402"/>
            <a:ext cx="26416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918494" y="3539452"/>
            <a:ext cx="10162333" cy="2413001"/>
            <a:chOff x="1534367" y="4219199"/>
            <a:chExt cx="10162333" cy="241300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D30DF4-9448-464E-9AB1-DFB48F98D76D}"/>
                </a:ext>
              </a:extLst>
            </p:cNvPr>
            <p:cNvSpPr txBox="1"/>
            <p:nvPr/>
          </p:nvSpPr>
          <p:spPr>
            <a:xfrm>
              <a:off x="4968989" y="4368111"/>
              <a:ext cx="346381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① 抽样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② 选出产生较小值的区间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③ 随机再选择一些其他点，避免抽样间隔导致落入局部最优点的问题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04136E9-38D2-490E-AD2C-AAB02FCB4ED6}"/>
                </a:ext>
              </a:extLst>
            </p:cNvPr>
            <p:cNvGrpSpPr/>
            <p:nvPr/>
          </p:nvGrpSpPr>
          <p:grpSpPr>
            <a:xfrm>
              <a:off x="1534367" y="4219199"/>
              <a:ext cx="3124504" cy="2413001"/>
              <a:chOff x="14413314" y="7479976"/>
              <a:chExt cx="5137060" cy="4187107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36E9D73D-0B54-401B-A71E-5D7712A50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13314" y="7479976"/>
                <a:ext cx="5137060" cy="4187107"/>
              </a:xfrm>
              <a:prstGeom prst="rect">
                <a:avLst/>
              </a:prstGeom>
            </p:spPr>
          </p:pic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DD673C1-A9B7-4849-87E8-5C30BA0FE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1631" y="8187863"/>
                <a:ext cx="0" cy="30211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F3815B9-7E28-414B-8059-92ED9D8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85182" y="8340263"/>
                <a:ext cx="0" cy="28687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91227AC-E127-4D95-8DEA-88EDDAC69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7582" y="8613445"/>
                <a:ext cx="0" cy="259557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3366822-419D-46BD-86AE-1C5E03B33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89982" y="8839200"/>
                <a:ext cx="0" cy="23698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0DC0B91-B76B-4E61-B975-62EA643C5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42382" y="8991600"/>
                <a:ext cx="0" cy="22174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3BF58DA-FA58-4BA9-8C63-BA472C72C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94782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AF25450-9B2D-425F-BEE4-0BED95D0E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4718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F2CA450-EA72-4C1D-A0CF-361F83219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07202" y="9529471"/>
                <a:ext cx="0" cy="1679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30C0A3E-69F7-4464-B932-71A4A642B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59602" y="9681871"/>
                <a:ext cx="0" cy="15271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8792507-ECB9-48AC-A2CF-EF514616A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12002" y="9834271"/>
                <a:ext cx="0" cy="13747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9FB5753-C4F1-4075-B58D-051822209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64402" y="9986671"/>
                <a:ext cx="0" cy="12223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A8BEA49-3AA4-4F14-BE90-662758926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16802" y="10139071"/>
                <a:ext cx="0" cy="10699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DDE5961-0258-4CFD-A4F5-1291F2E1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2AE9E30-6029-443A-A5E8-B79A3B68F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21602" y="10599420"/>
                <a:ext cx="0" cy="60960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1EBF1C0-FDB9-4E12-ABFA-F8AD4C857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74002" y="10957560"/>
                <a:ext cx="0" cy="25146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812635A-D9F0-42B1-9909-508F10CD0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402" y="10736580"/>
                <a:ext cx="0" cy="4724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219FD76-398D-4A84-9B76-A6F0B6304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8802" y="10469880"/>
                <a:ext cx="0" cy="7391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833BBA8-A47D-414B-A599-C59AF8323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1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581D8F8-1E2E-42EE-9CC2-703D7ECCD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36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9F69023-C6F1-4A32-BFFD-E0D1E9C3C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360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B268307-47BA-4C10-BF09-86A836C3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402" y="10183105"/>
                <a:ext cx="0" cy="102591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584D07-73CA-46DE-9A0F-C73189E6E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40802" y="9906000"/>
                <a:ext cx="0" cy="13030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813A5E0-2086-4880-BBD9-8BAF545B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3202" y="9616440"/>
                <a:ext cx="0" cy="15925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5DEBD68-71BA-491B-8631-D2CB0248A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4560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5877C4-69EB-4926-B107-844DBA6B8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7300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右箭头 35"/>
            <p:cNvSpPr/>
            <p:nvPr/>
          </p:nvSpPr>
          <p:spPr>
            <a:xfrm rot="5400000">
              <a:off x="5618234" y="4768394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右箭头 36"/>
            <p:cNvSpPr/>
            <p:nvPr/>
          </p:nvSpPr>
          <p:spPr>
            <a:xfrm rot="5400000">
              <a:off x="5618234" y="5400268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左弧形 8989">
              <a:extLst>
                <a:ext uri="{FF2B5EF4-FFF2-40B4-BE49-F238E27FC236}">
                  <a16:creationId xmlns:a16="http://schemas.microsoft.com/office/drawing/2014/main" id="{584E2515-10F7-4261-82CE-404D93892549}"/>
                </a:ext>
              </a:extLst>
            </p:cNvPr>
            <p:cNvSpPr/>
            <p:nvPr/>
          </p:nvSpPr>
          <p:spPr>
            <a:xfrm rot="10800000">
              <a:off x="8064500" y="4714973"/>
              <a:ext cx="368300" cy="189990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296400" y="4391197"/>
              <a:ext cx="1816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自然选择 </a:t>
              </a:r>
              <a:r>
                <a:rPr lang="en-US" altLang="zh-CN" dirty="0"/>
                <a:t>Select</a:t>
              </a:r>
              <a:endParaRPr lang="zh-CN" altLang="en-US" dirty="0"/>
            </a:p>
          </p:txBody>
        </p:sp>
        <p:cxnSp>
          <p:nvCxnSpPr>
            <p:cNvPr id="41" name="直接箭头连接符 40"/>
            <p:cNvCxnSpPr/>
            <p:nvPr/>
          </p:nvCxnSpPr>
          <p:spPr>
            <a:xfrm>
              <a:off x="8064500" y="5189524"/>
              <a:ext cx="1231900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9309100" y="4988428"/>
              <a:ext cx="237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产生下一代 </a:t>
              </a:r>
              <a:r>
                <a:rPr lang="en-US" altLang="zh-CN" dirty="0"/>
                <a:t>Crossover</a:t>
              </a:r>
              <a:endParaRPr lang="zh-CN" altLang="en-US" dirty="0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8077200" y="6016913"/>
              <a:ext cx="1231900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9321800" y="5839444"/>
              <a:ext cx="237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部分变异</a:t>
              </a:r>
              <a:r>
                <a:rPr lang="en-US" altLang="zh-CN" dirty="0"/>
                <a:t> Mutation</a:t>
              </a:r>
              <a:endParaRPr lang="zh-CN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9321800" y="4368111"/>
              <a:ext cx="2374900" cy="185519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1033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29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349963"/>
              </p:ext>
            </p:extLst>
          </p:nvPr>
        </p:nvGraphicFramePr>
        <p:xfrm>
          <a:off x="1018901" y="1786268"/>
          <a:ext cx="1030931" cy="4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79360" progId="Equation.DSMT4">
                  <p:embed/>
                </p:oleObj>
              </mc:Choice>
              <mc:Fallback>
                <p:oleObj name="Equation" r:id="rId3" imgW="596880" imgH="2793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901" y="1786268"/>
                        <a:ext cx="1030931" cy="476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339682"/>
              </p:ext>
            </p:extLst>
          </p:nvPr>
        </p:nvGraphicFramePr>
        <p:xfrm>
          <a:off x="1062266" y="2386066"/>
          <a:ext cx="3896429" cy="45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74560" imgH="279360" progId="Equation.DSMT4">
                  <p:embed/>
                </p:oleObj>
              </mc:Choice>
              <mc:Fallback>
                <p:oleObj name="Equation" r:id="rId5" imgW="237456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2266" y="2386066"/>
                        <a:ext cx="3896429" cy="458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69" y="1393382"/>
            <a:ext cx="6307316" cy="2290111"/>
          </a:xfrm>
          <a:prstGeom prst="rect">
            <a:avLst/>
          </a:prstGeom>
        </p:spPr>
      </p:pic>
      <p:cxnSp>
        <p:nvCxnSpPr>
          <p:cNvPr id="39" name="直接箭头连接符 38"/>
          <p:cNvCxnSpPr/>
          <p:nvPr/>
        </p:nvCxnSpPr>
        <p:spPr>
          <a:xfrm>
            <a:off x="6038927" y="3947402"/>
            <a:ext cx="26416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918494" y="3539452"/>
            <a:ext cx="11062388" cy="2542805"/>
            <a:chOff x="1534367" y="4219199"/>
            <a:chExt cx="11062388" cy="254280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D30DF4-9448-464E-9AB1-DFB48F98D76D}"/>
                </a:ext>
              </a:extLst>
            </p:cNvPr>
            <p:cNvSpPr txBox="1"/>
            <p:nvPr/>
          </p:nvSpPr>
          <p:spPr>
            <a:xfrm>
              <a:off x="4968989" y="4368111"/>
              <a:ext cx="346381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① 抽样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② 选出产生较小值的区间</a:t>
              </a:r>
              <a:endParaRPr lang="en-US" altLang="zh-CN" sz="2000" dirty="0"/>
            </a:p>
            <a:p>
              <a:endParaRPr lang="en-US" altLang="zh-CN" sz="2000" dirty="0"/>
            </a:p>
            <a:p>
              <a:r>
                <a:rPr lang="zh-CN" altLang="en-US" sz="2000" dirty="0"/>
                <a:t>③ 随机再选择一些其他点，避免抽样间隔导致落入局部最优点的问题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04136E9-38D2-490E-AD2C-AAB02FCB4ED6}"/>
                </a:ext>
              </a:extLst>
            </p:cNvPr>
            <p:cNvGrpSpPr/>
            <p:nvPr/>
          </p:nvGrpSpPr>
          <p:grpSpPr>
            <a:xfrm>
              <a:off x="1534367" y="4219199"/>
              <a:ext cx="3124504" cy="2413001"/>
              <a:chOff x="14413314" y="7479976"/>
              <a:chExt cx="5137060" cy="4187107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36E9D73D-0B54-401B-A71E-5D7712A50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13314" y="7479976"/>
                <a:ext cx="5137060" cy="4187107"/>
              </a:xfrm>
              <a:prstGeom prst="rect">
                <a:avLst/>
              </a:prstGeom>
            </p:spPr>
          </p:pic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DD673C1-A9B7-4849-87E8-5C30BA0FE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51631" y="8187863"/>
                <a:ext cx="0" cy="30211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8F3815B9-7E28-414B-8059-92ED9D8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385182" y="8340263"/>
                <a:ext cx="0" cy="2868757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F91227AC-E127-4D95-8DEA-88EDDAC696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7582" y="8613445"/>
                <a:ext cx="0" cy="259557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3366822-419D-46BD-86AE-1C5E03B33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89982" y="8839200"/>
                <a:ext cx="0" cy="23698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0DC0B91-B76B-4E61-B975-62EA643C5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42382" y="8991600"/>
                <a:ext cx="0" cy="22174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3BF58DA-FA58-4BA9-8C63-BA472C72C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94782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AF25450-9B2D-425F-BEE4-0BED95D0E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4718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F2CA450-EA72-4C1D-A0CF-361F83219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07202" y="9529471"/>
                <a:ext cx="0" cy="1679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330C0A3E-69F7-4464-B932-71A4A642B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59602" y="9681871"/>
                <a:ext cx="0" cy="15271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88792507-ECB9-48AC-A2CF-EF514616A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12002" y="9834271"/>
                <a:ext cx="0" cy="13747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F9FB5753-C4F1-4075-B58D-051822209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64402" y="9986671"/>
                <a:ext cx="0" cy="12223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3A8BEA49-3AA4-4F14-BE90-6627589269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16802" y="10139071"/>
                <a:ext cx="0" cy="10699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DDE5961-0258-4CFD-A4F5-1291F2E12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69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2AE9E30-6029-443A-A5E8-B79A3B68F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21602" y="10599420"/>
                <a:ext cx="0" cy="60960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C1EBF1C0-FDB9-4E12-ABFA-F8AD4C8578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374002" y="10957560"/>
                <a:ext cx="0" cy="25146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1812635A-D9F0-42B1-9909-508F10CD0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26402" y="10736580"/>
                <a:ext cx="0" cy="4724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219FD76-398D-4A84-9B76-A6F0B6304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78802" y="10469880"/>
                <a:ext cx="0" cy="73914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B833BBA8-A47D-414B-A599-C59AF8323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31202" y="10291471"/>
                <a:ext cx="0" cy="91754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581D8F8-1E2E-42EE-9CC2-703D7ECCD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36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9F69023-C6F1-4A32-BFFD-E0D1E9C3C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36002" y="10232231"/>
                <a:ext cx="0" cy="97678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B268307-47BA-4C10-BF09-86A836C3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8402" y="10183105"/>
                <a:ext cx="0" cy="1025915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584D07-73CA-46DE-9A0F-C73189E6EC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40802" y="9906000"/>
                <a:ext cx="0" cy="130302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4813A5E0-2086-4880-BBD9-8BAF545B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93202" y="9616440"/>
                <a:ext cx="0" cy="15925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D5DEBD68-71BA-491B-8631-D2CB0248AF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45602" y="9387840"/>
                <a:ext cx="0" cy="1821180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A5877C4-69EB-4926-B107-844DBA6B8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7300" y="9163711"/>
                <a:ext cx="0" cy="2045309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右箭头 35"/>
            <p:cNvSpPr/>
            <p:nvPr/>
          </p:nvSpPr>
          <p:spPr>
            <a:xfrm rot="5400000">
              <a:off x="5618234" y="4768394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右箭头 36"/>
            <p:cNvSpPr/>
            <p:nvPr/>
          </p:nvSpPr>
          <p:spPr>
            <a:xfrm rot="5400000">
              <a:off x="5618234" y="5400268"/>
              <a:ext cx="239456" cy="22372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左弧形 8989">
              <a:extLst>
                <a:ext uri="{FF2B5EF4-FFF2-40B4-BE49-F238E27FC236}">
                  <a16:creationId xmlns:a16="http://schemas.microsoft.com/office/drawing/2014/main" id="{584E2515-10F7-4261-82CE-404D93892549}"/>
                </a:ext>
              </a:extLst>
            </p:cNvPr>
            <p:cNvSpPr/>
            <p:nvPr/>
          </p:nvSpPr>
          <p:spPr>
            <a:xfrm rot="10800000">
              <a:off x="8064500" y="4714973"/>
              <a:ext cx="368300" cy="1899905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296400" y="4391197"/>
              <a:ext cx="1816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自然选择 </a:t>
              </a:r>
              <a:r>
                <a:rPr lang="en-US" altLang="zh-CN" dirty="0"/>
                <a:t>Select</a:t>
              </a:r>
              <a:endParaRPr lang="zh-CN" altLang="en-US" dirty="0"/>
            </a:p>
          </p:txBody>
        </p:sp>
        <p:cxnSp>
          <p:nvCxnSpPr>
            <p:cNvPr id="41" name="直接箭头连接符 40"/>
            <p:cNvCxnSpPr/>
            <p:nvPr/>
          </p:nvCxnSpPr>
          <p:spPr>
            <a:xfrm>
              <a:off x="8064500" y="5189524"/>
              <a:ext cx="1231900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9309100" y="4988428"/>
              <a:ext cx="237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产生下一代 </a:t>
              </a:r>
              <a:r>
                <a:rPr lang="en-US" altLang="zh-CN" dirty="0"/>
                <a:t>Crossover</a:t>
              </a:r>
              <a:endParaRPr lang="zh-CN" altLang="en-US" dirty="0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8077200" y="6016913"/>
              <a:ext cx="1231900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9321800" y="5839444"/>
              <a:ext cx="237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部分变异</a:t>
              </a:r>
              <a:r>
                <a:rPr lang="en-US" altLang="zh-CN" dirty="0"/>
                <a:t> Mutation</a:t>
              </a:r>
              <a:endParaRPr lang="zh-CN" altLang="en-US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9321800" y="4368111"/>
              <a:ext cx="2206511" cy="185519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AF93E18-D398-4D82-B036-25276BF0BDB5}"/>
                </a:ext>
              </a:extLst>
            </p:cNvPr>
            <p:cNvSpPr txBox="1"/>
            <p:nvPr/>
          </p:nvSpPr>
          <p:spPr>
            <a:xfrm>
              <a:off x="8253355" y="5913823"/>
              <a:ext cx="4343400" cy="848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7150"/>
                </a:lnSpc>
              </a:pPr>
              <a:r>
                <a:rPr kumimoji="1" lang="zh-CN" altLang="en-US" sz="2000" b="1" dirty="0">
                  <a:solidFill>
                    <a:srgbClr val="C00000"/>
                  </a:solidFill>
                  <a:ea typeface="Alibaba PuHuiTi Regular" charset="-122"/>
                </a:rPr>
                <a:t>遗传类算法 </a:t>
              </a:r>
              <a:r>
                <a:rPr kumimoji="1" lang="en-US" altLang="zh-CN" sz="2000" b="1" dirty="0">
                  <a:solidFill>
                    <a:srgbClr val="C00000"/>
                  </a:solidFill>
                  <a:ea typeface="Alibaba PuHuiTi Regular" charset="-122"/>
                </a:rPr>
                <a:t>Genetic Algorithms</a:t>
              </a:r>
              <a:endParaRPr kumimoji="1" lang="zh-CN" altLang="en-US" sz="9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2998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随机优化 </a:t>
            </a:r>
            <a:r>
              <a:rPr lang="en-US" altLang="zh-CN" dirty="0">
                <a:latin typeface="+mn-ea"/>
                <a:ea typeface="+mn-ea"/>
              </a:rPr>
              <a:t>Stochastic Optimization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295590"/>
              </p:ext>
            </p:extLst>
          </p:nvPr>
        </p:nvGraphicFramePr>
        <p:xfrm>
          <a:off x="1812924" y="2351675"/>
          <a:ext cx="1870076" cy="613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291960" progId="Equation.DSMT4">
                  <p:embed/>
                </p:oleObj>
              </mc:Choice>
              <mc:Fallback>
                <p:oleObj name="Equation" r:id="rId2" imgW="876240" imgH="291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4" y="2351675"/>
                        <a:ext cx="1870076" cy="613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781112"/>
              </p:ext>
            </p:extLst>
          </p:nvPr>
        </p:nvGraphicFramePr>
        <p:xfrm>
          <a:off x="4025900" y="2237580"/>
          <a:ext cx="7327900" cy="59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16040" imgH="279360" progId="Equation.DSMT4">
                  <p:embed/>
                </p:oleObj>
              </mc:Choice>
              <mc:Fallback>
                <p:oleObj name="Equation" r:id="rId4" imgW="341604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25900" y="2237580"/>
                        <a:ext cx="7327900" cy="597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65200" y="1690688"/>
            <a:ext cx="4330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多元函数（多个参数需要确定）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63624" y="3164769"/>
            <a:ext cx="6302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对于人类而言，不能画图了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对于计算机而言，</a:t>
            </a:r>
            <a:r>
              <a:rPr lang="zh-CN" altLang="en-US" b="1" dirty="0">
                <a:solidFill>
                  <a:srgbClr val="C00000"/>
                </a:solidFill>
              </a:rPr>
              <a:t>逻辑不变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30DF4-9448-464E-9AB1-DFB48F98D76D}"/>
              </a:ext>
            </a:extLst>
          </p:cNvPr>
          <p:cNvSpPr txBox="1"/>
          <p:nvPr/>
        </p:nvSpPr>
        <p:spPr>
          <a:xfrm>
            <a:off x="2117916" y="4247164"/>
            <a:ext cx="34638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 抽样（随机找一大堆点）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② 选出产生较小值的区间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③ 随机再选择一些其他点，避免抽样间隔导致落入局部最优点的问题</a:t>
            </a:r>
          </a:p>
        </p:txBody>
      </p:sp>
      <p:sp>
        <p:nvSpPr>
          <p:cNvPr id="10" name="右箭头 9"/>
          <p:cNvSpPr/>
          <p:nvPr/>
        </p:nvSpPr>
        <p:spPr>
          <a:xfrm rot="5400000">
            <a:off x="2767161" y="4599301"/>
            <a:ext cx="239456" cy="2237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 rot="5400000">
            <a:off x="2767161" y="5183028"/>
            <a:ext cx="239456" cy="2237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左弧形 8989">
            <a:extLst>
              <a:ext uri="{FF2B5EF4-FFF2-40B4-BE49-F238E27FC236}">
                <a16:creationId xmlns:a16="http://schemas.microsoft.com/office/drawing/2014/main" id="{584E2515-10F7-4261-82CE-404D93892549}"/>
              </a:ext>
            </a:extLst>
          </p:cNvPr>
          <p:cNvSpPr/>
          <p:nvPr/>
        </p:nvSpPr>
        <p:spPr>
          <a:xfrm rot="10800000">
            <a:off x="5397577" y="4417303"/>
            <a:ext cx="368300" cy="189990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724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目录 </a:t>
            </a:r>
            <a:r>
              <a:rPr lang="en-US" altLang="zh-CN" b="1" dirty="0"/>
              <a:t>Content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随机优化</a:t>
            </a:r>
            <a:r>
              <a:rPr lang="en-US" altLang="zh-CN" sz="3200" b="1" dirty="0"/>
              <a:t> Stochastic Optimization</a:t>
            </a:r>
          </a:p>
          <a:p>
            <a:endParaRPr lang="en-US" altLang="zh-CN" sz="3200" b="1" dirty="0"/>
          </a:p>
          <a:p>
            <a:r>
              <a:rPr lang="zh-CN" altLang="en-US" sz="3200" b="1" dirty="0">
                <a:solidFill>
                  <a:srgbClr val="C00000"/>
                </a:solidFill>
              </a:rPr>
              <a:t>凸优化 </a:t>
            </a:r>
            <a:r>
              <a:rPr lang="en-US" altLang="zh-CN" sz="3200" b="1" dirty="0">
                <a:solidFill>
                  <a:srgbClr val="C00000"/>
                </a:solidFill>
              </a:rPr>
              <a:t>Convex Optimization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621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272D47D-D932-40F8-AC7A-336F41FEF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34" y="2181980"/>
            <a:ext cx="4474531" cy="3287732"/>
          </a:xfrm>
          <a:prstGeom prst="rect">
            <a:avLst/>
          </a:prstGeom>
        </p:spPr>
      </p:pic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FC45F3D-CFCC-44DD-9723-49D30EA58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876291"/>
              </p:ext>
            </p:extLst>
          </p:nvPr>
        </p:nvGraphicFramePr>
        <p:xfrm>
          <a:off x="1272901" y="2141460"/>
          <a:ext cx="1305199" cy="602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96880" imgH="279360" progId="Equation.DSMT4">
                  <p:embed/>
                </p:oleObj>
              </mc:Choice>
              <mc:Fallback>
                <p:oleObj name="Equation" r:id="rId4" imgW="59688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FC45F3D-CFCC-44DD-9723-49D30EA58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901" y="2141460"/>
                        <a:ext cx="1305199" cy="6029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9084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9800" y="1690688"/>
            <a:ext cx="476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用一个物理实验去求函数的最小值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272D47D-D932-40F8-AC7A-336F41FEF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34" y="2181980"/>
            <a:ext cx="4474531" cy="328773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34551" y="5555224"/>
            <a:ext cx="881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在一个如上图所示的</a:t>
            </a:r>
            <a:r>
              <a:rPr lang="zh-CN" altLang="en-US" dirty="0">
                <a:solidFill>
                  <a:srgbClr val="C00000"/>
                </a:solidFill>
              </a:rPr>
              <a:t>有摩擦力</a:t>
            </a:r>
            <a:r>
              <a:rPr lang="zh-CN" altLang="en-US" dirty="0"/>
              <a:t>的斜坡上，放一个小球</a:t>
            </a:r>
            <a:endParaRPr lang="en-US" altLang="zh-CN" dirty="0"/>
          </a:p>
        </p:txBody>
      </p:sp>
      <p:sp>
        <p:nvSpPr>
          <p:cNvPr id="13" name="椭圆 12"/>
          <p:cNvSpPr/>
          <p:nvPr/>
        </p:nvSpPr>
        <p:spPr>
          <a:xfrm>
            <a:off x="7180329" y="3016828"/>
            <a:ext cx="177800" cy="177800"/>
          </a:xfrm>
          <a:prstGeom prst="ellipse">
            <a:avLst/>
          </a:prstGeom>
          <a:solidFill>
            <a:srgbClr val="C000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546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9800" y="1690688"/>
            <a:ext cx="476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用一个物理实验去求函数的最小值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272D47D-D932-40F8-AC7A-336F41FEF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034" y="2181980"/>
            <a:ext cx="4474531" cy="328773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34551" y="5555224"/>
            <a:ext cx="881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在一个如上图所示的</a:t>
            </a:r>
            <a:r>
              <a:rPr lang="zh-CN" altLang="en-US" dirty="0">
                <a:solidFill>
                  <a:srgbClr val="C00000"/>
                </a:solidFill>
              </a:rPr>
              <a:t>有摩擦力</a:t>
            </a:r>
            <a:r>
              <a:rPr lang="zh-CN" altLang="en-US" dirty="0"/>
              <a:t>的斜坡上，放一个小球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由于重力影响，小球会自动往下滚，然后来回振荡，直到最后停到最低点</a:t>
            </a:r>
          </a:p>
        </p:txBody>
      </p:sp>
      <p:sp>
        <p:nvSpPr>
          <p:cNvPr id="13" name="椭圆 12"/>
          <p:cNvSpPr/>
          <p:nvPr/>
        </p:nvSpPr>
        <p:spPr>
          <a:xfrm>
            <a:off x="7180329" y="3016828"/>
            <a:ext cx="177800" cy="177800"/>
          </a:xfrm>
          <a:prstGeom prst="ellipse">
            <a:avLst/>
          </a:prstGeom>
          <a:solidFill>
            <a:srgbClr val="C000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6951729" y="3194628"/>
            <a:ext cx="228600" cy="36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5454233" y="4709793"/>
            <a:ext cx="177800" cy="177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122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68900" y="1579417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68900" y="1946042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考虑当前选择点的附近的一个小区间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8950" y="2425261"/>
          <a:ext cx="1901825" cy="45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53800" progId="Equation.DSMT4">
                  <p:embed/>
                </p:oleObj>
              </mc:Choice>
              <mc:Fallback>
                <p:oleObj name="Equation" r:id="rId2" imgW="1054080" imgH="2538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68950" y="2425261"/>
                        <a:ext cx="1901825" cy="457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126674" y="2976609"/>
            <a:ext cx="3478663" cy="2556002"/>
            <a:chOff x="971099" y="1267184"/>
            <a:chExt cx="3478663" cy="255600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10" name="椭圆 9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36560" imgH="253800" progId="Equation.DSMT4">
                    <p:embed/>
                  </p:oleObj>
                </mc:Choice>
                <mc:Fallback>
                  <p:oleObj name="Equation" r:id="rId5" imgW="736560" imgH="2538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5168900" y="3010664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如果在这个小区间内函数是</a:t>
            </a:r>
            <a:r>
              <a:rPr lang="zh-CN" altLang="en-US" dirty="0">
                <a:solidFill>
                  <a:srgbClr val="C00000"/>
                </a:solidFill>
              </a:rPr>
              <a:t>单调递增</a:t>
            </a:r>
            <a:r>
              <a:rPr lang="zh-CN" altLang="en-US" dirty="0"/>
              <a:t>的：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8950" y="3484058"/>
          <a:ext cx="3143250" cy="83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65080" imgH="469800" progId="Equation.DSMT4">
                  <p:embed/>
                </p:oleObj>
              </mc:Choice>
              <mc:Fallback>
                <p:oleObj name="Equation" r:id="rId7" imgW="1765080" imgH="469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68950" y="3484058"/>
                        <a:ext cx="3143250" cy="835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887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68900" y="1579417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68900" y="1946042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考虑当前选择点的附近的一个小区间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8950" y="2425261"/>
          <a:ext cx="1901825" cy="45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253800" progId="Equation.DSMT4">
                  <p:embed/>
                </p:oleObj>
              </mc:Choice>
              <mc:Fallback>
                <p:oleObj name="Equation" r:id="rId3" imgW="1054080" imgH="2538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68950" y="2425261"/>
                        <a:ext cx="1901825" cy="457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126674" y="2976609"/>
            <a:ext cx="3478663" cy="2556002"/>
            <a:chOff x="971099" y="1267184"/>
            <a:chExt cx="3478663" cy="255600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10" name="椭圆 9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36560" imgH="253800" progId="Equation.DSMT4">
                    <p:embed/>
                  </p:oleObj>
                </mc:Choice>
                <mc:Fallback>
                  <p:oleObj name="Equation" r:id="rId6" imgW="736560" imgH="2538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5168900" y="3010664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如果在这个小区间内函数是</a:t>
            </a:r>
            <a:r>
              <a:rPr lang="zh-CN" altLang="en-US" dirty="0">
                <a:solidFill>
                  <a:srgbClr val="C00000"/>
                </a:solidFill>
              </a:rPr>
              <a:t>单调递增</a:t>
            </a:r>
            <a:r>
              <a:rPr lang="zh-CN" altLang="en-US" dirty="0"/>
              <a:t>的：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8950" y="3484058"/>
          <a:ext cx="3143250" cy="83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469800" progId="Equation.DSMT4">
                  <p:embed/>
                </p:oleObj>
              </mc:Choice>
              <mc:Fallback>
                <p:oleObj name="Equation" r:id="rId8" imgW="1765080" imgH="469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68950" y="3484058"/>
                        <a:ext cx="3143250" cy="835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5297166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667500" y="5297166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568950" y="4553768"/>
            <a:ext cx="486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为了让下一步选择的函数值比当前值小，        应该在        左边：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44063" y="4494801"/>
          <a:ext cx="50323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228600" progId="Equation.DSMT4">
                  <p:embed/>
                </p:oleObj>
              </mc:Choice>
              <mc:Fallback>
                <p:oleObj name="Equation" r:id="rId12" imgW="25380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644063" y="4494801"/>
                        <a:ext cx="503237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6988" y="4774879"/>
          <a:ext cx="3270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28600" progId="Equation.DSMT4">
                  <p:embed/>
                </p:oleObj>
              </mc:Choice>
              <mc:Fallback>
                <p:oleObj name="Equation" r:id="rId14" imgW="16488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76988" y="4774879"/>
                        <a:ext cx="327025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2674" y="4790737"/>
          <a:ext cx="15589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320" imgH="228600" progId="Equation.DSMT4">
                  <p:embed/>
                </p:oleObj>
              </mc:Choice>
              <mc:Fallback>
                <p:oleObj name="Equation" r:id="rId16" imgW="787320" imgH="228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32674" y="4790737"/>
                        <a:ext cx="1558925" cy="452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06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68900" y="1579417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68900" y="1946042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考虑当前选择点的附近的一个小区间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406344"/>
              </p:ext>
            </p:extLst>
          </p:nvPr>
        </p:nvGraphicFramePr>
        <p:xfrm>
          <a:off x="5568950" y="2425261"/>
          <a:ext cx="1901825" cy="457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53800" progId="Equation.DSMT4">
                  <p:embed/>
                </p:oleObj>
              </mc:Choice>
              <mc:Fallback>
                <p:oleObj name="Equation" r:id="rId2" imgW="1054080" imgH="253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68950" y="2425261"/>
                        <a:ext cx="1901825" cy="457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126674" y="2976609"/>
            <a:ext cx="3478663" cy="2556002"/>
            <a:chOff x="971099" y="1267184"/>
            <a:chExt cx="3478663" cy="255600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10" name="椭圆 9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36560" imgH="253800" progId="Equation.DSMT4">
                    <p:embed/>
                  </p:oleObj>
                </mc:Choice>
                <mc:Fallback>
                  <p:oleObj name="Equation" r:id="rId5" imgW="736560" imgH="2538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/>
          <p:cNvSpPr txBox="1"/>
          <p:nvPr/>
        </p:nvSpPr>
        <p:spPr>
          <a:xfrm>
            <a:off x="5168900" y="3010664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如果在这个小区间内函数是</a:t>
            </a:r>
            <a:r>
              <a:rPr lang="zh-CN" altLang="en-US" dirty="0">
                <a:solidFill>
                  <a:srgbClr val="C00000"/>
                </a:solidFill>
              </a:rPr>
              <a:t>单调递增</a:t>
            </a:r>
            <a:r>
              <a:rPr lang="zh-CN" altLang="en-US" dirty="0"/>
              <a:t>的：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825199"/>
              </p:ext>
            </p:extLst>
          </p:nvPr>
        </p:nvGraphicFramePr>
        <p:xfrm>
          <a:off x="5568950" y="3484058"/>
          <a:ext cx="3143250" cy="835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65080" imgH="469800" progId="Equation.DSMT4">
                  <p:embed/>
                </p:oleObj>
              </mc:Choice>
              <mc:Fallback>
                <p:oleObj name="Equation" r:id="rId7" imgW="1765080" imgH="4698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68950" y="3484058"/>
                        <a:ext cx="3143250" cy="835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266590"/>
              </p:ext>
            </p:extLst>
          </p:nvPr>
        </p:nvGraphicFramePr>
        <p:xfrm>
          <a:off x="6667500" y="5297166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120" imgH="177480" progId="Equation.DSMT4">
                  <p:embed/>
                </p:oleObj>
              </mc:Choice>
              <mc:Fallback>
                <p:oleObj name="Equation" r:id="rId9" imgW="1141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67500" y="5297166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568950" y="4553768"/>
            <a:ext cx="486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为了让下一步选择的函数值比当前值小，        应该在        左边：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419233"/>
              </p:ext>
            </p:extLst>
          </p:nvPr>
        </p:nvGraphicFramePr>
        <p:xfrm>
          <a:off x="9644063" y="4494801"/>
          <a:ext cx="50323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28600" progId="Equation.DSMT4">
                  <p:embed/>
                </p:oleObj>
              </mc:Choice>
              <mc:Fallback>
                <p:oleObj name="Equation" r:id="rId11" imgW="253800" imgH="228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44063" y="4494801"/>
                        <a:ext cx="503237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804539"/>
              </p:ext>
            </p:extLst>
          </p:nvPr>
        </p:nvGraphicFramePr>
        <p:xfrm>
          <a:off x="6376988" y="4774879"/>
          <a:ext cx="3270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80" imgH="228600" progId="Equation.DSMT4">
                  <p:embed/>
                </p:oleObj>
              </mc:Choice>
              <mc:Fallback>
                <p:oleObj name="Equation" r:id="rId13" imgW="164880" imgH="228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76988" y="4774879"/>
                        <a:ext cx="327025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5168900" y="5448427"/>
            <a:ext cx="486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如果在这个小区间内函数是</a:t>
            </a:r>
            <a:r>
              <a:rPr lang="zh-CN" altLang="en-US" dirty="0">
                <a:solidFill>
                  <a:srgbClr val="C00000"/>
                </a:solidFill>
              </a:rPr>
              <a:t>单调递减</a:t>
            </a:r>
            <a:r>
              <a:rPr lang="zh-CN" altLang="en-US" dirty="0"/>
              <a:t>的：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018750"/>
              </p:ext>
            </p:extLst>
          </p:nvPr>
        </p:nvGraphicFramePr>
        <p:xfrm>
          <a:off x="7432674" y="4790737"/>
          <a:ext cx="15589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87320" imgH="228600" progId="Equation.DSMT4">
                  <p:embed/>
                </p:oleObj>
              </mc:Choice>
              <mc:Fallback>
                <p:oleObj name="Equation" r:id="rId15" imgW="787320" imgH="2286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32674" y="4790737"/>
                        <a:ext cx="1558925" cy="452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97161"/>
              </p:ext>
            </p:extLst>
          </p:nvPr>
        </p:nvGraphicFramePr>
        <p:xfrm>
          <a:off x="9555163" y="5400752"/>
          <a:ext cx="14827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49160" imgH="228600" progId="Equation.DSMT4">
                  <p:embed/>
                </p:oleObj>
              </mc:Choice>
              <mc:Fallback>
                <p:oleObj name="Equation" r:id="rId17" imgW="749160" imgH="2286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555163" y="5400752"/>
                        <a:ext cx="1482725" cy="452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7022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28629" y="1501309"/>
            <a:ext cx="621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在有导数工具之后，我们可以求一阶导数的方法代替差分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38200" y="2786167"/>
            <a:ext cx="3478663" cy="2556002"/>
            <a:chOff x="971099" y="1267184"/>
            <a:chExt cx="3478663" cy="255600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36560" imgH="253800" progId="Equation.DSMT4">
                    <p:embed/>
                  </p:oleObj>
                </mc:Choice>
                <mc:Fallback>
                  <p:oleObj name="Equation" r:id="rId3" imgW="736560" imgH="2538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6507" y="2218875"/>
          <a:ext cx="2432050" cy="64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469800" progId="Equation.DSMT4">
                  <p:embed/>
                </p:oleObj>
              </mc:Choice>
              <mc:Fallback>
                <p:oleObj name="Equation" r:id="rId5" imgW="1765080" imgH="469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6507" y="2218875"/>
                        <a:ext cx="2432050" cy="64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5041" y="3080732"/>
          <a:ext cx="51974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71720" imgH="419040" progId="Equation.DSMT4">
                  <p:embed/>
                </p:oleObj>
              </mc:Choice>
              <mc:Fallback>
                <p:oleObj name="Equation" r:id="rId7" imgW="3771720" imgH="419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5041" y="3080732"/>
                        <a:ext cx="5197475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355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28629" y="1501309"/>
            <a:ext cx="621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在有导数工具之后，我们可以求一阶导数的方法代替差分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38200" y="2786167"/>
            <a:ext cx="3478663" cy="2556002"/>
            <a:chOff x="971099" y="1267184"/>
            <a:chExt cx="3478663" cy="255600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36560" imgH="253800" progId="Equation.DSMT4">
                    <p:embed/>
                  </p:oleObj>
                </mc:Choice>
                <mc:Fallback>
                  <p:oleObj name="Equation" r:id="rId3" imgW="736560" imgH="2538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6507" y="2218875"/>
          <a:ext cx="2432050" cy="64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469800" progId="Equation.DSMT4">
                  <p:embed/>
                </p:oleObj>
              </mc:Choice>
              <mc:Fallback>
                <p:oleObj name="Equation" r:id="rId5" imgW="1765080" imgH="469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6507" y="2218875"/>
                        <a:ext cx="2432050" cy="64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5041" y="3080732"/>
          <a:ext cx="51974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71720" imgH="419040" progId="Equation.DSMT4">
                  <p:embed/>
                </p:oleObj>
              </mc:Choice>
              <mc:Fallback>
                <p:oleObj name="Equation" r:id="rId7" imgW="3771720" imgH="419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5041" y="3080732"/>
                        <a:ext cx="5197475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942928" y="3745216"/>
            <a:ext cx="6617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注意：</a:t>
            </a:r>
            <a:r>
              <a:rPr lang="zh-CN" altLang="en-US" dirty="0">
                <a:solidFill>
                  <a:srgbClr val="0070C0"/>
                </a:solidFill>
              </a:rPr>
              <a:t>实际问题中为了数值处理，有时候可以用差分代替导数。这两者在优化思想上没有本质区别，都是利用单调性</a:t>
            </a:r>
          </a:p>
        </p:txBody>
      </p:sp>
    </p:spTree>
    <p:extLst>
      <p:ext uri="{BB962C8B-B14F-4D97-AF65-F5344CB8AC3E}">
        <p14:creationId xmlns:p14="http://schemas.microsoft.com/office/powerpoint/2010/main" val="1764090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28629" y="1501309"/>
            <a:ext cx="621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在有导数工具之后，我们可以求一阶导数的方法代替差分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38200" y="2786167"/>
            <a:ext cx="3478663" cy="2556002"/>
            <a:chOff x="971099" y="1267184"/>
            <a:chExt cx="3478663" cy="255600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36560" imgH="253800" progId="Equation.DSMT4">
                    <p:embed/>
                  </p:oleObj>
                </mc:Choice>
                <mc:Fallback>
                  <p:oleObj name="Equation" r:id="rId3" imgW="736560" imgH="2538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6507" y="2218875"/>
          <a:ext cx="2432050" cy="64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469800" progId="Equation.DSMT4">
                  <p:embed/>
                </p:oleObj>
              </mc:Choice>
              <mc:Fallback>
                <p:oleObj name="Equation" r:id="rId5" imgW="1765080" imgH="469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6507" y="2218875"/>
                        <a:ext cx="2432050" cy="64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9026" y="5439236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77480" progId="Equation.DSMT4">
                  <p:embed/>
                </p:oleObj>
              </mc:Choice>
              <mc:Fallback>
                <p:oleObj name="Equation" r:id="rId7" imgW="114120" imgH="177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9026" y="5439236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5041" y="3080732"/>
          <a:ext cx="51974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71720" imgH="419040" progId="Equation.DSMT4">
                  <p:embed/>
                </p:oleObj>
              </mc:Choice>
              <mc:Fallback>
                <p:oleObj name="Equation" r:id="rId9" imgW="3771720" imgH="4190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5041" y="3080732"/>
                        <a:ext cx="5197475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942928" y="3745216"/>
            <a:ext cx="6617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注意：</a:t>
            </a:r>
            <a:r>
              <a:rPr lang="zh-CN" altLang="en-US" dirty="0">
                <a:solidFill>
                  <a:srgbClr val="0070C0"/>
                </a:solidFill>
              </a:rPr>
              <a:t>实际问题中为了数值处理，有时候可以用差分代替导数。这两者在优化思想上没有本质区别，都是利用单调性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6244" y="5192205"/>
          <a:ext cx="2128588" cy="7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9720" imgH="419040" progId="Equation.DSMT4">
                  <p:embed/>
                </p:oleObj>
              </mc:Choice>
              <mc:Fallback>
                <p:oleObj name="Equation" r:id="rId11" imgW="1269720" imgH="419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86244" y="5192205"/>
                        <a:ext cx="2128588" cy="70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963565" y="4564177"/>
            <a:ext cx="661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所以一个找下一步让函数值最小的点的一般方法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1776" y="5415194"/>
          <a:ext cx="11493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85800" imgH="203040" progId="Equation.DSMT4">
                  <p:embed/>
                </p:oleObj>
              </mc:Choice>
              <mc:Fallback>
                <p:oleObj name="Equation" r:id="rId13" imgW="685800" imgH="203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51776" y="5415194"/>
                        <a:ext cx="1149350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832926" y="5106139"/>
            <a:ext cx="3721100" cy="9045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9625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28629" y="1501309"/>
            <a:ext cx="621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回顾我们数学课上学的</a:t>
            </a:r>
            <a:r>
              <a:rPr lang="zh-CN" altLang="en-US" dirty="0">
                <a:solidFill>
                  <a:srgbClr val="C00000"/>
                </a:solidFill>
              </a:rPr>
              <a:t>单调性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在有导数工具之后，我们可以求一阶导数的方法代替差分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38200" y="2786167"/>
            <a:ext cx="3478663" cy="2556002"/>
            <a:chOff x="971099" y="1267184"/>
            <a:chExt cx="3478663" cy="255600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272D47D-D932-40F8-AC7A-336F41FEF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099" y="1267184"/>
              <a:ext cx="3478663" cy="2556002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3644900" y="2394133"/>
              <a:ext cx="114300" cy="145867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 flipH="1">
              <a:off x="35997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3828397" y="1346200"/>
              <a:ext cx="12700" cy="21463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2F0C7646-954B-4AED-983C-163CBABBB8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866" y="1939318"/>
            <a:ext cx="1241331" cy="427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36560" imgH="253800" progId="Equation.DSMT4">
                    <p:embed/>
                  </p:oleObj>
                </mc:Choice>
                <mc:Fallback>
                  <p:oleObj name="Equation" r:id="rId3" imgW="736560" imgH="2538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2F0C7646-954B-4AED-983C-163CBABBB8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68866" y="1939318"/>
                          <a:ext cx="1241331" cy="4270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40098"/>
              </p:ext>
            </p:extLst>
          </p:nvPr>
        </p:nvGraphicFramePr>
        <p:xfrm>
          <a:off x="5276507" y="2218875"/>
          <a:ext cx="2432050" cy="64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65080" imgH="469800" progId="Equation.DSMT4">
                  <p:embed/>
                </p:oleObj>
              </mc:Choice>
              <mc:Fallback>
                <p:oleObj name="Equation" r:id="rId5" imgW="1765080" imgH="4698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6507" y="2218875"/>
                        <a:ext cx="2432050" cy="64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742793"/>
              </p:ext>
            </p:extLst>
          </p:nvPr>
        </p:nvGraphicFramePr>
        <p:xfrm>
          <a:off x="6379026" y="5439236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77480" progId="Equation.DSMT4">
                  <p:embed/>
                </p:oleObj>
              </mc:Choice>
              <mc:Fallback>
                <p:oleObj name="Equation" r:id="rId7" imgW="1141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9026" y="5439236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118462"/>
              </p:ext>
            </p:extLst>
          </p:nvPr>
        </p:nvGraphicFramePr>
        <p:xfrm>
          <a:off x="5335041" y="3080732"/>
          <a:ext cx="51974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71720" imgH="419040" progId="Equation.DSMT4">
                  <p:embed/>
                </p:oleObj>
              </mc:Choice>
              <mc:Fallback>
                <p:oleObj name="Equation" r:id="rId9" imgW="3771720" imgH="41904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35041" y="3080732"/>
                        <a:ext cx="5197475" cy="576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942928" y="3745216"/>
            <a:ext cx="6617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注意：</a:t>
            </a:r>
            <a:r>
              <a:rPr lang="zh-CN" altLang="en-US" dirty="0">
                <a:solidFill>
                  <a:srgbClr val="0070C0"/>
                </a:solidFill>
              </a:rPr>
              <a:t>实际问题中为了数值处理，有时候可以用差分代替导数。这两者在优化思想上没有本质区别，都是利用单调性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588771"/>
              </p:ext>
            </p:extLst>
          </p:nvPr>
        </p:nvGraphicFramePr>
        <p:xfrm>
          <a:off x="5986244" y="5192205"/>
          <a:ext cx="2128588" cy="7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9720" imgH="419040" progId="Equation.DSMT4">
                  <p:embed/>
                </p:oleObj>
              </mc:Choice>
              <mc:Fallback>
                <p:oleObj name="Equation" r:id="rId11" imgW="1269720" imgH="4190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86244" y="5192205"/>
                        <a:ext cx="2128588" cy="70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4963565" y="4564177"/>
            <a:ext cx="661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所以一个找下一步让函数值最小的点的一般方法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66095"/>
              </p:ext>
            </p:extLst>
          </p:nvPr>
        </p:nvGraphicFramePr>
        <p:xfrm>
          <a:off x="8251776" y="5415194"/>
          <a:ext cx="11493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85800" imgH="203040" progId="Equation.DSMT4">
                  <p:embed/>
                </p:oleObj>
              </mc:Choice>
              <mc:Fallback>
                <p:oleObj name="Equation" r:id="rId13" imgW="685800" imgH="2030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51776" y="5415194"/>
                        <a:ext cx="1149350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832926" y="5106139"/>
            <a:ext cx="3721100" cy="9045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683201" y="6176397"/>
            <a:ext cx="451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梯度下降法（</a:t>
            </a:r>
            <a:r>
              <a:rPr lang="en-US" altLang="zh-CN" b="1" dirty="0">
                <a:solidFill>
                  <a:srgbClr val="C00000"/>
                </a:solidFill>
              </a:rPr>
              <a:t>Gradient Descent Method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881029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42</a:t>
            </a:fld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2490" y="2594709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2490" y="2594709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2347678"/>
          <a:ext cx="2128588" cy="7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708" y="2347678"/>
                        <a:ext cx="2128588" cy="70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5240" y="2570667"/>
          <a:ext cx="11493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040" progId="Equation.DSMT4">
                  <p:embed/>
                </p:oleObj>
              </mc:Choice>
              <mc:Fallback>
                <p:oleObj name="Equation" r:id="rId6" imgW="685800" imgH="203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55240" y="2570667"/>
                        <a:ext cx="1149350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91046" y="1447388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问题一：为什么叫梯度下降法（</a:t>
            </a:r>
            <a:r>
              <a:rPr lang="en-US" altLang="zh-CN" b="1" dirty="0">
                <a:solidFill>
                  <a:srgbClr val="C00000"/>
                </a:solidFill>
              </a:rPr>
              <a:t>Gradient Descent Method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91046" y="1893154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一元函数的上升</a:t>
            </a:r>
            <a:r>
              <a:rPr lang="en-US" altLang="zh-CN" dirty="0"/>
              <a:t>/</a:t>
            </a:r>
            <a:r>
              <a:rPr lang="zh-CN" altLang="en-US" dirty="0"/>
              <a:t>下降速度：导数</a:t>
            </a:r>
          </a:p>
        </p:txBody>
      </p:sp>
    </p:spTree>
    <p:extLst>
      <p:ext uri="{BB962C8B-B14F-4D97-AF65-F5344CB8AC3E}">
        <p14:creationId xmlns:p14="http://schemas.microsoft.com/office/powerpoint/2010/main" val="239118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43</a:t>
            </a:fld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2490" y="2594709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2490" y="2594709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2347678"/>
          <a:ext cx="2128588" cy="7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708" y="2347678"/>
                        <a:ext cx="2128588" cy="70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5240" y="2570667"/>
          <a:ext cx="11493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040" progId="Equation.DSMT4">
                  <p:embed/>
                </p:oleObj>
              </mc:Choice>
              <mc:Fallback>
                <p:oleObj name="Equation" r:id="rId6" imgW="685800" imgH="203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55240" y="2570667"/>
                        <a:ext cx="1149350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91046" y="1447388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问题一：为什么叫梯度下降法（</a:t>
            </a:r>
            <a:r>
              <a:rPr lang="en-US" altLang="zh-CN" b="1" dirty="0">
                <a:solidFill>
                  <a:srgbClr val="C00000"/>
                </a:solidFill>
              </a:rPr>
              <a:t>Gradient Descent Method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91046" y="1893154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一元函数的上升</a:t>
            </a:r>
            <a:r>
              <a:rPr lang="en-US" altLang="zh-CN" dirty="0"/>
              <a:t>/</a:t>
            </a:r>
            <a:r>
              <a:rPr lang="zh-CN" altLang="en-US" dirty="0"/>
              <a:t>下降速度：导数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91046" y="3101277"/>
            <a:ext cx="609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</a:rPr>
              <a:t>类比：多元</a:t>
            </a:r>
            <a:r>
              <a:rPr lang="zh-CN" altLang="en-US" dirty="0"/>
              <a:t>函数的最快上升</a:t>
            </a:r>
            <a:r>
              <a:rPr lang="en-US" altLang="zh-CN" dirty="0"/>
              <a:t>/</a:t>
            </a:r>
            <a:r>
              <a:rPr lang="zh-CN" altLang="en-US" dirty="0"/>
              <a:t>下降速度：</a:t>
            </a:r>
            <a:r>
              <a:rPr lang="zh-CN" altLang="en-US" b="1" dirty="0">
                <a:solidFill>
                  <a:srgbClr val="C00000"/>
                </a:solidFill>
              </a:rPr>
              <a:t>梯度 </a:t>
            </a:r>
            <a:r>
              <a:rPr lang="en-US" altLang="zh-CN" b="1" dirty="0">
                <a:solidFill>
                  <a:srgbClr val="C00000"/>
                </a:solidFill>
              </a:rPr>
              <a:t>Gradient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3560177"/>
          <a:ext cx="1023937" cy="429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400" imgH="203040" progId="Equation.DSMT4">
                  <p:embed/>
                </p:oleObj>
              </mc:Choice>
              <mc:Fallback>
                <p:oleObj name="Equation" r:id="rId8" imgW="482400" imgH="2030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9708" y="3560177"/>
                        <a:ext cx="1023937" cy="429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4027865"/>
          <a:ext cx="27209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457200" progId="Equation.DSMT4">
                  <p:embed/>
                </p:oleObj>
              </mc:Choice>
              <mc:Fallback>
                <p:oleObj name="Equation" r:id="rId10" imgW="1282680" imgH="4572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89708" y="4027865"/>
                        <a:ext cx="2720975" cy="96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550195" y="4027865"/>
            <a:ext cx="1360488" cy="9683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89708" y="5068177"/>
            <a:ext cx="609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这是个向量：可以理解为数组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② 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2490" y="5470546"/>
          <a:ext cx="457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393480" progId="Equation.DSMT4">
                  <p:embed/>
                </p:oleObj>
              </mc:Choice>
              <mc:Fallback>
                <p:oleObj name="Equation" r:id="rId12" imgW="215640" imgH="3934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2490" y="5470546"/>
                        <a:ext cx="457200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2077112" y="5669312"/>
            <a:ext cx="9167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偏导数，在</a:t>
            </a:r>
            <a:r>
              <a:rPr lang="en-US" altLang="zh-CN" b="1" dirty="0"/>
              <a:t>x</a:t>
            </a:r>
            <a:r>
              <a:rPr lang="zh-CN" altLang="en-US" b="1" dirty="0"/>
              <a:t>方向的导数，其他变量都看作固定的参数，只把</a:t>
            </a:r>
            <a:r>
              <a:rPr lang="en-US" altLang="zh-CN" b="1" dirty="0"/>
              <a:t>x</a:t>
            </a:r>
            <a:r>
              <a:rPr lang="zh-CN" altLang="en-US" b="1" dirty="0"/>
              <a:t>看作变量进行求导（差分）</a:t>
            </a:r>
            <a:endParaRPr lang="en-US" altLang="zh-CN" b="1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931" y="6112875"/>
          <a:ext cx="287813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253800" progId="Equation.DSMT4">
                  <p:embed/>
                </p:oleObj>
              </mc:Choice>
              <mc:Fallback>
                <p:oleObj name="Equation" r:id="rId14" imgW="1358640" imgH="2538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56931" y="6112875"/>
                        <a:ext cx="2878138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0389" y="5991507"/>
          <a:ext cx="15875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9160" imgH="393480" progId="Equation.DSMT4">
                  <p:embed/>
                </p:oleObj>
              </mc:Choice>
              <mc:Fallback>
                <p:oleObj name="Equation" r:id="rId16" imgW="749160" imgH="3934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50389" y="5991507"/>
                        <a:ext cx="1587500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8780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44</a:t>
            </a:fld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2490" y="2594709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2490" y="2594709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2347678"/>
          <a:ext cx="2128588" cy="7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708" y="2347678"/>
                        <a:ext cx="2128588" cy="70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5240" y="2570667"/>
          <a:ext cx="11493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040" progId="Equation.DSMT4">
                  <p:embed/>
                </p:oleObj>
              </mc:Choice>
              <mc:Fallback>
                <p:oleObj name="Equation" r:id="rId6" imgW="685800" imgH="203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55240" y="2570667"/>
                        <a:ext cx="1149350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91046" y="1447388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问题一：为什么叫梯度下降法（</a:t>
            </a:r>
            <a:r>
              <a:rPr lang="en-US" altLang="zh-CN" b="1" dirty="0">
                <a:solidFill>
                  <a:srgbClr val="C00000"/>
                </a:solidFill>
              </a:rPr>
              <a:t>Gradient Descent Method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91046" y="1893154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一元函数的上升</a:t>
            </a:r>
            <a:r>
              <a:rPr lang="en-US" altLang="zh-CN" dirty="0"/>
              <a:t>/</a:t>
            </a:r>
            <a:r>
              <a:rPr lang="zh-CN" altLang="en-US" dirty="0"/>
              <a:t>下降速度：导数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91046" y="3101277"/>
            <a:ext cx="609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</a:rPr>
              <a:t>类比：多元</a:t>
            </a:r>
            <a:r>
              <a:rPr lang="zh-CN" altLang="en-US" dirty="0"/>
              <a:t>函数的最快上升</a:t>
            </a:r>
            <a:r>
              <a:rPr lang="en-US" altLang="zh-CN" dirty="0"/>
              <a:t>/</a:t>
            </a:r>
            <a:r>
              <a:rPr lang="zh-CN" altLang="en-US" dirty="0"/>
              <a:t>下降速度：</a:t>
            </a:r>
            <a:r>
              <a:rPr lang="zh-CN" altLang="en-US" b="1" dirty="0">
                <a:solidFill>
                  <a:srgbClr val="C00000"/>
                </a:solidFill>
              </a:rPr>
              <a:t>梯度 </a:t>
            </a:r>
            <a:r>
              <a:rPr lang="en-US" altLang="zh-CN" b="1" dirty="0">
                <a:solidFill>
                  <a:srgbClr val="C00000"/>
                </a:solidFill>
              </a:rPr>
              <a:t>Gradient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3560177"/>
          <a:ext cx="1023937" cy="429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400" imgH="203040" progId="Equation.DSMT4">
                  <p:embed/>
                </p:oleObj>
              </mc:Choice>
              <mc:Fallback>
                <p:oleObj name="Equation" r:id="rId8" imgW="482400" imgH="2030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9708" y="3560177"/>
                        <a:ext cx="1023937" cy="429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9708" y="4027865"/>
          <a:ext cx="27209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457200" progId="Equation.DSMT4">
                  <p:embed/>
                </p:oleObj>
              </mc:Choice>
              <mc:Fallback>
                <p:oleObj name="Equation" r:id="rId10" imgW="1282680" imgH="4572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89708" y="4027865"/>
                        <a:ext cx="2720975" cy="96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550195" y="4027865"/>
            <a:ext cx="1360488" cy="9683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89708" y="5068177"/>
            <a:ext cx="609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这是个向量：可以理解为数组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② 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2490" y="5470546"/>
          <a:ext cx="457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393480" progId="Equation.DSMT4">
                  <p:embed/>
                </p:oleObj>
              </mc:Choice>
              <mc:Fallback>
                <p:oleObj name="Equation" r:id="rId12" imgW="215640" imgH="3934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2490" y="5470546"/>
                        <a:ext cx="457200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2077112" y="5669312"/>
            <a:ext cx="9167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偏导数，在</a:t>
            </a:r>
            <a:r>
              <a:rPr lang="en-US" altLang="zh-CN" b="1" dirty="0"/>
              <a:t>x</a:t>
            </a:r>
            <a:r>
              <a:rPr lang="zh-CN" altLang="en-US" b="1" dirty="0"/>
              <a:t>方向的导数，其他变量都看作固定的参数，只把</a:t>
            </a:r>
            <a:r>
              <a:rPr lang="en-US" altLang="zh-CN" b="1" dirty="0"/>
              <a:t>x</a:t>
            </a:r>
            <a:r>
              <a:rPr lang="zh-CN" altLang="en-US" b="1" dirty="0"/>
              <a:t>看作变量进行求导（差分）</a:t>
            </a:r>
            <a:endParaRPr lang="en-US" altLang="zh-CN" b="1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931" y="6112875"/>
          <a:ext cx="287813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253800" progId="Equation.DSMT4">
                  <p:embed/>
                </p:oleObj>
              </mc:Choice>
              <mc:Fallback>
                <p:oleObj name="Equation" r:id="rId14" imgW="1358640" imgH="2538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56931" y="6112875"/>
                        <a:ext cx="2878138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0389" y="5991507"/>
          <a:ext cx="15875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9160" imgH="393480" progId="Equation.DSMT4">
                  <p:embed/>
                </p:oleObj>
              </mc:Choice>
              <mc:Fallback>
                <p:oleObj name="Equation" r:id="rId16" imgW="749160" imgH="3934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50389" y="5991507"/>
                        <a:ext cx="1587500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/>
          <p:cNvGrpSpPr/>
          <p:nvPr/>
        </p:nvGrpSpPr>
        <p:grpSpPr>
          <a:xfrm>
            <a:off x="6524814" y="1928314"/>
            <a:ext cx="3401518" cy="2398740"/>
            <a:chOff x="6148882" y="1716060"/>
            <a:chExt cx="4663734" cy="31579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810A0C8D-304E-47A0-B0E4-80F03FA5D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8882" y="1716060"/>
              <a:ext cx="4663734" cy="3157954"/>
            </a:xfrm>
            <a:prstGeom prst="rect">
              <a:avLst/>
            </a:prstGeom>
          </p:spPr>
        </p:pic>
        <p:cxnSp>
          <p:nvCxnSpPr>
            <p:cNvPr id="37" name="直接箭头连接符 36"/>
            <p:cNvCxnSpPr/>
            <p:nvPr/>
          </p:nvCxnSpPr>
          <p:spPr>
            <a:xfrm flipH="1">
              <a:off x="9867900" y="2446853"/>
              <a:ext cx="190500" cy="4300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H="1">
              <a:off x="9512300" y="2876870"/>
              <a:ext cx="355600" cy="369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H="1">
              <a:off x="9130755" y="3246202"/>
              <a:ext cx="381545" cy="5002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H="1">
              <a:off x="8890000" y="3746500"/>
              <a:ext cx="240755" cy="266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H="1">
              <a:off x="8610600" y="4013200"/>
              <a:ext cx="279400" cy="2413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6890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45</a:t>
            </a:fld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919157"/>
              </p:ext>
            </p:extLst>
          </p:nvPr>
        </p:nvGraphicFramePr>
        <p:xfrm>
          <a:off x="1582490" y="2594709"/>
          <a:ext cx="2270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2490" y="2594709"/>
                        <a:ext cx="227012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116513"/>
              </p:ext>
            </p:extLst>
          </p:nvPr>
        </p:nvGraphicFramePr>
        <p:xfrm>
          <a:off x="1189708" y="2347678"/>
          <a:ext cx="2128588" cy="7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708" y="2347678"/>
                        <a:ext cx="2128588" cy="704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037530"/>
              </p:ext>
            </p:extLst>
          </p:nvPr>
        </p:nvGraphicFramePr>
        <p:xfrm>
          <a:off x="3455240" y="2570667"/>
          <a:ext cx="11493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03040" progId="Equation.DSMT4">
                  <p:embed/>
                </p:oleObj>
              </mc:Choice>
              <mc:Fallback>
                <p:oleObj name="Equation" r:id="rId6" imgW="685800" imgH="2030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55240" y="2570667"/>
                        <a:ext cx="1149350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691046" y="1447388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问题一：为什么叫梯度下降法（</a:t>
            </a:r>
            <a:r>
              <a:rPr lang="en-US" altLang="zh-CN" b="1" dirty="0">
                <a:solidFill>
                  <a:srgbClr val="C00000"/>
                </a:solidFill>
              </a:rPr>
              <a:t>Gradient Descent Method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91046" y="1893154"/>
            <a:ext cx="405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一元函数的上升</a:t>
            </a:r>
            <a:r>
              <a:rPr lang="en-US" altLang="zh-CN" dirty="0"/>
              <a:t>/</a:t>
            </a:r>
            <a:r>
              <a:rPr lang="zh-CN" altLang="en-US" dirty="0"/>
              <a:t>下降速度：导数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91046" y="3101277"/>
            <a:ext cx="609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</a:rPr>
              <a:t>类比：多元</a:t>
            </a:r>
            <a:r>
              <a:rPr lang="zh-CN" altLang="en-US" dirty="0"/>
              <a:t>函数的最快上升</a:t>
            </a:r>
            <a:r>
              <a:rPr lang="en-US" altLang="zh-CN" dirty="0"/>
              <a:t>/</a:t>
            </a:r>
            <a:r>
              <a:rPr lang="zh-CN" altLang="en-US" dirty="0"/>
              <a:t>下降速度：</a:t>
            </a:r>
            <a:r>
              <a:rPr lang="zh-CN" altLang="en-US" b="1" dirty="0">
                <a:solidFill>
                  <a:srgbClr val="C00000"/>
                </a:solidFill>
              </a:rPr>
              <a:t>梯度 </a:t>
            </a:r>
            <a:r>
              <a:rPr lang="en-US" altLang="zh-CN" b="1" dirty="0">
                <a:solidFill>
                  <a:srgbClr val="C00000"/>
                </a:solidFill>
              </a:rPr>
              <a:t>Gradient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29284"/>
              </p:ext>
            </p:extLst>
          </p:nvPr>
        </p:nvGraphicFramePr>
        <p:xfrm>
          <a:off x="1189708" y="3560177"/>
          <a:ext cx="1023937" cy="429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400" imgH="203040" progId="Equation.DSMT4">
                  <p:embed/>
                </p:oleObj>
              </mc:Choice>
              <mc:Fallback>
                <p:oleObj name="Equation" r:id="rId8" imgW="482400" imgH="203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9708" y="3560177"/>
                        <a:ext cx="1023937" cy="429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904071"/>
              </p:ext>
            </p:extLst>
          </p:nvPr>
        </p:nvGraphicFramePr>
        <p:xfrm>
          <a:off x="1189708" y="4027865"/>
          <a:ext cx="27209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457200" progId="Equation.DSMT4">
                  <p:embed/>
                </p:oleObj>
              </mc:Choice>
              <mc:Fallback>
                <p:oleObj name="Equation" r:id="rId10" imgW="1282680" imgH="4572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89708" y="4027865"/>
                        <a:ext cx="2720975" cy="96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550195" y="4027865"/>
            <a:ext cx="1360488" cy="9683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189708" y="5068177"/>
            <a:ext cx="6090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这是个向量：可以理解为数组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② 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488039"/>
              </p:ext>
            </p:extLst>
          </p:nvPr>
        </p:nvGraphicFramePr>
        <p:xfrm>
          <a:off x="1582490" y="5470546"/>
          <a:ext cx="457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393480" progId="Equation.DSMT4">
                  <p:embed/>
                </p:oleObj>
              </mc:Choice>
              <mc:Fallback>
                <p:oleObj name="Equation" r:id="rId12" imgW="215640" imgH="3934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2490" y="5470546"/>
                        <a:ext cx="457200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2077112" y="5669312"/>
            <a:ext cx="9167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偏导数，在</a:t>
            </a:r>
            <a:r>
              <a:rPr lang="en-US" altLang="zh-CN" b="1" dirty="0"/>
              <a:t>x</a:t>
            </a:r>
            <a:r>
              <a:rPr lang="zh-CN" altLang="en-US" b="1" dirty="0"/>
              <a:t>方向的导数，其他变量都看作固定的参数，只把</a:t>
            </a:r>
            <a:r>
              <a:rPr lang="en-US" altLang="zh-CN" b="1" dirty="0"/>
              <a:t>x</a:t>
            </a:r>
            <a:r>
              <a:rPr lang="zh-CN" altLang="en-US" b="1" dirty="0"/>
              <a:t>看作变量进行求导（差分）</a:t>
            </a:r>
            <a:endParaRPr lang="en-US" altLang="zh-CN" b="1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473369"/>
              </p:ext>
            </p:extLst>
          </p:nvPr>
        </p:nvGraphicFramePr>
        <p:xfrm>
          <a:off x="4656931" y="6112875"/>
          <a:ext cx="287813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253800" progId="Equation.DSMT4">
                  <p:embed/>
                </p:oleObj>
              </mc:Choice>
              <mc:Fallback>
                <p:oleObj name="Equation" r:id="rId14" imgW="1358640" imgH="2538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56931" y="6112875"/>
                        <a:ext cx="2878138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598987"/>
              </p:ext>
            </p:extLst>
          </p:nvPr>
        </p:nvGraphicFramePr>
        <p:xfrm>
          <a:off x="7750389" y="5991507"/>
          <a:ext cx="15875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9160" imgH="393480" progId="Equation.DSMT4">
                  <p:embed/>
                </p:oleObj>
              </mc:Choice>
              <mc:Fallback>
                <p:oleObj name="Equation" r:id="rId16" imgW="749160" imgH="39348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50389" y="5991507"/>
                        <a:ext cx="1587500" cy="83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/>
          <p:cNvGrpSpPr/>
          <p:nvPr/>
        </p:nvGrpSpPr>
        <p:grpSpPr>
          <a:xfrm>
            <a:off x="6524814" y="1928314"/>
            <a:ext cx="3401518" cy="2398740"/>
            <a:chOff x="6148882" y="1716060"/>
            <a:chExt cx="4663734" cy="31579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810A0C8D-304E-47A0-B0E4-80F03FA5D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8882" y="1716060"/>
              <a:ext cx="4663734" cy="3157954"/>
            </a:xfrm>
            <a:prstGeom prst="rect">
              <a:avLst/>
            </a:prstGeom>
          </p:spPr>
        </p:pic>
        <p:cxnSp>
          <p:nvCxnSpPr>
            <p:cNvPr id="37" name="直接箭头连接符 36"/>
            <p:cNvCxnSpPr/>
            <p:nvPr/>
          </p:nvCxnSpPr>
          <p:spPr>
            <a:xfrm flipH="1">
              <a:off x="9867900" y="2446853"/>
              <a:ext cx="190500" cy="4300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H="1">
              <a:off x="9512300" y="2876870"/>
              <a:ext cx="355600" cy="369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H="1">
              <a:off x="9130755" y="3246202"/>
              <a:ext cx="381545" cy="5002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H="1">
              <a:off x="8890000" y="3746500"/>
              <a:ext cx="240755" cy="266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H="1">
              <a:off x="8610600" y="4013200"/>
              <a:ext cx="279400" cy="2413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10044782" y="2155449"/>
            <a:ext cx="1701800" cy="2260243"/>
            <a:chOff x="9751793" y="2182065"/>
            <a:chExt cx="1701800" cy="2260243"/>
          </a:xfrm>
        </p:grpSpPr>
        <p:sp>
          <p:nvSpPr>
            <p:cNvPr id="43" name="椭圆 42"/>
            <p:cNvSpPr/>
            <p:nvPr/>
          </p:nvSpPr>
          <p:spPr>
            <a:xfrm>
              <a:off x="9751793" y="2182065"/>
              <a:ext cx="1701800" cy="179674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9925641" y="2534490"/>
              <a:ext cx="1188363" cy="11115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0070233" y="2770687"/>
              <a:ext cx="752049" cy="71974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0264654" y="2873536"/>
              <a:ext cx="363206" cy="40599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0415979" y="3047418"/>
              <a:ext cx="68379" cy="6576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" name="直接箭头连接符 47"/>
            <p:cNvCxnSpPr/>
            <p:nvPr/>
          </p:nvCxnSpPr>
          <p:spPr>
            <a:xfrm flipH="1" flipV="1">
              <a:off x="10640148" y="3633947"/>
              <a:ext cx="182134" cy="2860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endCxn id="45" idx="4"/>
            </p:cNvCxnSpPr>
            <p:nvPr/>
          </p:nvCxnSpPr>
          <p:spPr>
            <a:xfrm flipH="1" flipV="1">
              <a:off x="10446258" y="3490432"/>
              <a:ext cx="193890" cy="1281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45" idx="4"/>
              <a:endCxn id="46" idx="3"/>
            </p:cNvCxnSpPr>
            <p:nvPr/>
          </p:nvCxnSpPr>
          <p:spPr>
            <a:xfrm flipH="1" flipV="1">
              <a:off x="10317844" y="3220074"/>
              <a:ext cx="128414" cy="2703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stCxn id="46" idx="3"/>
              <a:endCxn id="47" idx="4"/>
            </p:cNvCxnSpPr>
            <p:nvPr/>
          </p:nvCxnSpPr>
          <p:spPr>
            <a:xfrm flipV="1">
              <a:off x="10317844" y="3113181"/>
              <a:ext cx="132325" cy="1068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10061801" y="4072976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等高线图</a:t>
              </a:r>
              <a:endParaRPr lang="en-US" altLang="zh-CN" b="1" dirty="0"/>
            </a:p>
          </p:txBody>
        </p:sp>
      </p:grpSp>
      <p:cxnSp>
        <p:nvCxnSpPr>
          <p:cNvPr id="53" name="直接连接符 52"/>
          <p:cNvCxnSpPr/>
          <p:nvPr/>
        </p:nvCxnSpPr>
        <p:spPr>
          <a:xfrm flipH="1">
            <a:off x="8872771" y="1763553"/>
            <a:ext cx="279293" cy="21502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096160" y="1889999"/>
            <a:ext cx="11776" cy="263092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346" y="1268928"/>
            <a:ext cx="985705" cy="549995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>
          <a:xfrm>
            <a:off x="9216032" y="184261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俯视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660757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22846" y="1449402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问题二：如何控制步长（</a:t>
            </a:r>
            <a:r>
              <a:rPr lang="en-US" altLang="zh-CN" b="1" dirty="0">
                <a:solidFill>
                  <a:srgbClr val="C00000"/>
                </a:solidFill>
              </a:rPr>
              <a:t>Step Size</a:t>
            </a:r>
            <a:r>
              <a:rPr lang="zh-CN" altLang="en-US" b="1" dirty="0">
                <a:solidFill>
                  <a:srgbClr val="C00000"/>
                </a:solidFill>
              </a:rPr>
              <a:t>）？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1264268" y="1818733"/>
            <a:ext cx="4175856" cy="3024809"/>
            <a:chOff x="1200768" y="1225561"/>
            <a:chExt cx="4175856" cy="3024809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95552E4-FEC3-43B6-B315-2D24E2EDE503}"/>
                </a:ext>
              </a:extLst>
            </p:cNvPr>
            <p:cNvGrpSpPr/>
            <p:nvPr/>
          </p:nvGrpSpPr>
          <p:grpSpPr>
            <a:xfrm>
              <a:off x="1200768" y="1225561"/>
              <a:ext cx="4175856" cy="3024809"/>
              <a:chOff x="2449747" y="3587113"/>
              <a:chExt cx="4432837" cy="2903941"/>
            </a:xfrm>
          </p:grpSpPr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A0921378-DF9E-462B-AD67-32A8EA239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9747" y="3587113"/>
                <a:ext cx="4432837" cy="2903941"/>
              </a:xfrm>
              <a:prstGeom prst="rect">
                <a:avLst/>
              </a:prstGeom>
            </p:spPr>
          </p:pic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A53C222F-8E3A-4981-97CE-4943F6410E93}"/>
                  </a:ext>
                </a:extLst>
              </p:cNvPr>
              <p:cNvGrpSpPr/>
              <p:nvPr/>
            </p:nvGrpSpPr>
            <p:grpSpPr>
              <a:xfrm>
                <a:off x="3151332" y="4227950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457C0A72-3756-496B-BF2B-A2B2D78513AA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F276B7AC-A1BF-41D4-9551-3E7CBB65D244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A47B47D9-E377-4162-A5D8-5E36E91FB6FD}"/>
                  </a:ext>
                </a:extLst>
              </p:cNvPr>
              <p:cNvGrpSpPr/>
              <p:nvPr/>
            </p:nvGrpSpPr>
            <p:grpSpPr>
              <a:xfrm>
                <a:off x="3623906" y="5191133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80B8C326-9F06-4AC6-8F21-2CED4FE36207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AA19750B-72BC-4B78-9B39-E1E3951199BB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02494D5A-E312-4DFC-8B78-CB93FF841515}"/>
                  </a:ext>
                </a:extLst>
              </p:cNvPr>
              <p:cNvGrpSpPr/>
              <p:nvPr/>
            </p:nvGrpSpPr>
            <p:grpSpPr>
              <a:xfrm>
                <a:off x="4180032" y="5909033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BF776AEC-27DA-4865-9631-2CF7025F07B6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782A426E-A421-44E9-A3FC-E0A38B91009C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C5C4C01E-BE34-45B8-9DE5-D9AEA26EF586}"/>
                  </a:ext>
                </a:extLst>
              </p:cNvPr>
              <p:cNvCxnSpPr/>
              <p:nvPr/>
            </p:nvCxnSpPr>
            <p:spPr>
              <a:xfrm>
                <a:off x="3266680" y="4262161"/>
                <a:ext cx="472574" cy="9631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CA75BC60-9B02-4E93-9F2B-677CE123E473}"/>
                  </a:ext>
                </a:extLst>
              </p:cNvPr>
              <p:cNvCxnSpPr/>
              <p:nvPr/>
            </p:nvCxnSpPr>
            <p:spPr>
              <a:xfrm>
                <a:off x="3765125" y="5278879"/>
                <a:ext cx="456470" cy="58512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E540B240-FB0E-4850-9E2C-9AE96507C151}"/>
                  </a:ext>
                </a:extLst>
              </p:cNvPr>
              <p:cNvCxnSpPr/>
              <p:nvPr/>
            </p:nvCxnSpPr>
            <p:spPr>
              <a:xfrm flipV="1">
                <a:off x="4263159" y="5709524"/>
                <a:ext cx="1258923" cy="19835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 flipH="1" flipV="1">
              <a:off x="2628611" y="3433907"/>
              <a:ext cx="1460791" cy="2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 flipH="1">
              <a:off x="2691084" y="3536496"/>
              <a:ext cx="1289460" cy="12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2637524" y="3431502"/>
              <a:ext cx="1387045" cy="1063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5194276" y="1397616"/>
            <a:ext cx="2421057" cy="435096"/>
            <a:chOff x="3778250" y="827547"/>
            <a:chExt cx="2660431" cy="463746"/>
          </a:xfrm>
        </p:grpSpPr>
        <p:graphicFrame>
          <p:nvGraphicFramePr>
            <p:cNvPr id="57" name="对象 56">
              <a:extLst>
                <a:ext uri="{FF2B5EF4-FFF2-40B4-BE49-F238E27FC236}">
                  <a16:creationId xmlns:a16="http://schemas.microsoft.com/office/drawing/2014/main" id="{03E94643-EC89-41E1-AE75-5CFE144F07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8250" y="827548"/>
            <a:ext cx="2660431" cy="463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07880" imgH="228600" progId="Equation.DSMT4">
                    <p:embed/>
                  </p:oleObj>
                </mc:Choice>
                <mc:Fallback>
                  <p:oleObj name="Equation" r:id="rId3" imgW="1307880" imgH="228600" progId="Equation.DSMT4">
                    <p:embed/>
                    <p:pic>
                      <p:nvPicPr>
                        <p:cNvPr id="57" name="对象 56">
                          <a:extLst>
                            <a:ext uri="{FF2B5EF4-FFF2-40B4-BE49-F238E27FC236}">
                              <a16:creationId xmlns:a16="http://schemas.microsoft.com/office/drawing/2014/main" id="{03E94643-EC89-41E1-AE75-5CFE144F07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78250" y="827548"/>
                          <a:ext cx="2660431" cy="463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矩形 57"/>
            <p:cNvSpPr/>
            <p:nvPr/>
          </p:nvSpPr>
          <p:spPr>
            <a:xfrm>
              <a:off x="5108465" y="827547"/>
              <a:ext cx="1330216" cy="4637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1500" y="1261983"/>
          <a:ext cx="1853011" cy="68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19040" progId="Equation.DSMT4">
                  <p:embed/>
                </p:oleObj>
              </mc:Choice>
              <mc:Fallback>
                <p:oleObj name="Equation" r:id="rId5" imgW="1130040" imgH="41904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31500" y="1261983"/>
                        <a:ext cx="1853011" cy="685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59"/>
          <p:cNvSpPr txBox="1"/>
          <p:nvPr/>
        </p:nvSpPr>
        <p:spPr>
          <a:xfrm>
            <a:off x="2256431" y="4985449"/>
            <a:ext cx="246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步长过大导致振荡</a:t>
            </a:r>
          </a:p>
        </p:txBody>
      </p:sp>
    </p:spTree>
    <p:extLst>
      <p:ext uri="{BB962C8B-B14F-4D97-AF65-F5344CB8AC3E}">
        <p14:creationId xmlns:p14="http://schemas.microsoft.com/office/powerpoint/2010/main" val="21387304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22846" y="1449402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问题二：如何控制步长（</a:t>
            </a:r>
            <a:r>
              <a:rPr lang="en-US" altLang="zh-CN" b="1" dirty="0">
                <a:solidFill>
                  <a:srgbClr val="C00000"/>
                </a:solidFill>
              </a:rPr>
              <a:t>Step Size</a:t>
            </a:r>
            <a:r>
              <a:rPr lang="zh-CN" altLang="en-US" b="1" dirty="0">
                <a:solidFill>
                  <a:srgbClr val="C00000"/>
                </a:solidFill>
              </a:rPr>
              <a:t>）？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6400581" y="1818734"/>
            <a:ext cx="4175856" cy="3024809"/>
            <a:chOff x="2449747" y="3587113"/>
            <a:chExt cx="4432837" cy="29039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264268" y="1818733"/>
            <a:ext cx="4175856" cy="3024809"/>
            <a:chOff x="1200768" y="1225561"/>
            <a:chExt cx="4175856" cy="3024809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95552E4-FEC3-43B6-B315-2D24E2EDE503}"/>
                </a:ext>
              </a:extLst>
            </p:cNvPr>
            <p:cNvGrpSpPr/>
            <p:nvPr/>
          </p:nvGrpSpPr>
          <p:grpSpPr>
            <a:xfrm>
              <a:off x="1200768" y="1225561"/>
              <a:ext cx="4175856" cy="3024809"/>
              <a:chOff x="2449747" y="3587113"/>
              <a:chExt cx="4432837" cy="2903941"/>
            </a:xfrm>
          </p:grpSpPr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A0921378-DF9E-462B-AD67-32A8EA239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9747" y="3587113"/>
                <a:ext cx="4432837" cy="2903941"/>
              </a:xfrm>
              <a:prstGeom prst="rect">
                <a:avLst/>
              </a:prstGeom>
            </p:spPr>
          </p:pic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A53C222F-8E3A-4981-97CE-4943F6410E93}"/>
                  </a:ext>
                </a:extLst>
              </p:cNvPr>
              <p:cNvGrpSpPr/>
              <p:nvPr/>
            </p:nvGrpSpPr>
            <p:grpSpPr>
              <a:xfrm>
                <a:off x="3151332" y="4227950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457C0A72-3756-496B-BF2B-A2B2D78513AA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F276B7AC-A1BF-41D4-9551-3E7CBB65D244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A47B47D9-E377-4162-A5D8-5E36E91FB6FD}"/>
                  </a:ext>
                </a:extLst>
              </p:cNvPr>
              <p:cNvGrpSpPr/>
              <p:nvPr/>
            </p:nvGrpSpPr>
            <p:grpSpPr>
              <a:xfrm>
                <a:off x="3623906" y="5191133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80B8C326-9F06-4AC6-8F21-2CED4FE36207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AA19750B-72BC-4B78-9B39-E1E3951199BB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02494D5A-E312-4DFC-8B78-CB93FF841515}"/>
                  </a:ext>
                </a:extLst>
              </p:cNvPr>
              <p:cNvGrpSpPr/>
              <p:nvPr/>
            </p:nvGrpSpPr>
            <p:grpSpPr>
              <a:xfrm>
                <a:off x="4180032" y="5909033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BF776AEC-27DA-4865-9631-2CF7025F07B6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782A426E-A421-44E9-A3FC-E0A38B91009C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C5C4C01E-BE34-45B8-9DE5-D9AEA26EF586}"/>
                  </a:ext>
                </a:extLst>
              </p:cNvPr>
              <p:cNvCxnSpPr/>
              <p:nvPr/>
            </p:nvCxnSpPr>
            <p:spPr>
              <a:xfrm>
                <a:off x="3266680" y="4262161"/>
                <a:ext cx="472574" cy="9631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CA75BC60-9B02-4E93-9F2B-677CE123E473}"/>
                  </a:ext>
                </a:extLst>
              </p:cNvPr>
              <p:cNvCxnSpPr/>
              <p:nvPr/>
            </p:nvCxnSpPr>
            <p:spPr>
              <a:xfrm>
                <a:off x="3765125" y="5278879"/>
                <a:ext cx="456470" cy="58512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E540B240-FB0E-4850-9E2C-9AE96507C151}"/>
                  </a:ext>
                </a:extLst>
              </p:cNvPr>
              <p:cNvCxnSpPr/>
              <p:nvPr/>
            </p:nvCxnSpPr>
            <p:spPr>
              <a:xfrm flipV="1">
                <a:off x="4263159" y="5709524"/>
                <a:ext cx="1258923" cy="19835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 flipH="1" flipV="1">
              <a:off x="2628611" y="3433907"/>
              <a:ext cx="1460791" cy="2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 flipH="1">
              <a:off x="2691084" y="3536496"/>
              <a:ext cx="1289460" cy="12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2637524" y="3431502"/>
              <a:ext cx="1387045" cy="1063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5194276" y="1397616"/>
            <a:ext cx="2421057" cy="435096"/>
            <a:chOff x="3778250" y="827547"/>
            <a:chExt cx="2660431" cy="463746"/>
          </a:xfrm>
        </p:grpSpPr>
        <p:graphicFrame>
          <p:nvGraphicFramePr>
            <p:cNvPr id="57" name="对象 56">
              <a:extLst>
                <a:ext uri="{FF2B5EF4-FFF2-40B4-BE49-F238E27FC236}">
                  <a16:creationId xmlns:a16="http://schemas.microsoft.com/office/drawing/2014/main" id="{03E94643-EC89-41E1-AE75-5CFE144F07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8250" y="827548"/>
            <a:ext cx="2660431" cy="463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07880" imgH="228600" progId="Equation.DSMT4">
                    <p:embed/>
                  </p:oleObj>
                </mc:Choice>
                <mc:Fallback>
                  <p:oleObj name="Equation" r:id="rId3" imgW="1307880" imgH="228600" progId="Equation.DSMT4">
                    <p:embed/>
                    <p:pic>
                      <p:nvPicPr>
                        <p:cNvPr id="57" name="对象 56">
                          <a:extLst>
                            <a:ext uri="{FF2B5EF4-FFF2-40B4-BE49-F238E27FC236}">
                              <a16:creationId xmlns:a16="http://schemas.microsoft.com/office/drawing/2014/main" id="{03E94643-EC89-41E1-AE75-5CFE144F07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78250" y="827548"/>
                          <a:ext cx="2660431" cy="463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矩形 57"/>
            <p:cNvSpPr/>
            <p:nvPr/>
          </p:nvSpPr>
          <p:spPr>
            <a:xfrm>
              <a:off x="5108465" y="827547"/>
              <a:ext cx="1330216" cy="4637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1500" y="1261983"/>
          <a:ext cx="1853011" cy="68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19040" progId="Equation.DSMT4">
                  <p:embed/>
                </p:oleObj>
              </mc:Choice>
              <mc:Fallback>
                <p:oleObj name="Equation" r:id="rId5" imgW="1130040" imgH="41904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31500" y="1261983"/>
                        <a:ext cx="1853011" cy="685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59"/>
          <p:cNvSpPr txBox="1"/>
          <p:nvPr/>
        </p:nvSpPr>
        <p:spPr>
          <a:xfrm>
            <a:off x="2256431" y="4985449"/>
            <a:ext cx="246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步长过大导致振荡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829844" y="4939150"/>
            <a:ext cx="34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步长</a:t>
            </a:r>
            <a:r>
              <a:rPr lang="zh-CN" altLang="en-US" dirty="0">
                <a:solidFill>
                  <a:srgbClr val="C00000"/>
                </a:solidFill>
              </a:rPr>
              <a:t>合适</a:t>
            </a:r>
            <a:r>
              <a:rPr lang="zh-CN" altLang="en-US" dirty="0"/>
              <a:t>导致越来越接近最优值</a:t>
            </a:r>
          </a:p>
        </p:txBody>
      </p:sp>
    </p:spTree>
    <p:extLst>
      <p:ext uri="{BB962C8B-B14F-4D97-AF65-F5344CB8AC3E}">
        <p14:creationId xmlns:p14="http://schemas.microsoft.com/office/powerpoint/2010/main" val="4967879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22846" y="1449402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问题二：如何控制步长（</a:t>
            </a:r>
            <a:r>
              <a:rPr lang="en-US" altLang="zh-CN" b="1" dirty="0">
                <a:solidFill>
                  <a:srgbClr val="C00000"/>
                </a:solidFill>
              </a:rPr>
              <a:t>Step Size</a:t>
            </a:r>
            <a:r>
              <a:rPr lang="zh-CN" altLang="en-US" b="1" dirty="0">
                <a:solidFill>
                  <a:srgbClr val="C00000"/>
                </a:solidFill>
              </a:rPr>
              <a:t>）？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6400581" y="1818734"/>
            <a:ext cx="4175856" cy="3024809"/>
            <a:chOff x="2449747" y="3587113"/>
            <a:chExt cx="4432837" cy="29039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264268" y="1818733"/>
            <a:ext cx="4175856" cy="3024809"/>
            <a:chOff x="1200768" y="1225561"/>
            <a:chExt cx="4175856" cy="3024809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95552E4-FEC3-43B6-B315-2D24E2EDE503}"/>
                </a:ext>
              </a:extLst>
            </p:cNvPr>
            <p:cNvGrpSpPr/>
            <p:nvPr/>
          </p:nvGrpSpPr>
          <p:grpSpPr>
            <a:xfrm>
              <a:off x="1200768" y="1225561"/>
              <a:ext cx="4175856" cy="3024809"/>
              <a:chOff x="2449747" y="3587113"/>
              <a:chExt cx="4432837" cy="2903941"/>
            </a:xfrm>
          </p:grpSpPr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A0921378-DF9E-462B-AD67-32A8EA2397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9747" y="3587113"/>
                <a:ext cx="4432837" cy="2903941"/>
              </a:xfrm>
              <a:prstGeom prst="rect">
                <a:avLst/>
              </a:prstGeom>
            </p:spPr>
          </p:pic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A53C222F-8E3A-4981-97CE-4943F6410E93}"/>
                  </a:ext>
                </a:extLst>
              </p:cNvPr>
              <p:cNvGrpSpPr/>
              <p:nvPr/>
            </p:nvGrpSpPr>
            <p:grpSpPr>
              <a:xfrm>
                <a:off x="3151332" y="4227950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457C0A72-3756-496B-BF2B-A2B2D78513AA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F276B7AC-A1BF-41D4-9551-3E7CBB65D244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A47B47D9-E377-4162-A5D8-5E36E91FB6FD}"/>
                  </a:ext>
                </a:extLst>
              </p:cNvPr>
              <p:cNvGrpSpPr/>
              <p:nvPr/>
            </p:nvGrpSpPr>
            <p:grpSpPr>
              <a:xfrm>
                <a:off x="3623906" y="5191133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80B8C326-9F06-4AC6-8F21-2CED4FE36207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AA19750B-72BC-4B78-9B39-E1E3951199BB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02494D5A-E312-4DFC-8B78-CB93FF841515}"/>
                  </a:ext>
                </a:extLst>
              </p:cNvPr>
              <p:cNvGrpSpPr/>
              <p:nvPr/>
            </p:nvGrpSpPr>
            <p:grpSpPr>
              <a:xfrm>
                <a:off x="4180032" y="5909033"/>
                <a:ext cx="89477" cy="88900"/>
                <a:chOff x="1265382" y="3846945"/>
                <a:chExt cx="89477" cy="88900"/>
              </a:xfrm>
            </p:grpSpPr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BF776AEC-27DA-4865-9631-2CF7025F07B6}"/>
                    </a:ext>
                  </a:extLst>
                </p:cNvPr>
                <p:cNvCxnSpPr/>
                <p:nvPr/>
              </p:nvCxnSpPr>
              <p:spPr>
                <a:xfrm>
                  <a:off x="1271732" y="3848100"/>
                  <a:ext cx="83127" cy="87745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782A426E-A421-44E9-A3FC-E0A38B91009C}"/>
                    </a:ext>
                  </a:extLst>
                </p:cNvPr>
                <p:cNvCxnSpPr/>
                <p:nvPr/>
              </p:nvCxnSpPr>
              <p:spPr>
                <a:xfrm flipH="1">
                  <a:off x="1265382" y="3846945"/>
                  <a:ext cx="83127" cy="87746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C5C4C01E-BE34-45B8-9DE5-D9AEA26EF586}"/>
                  </a:ext>
                </a:extLst>
              </p:cNvPr>
              <p:cNvCxnSpPr/>
              <p:nvPr/>
            </p:nvCxnSpPr>
            <p:spPr>
              <a:xfrm>
                <a:off x="3266680" y="4262161"/>
                <a:ext cx="472574" cy="9631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CA75BC60-9B02-4E93-9F2B-677CE123E473}"/>
                  </a:ext>
                </a:extLst>
              </p:cNvPr>
              <p:cNvCxnSpPr/>
              <p:nvPr/>
            </p:nvCxnSpPr>
            <p:spPr>
              <a:xfrm>
                <a:off x="3765125" y="5278879"/>
                <a:ext cx="456470" cy="58512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E540B240-FB0E-4850-9E2C-9AE96507C151}"/>
                  </a:ext>
                </a:extLst>
              </p:cNvPr>
              <p:cNvCxnSpPr/>
              <p:nvPr/>
            </p:nvCxnSpPr>
            <p:spPr>
              <a:xfrm flipV="1">
                <a:off x="4263159" y="5709524"/>
                <a:ext cx="1258923" cy="19835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 flipH="1" flipV="1">
              <a:off x="2628611" y="3433907"/>
              <a:ext cx="1460791" cy="2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 flipH="1">
              <a:off x="2691084" y="3536496"/>
              <a:ext cx="1289460" cy="126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2637524" y="3431502"/>
              <a:ext cx="1387045" cy="1063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5194276" y="1397616"/>
            <a:ext cx="2421057" cy="435096"/>
            <a:chOff x="3778250" y="827547"/>
            <a:chExt cx="2660431" cy="463746"/>
          </a:xfrm>
        </p:grpSpPr>
        <p:graphicFrame>
          <p:nvGraphicFramePr>
            <p:cNvPr id="57" name="对象 56">
              <a:extLst>
                <a:ext uri="{FF2B5EF4-FFF2-40B4-BE49-F238E27FC236}">
                  <a16:creationId xmlns:a16="http://schemas.microsoft.com/office/drawing/2014/main" id="{03E94643-EC89-41E1-AE75-5CFE144F07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8250" y="827548"/>
            <a:ext cx="2660431" cy="463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07880" imgH="228600" progId="Equation.DSMT4">
                    <p:embed/>
                  </p:oleObj>
                </mc:Choice>
                <mc:Fallback>
                  <p:oleObj name="Equation" r:id="rId3" imgW="1307880" imgH="228600" progId="Equation.DSMT4">
                    <p:embed/>
                    <p:pic>
                      <p:nvPicPr>
                        <p:cNvPr id="131" name="对象 130">
                          <a:extLst>
                            <a:ext uri="{FF2B5EF4-FFF2-40B4-BE49-F238E27FC236}">
                              <a16:creationId xmlns:a16="http://schemas.microsoft.com/office/drawing/2014/main" id="{03E94643-EC89-41E1-AE75-5CFE144F07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78250" y="827548"/>
                          <a:ext cx="2660431" cy="463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矩形 57"/>
            <p:cNvSpPr/>
            <p:nvPr/>
          </p:nvSpPr>
          <p:spPr>
            <a:xfrm>
              <a:off x="5108465" y="827547"/>
              <a:ext cx="1330216" cy="46374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01EA6BED-D906-43D4-99AB-294BB9B4A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197131"/>
              </p:ext>
            </p:extLst>
          </p:nvPr>
        </p:nvGraphicFramePr>
        <p:xfrm>
          <a:off x="7831500" y="1261983"/>
          <a:ext cx="1853011" cy="68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30040" imgH="419040" progId="Equation.DSMT4">
                  <p:embed/>
                </p:oleObj>
              </mc:Choice>
              <mc:Fallback>
                <p:oleObj name="Equation" r:id="rId5" imgW="1130040" imgH="419040" progId="Equation.DSMT4">
                  <p:embed/>
                  <p:pic>
                    <p:nvPicPr>
                      <p:cNvPr id="136" name="对象 135">
                        <a:extLst>
                          <a:ext uri="{FF2B5EF4-FFF2-40B4-BE49-F238E27FC236}">
                            <a16:creationId xmlns:a16="http://schemas.microsoft.com/office/drawing/2014/main" id="{01EA6BED-D906-43D4-99AB-294BB9B4AA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31500" y="1261983"/>
                        <a:ext cx="1853011" cy="685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59"/>
          <p:cNvSpPr txBox="1"/>
          <p:nvPr/>
        </p:nvSpPr>
        <p:spPr>
          <a:xfrm>
            <a:off x="2256431" y="4985449"/>
            <a:ext cx="246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步长过大导致振荡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829844" y="4939150"/>
            <a:ext cx="347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步长</a:t>
            </a:r>
            <a:r>
              <a:rPr lang="zh-CN" altLang="en-US" dirty="0">
                <a:solidFill>
                  <a:srgbClr val="C00000"/>
                </a:solidFill>
              </a:rPr>
              <a:t>合适</a:t>
            </a:r>
            <a:r>
              <a:rPr lang="zh-CN" altLang="en-US" dirty="0"/>
              <a:t>导致越来越接近最优值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1630134" y="5592432"/>
            <a:ext cx="8072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直观上，越靠近</a:t>
            </a:r>
            <a:r>
              <a:rPr lang="zh-CN" altLang="en-US" sz="1600" dirty="0">
                <a:solidFill>
                  <a:srgbClr val="C00000"/>
                </a:solidFill>
              </a:rPr>
              <a:t>最优点，步长应该越小，所以可以根据经验不断减小</a:t>
            </a:r>
            <a:r>
              <a:rPr lang="en-US" altLang="zh-CN" sz="1600" dirty="0">
                <a:solidFill>
                  <a:srgbClr val="C00000"/>
                </a:solidFill>
              </a:rPr>
              <a:t>α</a:t>
            </a:r>
            <a:r>
              <a:rPr lang="zh-CN" altLang="en-US" sz="1600" dirty="0">
                <a:solidFill>
                  <a:srgbClr val="C00000"/>
                </a:solidFill>
              </a:rPr>
              <a:t>的值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1630134" y="6073010"/>
            <a:ext cx="8072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也可以通过数学的方法控制：例如牛顿方法（</a:t>
            </a:r>
            <a:r>
              <a:rPr lang="en-US" altLang="zh-CN" sz="1600" dirty="0"/>
              <a:t>Newton Method</a:t>
            </a:r>
            <a:r>
              <a:rPr lang="zh-CN" altLang="en-US" sz="1600" dirty="0"/>
              <a:t>），根据二阶导数</a:t>
            </a:r>
            <a:r>
              <a:rPr lang="en-US" altLang="zh-CN" sz="1600" dirty="0"/>
              <a:t>/</a:t>
            </a:r>
            <a:r>
              <a:rPr lang="zh-CN" altLang="en-US" sz="1600" dirty="0"/>
              <a:t>海瑟矩阵（</a:t>
            </a:r>
            <a:r>
              <a:rPr lang="en-US" altLang="zh-CN" sz="1600" dirty="0"/>
              <a:t>Hessian Matrix</a:t>
            </a:r>
            <a:r>
              <a:rPr lang="zh-CN" altLang="en-US" sz="1600" dirty="0"/>
              <a:t>）控制步长。</a:t>
            </a:r>
          </a:p>
        </p:txBody>
      </p:sp>
    </p:spTree>
    <p:extLst>
      <p:ext uri="{BB962C8B-B14F-4D97-AF65-F5344CB8AC3E}">
        <p14:creationId xmlns:p14="http://schemas.microsoft.com/office/powerpoint/2010/main" val="2314501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83146" y="1506022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问题三：什么时候停止？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983746" y="2298583"/>
            <a:ext cx="4175856" cy="3024809"/>
            <a:chOff x="2449747" y="3587113"/>
            <a:chExt cx="4432837" cy="29039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8513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83146" y="1506022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问题三：什么时候停止？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983746" y="2298583"/>
            <a:ext cx="4175856" cy="3024809"/>
            <a:chOff x="2449747" y="3587113"/>
            <a:chExt cx="4432837" cy="29039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5587541" y="1513456"/>
            <a:ext cx="524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这种方法只能得到</a:t>
            </a:r>
            <a:r>
              <a:rPr lang="zh-CN" altLang="en-US" dirty="0">
                <a:solidFill>
                  <a:srgbClr val="C00000"/>
                </a:solidFill>
              </a:rPr>
              <a:t>近似解</a:t>
            </a:r>
            <a:r>
              <a:rPr lang="zh-CN" altLang="en-US" dirty="0"/>
              <a:t>，问题是有多近似？</a:t>
            </a:r>
            <a:endParaRPr lang="en-US" altLang="zh-CN" dirty="0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63D07F9B-9CFB-49E8-B0E3-1B2190D175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717" y="2635001"/>
          <a:ext cx="2195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279360" progId="Equation.DSMT4">
                  <p:embed/>
                </p:oleObj>
              </mc:Choice>
              <mc:Fallback>
                <p:oleObj name="Equation" r:id="rId4" imgW="1269720" imgH="27936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63D07F9B-9CFB-49E8-B0E3-1B2190D17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3717" y="2635001"/>
                        <a:ext cx="2195513" cy="44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5587541" y="1886452"/>
            <a:ext cx="5243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停止条件（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Stopping Criteria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）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+mn-ea"/>
              </a:rPr>
              <a:t>      </a:t>
            </a:r>
            <a:r>
              <a:rPr lang="zh-CN" altLang="en-US" dirty="0">
                <a:latin typeface="+mn-ea"/>
              </a:rPr>
              <a:t>当两步之间函数值变化很小时停止</a:t>
            </a:r>
            <a:endParaRPr lang="en-US" altLang="zh-CN" dirty="0">
              <a:latin typeface="+mn-ea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2DDC18C-D41A-48DA-8F08-BAC3CE0D30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717" y="3252269"/>
            <a:ext cx="3038657" cy="612103"/>
          </a:xfrm>
          <a:prstGeom prst="rect">
            <a:avLst/>
          </a:prstGeom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id="{F685F760-BA59-400F-94CD-DD2464E8C7E6}"/>
              </a:ext>
            </a:extLst>
          </p:cNvPr>
          <p:cNvSpPr/>
          <p:nvPr/>
        </p:nvSpPr>
        <p:spPr>
          <a:xfrm>
            <a:off x="7967835" y="2692530"/>
            <a:ext cx="241395" cy="26277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43" name="直接箭头连接符 42"/>
          <p:cNvCxnSpPr>
            <a:stCxn id="42" idx="4"/>
          </p:cNvCxnSpPr>
          <p:nvPr/>
        </p:nvCxnSpPr>
        <p:spPr>
          <a:xfrm flipH="1">
            <a:off x="7967835" y="2955300"/>
            <a:ext cx="120698" cy="3753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088532" y="323405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两步之间的差异，一个很小的值</a:t>
            </a:r>
          </a:p>
        </p:txBody>
      </p:sp>
    </p:spTree>
    <p:extLst>
      <p:ext uri="{BB962C8B-B14F-4D97-AF65-F5344CB8AC3E}">
        <p14:creationId xmlns:p14="http://schemas.microsoft.com/office/powerpoint/2010/main" val="32025149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83146" y="1506022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问题三：什么时候停止？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983746" y="2298583"/>
            <a:ext cx="4175856" cy="3024809"/>
            <a:chOff x="2449747" y="3587113"/>
            <a:chExt cx="4432837" cy="29039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5587541" y="1513456"/>
            <a:ext cx="524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这种方法只能得到</a:t>
            </a:r>
            <a:r>
              <a:rPr lang="zh-CN" altLang="en-US" dirty="0">
                <a:solidFill>
                  <a:srgbClr val="C00000"/>
                </a:solidFill>
              </a:rPr>
              <a:t>近似解</a:t>
            </a:r>
            <a:r>
              <a:rPr lang="zh-CN" altLang="en-US" dirty="0"/>
              <a:t>，问题是有多近似？</a:t>
            </a:r>
            <a:endParaRPr lang="en-US" altLang="zh-CN" dirty="0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63D07F9B-9CFB-49E8-B0E3-1B2190D17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595475"/>
              </p:ext>
            </p:extLst>
          </p:nvPr>
        </p:nvGraphicFramePr>
        <p:xfrm>
          <a:off x="6013717" y="2635001"/>
          <a:ext cx="2195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279360" progId="Equation.DSMT4">
                  <p:embed/>
                </p:oleObj>
              </mc:Choice>
              <mc:Fallback>
                <p:oleObj name="Equation" r:id="rId4" imgW="1269720" imgH="279360" progId="Equation.DSMT4">
                  <p:embed/>
                  <p:pic>
                    <p:nvPicPr>
                      <p:cNvPr id="99" name="对象 98">
                        <a:extLst>
                          <a:ext uri="{FF2B5EF4-FFF2-40B4-BE49-F238E27FC236}">
                            <a16:creationId xmlns:a16="http://schemas.microsoft.com/office/drawing/2014/main" id="{63D07F9B-9CFB-49E8-B0E3-1B2190D17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3717" y="2635001"/>
                        <a:ext cx="2195513" cy="449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5587541" y="1886452"/>
            <a:ext cx="5243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latin typeface="+mn-ea"/>
              </a:rPr>
              <a:t>停止条件（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Stopping Criteria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）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+mn-ea"/>
              </a:rPr>
              <a:t>      </a:t>
            </a:r>
            <a:r>
              <a:rPr lang="zh-CN" altLang="en-US" dirty="0">
                <a:latin typeface="+mn-ea"/>
              </a:rPr>
              <a:t>当两步之间函数值变化很小时停止</a:t>
            </a:r>
            <a:endParaRPr lang="en-US" altLang="zh-CN" dirty="0">
              <a:latin typeface="+mn-ea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2DDC18C-D41A-48DA-8F08-BAC3CE0D30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717" y="3252269"/>
            <a:ext cx="3038657" cy="612103"/>
          </a:xfrm>
          <a:prstGeom prst="rect">
            <a:avLst/>
          </a:prstGeom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id="{F685F760-BA59-400F-94CD-DD2464E8C7E6}"/>
              </a:ext>
            </a:extLst>
          </p:cNvPr>
          <p:cNvSpPr/>
          <p:nvPr/>
        </p:nvSpPr>
        <p:spPr>
          <a:xfrm>
            <a:off x="7967835" y="2692530"/>
            <a:ext cx="241395" cy="26277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43" name="直接箭头连接符 42"/>
          <p:cNvCxnSpPr>
            <a:stCxn id="42" idx="4"/>
          </p:cNvCxnSpPr>
          <p:nvPr/>
        </p:nvCxnSpPr>
        <p:spPr>
          <a:xfrm flipH="1">
            <a:off x="7967835" y="2955300"/>
            <a:ext cx="120698" cy="37536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088532" y="323405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两步之间的差异，一个很小的值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795752" y="3943265"/>
            <a:ext cx="52433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可以证明（略，证明困难）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     当两步之间的差异很小时，当前的函数值离最优值的差异也会会很小：</a:t>
            </a: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2BE625C1-8BA1-49FF-8936-8BB5CFC34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219449"/>
              </p:ext>
            </p:extLst>
          </p:nvPr>
        </p:nvGraphicFramePr>
        <p:xfrm>
          <a:off x="6013717" y="5043275"/>
          <a:ext cx="2564974" cy="463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4960" imgH="279360" progId="Equation.DSMT4">
                  <p:embed/>
                </p:oleObj>
              </mc:Choice>
              <mc:Fallback>
                <p:oleObj name="Equation" r:id="rId7" imgW="1434960" imgH="279360" progId="Equation.DSMT4">
                  <p:embed/>
                  <p:pic>
                    <p:nvPicPr>
                      <p:cNvPr id="106" name="对象 105">
                        <a:extLst>
                          <a:ext uri="{FF2B5EF4-FFF2-40B4-BE49-F238E27FC236}">
                            <a16:creationId xmlns:a16="http://schemas.microsoft.com/office/drawing/2014/main" id="{2BE625C1-8BA1-49FF-8936-8BB5CFC340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13717" y="5043275"/>
                        <a:ext cx="2564974" cy="4631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椭圆 46">
            <a:extLst>
              <a:ext uri="{FF2B5EF4-FFF2-40B4-BE49-F238E27FC236}">
                <a16:creationId xmlns:a16="http://schemas.microsoft.com/office/drawing/2014/main" id="{F685F760-BA59-400F-94CD-DD2464E8C7E6}"/>
              </a:ext>
            </a:extLst>
          </p:cNvPr>
          <p:cNvSpPr/>
          <p:nvPr/>
        </p:nvSpPr>
        <p:spPr>
          <a:xfrm>
            <a:off x="8175568" y="5063658"/>
            <a:ext cx="241873" cy="3629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8296266" y="5414782"/>
            <a:ext cx="238" cy="37646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6096000" y="5703805"/>
            <a:ext cx="580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一个确定的参数，与</a:t>
            </a:r>
            <a:r>
              <a:rPr lang="en-US" altLang="zh-CN" dirty="0">
                <a:latin typeface="+mn-ea"/>
              </a:rPr>
              <a:t>Lipschitz Continuity</a:t>
            </a:r>
            <a:r>
              <a:rPr lang="zh-CN" altLang="en-US" dirty="0">
                <a:latin typeface="+mn-ea"/>
              </a:rPr>
              <a:t>有关，忽略</a:t>
            </a:r>
          </a:p>
        </p:txBody>
      </p:sp>
    </p:spTree>
    <p:extLst>
      <p:ext uri="{BB962C8B-B14F-4D97-AF65-F5344CB8AC3E}">
        <p14:creationId xmlns:p14="http://schemas.microsoft.com/office/powerpoint/2010/main" val="9461694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83146" y="152358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问题四：这种方法对于所有类型的函数都可以么？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1414946" y="2134213"/>
            <a:ext cx="4020654" cy="2863838"/>
            <a:chOff x="2449747" y="3587113"/>
            <a:chExt cx="4432837" cy="29039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44"/>
          <p:cNvSpPr txBox="1"/>
          <p:nvPr/>
        </p:nvSpPr>
        <p:spPr>
          <a:xfrm>
            <a:off x="2034311" y="5242431"/>
            <a:ext cx="307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只要控制好步长，就可以到达最优解的近似解</a:t>
            </a:r>
          </a:p>
        </p:txBody>
      </p:sp>
    </p:spTree>
    <p:extLst>
      <p:ext uri="{BB962C8B-B14F-4D97-AF65-F5344CB8AC3E}">
        <p14:creationId xmlns:p14="http://schemas.microsoft.com/office/powerpoint/2010/main" val="249736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83146" y="152358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问题四：这种方法对于所有类型的函数都可以么？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E722EE-10F7-4B65-8B23-7AC0590002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633" y="2036742"/>
            <a:ext cx="4401267" cy="3036731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1414946" y="2134213"/>
            <a:ext cx="4020654" cy="2863838"/>
            <a:chOff x="2449747" y="3587113"/>
            <a:chExt cx="4432837" cy="29039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44"/>
          <p:cNvSpPr txBox="1"/>
          <p:nvPr/>
        </p:nvSpPr>
        <p:spPr>
          <a:xfrm>
            <a:off x="2034311" y="5242431"/>
            <a:ext cx="307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只要控制好步长，就可以到达最优解的近似解</a:t>
            </a: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3464" y="1892913"/>
          <a:ext cx="3639127" cy="42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3464" y="1892913"/>
                        <a:ext cx="3639127" cy="427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09066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83146" y="152358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问题四：这种方法对于所有类型的函数都可以么？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E722EE-10F7-4B65-8B23-7AC0590002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633" y="2036742"/>
            <a:ext cx="4401267" cy="3036731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1414946" y="2134213"/>
            <a:ext cx="4020654" cy="2863838"/>
            <a:chOff x="2449747" y="3587113"/>
            <a:chExt cx="4432837" cy="29039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540B240-FB0E-4850-9E2C-9AE96507C151}"/>
              </a:ext>
            </a:extLst>
          </p:cNvPr>
          <p:cNvCxnSpPr/>
          <p:nvPr/>
        </p:nvCxnSpPr>
        <p:spPr>
          <a:xfrm flipH="1">
            <a:off x="9296400" y="3435951"/>
            <a:ext cx="215900" cy="366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540B240-FB0E-4850-9E2C-9AE96507C151}"/>
              </a:ext>
            </a:extLst>
          </p:cNvPr>
          <p:cNvCxnSpPr/>
          <p:nvPr/>
        </p:nvCxnSpPr>
        <p:spPr>
          <a:xfrm flipH="1">
            <a:off x="9169400" y="3802616"/>
            <a:ext cx="127000" cy="1438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540B240-FB0E-4850-9E2C-9AE96507C151}"/>
              </a:ext>
            </a:extLst>
          </p:cNvPr>
          <p:cNvCxnSpPr/>
          <p:nvPr/>
        </p:nvCxnSpPr>
        <p:spPr>
          <a:xfrm flipH="1">
            <a:off x="9111978" y="3946445"/>
            <a:ext cx="57422" cy="1753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9025980" y="4024573"/>
            <a:ext cx="178345" cy="23370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153275" y="5217302"/>
            <a:ext cx="235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掉到某个坑里出不来，从而得到局部最优解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034311" y="5242431"/>
            <a:ext cx="307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只要控制好步长，就可以到达最优解的近似解</a:t>
            </a: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231291"/>
              </p:ext>
            </p:extLst>
          </p:nvPr>
        </p:nvGraphicFramePr>
        <p:xfrm>
          <a:off x="6353464" y="1892913"/>
          <a:ext cx="3639127" cy="42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123" name="对象 122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3464" y="1892913"/>
                        <a:ext cx="3639127" cy="427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7964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83146" y="152358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问题四：这种方法对于所有类型的函数都可以么？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E722EE-10F7-4B65-8B23-7AC0590002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633" y="2036742"/>
            <a:ext cx="4401267" cy="3036731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1414946" y="2134213"/>
            <a:ext cx="4020654" cy="2863838"/>
            <a:chOff x="2449747" y="3587113"/>
            <a:chExt cx="4432837" cy="29039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540B240-FB0E-4850-9E2C-9AE96507C151}"/>
              </a:ext>
            </a:extLst>
          </p:cNvPr>
          <p:cNvCxnSpPr/>
          <p:nvPr/>
        </p:nvCxnSpPr>
        <p:spPr>
          <a:xfrm flipH="1">
            <a:off x="9296400" y="3435951"/>
            <a:ext cx="215900" cy="366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540B240-FB0E-4850-9E2C-9AE96507C151}"/>
              </a:ext>
            </a:extLst>
          </p:cNvPr>
          <p:cNvCxnSpPr/>
          <p:nvPr/>
        </p:nvCxnSpPr>
        <p:spPr>
          <a:xfrm flipH="1">
            <a:off x="9169400" y="3802616"/>
            <a:ext cx="127000" cy="1438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540B240-FB0E-4850-9E2C-9AE96507C151}"/>
              </a:ext>
            </a:extLst>
          </p:cNvPr>
          <p:cNvCxnSpPr/>
          <p:nvPr/>
        </p:nvCxnSpPr>
        <p:spPr>
          <a:xfrm flipH="1">
            <a:off x="9111978" y="3946445"/>
            <a:ext cx="57422" cy="1753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9025980" y="4024573"/>
            <a:ext cx="178345" cy="23370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153275" y="5217302"/>
            <a:ext cx="2359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掉到某个坑里出不来，从而得到局部最优解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034311" y="5242431"/>
            <a:ext cx="307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只要控制好步长，就可以到达最优解的近似解</a:t>
            </a: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2F0C7646-954B-4AED-983C-163CBABBB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3464" y="1892913"/>
          <a:ext cx="3639127" cy="42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74560" imgH="279360" progId="Equation.DSMT4">
                  <p:embed/>
                </p:oleObj>
              </mc:Choice>
              <mc:Fallback>
                <p:oleObj name="Equation" r:id="rId4" imgW="2374560" imgH="27936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2F0C7646-954B-4AED-983C-163CBABBB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3464" y="1892913"/>
                        <a:ext cx="3639127" cy="427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1414946" y="6154126"/>
            <a:ext cx="1109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</a:t>
            </a:r>
            <a:r>
              <a:rPr lang="zh-CN" altLang="en-US" dirty="0">
                <a:solidFill>
                  <a:srgbClr val="C00000"/>
                </a:solidFill>
              </a:rPr>
              <a:t>高中函数性质的角度</a:t>
            </a:r>
            <a:r>
              <a:rPr lang="zh-CN" altLang="en-US" dirty="0"/>
              <a:t>思考问题：函数具有什么样的性质就能保证梯度下降法有效（不会有坑）？</a:t>
            </a:r>
          </a:p>
        </p:txBody>
      </p:sp>
    </p:spTree>
    <p:extLst>
      <p:ext uri="{BB962C8B-B14F-4D97-AF65-F5344CB8AC3E}">
        <p14:creationId xmlns:p14="http://schemas.microsoft.com/office/powerpoint/2010/main" val="1622963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45046" y="147019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问题四：这种方法对于所有类型的函数都可以么？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5046" y="1956560"/>
            <a:ext cx="101039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从</a:t>
            </a:r>
            <a:r>
              <a:rPr lang="zh-CN" altLang="en-US" dirty="0">
                <a:solidFill>
                  <a:srgbClr val="C00000"/>
                </a:solidFill>
              </a:rPr>
              <a:t>高中函数性质的角度</a:t>
            </a:r>
            <a:r>
              <a:rPr lang="zh-CN" altLang="en-US" dirty="0"/>
              <a:t>思考问题：函数具有什么样的性质就能保证梯度下降法有效？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u="sng" dirty="0"/>
              <a:t>只要是</a:t>
            </a:r>
            <a:r>
              <a:rPr lang="zh-CN" altLang="en-US" b="1" u="sng" dirty="0">
                <a:solidFill>
                  <a:srgbClr val="C00000"/>
                </a:solidFill>
              </a:rPr>
              <a:t>凸函数（</a:t>
            </a:r>
            <a:r>
              <a:rPr lang="en-US" altLang="zh-CN" b="1" u="sng" dirty="0">
                <a:solidFill>
                  <a:srgbClr val="C00000"/>
                </a:solidFill>
              </a:rPr>
              <a:t>Convex Function</a:t>
            </a:r>
            <a:r>
              <a:rPr lang="zh-CN" altLang="en-US" b="1" u="sng" dirty="0">
                <a:solidFill>
                  <a:srgbClr val="C00000"/>
                </a:solidFill>
              </a:rPr>
              <a:t>）</a:t>
            </a:r>
            <a:r>
              <a:rPr lang="zh-CN" altLang="en-US" u="sng" dirty="0"/>
              <a:t>就可以：</a:t>
            </a:r>
            <a:endParaRPr lang="en-US" altLang="zh-CN" u="sng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B23AD3C-1699-47DF-8FDB-5796BD551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434203"/>
              </p:ext>
            </p:extLst>
          </p:nvPr>
        </p:nvGraphicFramePr>
        <p:xfrm>
          <a:off x="5840915" y="2511995"/>
          <a:ext cx="4664075" cy="432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253800" progId="Equation.DSMT4">
                  <p:embed/>
                </p:oleObj>
              </mc:Choice>
              <mc:Fallback>
                <p:oleObj name="Equation" r:id="rId2" imgW="2705040" imgH="25380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5B23AD3C-1699-47DF-8FDB-5796BD551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915" y="2511995"/>
                        <a:ext cx="4664075" cy="4325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19010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45046" y="147019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问题四：这种方法对于所有类型的函数都可以么？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5046" y="1956560"/>
            <a:ext cx="101039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从</a:t>
            </a:r>
            <a:r>
              <a:rPr lang="zh-CN" altLang="en-US" dirty="0">
                <a:solidFill>
                  <a:srgbClr val="C00000"/>
                </a:solidFill>
              </a:rPr>
              <a:t>高中函数性质的角度</a:t>
            </a:r>
            <a:r>
              <a:rPr lang="zh-CN" altLang="en-US" dirty="0"/>
              <a:t>思考问题：函数具有什么样的性质就能保证梯度下降法有效？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u="sng" dirty="0"/>
              <a:t>只要是</a:t>
            </a:r>
            <a:r>
              <a:rPr lang="zh-CN" altLang="en-US" b="1" u="sng" dirty="0">
                <a:solidFill>
                  <a:srgbClr val="C00000"/>
                </a:solidFill>
              </a:rPr>
              <a:t>凸函数（</a:t>
            </a:r>
            <a:r>
              <a:rPr lang="en-US" altLang="zh-CN" b="1" u="sng" dirty="0">
                <a:solidFill>
                  <a:srgbClr val="C00000"/>
                </a:solidFill>
              </a:rPr>
              <a:t>Convex Function</a:t>
            </a:r>
            <a:r>
              <a:rPr lang="zh-CN" altLang="en-US" b="1" u="sng" dirty="0">
                <a:solidFill>
                  <a:srgbClr val="C00000"/>
                </a:solidFill>
              </a:rPr>
              <a:t>）</a:t>
            </a:r>
            <a:r>
              <a:rPr lang="zh-CN" altLang="en-US" u="sng" dirty="0"/>
              <a:t>就可以：</a:t>
            </a:r>
            <a:endParaRPr lang="en-US" altLang="zh-CN" u="sng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B23AD3C-1699-47DF-8FDB-5796BD551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655282"/>
              </p:ext>
            </p:extLst>
          </p:nvPr>
        </p:nvGraphicFramePr>
        <p:xfrm>
          <a:off x="5819775" y="2511425"/>
          <a:ext cx="47069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253800" progId="Equation.DSMT4">
                  <p:embed/>
                </p:oleObj>
              </mc:Choice>
              <mc:Fallback>
                <p:oleObj name="Equation" r:id="rId2" imgW="2730240" imgH="253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B23AD3C-1699-47DF-8FDB-5796BD551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75" y="2511425"/>
                        <a:ext cx="4706938" cy="433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4FA58FE4-43EF-4945-B6B0-23DB91CD1FF6}"/>
              </a:ext>
            </a:extLst>
          </p:cNvPr>
          <p:cNvGrpSpPr/>
          <p:nvPr/>
        </p:nvGrpSpPr>
        <p:grpSpPr>
          <a:xfrm>
            <a:off x="1543484" y="3085793"/>
            <a:ext cx="4453539" cy="2605616"/>
            <a:chOff x="9766570" y="7220785"/>
            <a:chExt cx="6838324" cy="409623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7384283-2C1D-418E-8A4D-059A2285E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6570" y="7220785"/>
              <a:ext cx="5972371" cy="4096233"/>
            </a:xfrm>
            <a:prstGeom prst="rect">
              <a:avLst/>
            </a:prstGeom>
          </p:spPr>
        </p:pic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99E06DA-C9B7-4E87-959B-DA6FBED679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67424" y="8620926"/>
              <a:ext cx="3412515" cy="144936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9A5C509-ED19-4C74-822E-AE5A07ADA0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34268" y="9915747"/>
            <a:ext cx="1497183" cy="537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98400" imgH="253800" progId="Equation.DSMT4">
                    <p:embed/>
                  </p:oleObj>
                </mc:Choice>
                <mc:Fallback>
                  <p:oleObj name="Equation" r:id="rId5" imgW="698400" imgH="25380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D9A5C509-ED19-4C74-822E-AE5A07ADA0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4268" y="9915747"/>
                          <a:ext cx="1497183" cy="53788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A1A944DB-A2F7-4AB1-87BC-47033DF9B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52319" y="8352638"/>
            <a:ext cx="1552575" cy="536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23600" imgH="253800" progId="Equation.DSMT4">
                    <p:embed/>
                  </p:oleObj>
                </mc:Choice>
                <mc:Fallback>
                  <p:oleObj name="Equation" r:id="rId7" imgW="723600" imgH="253800" progId="Equation.DSMT4">
                    <p:embed/>
                    <p:pic>
                      <p:nvPicPr>
                        <p:cNvPr id="53" name="对象 52">
                          <a:extLst>
                            <a:ext uri="{FF2B5EF4-FFF2-40B4-BE49-F238E27FC236}">
                              <a16:creationId xmlns:a16="http://schemas.microsoft.com/office/drawing/2014/main" id="{A1A944DB-A2F7-4AB1-87BC-47033DF9B6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52319" y="8352638"/>
                          <a:ext cx="1552575" cy="5365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460E94CB-EB2B-4035-B8B8-79B2E62C38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57733" y="8424033"/>
            <a:ext cx="3162947" cy="553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434960" imgH="253800" progId="Equation.DSMT4">
                    <p:embed/>
                  </p:oleObj>
                </mc:Choice>
                <mc:Fallback>
                  <p:oleObj name="Equation" r:id="rId9" imgW="1434960" imgH="253800" progId="Equation.DSMT4">
                    <p:embed/>
                    <p:pic>
                      <p:nvPicPr>
                        <p:cNvPr id="54" name="对象 53">
                          <a:extLst>
                            <a:ext uri="{FF2B5EF4-FFF2-40B4-BE49-F238E27FC236}">
                              <a16:creationId xmlns:a16="http://schemas.microsoft.com/office/drawing/2014/main" id="{460E94CB-EB2B-4035-B8B8-79B2E62C38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57733" y="8424033"/>
                          <a:ext cx="3162947" cy="5530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3CF0B02-8C35-45E4-8940-DF5CB77DEB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79874" y="9124457"/>
              <a:ext cx="29752" cy="1107133"/>
            </a:xfrm>
            <a:prstGeom prst="line">
              <a:avLst/>
            </a:prstGeom>
            <a:ln w="381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D3F174D4-39C0-42CF-B6EC-0760255EE4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7642556"/>
                </p:ext>
              </p:extLst>
            </p:nvPr>
          </p:nvGraphicFramePr>
          <p:xfrm>
            <a:off x="13202886" y="10196112"/>
            <a:ext cx="3049408" cy="641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93760" imgH="253800" progId="Equation.DSMT4">
                    <p:embed/>
                  </p:oleObj>
                </mc:Choice>
                <mc:Fallback>
                  <p:oleObj name="Equation" r:id="rId11" imgW="1193760" imgH="253800" progId="Equation.DSMT4">
                    <p:embed/>
                    <p:pic>
                      <p:nvPicPr>
                        <p:cNvPr id="57" name="对象 56">
                          <a:extLst>
                            <a:ext uri="{FF2B5EF4-FFF2-40B4-BE49-F238E27FC236}">
                              <a16:creationId xmlns:a16="http://schemas.microsoft.com/office/drawing/2014/main" id="{D3F174D4-39C0-42CF-B6EC-0760255EE4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02886" y="10196112"/>
                          <a:ext cx="3049408" cy="6413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2827210" y="5755060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一定有个谷底！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10A0C8D-304E-47A0-B0E4-80F03FA5DD1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757" y="2944589"/>
            <a:ext cx="3958397" cy="26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61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45046" y="1470191"/>
            <a:ext cx="669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问题五：为什么要把凸优化单独拿出来考虑？</a:t>
            </a:r>
          </a:p>
        </p:txBody>
      </p:sp>
      <p:sp>
        <p:nvSpPr>
          <p:cNvPr id="6" name="矩形 5"/>
          <p:cNvSpPr/>
          <p:nvPr/>
        </p:nvSpPr>
        <p:spPr>
          <a:xfrm>
            <a:off x="945046" y="1982332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一些常见的机器学习问题的损失函数</a:t>
            </a:r>
            <a:r>
              <a:rPr lang="zh-CN" altLang="en-US" b="1" dirty="0">
                <a:solidFill>
                  <a:srgbClr val="C00000"/>
                </a:solidFill>
              </a:rPr>
              <a:t>都是凸</a:t>
            </a:r>
            <a:r>
              <a:rPr lang="zh-CN" altLang="en-US" b="1" dirty="0"/>
              <a:t>的：</a:t>
            </a:r>
            <a:endParaRPr lang="en-US" altLang="zh-CN" b="1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66256D3-BAED-4898-801C-E021E9153E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691660"/>
              </p:ext>
            </p:extLst>
          </p:nvPr>
        </p:nvGraphicFramePr>
        <p:xfrm>
          <a:off x="5279271" y="4241800"/>
          <a:ext cx="319722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431640" progId="Equation.DSMT4">
                  <p:embed/>
                </p:oleObj>
              </mc:Choice>
              <mc:Fallback>
                <p:oleObj name="Equation" r:id="rId2" imgW="171432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66256D3-BAED-4898-801C-E021E9153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271" y="4241800"/>
                        <a:ext cx="3197225" cy="795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8A6A655-54A0-4916-A76B-33675AB351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421360"/>
              </p:ext>
            </p:extLst>
          </p:nvPr>
        </p:nvGraphicFramePr>
        <p:xfrm>
          <a:off x="4581544" y="2420611"/>
          <a:ext cx="2012582" cy="724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457200" progId="Equation.DSMT4">
                  <p:embed/>
                </p:oleObj>
              </mc:Choice>
              <mc:Fallback>
                <p:oleObj name="Equation" r:id="rId4" imgW="1257120" imgH="457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8A6A655-54A0-4916-A76B-33675AB351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44" y="2420611"/>
                        <a:ext cx="2012582" cy="7249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F26CBB9-FCAC-4D7B-837B-4DFCF70AE32C}"/>
              </a:ext>
            </a:extLst>
          </p:cNvPr>
          <p:cNvSpPr txBox="1"/>
          <p:nvPr/>
        </p:nvSpPr>
        <p:spPr>
          <a:xfrm>
            <a:off x="1269447" y="2636055"/>
            <a:ext cx="470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绝对值和最小化原则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87CBDE-7E74-49F5-B887-EFA9AC56A034}"/>
              </a:ext>
            </a:extLst>
          </p:cNvPr>
          <p:cNvSpPr txBox="1"/>
          <p:nvPr/>
        </p:nvSpPr>
        <p:spPr>
          <a:xfrm>
            <a:off x="1269447" y="3526674"/>
            <a:ext cx="470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最小二乘原则下的线性回归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77B6B65-36B2-412F-A75E-EDAA068C9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849600"/>
              </p:ext>
            </p:extLst>
          </p:nvPr>
        </p:nvGraphicFramePr>
        <p:xfrm>
          <a:off x="4750101" y="3337739"/>
          <a:ext cx="2186891" cy="71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457200" progId="Equation.DSMT4">
                  <p:embed/>
                </p:oleObj>
              </mc:Choice>
              <mc:Fallback>
                <p:oleObj name="Equation" r:id="rId6" imgW="1384200" imgH="457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77B6B65-36B2-412F-A75E-EDAA068C98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0101" y="3337739"/>
                        <a:ext cx="2186891" cy="7155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A4E5B515-9409-4754-8F30-2D0F2E5FD657}"/>
              </a:ext>
            </a:extLst>
          </p:cNvPr>
          <p:cNvSpPr txBox="1"/>
          <p:nvPr/>
        </p:nvSpPr>
        <p:spPr>
          <a:xfrm>
            <a:off x="1269447" y="4471740"/>
            <a:ext cx="470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最大似然估计下的逻辑斯蒂回归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0E89B0D-E00E-41B2-A1AE-929D1D9FE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867898"/>
              </p:ext>
            </p:extLst>
          </p:nvPr>
        </p:nvGraphicFramePr>
        <p:xfrm>
          <a:off x="6821858" y="2570412"/>
          <a:ext cx="16986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253800" progId="Equation.DSMT4">
                  <p:embed/>
                </p:oleObj>
              </mc:Choice>
              <mc:Fallback>
                <p:oleObj name="Equation" r:id="rId8" imgW="977760" imgH="2538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0E89B0D-E00E-41B2-A1AE-929D1D9FE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858" y="2570412"/>
                        <a:ext cx="1698625" cy="434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0E89B0D-E00E-41B2-A1AE-929D1D9FE2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845575"/>
              </p:ext>
            </p:extLst>
          </p:nvPr>
        </p:nvGraphicFramePr>
        <p:xfrm>
          <a:off x="7102092" y="3468356"/>
          <a:ext cx="1736354" cy="44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760" imgH="253800" progId="Equation.DSMT4">
                  <p:embed/>
                </p:oleObj>
              </mc:Choice>
              <mc:Fallback>
                <p:oleObj name="Equation" r:id="rId10" imgW="977760" imgH="2538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0E89B0D-E00E-41B2-A1AE-929D1D9FE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2092" y="3468356"/>
                        <a:ext cx="1736354" cy="444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26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凸优化 </a:t>
            </a:r>
            <a:r>
              <a:rPr lang="en-US" altLang="zh-CN" b="1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022" y="2376579"/>
            <a:ext cx="3103378" cy="398798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200" y="1761008"/>
            <a:ext cx="988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想要了解更多，可以阅读关于凸优化的一般入门书籍：</a:t>
            </a:r>
            <a:endParaRPr lang="en-US" altLang="zh-CN" b="1" dirty="0"/>
          </a:p>
          <a:p>
            <a:r>
              <a:rPr lang="en-US" altLang="zh-CN" b="1" dirty="0"/>
              <a:t>S. Boyd and L. </a:t>
            </a:r>
            <a:r>
              <a:rPr lang="en-US" altLang="zh-CN" b="1" dirty="0" err="1"/>
              <a:t>Vandenberghe</a:t>
            </a:r>
            <a:r>
              <a:rPr lang="en-US" altLang="zh-CN" b="1" dirty="0"/>
              <a:t>, “Convex Optimization”, Cambridge University Press, 2004.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995" y="2993032"/>
            <a:ext cx="1985080" cy="22785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95" y="5296983"/>
            <a:ext cx="1985080" cy="74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275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D10B1FE-7916-4580-BB3B-94FA16C098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323974"/>
          <a:ext cx="221249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DSMT4">
                  <p:embed/>
                </p:oleObj>
              </mc:Choice>
              <mc:Fallback>
                <p:oleObj name="Equation" r:id="rId2" imgW="927000" imgH="228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D10B1FE-7916-4580-BB3B-94FA16C098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323974"/>
                        <a:ext cx="2212492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680" y="1323974"/>
            <a:ext cx="4689542" cy="319906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4300" y="519623"/>
            <a:ext cx="34483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800" b="1" dirty="0"/>
              <a:t>梯度下降小练习</a:t>
            </a:r>
            <a:endParaRPr lang="en-US" altLang="zh-CN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300ED5-2BFE-4355-8F52-770443926976}"/>
              </a:ext>
            </a:extLst>
          </p:cNvPr>
          <p:cNvSpPr txBox="1"/>
          <p:nvPr/>
        </p:nvSpPr>
        <p:spPr>
          <a:xfrm>
            <a:off x="3562680" y="4687414"/>
            <a:ext cx="819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① 尝试用</a:t>
            </a:r>
            <a:r>
              <a:rPr lang="en-US" altLang="zh-CN" sz="2400" dirty="0"/>
              <a:t>Gradient Descent</a:t>
            </a:r>
            <a:r>
              <a:rPr lang="zh-CN" altLang="en-US" sz="2400" dirty="0"/>
              <a:t>求最小值</a:t>
            </a:r>
          </a:p>
        </p:txBody>
      </p:sp>
    </p:spTree>
    <p:extLst>
      <p:ext uri="{BB962C8B-B14F-4D97-AF65-F5344CB8AC3E}">
        <p14:creationId xmlns:p14="http://schemas.microsoft.com/office/powerpoint/2010/main" val="9693114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805" y="2096504"/>
            <a:ext cx="6307316" cy="22901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如何求解函数的最小值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随机优化</a:t>
            </a:r>
            <a:r>
              <a:rPr lang="en-US" altLang="zh-CN" dirty="0"/>
              <a:t> Stochastic Optimization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凸优化 </a:t>
            </a:r>
            <a:r>
              <a:rPr lang="en-US" altLang="zh-CN" dirty="0"/>
              <a:t>Convex Optimization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61</a:t>
            </a:fld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95552E4-FEC3-43B6-B315-2D24E2EDE503}"/>
              </a:ext>
            </a:extLst>
          </p:cNvPr>
          <p:cNvGrpSpPr/>
          <p:nvPr/>
        </p:nvGrpSpPr>
        <p:grpSpPr>
          <a:xfrm>
            <a:off x="1510805" y="4953020"/>
            <a:ext cx="2572854" cy="1625485"/>
            <a:chOff x="2449747" y="3587113"/>
            <a:chExt cx="4432837" cy="2903941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0921378-DF9E-462B-AD67-32A8EA239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9747" y="3587113"/>
              <a:ext cx="4432837" cy="2903941"/>
            </a:xfrm>
            <a:prstGeom prst="rect">
              <a:avLst/>
            </a:prstGeom>
          </p:spPr>
        </p:pic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A53C222F-8E3A-4981-97CE-4943F6410E93}"/>
                </a:ext>
              </a:extLst>
            </p:cNvPr>
            <p:cNvGrpSpPr/>
            <p:nvPr/>
          </p:nvGrpSpPr>
          <p:grpSpPr>
            <a:xfrm>
              <a:off x="3151332" y="4227950"/>
              <a:ext cx="89477" cy="88900"/>
              <a:chOff x="1265382" y="3846945"/>
              <a:chExt cx="89477" cy="88900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457C0A72-3756-496B-BF2B-A2B2D78513A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F276B7AC-A1BF-41D4-9551-3E7CBB65D244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47B47D9-E377-4162-A5D8-5E36E91FB6FD}"/>
                </a:ext>
              </a:extLst>
            </p:cNvPr>
            <p:cNvGrpSpPr/>
            <p:nvPr/>
          </p:nvGrpSpPr>
          <p:grpSpPr>
            <a:xfrm>
              <a:off x="3623906" y="5191133"/>
              <a:ext cx="89477" cy="88900"/>
              <a:chOff x="1265382" y="3846945"/>
              <a:chExt cx="89477" cy="88900"/>
            </a:xfrm>
          </p:grpSpPr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80B8C326-9F06-4AC6-8F21-2CED4FE36207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AA19750B-72BC-4B78-9B39-E1E3951199BB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2494D5A-E312-4DFC-8B78-CB93FF841515}"/>
                </a:ext>
              </a:extLst>
            </p:cNvPr>
            <p:cNvGrpSpPr/>
            <p:nvPr/>
          </p:nvGrpSpPr>
          <p:grpSpPr>
            <a:xfrm>
              <a:off x="4180032" y="5909033"/>
              <a:ext cx="89477" cy="88900"/>
              <a:chOff x="1265382" y="3846945"/>
              <a:chExt cx="89477" cy="88900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F776AEC-27DA-4865-9631-2CF7025F07B6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782A426E-A421-44E9-A3FC-E0A38B9100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0B30547-B48E-41E3-9AB4-4C3CF1B6056E}"/>
                </a:ext>
              </a:extLst>
            </p:cNvPr>
            <p:cNvGrpSpPr/>
            <p:nvPr/>
          </p:nvGrpSpPr>
          <p:grpSpPr>
            <a:xfrm>
              <a:off x="5260652" y="5864006"/>
              <a:ext cx="89477" cy="88900"/>
              <a:chOff x="1265382" y="3846945"/>
              <a:chExt cx="89477" cy="889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EDFE656-73CE-47D4-9743-66C524AA99C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50FF6C4F-1BCE-4E93-964D-699C19528E9C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AB7535CE-1DF9-44C2-884D-78559CC0508F}"/>
                </a:ext>
              </a:extLst>
            </p:cNvPr>
            <p:cNvGrpSpPr/>
            <p:nvPr/>
          </p:nvGrpSpPr>
          <p:grpSpPr>
            <a:xfrm>
              <a:off x="4482523" y="6079906"/>
              <a:ext cx="89477" cy="88900"/>
              <a:chOff x="1265382" y="3846945"/>
              <a:chExt cx="89477" cy="88900"/>
            </a:xfrm>
          </p:grpSpPr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FB5C7E83-E87B-49EE-ACBE-1F5F24EE8F6E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99BCBCC4-096B-4ED3-8C00-9BD75A6F6602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740308A-32C3-417D-909F-291F0D5E3E6A}"/>
                </a:ext>
              </a:extLst>
            </p:cNvPr>
            <p:cNvGrpSpPr/>
            <p:nvPr/>
          </p:nvGrpSpPr>
          <p:grpSpPr>
            <a:xfrm>
              <a:off x="4978360" y="6059702"/>
              <a:ext cx="89477" cy="88900"/>
              <a:chOff x="1265382" y="3846945"/>
              <a:chExt cx="89477" cy="8890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862CE694-86E0-4A09-B469-F3437AC93BB1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3BD4E16-5840-4AFA-AE69-6DE33B31B2C0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350A6E0-E53E-4FE9-8BFC-FB3D7123A705}"/>
                </a:ext>
              </a:extLst>
            </p:cNvPr>
            <p:cNvGrpSpPr/>
            <p:nvPr/>
          </p:nvGrpSpPr>
          <p:grpSpPr>
            <a:xfrm>
              <a:off x="4666165" y="6123779"/>
              <a:ext cx="89477" cy="88900"/>
              <a:chOff x="1265382" y="3846945"/>
              <a:chExt cx="89477" cy="88900"/>
            </a:xfrm>
          </p:grpSpPr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BD3E866E-630C-489F-8E7F-CCCE1D406BD9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5A3A5880-3A09-4786-999C-A02F9363E96E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3E512A5-B0CC-4F1E-82DC-20E4BBECE87A}"/>
                </a:ext>
              </a:extLst>
            </p:cNvPr>
            <p:cNvGrpSpPr/>
            <p:nvPr/>
          </p:nvGrpSpPr>
          <p:grpSpPr>
            <a:xfrm>
              <a:off x="4788368" y="6116276"/>
              <a:ext cx="89477" cy="88900"/>
              <a:chOff x="1265382" y="3846945"/>
              <a:chExt cx="89477" cy="8890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82E10FA7-A3C8-4FC1-8CBA-FF83E2103C4A}"/>
                  </a:ext>
                </a:extLst>
              </p:cNvPr>
              <p:cNvCxnSpPr/>
              <p:nvPr/>
            </p:nvCxnSpPr>
            <p:spPr>
              <a:xfrm>
                <a:off x="1271732" y="3848100"/>
                <a:ext cx="83127" cy="877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8E09A8D-A7C6-4B3A-AA34-374EBB0AF297}"/>
                  </a:ext>
                </a:extLst>
              </p:cNvPr>
              <p:cNvCxnSpPr/>
              <p:nvPr/>
            </p:nvCxnSpPr>
            <p:spPr>
              <a:xfrm flipH="1">
                <a:off x="1265382" y="3846945"/>
                <a:ext cx="83127" cy="8774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5C4C01E-BE34-45B8-9DE5-D9AEA26EF586}"/>
                </a:ext>
              </a:extLst>
            </p:cNvPr>
            <p:cNvCxnSpPr/>
            <p:nvPr/>
          </p:nvCxnSpPr>
          <p:spPr>
            <a:xfrm>
              <a:off x="3266680" y="4262161"/>
              <a:ext cx="472574" cy="9631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A75BC60-9B02-4E93-9F2B-677CE123E473}"/>
                </a:ext>
              </a:extLst>
            </p:cNvPr>
            <p:cNvCxnSpPr/>
            <p:nvPr/>
          </p:nvCxnSpPr>
          <p:spPr>
            <a:xfrm>
              <a:off x="3765125" y="5278879"/>
              <a:ext cx="456470" cy="5851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540B240-FB0E-4850-9E2C-9AE96507C151}"/>
                </a:ext>
              </a:extLst>
            </p:cNvPr>
            <p:cNvCxnSpPr/>
            <p:nvPr/>
          </p:nvCxnSpPr>
          <p:spPr>
            <a:xfrm>
              <a:off x="4263159" y="5907879"/>
              <a:ext cx="9911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B1DE95C6-4FDF-4DB5-804B-D995822F7B4B}"/>
                </a:ext>
              </a:extLst>
            </p:cNvPr>
            <p:cNvCxnSpPr/>
            <p:nvPr/>
          </p:nvCxnSpPr>
          <p:spPr>
            <a:xfrm flipH="1">
              <a:off x="4524086" y="5907879"/>
              <a:ext cx="742916" cy="1956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C929997-4D92-43C7-B15B-76534BD296BC}"/>
                </a:ext>
              </a:extLst>
            </p:cNvPr>
            <p:cNvCxnSpPr/>
            <p:nvPr/>
          </p:nvCxnSpPr>
          <p:spPr>
            <a:xfrm flipV="1">
              <a:off x="4578350" y="6103575"/>
              <a:ext cx="434069" cy="11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6B2A443-B630-46A4-9AF5-1DEBA3AA012F}"/>
                </a:ext>
              </a:extLst>
            </p:cNvPr>
            <p:cNvCxnSpPr/>
            <p:nvPr/>
          </p:nvCxnSpPr>
          <p:spPr>
            <a:xfrm flipH="1">
              <a:off x="4672515" y="6109926"/>
              <a:ext cx="347408" cy="577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4397652" y="4897635"/>
            <a:ext cx="2369832" cy="1736254"/>
            <a:chOff x="6148882" y="1716060"/>
            <a:chExt cx="4663734" cy="3157954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810A0C8D-304E-47A0-B0E4-80F03FA5D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8882" y="1716060"/>
              <a:ext cx="4663734" cy="3157954"/>
            </a:xfrm>
            <a:prstGeom prst="rect">
              <a:avLst/>
            </a:prstGeom>
          </p:spPr>
        </p:pic>
        <p:cxnSp>
          <p:nvCxnSpPr>
            <p:cNvPr id="48" name="直接箭头连接符 47"/>
            <p:cNvCxnSpPr/>
            <p:nvPr/>
          </p:nvCxnSpPr>
          <p:spPr>
            <a:xfrm flipH="1">
              <a:off x="9867900" y="2446853"/>
              <a:ext cx="190500" cy="4300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flipH="1">
              <a:off x="9512300" y="2876870"/>
              <a:ext cx="355600" cy="369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>
              <a:off x="9130755" y="3246202"/>
              <a:ext cx="381545" cy="5002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H="1">
              <a:off x="8890000" y="3746500"/>
              <a:ext cx="240755" cy="266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H="1">
              <a:off x="8610600" y="4013200"/>
              <a:ext cx="279400" cy="2413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05122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机器学习的基本流程 </a:t>
            </a:r>
            <a:r>
              <a:rPr lang="en-US" altLang="zh-CN" sz="3600" b="1" dirty="0"/>
              <a:t>Process of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Machine Learning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6" name="流程图: 磁盘 5"/>
          <p:cNvSpPr/>
          <p:nvPr/>
        </p:nvSpPr>
        <p:spPr>
          <a:xfrm>
            <a:off x="1736978" y="440963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磁盘 6"/>
          <p:cNvSpPr/>
          <p:nvPr/>
        </p:nvSpPr>
        <p:spPr>
          <a:xfrm>
            <a:off x="1736978" y="424337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736978" y="407712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磁盘 8"/>
          <p:cNvSpPr/>
          <p:nvPr/>
        </p:nvSpPr>
        <p:spPr>
          <a:xfrm>
            <a:off x="1736978" y="391086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磁盘 9"/>
          <p:cNvSpPr/>
          <p:nvPr/>
        </p:nvSpPr>
        <p:spPr>
          <a:xfrm>
            <a:off x="1736978" y="374461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磁盘 10"/>
          <p:cNvSpPr/>
          <p:nvPr/>
        </p:nvSpPr>
        <p:spPr>
          <a:xfrm>
            <a:off x="1736978" y="357835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磁盘 11"/>
          <p:cNvSpPr/>
          <p:nvPr/>
        </p:nvSpPr>
        <p:spPr>
          <a:xfrm>
            <a:off x="1736978" y="341210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磁盘 12"/>
          <p:cNvSpPr/>
          <p:nvPr/>
        </p:nvSpPr>
        <p:spPr>
          <a:xfrm>
            <a:off x="1736978" y="324584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磁盘 13"/>
          <p:cNvSpPr/>
          <p:nvPr/>
        </p:nvSpPr>
        <p:spPr>
          <a:xfrm>
            <a:off x="1736978" y="3079593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磁盘 14"/>
          <p:cNvSpPr/>
          <p:nvPr/>
        </p:nvSpPr>
        <p:spPr>
          <a:xfrm>
            <a:off x="1736978" y="2913338"/>
            <a:ext cx="1213658" cy="16625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936607" y="4647249"/>
            <a:ext cx="673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数据</a:t>
            </a:r>
            <a:endParaRPr lang="en-US" altLang="zh-CN" b="1" dirty="0"/>
          </a:p>
          <a:p>
            <a:pPr algn="ctr"/>
            <a:r>
              <a:rPr lang="en-US" altLang="zh-CN" b="1" dirty="0"/>
              <a:t>Data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013276" y="4910858"/>
            <a:ext cx="7120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</a:t>
            </a:r>
            <a:endParaRPr lang="en-US" altLang="zh-CN" b="1" dirty="0"/>
          </a:p>
          <a:p>
            <a:pPr algn="ctr"/>
            <a:r>
              <a:rPr lang="en-US" altLang="zh-CN" b="1" dirty="0"/>
              <a:t>Train</a:t>
            </a:r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8102623" y="2871214"/>
            <a:ext cx="2159635" cy="2304610"/>
            <a:chOff x="4449907" y="3191494"/>
            <a:chExt cx="2159635" cy="2304610"/>
          </a:xfrm>
        </p:grpSpPr>
        <p:grpSp>
          <p:nvGrpSpPr>
            <p:cNvPr id="18" name="组合 17"/>
            <p:cNvGrpSpPr/>
            <p:nvPr/>
          </p:nvGrpSpPr>
          <p:grpSpPr>
            <a:xfrm>
              <a:off x="4449907" y="3191494"/>
              <a:ext cx="2159635" cy="1905240"/>
              <a:chOff x="7411085" y="4840845"/>
              <a:chExt cx="2159635" cy="1905240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7947660" y="5070873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947660" y="5532836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47660" y="5994799"/>
                <a:ext cx="228600" cy="228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488680" y="4840845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488680" y="5299473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488680" y="57661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8488680" y="6223399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029700" y="5528073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5" name="直接箭头连接符 34"/>
              <p:cNvCxnSpPr>
                <a:endCxn id="27" idx="2"/>
              </p:cNvCxnSpPr>
              <p:nvPr/>
            </p:nvCxnSpPr>
            <p:spPr>
              <a:xfrm>
                <a:off x="7415530" y="51851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7415530" y="5642373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7415530" y="6109099"/>
                <a:ext cx="53213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9239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endCxn id="28" idx="2"/>
              </p:cNvCxnSpPr>
              <p:nvPr/>
            </p:nvCxnSpPr>
            <p:spPr>
              <a:xfrm flipV="1">
                <a:off x="7411085" y="5647136"/>
                <a:ext cx="536575" cy="4460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28" idx="2"/>
              </p:cNvCxnSpPr>
              <p:nvPr/>
            </p:nvCxnSpPr>
            <p:spPr>
              <a:xfrm>
                <a:off x="7415530" y="5188348"/>
                <a:ext cx="532130" cy="45878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endCxn id="29" idx="2"/>
              </p:cNvCxnSpPr>
              <p:nvPr/>
            </p:nvCxnSpPr>
            <p:spPr>
              <a:xfrm>
                <a:off x="7411085" y="5201050"/>
                <a:ext cx="536575" cy="9080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endCxn id="27" idx="2"/>
              </p:cNvCxnSpPr>
              <p:nvPr/>
            </p:nvCxnSpPr>
            <p:spPr>
              <a:xfrm flipV="1">
                <a:off x="7415530" y="5185173"/>
                <a:ext cx="532130" cy="4572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endCxn id="29" idx="2"/>
              </p:cNvCxnSpPr>
              <p:nvPr/>
            </p:nvCxnSpPr>
            <p:spPr>
              <a:xfrm>
                <a:off x="7411085" y="5658249"/>
                <a:ext cx="536575" cy="4508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27" idx="6"/>
                <a:endCxn id="30" idx="2"/>
              </p:cNvCxnSpPr>
              <p:nvPr/>
            </p:nvCxnSpPr>
            <p:spPr>
              <a:xfrm flipV="1">
                <a:off x="8176260" y="4955145"/>
                <a:ext cx="312420" cy="23002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27" idx="6"/>
                <a:endCxn id="31" idx="2"/>
              </p:cNvCxnSpPr>
              <p:nvPr/>
            </p:nvCxnSpPr>
            <p:spPr>
              <a:xfrm>
                <a:off x="8176260" y="51851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27" idx="6"/>
                <a:endCxn id="32" idx="2"/>
              </p:cNvCxnSpPr>
              <p:nvPr/>
            </p:nvCxnSpPr>
            <p:spPr>
              <a:xfrm>
                <a:off x="8176260" y="51851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27" idx="6"/>
                <a:endCxn id="33" idx="2"/>
              </p:cNvCxnSpPr>
              <p:nvPr/>
            </p:nvCxnSpPr>
            <p:spPr>
              <a:xfrm>
                <a:off x="8176260" y="5185173"/>
                <a:ext cx="312420" cy="11525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28" idx="6"/>
                <a:endCxn id="30" idx="2"/>
              </p:cNvCxnSpPr>
              <p:nvPr/>
            </p:nvCxnSpPr>
            <p:spPr>
              <a:xfrm flipV="1">
                <a:off x="8176260" y="4955145"/>
                <a:ext cx="312420" cy="69199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28" idx="6"/>
                <a:endCxn id="31" idx="2"/>
              </p:cNvCxnSpPr>
              <p:nvPr/>
            </p:nvCxnSpPr>
            <p:spPr>
              <a:xfrm flipV="1">
                <a:off x="8176260" y="5413773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28" idx="6"/>
                <a:endCxn id="32" idx="2"/>
              </p:cNvCxnSpPr>
              <p:nvPr/>
            </p:nvCxnSpPr>
            <p:spPr>
              <a:xfrm>
                <a:off x="8176260" y="5647136"/>
                <a:ext cx="312420" cy="233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28" idx="6"/>
                <a:endCxn id="33" idx="2"/>
              </p:cNvCxnSpPr>
              <p:nvPr/>
            </p:nvCxnSpPr>
            <p:spPr>
              <a:xfrm>
                <a:off x="8176260" y="5647136"/>
                <a:ext cx="312420" cy="6905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29" idx="6"/>
                <a:endCxn id="30" idx="2"/>
              </p:cNvCxnSpPr>
              <p:nvPr/>
            </p:nvCxnSpPr>
            <p:spPr>
              <a:xfrm flipV="1">
                <a:off x="8176260" y="4955145"/>
                <a:ext cx="312420" cy="1153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29" idx="6"/>
                <a:endCxn id="31" idx="2"/>
              </p:cNvCxnSpPr>
              <p:nvPr/>
            </p:nvCxnSpPr>
            <p:spPr>
              <a:xfrm flipV="1">
                <a:off x="8176260" y="5413773"/>
                <a:ext cx="312420" cy="6953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9" idx="6"/>
                <a:endCxn id="32" idx="2"/>
              </p:cNvCxnSpPr>
              <p:nvPr/>
            </p:nvCxnSpPr>
            <p:spPr>
              <a:xfrm flipV="1">
                <a:off x="8176260" y="5880499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/>
              <p:cNvCxnSpPr>
                <a:endCxn id="33" idx="2"/>
              </p:cNvCxnSpPr>
              <p:nvPr/>
            </p:nvCxnSpPr>
            <p:spPr>
              <a:xfrm>
                <a:off x="8176260" y="6113863"/>
                <a:ext cx="312420" cy="2238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3" idx="6"/>
                <a:endCxn id="34" idx="3"/>
              </p:cNvCxnSpPr>
              <p:nvPr/>
            </p:nvCxnSpPr>
            <p:spPr>
              <a:xfrm flipV="1">
                <a:off x="8717280" y="5723195"/>
                <a:ext cx="345898" cy="6145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32" idx="6"/>
                <a:endCxn id="34" idx="2"/>
              </p:cNvCxnSpPr>
              <p:nvPr/>
            </p:nvCxnSpPr>
            <p:spPr>
              <a:xfrm flipV="1">
                <a:off x="8717280" y="5642373"/>
                <a:ext cx="312420" cy="2381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31" idx="6"/>
                <a:endCxn id="34" idx="2"/>
              </p:cNvCxnSpPr>
              <p:nvPr/>
            </p:nvCxnSpPr>
            <p:spPr>
              <a:xfrm>
                <a:off x="8717280" y="5413773"/>
                <a:ext cx="312420" cy="2286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>
                <a:stCxn id="30" idx="6"/>
                <a:endCxn id="34" idx="1"/>
              </p:cNvCxnSpPr>
              <p:nvPr/>
            </p:nvCxnSpPr>
            <p:spPr>
              <a:xfrm>
                <a:off x="8717280" y="4955145"/>
                <a:ext cx="345898" cy="60640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34" idx="6"/>
              </p:cNvCxnSpPr>
              <p:nvPr/>
            </p:nvCxnSpPr>
            <p:spPr>
              <a:xfrm>
                <a:off x="9258300" y="5642373"/>
                <a:ext cx="3124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矩形 60"/>
              <p:cNvSpPr/>
              <p:nvPr/>
            </p:nvSpPr>
            <p:spPr>
              <a:xfrm>
                <a:off x="7981656" y="6438308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4912744" y="4849773"/>
              <a:ext cx="8595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模型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Model</a:t>
              </a:r>
              <a:endParaRPr lang="zh-CN" altLang="en-US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7078999" y="195778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</a:t>
            </a:r>
            <a:endParaRPr lang="en-US" altLang="zh-CN" b="1" dirty="0"/>
          </a:p>
          <a:p>
            <a:pPr algn="ctr"/>
            <a:r>
              <a:rPr lang="en-US" altLang="zh-CN" b="1" dirty="0"/>
              <a:t>Test</a:t>
            </a:r>
            <a:endParaRPr lang="zh-CN" altLang="en-US" dirty="0"/>
          </a:p>
        </p:txBody>
      </p:sp>
      <p:sp>
        <p:nvSpPr>
          <p:cNvPr id="23" name="流程图: 磁盘 22"/>
          <p:cNvSpPr/>
          <p:nvPr/>
        </p:nvSpPr>
        <p:spPr>
          <a:xfrm>
            <a:off x="4959488" y="231868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磁盘 23"/>
          <p:cNvSpPr/>
          <p:nvPr/>
        </p:nvSpPr>
        <p:spPr>
          <a:xfrm>
            <a:off x="4959488" y="2152428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磁盘 24"/>
          <p:cNvSpPr/>
          <p:nvPr/>
        </p:nvSpPr>
        <p:spPr>
          <a:xfrm>
            <a:off x="4959488" y="1986173"/>
            <a:ext cx="1213658" cy="166255"/>
          </a:xfrm>
          <a:prstGeom prst="flowChartMagneticDisk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流程图: 磁盘 62"/>
          <p:cNvSpPr/>
          <p:nvPr/>
        </p:nvSpPr>
        <p:spPr>
          <a:xfrm>
            <a:off x="4959488" y="574208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流程图: 磁盘 63"/>
          <p:cNvSpPr/>
          <p:nvPr/>
        </p:nvSpPr>
        <p:spPr>
          <a:xfrm>
            <a:off x="4959488" y="557582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流程图: 磁盘 64"/>
          <p:cNvSpPr/>
          <p:nvPr/>
        </p:nvSpPr>
        <p:spPr>
          <a:xfrm>
            <a:off x="4959488" y="540957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流程图: 磁盘 65"/>
          <p:cNvSpPr/>
          <p:nvPr/>
        </p:nvSpPr>
        <p:spPr>
          <a:xfrm>
            <a:off x="4959488" y="524331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流程图: 磁盘 66"/>
          <p:cNvSpPr/>
          <p:nvPr/>
        </p:nvSpPr>
        <p:spPr>
          <a:xfrm>
            <a:off x="4959488" y="507706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磁盘 67"/>
          <p:cNvSpPr/>
          <p:nvPr/>
        </p:nvSpPr>
        <p:spPr>
          <a:xfrm>
            <a:off x="4959488" y="4910807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磁盘 68"/>
          <p:cNvSpPr/>
          <p:nvPr/>
        </p:nvSpPr>
        <p:spPr>
          <a:xfrm>
            <a:off x="4959488" y="4744552"/>
            <a:ext cx="1213658" cy="166255"/>
          </a:xfrm>
          <a:prstGeom prst="flowChartMagneticDisk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 rot="20218143">
            <a:off x="3261924" y="2675200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07276" y="1746134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假装的“新数据”</a:t>
            </a:r>
            <a:endParaRPr lang="en-US" altLang="zh-CN" b="1" dirty="0"/>
          </a:p>
          <a:p>
            <a:pPr algn="ctr"/>
            <a:r>
              <a:rPr lang="en-US" altLang="zh-CN" b="1" dirty="0"/>
              <a:t>Fake New Data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4892093" y="2581585"/>
            <a:ext cx="13484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测试集</a:t>
            </a:r>
            <a:endParaRPr lang="en-US" altLang="zh-CN" b="1" dirty="0"/>
          </a:p>
          <a:p>
            <a:pPr algn="ctr"/>
            <a:r>
              <a:rPr lang="en-US" altLang="zh-CN" b="1" dirty="0"/>
              <a:t>Testing Set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4844804" y="5997284"/>
            <a:ext cx="14430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训练集</a:t>
            </a:r>
            <a:endParaRPr lang="en-US" altLang="zh-CN" b="1" dirty="0"/>
          </a:p>
          <a:p>
            <a:pPr algn="ctr"/>
            <a:r>
              <a:rPr lang="en-US" altLang="zh-CN" b="1" dirty="0"/>
              <a:t>Training Set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2907276" y="5006452"/>
            <a:ext cx="17684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剩下的“老数据”</a:t>
            </a:r>
            <a:endParaRPr lang="en-US" altLang="zh-CN" b="1" dirty="0"/>
          </a:p>
          <a:p>
            <a:pPr algn="ctr"/>
            <a:r>
              <a:rPr lang="en-US" altLang="zh-CN" b="1" dirty="0"/>
              <a:t>Rest Old Data</a:t>
            </a:r>
            <a:endParaRPr lang="zh-CN" altLang="en-US" dirty="0"/>
          </a:p>
        </p:txBody>
      </p:sp>
      <p:sp>
        <p:nvSpPr>
          <p:cNvPr id="79" name="右箭头 78"/>
          <p:cNvSpPr/>
          <p:nvPr/>
        </p:nvSpPr>
        <p:spPr>
          <a:xfrm rot="1641280">
            <a:off x="3262989" y="4510312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右箭头 79"/>
          <p:cNvSpPr/>
          <p:nvPr/>
        </p:nvSpPr>
        <p:spPr>
          <a:xfrm rot="20218143">
            <a:off x="6589844" y="4550189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 rot="12384537">
            <a:off x="6578310" y="2706208"/>
            <a:ext cx="1332897" cy="194120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604689" y="2743200"/>
            <a:ext cx="3977967" cy="29095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13567" y="5187857"/>
            <a:ext cx="124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怎么训练？</a:t>
            </a:r>
          </a:p>
        </p:txBody>
      </p:sp>
    </p:spTree>
    <p:extLst>
      <p:ext uri="{BB962C8B-B14F-4D97-AF65-F5344CB8AC3E}">
        <p14:creationId xmlns:p14="http://schemas.microsoft.com/office/powerpoint/2010/main" val="18446530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0" y="2077070"/>
            <a:ext cx="5352587" cy="2917643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6021938" y="1728068"/>
            <a:ext cx="5977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/>
              <a:t>Find a basic form of model</a:t>
            </a:r>
          </a:p>
          <a:p>
            <a:r>
              <a:rPr lang="en-US" altLang="zh-CN" sz="2000" b="1" dirty="0"/>
              <a:t>     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84" name="对象 83"/>
          <p:cNvGraphicFramePr>
            <a:graphicFrameLocks noChangeAspect="1"/>
          </p:cNvGraphicFramePr>
          <p:nvPr/>
        </p:nvGraphicFramePr>
        <p:xfrm>
          <a:off x="6418416" y="2301188"/>
          <a:ext cx="1814513" cy="491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53800" progId="Equation.DSMT4">
                  <p:embed/>
                </p:oleObj>
              </mc:Choice>
              <mc:Fallback>
                <p:oleObj name="Equation" r:id="rId4" imgW="1015920" imgH="253800" progId="Equation.DSMT4">
                  <p:embed/>
                  <p:pic>
                    <p:nvPicPr>
                      <p:cNvPr id="84" name="对象 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18416" y="2301188"/>
                        <a:ext cx="1814513" cy="491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文本框 84"/>
          <p:cNvSpPr txBox="1"/>
          <p:nvPr/>
        </p:nvSpPr>
        <p:spPr>
          <a:xfrm>
            <a:off x="5966993" y="2857560"/>
            <a:ext cx="5840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endParaRPr lang="en-US" altLang="zh-CN" b="1" dirty="0"/>
          </a:p>
          <a:p>
            <a:r>
              <a:rPr lang="en-US" altLang="zh-CN" b="1" dirty="0"/>
              <a:t>     Define the judgment function of good or bad fitting (the distance between training data and model)</a:t>
            </a:r>
            <a:r>
              <a:rPr lang="zh-CN" altLang="en-US" b="1" dirty="0">
                <a:solidFill>
                  <a:srgbClr val="C00000"/>
                </a:solidFill>
              </a:rPr>
              <a:t>    </a:t>
            </a:r>
          </a:p>
        </p:txBody>
      </p:sp>
      <p:sp>
        <p:nvSpPr>
          <p:cNvPr id="86" name="矩形 85"/>
          <p:cNvSpPr/>
          <p:nvPr/>
        </p:nvSpPr>
        <p:spPr>
          <a:xfrm>
            <a:off x="8326792" y="2385832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87" name="矩形 86"/>
          <p:cNvSpPr/>
          <p:nvPr/>
        </p:nvSpPr>
        <p:spPr>
          <a:xfrm>
            <a:off x="9211672" y="3853879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88" name="对象 87"/>
          <p:cNvGraphicFramePr>
            <a:graphicFrameLocks noChangeAspect="1"/>
          </p:cNvGraphicFramePr>
          <p:nvPr/>
        </p:nvGraphicFramePr>
        <p:xfrm>
          <a:off x="6273210" y="3712229"/>
          <a:ext cx="2938462" cy="50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291960" progId="Equation.DSMT4">
                  <p:embed/>
                </p:oleObj>
              </mc:Choice>
              <mc:Fallback>
                <p:oleObj name="Equation" r:id="rId6" imgW="1688760" imgH="291960" progId="Equation.DSMT4">
                  <p:embed/>
                  <p:pic>
                    <p:nvPicPr>
                      <p:cNvPr id="88" name="对象 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73210" y="3712229"/>
                        <a:ext cx="2938462" cy="504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文本框 88"/>
          <p:cNvSpPr txBox="1"/>
          <p:nvPr/>
        </p:nvSpPr>
        <p:spPr>
          <a:xfrm>
            <a:off x="5966995" y="4362376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Objective</a:t>
            </a:r>
            <a:r>
              <a:rPr lang="zh-CN" altLang="en-US" b="1" dirty="0"/>
              <a:t>：</a:t>
            </a:r>
            <a:r>
              <a:rPr lang="en-US" altLang="zh-CN" b="1" dirty="0"/>
              <a:t>minimize the sum loss of the data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90" name="对象 89"/>
          <p:cNvGraphicFramePr>
            <a:graphicFrameLocks noChangeAspect="1"/>
          </p:cNvGraphicFramePr>
          <p:nvPr/>
        </p:nvGraphicFramePr>
        <p:xfrm>
          <a:off x="6399755" y="4994713"/>
          <a:ext cx="2276475" cy="74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431640" progId="Equation.DSMT4">
                  <p:embed/>
                </p:oleObj>
              </mc:Choice>
              <mc:Fallback>
                <p:oleObj name="Equation" r:id="rId8" imgW="1307880" imgH="431640" progId="Equation.DSMT4">
                  <p:embed/>
                  <p:pic>
                    <p:nvPicPr>
                      <p:cNvPr id="90" name="对象 8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99755" y="4994713"/>
                        <a:ext cx="2276475" cy="746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右箭头 90"/>
          <p:cNvSpPr/>
          <p:nvPr/>
        </p:nvSpPr>
        <p:spPr>
          <a:xfrm>
            <a:off x="8801125" y="5255038"/>
            <a:ext cx="821094" cy="233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2" name="对象 91"/>
          <p:cNvGraphicFramePr>
            <a:graphicFrameLocks noChangeAspect="1"/>
          </p:cNvGraphicFramePr>
          <p:nvPr/>
        </p:nvGraphicFramePr>
        <p:xfrm>
          <a:off x="9747114" y="5152309"/>
          <a:ext cx="1082675" cy="43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253800" progId="Equation.DSMT4">
                  <p:embed/>
                </p:oleObj>
              </mc:Choice>
              <mc:Fallback>
                <p:oleObj name="Equation" r:id="rId10" imgW="622080" imgH="253800" progId="Equation.DSMT4">
                  <p:embed/>
                  <p:pic>
                    <p:nvPicPr>
                      <p:cNvPr id="92" name="对象 9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747114" y="5152309"/>
                        <a:ext cx="1082675" cy="438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021938" y="5735156"/>
            <a:ext cx="35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④ 求解：随机优化 凸优化 </a:t>
            </a:r>
          </a:p>
        </p:txBody>
      </p:sp>
    </p:spTree>
    <p:extLst>
      <p:ext uri="{BB962C8B-B14F-4D97-AF65-F5344CB8AC3E}">
        <p14:creationId xmlns:p14="http://schemas.microsoft.com/office/powerpoint/2010/main" val="22691419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sp>
        <p:nvSpPr>
          <p:cNvPr id="83" name="文本框 82"/>
          <p:cNvSpPr txBox="1"/>
          <p:nvPr/>
        </p:nvSpPr>
        <p:spPr>
          <a:xfrm>
            <a:off x="915346" y="1482953"/>
            <a:ext cx="829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r>
              <a:rPr lang="en-US" altLang="zh-CN" b="1" dirty="0"/>
              <a:t>: </a:t>
            </a:r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endParaRPr lang="en-US" altLang="zh-CN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15346" y="1983537"/>
            <a:ext cx="77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r>
              <a:rPr lang="en-US" altLang="zh-CN" b="1" dirty="0"/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15346" y="2514582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5346" y="3022363"/>
            <a:ext cx="35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④ 求解：随机优化 凸优化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5346" y="3507292"/>
            <a:ext cx="1111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几乎所有的机器学习库（例如</a:t>
            </a:r>
            <a:r>
              <a:rPr lang="en-US" altLang="zh-CN" b="1" dirty="0" err="1">
                <a:solidFill>
                  <a:srgbClr val="C00000"/>
                </a:solidFill>
              </a:rPr>
              <a:t>Sklearn</a:t>
            </a:r>
            <a:r>
              <a:rPr lang="zh-CN" altLang="en-US" b="1" dirty="0">
                <a:solidFill>
                  <a:srgbClr val="C00000"/>
                </a:solidFill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</a:rPr>
              <a:t>PyTorch</a:t>
            </a:r>
            <a:r>
              <a:rPr lang="zh-CN" altLang="en-US" b="1" dirty="0">
                <a:solidFill>
                  <a:srgbClr val="C00000"/>
                </a:solidFill>
              </a:rPr>
              <a:t>），都是以这个逻辑构建训练过程的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9" y="4690968"/>
            <a:ext cx="607909" cy="2137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189319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89319" y="4219210"/>
            <a:ext cx="1358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决策函数 </a:t>
            </a:r>
            <a:endParaRPr lang="en-US" altLang="zh-CN" sz="1200" b="1" dirty="0"/>
          </a:p>
          <a:p>
            <a:r>
              <a:rPr lang="en-US" altLang="zh-CN" sz="1200" b="1" dirty="0"/>
              <a:t>Decision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58" y="4638463"/>
            <a:ext cx="353576" cy="28863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68" y="4613386"/>
            <a:ext cx="329958" cy="342331"/>
          </a:xfrm>
          <a:prstGeom prst="rect">
            <a:avLst/>
          </a:prstGeom>
        </p:spPr>
      </p:pic>
      <p:sp>
        <p:nvSpPr>
          <p:cNvPr id="40" name="右箭头 39"/>
          <p:cNvSpPr/>
          <p:nvPr/>
        </p:nvSpPr>
        <p:spPr>
          <a:xfrm>
            <a:off x="1032436" y="5493446"/>
            <a:ext cx="8963418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186835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61" y="5725809"/>
            <a:ext cx="607909" cy="2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512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sp>
        <p:nvSpPr>
          <p:cNvPr id="83" name="文本框 82"/>
          <p:cNvSpPr txBox="1"/>
          <p:nvPr/>
        </p:nvSpPr>
        <p:spPr>
          <a:xfrm>
            <a:off x="915346" y="1482953"/>
            <a:ext cx="829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r>
              <a:rPr lang="en-US" altLang="zh-CN" b="1" dirty="0"/>
              <a:t>: </a:t>
            </a:r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endParaRPr lang="en-US" altLang="zh-CN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15346" y="1983537"/>
            <a:ext cx="77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r>
              <a:rPr lang="en-US" altLang="zh-CN" b="1" dirty="0"/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15346" y="2514582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5346" y="3022363"/>
            <a:ext cx="35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④ 求解：随机优化 凸优化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5346" y="3507292"/>
            <a:ext cx="1111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几乎所有的机器学习库（例如</a:t>
            </a:r>
            <a:r>
              <a:rPr lang="en-US" altLang="zh-CN" b="1" dirty="0" err="1">
                <a:solidFill>
                  <a:srgbClr val="C00000"/>
                </a:solidFill>
              </a:rPr>
              <a:t>Sklearn</a:t>
            </a:r>
            <a:r>
              <a:rPr lang="zh-CN" altLang="en-US" b="1" dirty="0">
                <a:solidFill>
                  <a:srgbClr val="C00000"/>
                </a:solidFill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</a:rPr>
              <a:t>PyTorch</a:t>
            </a:r>
            <a:r>
              <a:rPr lang="zh-CN" altLang="en-US" b="1" dirty="0">
                <a:solidFill>
                  <a:srgbClr val="C00000"/>
                </a:solidFill>
              </a:rPr>
              <a:t>），都是以这个逻辑构建训练过程的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9" y="4690968"/>
            <a:ext cx="607909" cy="2137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189319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81506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89319" y="4219210"/>
            <a:ext cx="1358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决策函数 </a:t>
            </a:r>
            <a:endParaRPr lang="en-US" altLang="zh-CN" sz="1200" b="1" dirty="0"/>
          </a:p>
          <a:p>
            <a:r>
              <a:rPr lang="en-US" altLang="zh-CN" sz="1200" b="1" dirty="0"/>
              <a:t>Decision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244589" y="4208051"/>
            <a:ext cx="1120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损失函数 </a:t>
            </a:r>
            <a:endParaRPr lang="en-US" altLang="zh-CN" sz="1200" b="1" dirty="0"/>
          </a:p>
          <a:p>
            <a:r>
              <a:rPr lang="en-US" altLang="zh-CN" sz="1200" b="1" dirty="0"/>
              <a:t>Loss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58" y="4638463"/>
            <a:ext cx="353576" cy="28863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535" y="4677991"/>
            <a:ext cx="318914" cy="37206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304" y="4669716"/>
            <a:ext cx="407690" cy="37206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364" y="4690968"/>
            <a:ext cx="419945" cy="36055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68" y="4613386"/>
            <a:ext cx="329958" cy="342331"/>
          </a:xfrm>
          <a:prstGeom prst="rect">
            <a:avLst/>
          </a:prstGeom>
        </p:spPr>
      </p:pic>
      <p:sp>
        <p:nvSpPr>
          <p:cNvPr id="40" name="右箭头 39"/>
          <p:cNvSpPr/>
          <p:nvPr/>
        </p:nvSpPr>
        <p:spPr>
          <a:xfrm>
            <a:off x="1032436" y="5493446"/>
            <a:ext cx="8963418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186835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>
            <a:off x="3946224" y="5145879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61" y="5725809"/>
            <a:ext cx="607909" cy="213769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907" y="5736367"/>
            <a:ext cx="318914" cy="37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855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sp>
        <p:nvSpPr>
          <p:cNvPr id="83" name="文本框 82"/>
          <p:cNvSpPr txBox="1"/>
          <p:nvPr/>
        </p:nvSpPr>
        <p:spPr>
          <a:xfrm>
            <a:off x="915346" y="1482953"/>
            <a:ext cx="829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r>
              <a:rPr lang="en-US" altLang="zh-CN" b="1" dirty="0"/>
              <a:t>: </a:t>
            </a:r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endParaRPr lang="en-US" altLang="zh-CN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15346" y="1983537"/>
            <a:ext cx="77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r>
              <a:rPr lang="en-US" altLang="zh-CN" b="1" dirty="0"/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15346" y="2514582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5346" y="3022363"/>
            <a:ext cx="35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④ 求解：随机优化 凸优化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5346" y="3507292"/>
            <a:ext cx="1111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几乎所有的机器学习库（例如</a:t>
            </a:r>
            <a:r>
              <a:rPr lang="en-US" altLang="zh-CN" b="1" dirty="0" err="1">
                <a:solidFill>
                  <a:srgbClr val="C00000"/>
                </a:solidFill>
              </a:rPr>
              <a:t>Sklearn</a:t>
            </a:r>
            <a:r>
              <a:rPr lang="zh-CN" altLang="en-US" b="1" dirty="0">
                <a:solidFill>
                  <a:srgbClr val="C00000"/>
                </a:solidFill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</a:rPr>
              <a:t>PyTorch</a:t>
            </a:r>
            <a:r>
              <a:rPr lang="zh-CN" altLang="en-US" b="1" dirty="0">
                <a:solidFill>
                  <a:srgbClr val="C00000"/>
                </a:solidFill>
              </a:rPr>
              <a:t>），都是以这个逻辑构建训练过程的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9" y="4690968"/>
            <a:ext cx="607909" cy="2137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189319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81506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482563" y="4209685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89319" y="4219210"/>
            <a:ext cx="1358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决策函数 </a:t>
            </a:r>
            <a:endParaRPr lang="en-US" altLang="zh-CN" sz="1200" b="1" dirty="0"/>
          </a:p>
          <a:p>
            <a:r>
              <a:rPr lang="en-US" altLang="zh-CN" sz="1200" b="1" dirty="0"/>
              <a:t>Decision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244589" y="4208051"/>
            <a:ext cx="1120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损失函数 </a:t>
            </a:r>
            <a:endParaRPr lang="en-US" altLang="zh-CN" sz="1200" b="1" dirty="0"/>
          </a:p>
          <a:p>
            <a:r>
              <a:rPr lang="en-US" altLang="zh-CN" sz="1200" b="1" dirty="0"/>
              <a:t>Loss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58" y="4638463"/>
            <a:ext cx="353576" cy="28863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535" y="4677991"/>
            <a:ext cx="318914" cy="37206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304" y="4669716"/>
            <a:ext cx="407690" cy="37206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364" y="4690968"/>
            <a:ext cx="419945" cy="36055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68" y="4613386"/>
            <a:ext cx="329958" cy="34233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238" y="4658372"/>
            <a:ext cx="159365" cy="42210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78" y="4683378"/>
            <a:ext cx="135182" cy="397096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5482563" y="4209685"/>
            <a:ext cx="835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优化目标 </a:t>
            </a:r>
            <a:endParaRPr lang="en-US" altLang="zh-CN" sz="1200" b="1" dirty="0"/>
          </a:p>
          <a:p>
            <a:r>
              <a:rPr lang="en-US" altLang="zh-CN" sz="1200" b="1" dirty="0"/>
              <a:t>Objective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623" y="4696261"/>
            <a:ext cx="267618" cy="24500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851" y="4683379"/>
            <a:ext cx="239028" cy="397096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00" y="4640832"/>
            <a:ext cx="181548" cy="439642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968" y="4658372"/>
            <a:ext cx="157755" cy="422102"/>
          </a:xfrm>
          <a:prstGeom prst="rect">
            <a:avLst/>
          </a:prstGeom>
        </p:spPr>
      </p:pic>
      <p:sp>
        <p:nvSpPr>
          <p:cNvPr id="40" name="右箭头 39"/>
          <p:cNvSpPr/>
          <p:nvPr/>
        </p:nvSpPr>
        <p:spPr>
          <a:xfrm>
            <a:off x="1032436" y="5493446"/>
            <a:ext cx="8963418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186835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>
            <a:off x="3946224" y="5145879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6176997" y="5144265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61" y="5725809"/>
            <a:ext cx="607909" cy="213769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907" y="5736367"/>
            <a:ext cx="318914" cy="37206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552" y="5722313"/>
            <a:ext cx="159365" cy="422102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92" y="5747319"/>
            <a:ext cx="135182" cy="39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749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sp>
        <p:nvSpPr>
          <p:cNvPr id="83" name="文本框 82"/>
          <p:cNvSpPr txBox="1"/>
          <p:nvPr/>
        </p:nvSpPr>
        <p:spPr>
          <a:xfrm>
            <a:off x="915346" y="1482953"/>
            <a:ext cx="829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r>
              <a:rPr lang="en-US" altLang="zh-CN" b="1" dirty="0"/>
              <a:t>: </a:t>
            </a:r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endParaRPr lang="en-US" altLang="zh-CN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15346" y="1983537"/>
            <a:ext cx="77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r>
              <a:rPr lang="en-US" altLang="zh-CN" b="1" dirty="0"/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15346" y="2514582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5346" y="3022363"/>
            <a:ext cx="35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④ 求解：随机优化 凸优化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5346" y="3507292"/>
            <a:ext cx="1111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几乎所有的机器学习库（例如</a:t>
            </a:r>
            <a:r>
              <a:rPr lang="en-US" altLang="zh-CN" b="1" dirty="0" err="1">
                <a:solidFill>
                  <a:srgbClr val="C00000"/>
                </a:solidFill>
              </a:rPr>
              <a:t>Sklearn</a:t>
            </a:r>
            <a:r>
              <a:rPr lang="zh-CN" altLang="en-US" b="1" dirty="0">
                <a:solidFill>
                  <a:srgbClr val="C00000"/>
                </a:solidFill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</a:rPr>
              <a:t>PyTorch</a:t>
            </a:r>
            <a:r>
              <a:rPr lang="zh-CN" altLang="en-US" b="1" dirty="0">
                <a:solidFill>
                  <a:srgbClr val="C00000"/>
                </a:solidFill>
              </a:rPr>
              <a:t>），都是以这个逻辑构建训练过程的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9" y="4690968"/>
            <a:ext cx="607909" cy="2137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189319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81506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482563" y="4209685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725238" y="4192034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89319" y="4219210"/>
            <a:ext cx="1358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决策函数 </a:t>
            </a:r>
            <a:endParaRPr lang="en-US" altLang="zh-CN" sz="1200" b="1" dirty="0"/>
          </a:p>
          <a:p>
            <a:r>
              <a:rPr lang="en-US" altLang="zh-CN" sz="1200" b="1" dirty="0"/>
              <a:t>Decision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244589" y="4208051"/>
            <a:ext cx="1120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损失函数 </a:t>
            </a:r>
            <a:endParaRPr lang="en-US" altLang="zh-CN" sz="1200" b="1" dirty="0"/>
          </a:p>
          <a:p>
            <a:r>
              <a:rPr lang="en-US" altLang="zh-CN" sz="1200" b="1" dirty="0"/>
              <a:t>Loss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58" y="4638463"/>
            <a:ext cx="353576" cy="28863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535" y="4677991"/>
            <a:ext cx="318914" cy="37206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304" y="4669716"/>
            <a:ext cx="407690" cy="37206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364" y="4690968"/>
            <a:ext cx="419945" cy="36055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68" y="4613386"/>
            <a:ext cx="329958" cy="34233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238" y="4658372"/>
            <a:ext cx="159365" cy="42210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78" y="4683378"/>
            <a:ext cx="135182" cy="397096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5482563" y="4209685"/>
            <a:ext cx="835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优化目标 </a:t>
            </a:r>
            <a:endParaRPr lang="en-US" altLang="zh-CN" sz="1200" b="1" dirty="0"/>
          </a:p>
          <a:p>
            <a:r>
              <a:rPr lang="en-US" altLang="zh-CN" sz="1200" b="1" dirty="0"/>
              <a:t>Objective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623" y="4696261"/>
            <a:ext cx="267618" cy="24500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851" y="4683379"/>
            <a:ext cx="239028" cy="397096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00" y="4640832"/>
            <a:ext cx="181548" cy="439642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968" y="4658372"/>
            <a:ext cx="157755" cy="422102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7725238" y="4201549"/>
            <a:ext cx="835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求解目标 </a:t>
            </a:r>
            <a:endParaRPr lang="en-US" altLang="zh-CN" sz="1200" b="1" dirty="0"/>
          </a:p>
          <a:p>
            <a:r>
              <a:rPr lang="en-US" altLang="zh-CN" sz="1200" b="1" dirty="0"/>
              <a:t>Solver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051" y="4731222"/>
            <a:ext cx="313929" cy="305444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125" y="4739002"/>
            <a:ext cx="402256" cy="27461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381" y="4739002"/>
            <a:ext cx="296698" cy="303847"/>
          </a:xfrm>
          <a:prstGeom prst="rect">
            <a:avLst/>
          </a:prstGeom>
        </p:spPr>
      </p:pic>
      <p:sp>
        <p:nvSpPr>
          <p:cNvPr id="40" name="右箭头 39"/>
          <p:cNvSpPr/>
          <p:nvPr/>
        </p:nvSpPr>
        <p:spPr>
          <a:xfrm>
            <a:off x="1032436" y="5493446"/>
            <a:ext cx="8963418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186835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>
            <a:off x="3946224" y="5145879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6176997" y="5144265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下箭头 43"/>
          <p:cNvSpPr/>
          <p:nvPr/>
        </p:nvSpPr>
        <p:spPr>
          <a:xfrm>
            <a:off x="843707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61" y="5725809"/>
            <a:ext cx="607909" cy="213769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907" y="5736367"/>
            <a:ext cx="318914" cy="37206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552" y="5722313"/>
            <a:ext cx="159365" cy="422102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92" y="5747319"/>
            <a:ext cx="135182" cy="397096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587" y="5758782"/>
            <a:ext cx="313929" cy="30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965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81" name="标题 1"/>
          <p:cNvSpPr txBox="1">
            <a:spLocks/>
          </p:cNvSpPr>
          <p:nvPr/>
        </p:nvSpPr>
        <p:spPr>
          <a:xfrm>
            <a:off x="915346" y="3875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/>
              <a:t>机器学习的数学范式 </a:t>
            </a:r>
            <a:r>
              <a:rPr lang="en-US" altLang="zh-CN" sz="3600" dirty="0">
                <a:latin typeface="+mn-lt"/>
              </a:rPr>
              <a:t>Mathematical Paradigm</a:t>
            </a:r>
          </a:p>
          <a:p>
            <a:endParaRPr lang="zh-CN" altLang="en-US" sz="3600" dirty="0"/>
          </a:p>
        </p:txBody>
      </p:sp>
      <p:sp>
        <p:nvSpPr>
          <p:cNvPr id="83" name="文本框 82"/>
          <p:cNvSpPr txBox="1"/>
          <p:nvPr/>
        </p:nvSpPr>
        <p:spPr>
          <a:xfrm>
            <a:off x="915346" y="1482953"/>
            <a:ext cx="829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① 选择一个模型的基本形式</a:t>
            </a:r>
            <a:r>
              <a:rPr lang="en-US" altLang="zh-CN" b="1" dirty="0"/>
              <a:t>: </a:t>
            </a:r>
            <a:r>
              <a:rPr lang="zh-CN" altLang="en-US" b="1" dirty="0">
                <a:solidFill>
                  <a:srgbClr val="C00000"/>
                </a:solidFill>
              </a:rPr>
              <a:t>决策函数 </a:t>
            </a:r>
            <a:r>
              <a:rPr lang="en-US" altLang="zh-CN" b="1" dirty="0">
                <a:solidFill>
                  <a:srgbClr val="C00000"/>
                </a:solidFill>
              </a:rPr>
              <a:t>Decision Function</a:t>
            </a:r>
            <a:endParaRPr lang="en-US" altLang="zh-CN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915346" y="1983537"/>
            <a:ext cx="77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② 定义拟合好坏的判定函数（距离远近）</a:t>
            </a:r>
            <a:r>
              <a:rPr lang="en-US" altLang="zh-CN" b="1" dirty="0"/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损失函数 </a:t>
            </a:r>
            <a:r>
              <a:rPr lang="en-US" altLang="zh-CN" b="1" dirty="0">
                <a:solidFill>
                  <a:srgbClr val="C00000"/>
                </a:solidFill>
              </a:rPr>
              <a:t>Loss Function</a:t>
            </a:r>
            <a:endParaRPr lang="zh-CN" altLang="en-US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915346" y="2514582"/>
            <a:ext cx="566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③ 参数确定：</a:t>
            </a:r>
            <a:r>
              <a:rPr lang="zh-CN" altLang="en-US" b="1" dirty="0">
                <a:solidFill>
                  <a:srgbClr val="C00000"/>
                </a:solidFill>
              </a:rPr>
              <a:t>最小化损失和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b="1" dirty="0"/>
              <a:t>     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5346" y="3022363"/>
            <a:ext cx="351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④ 求解：随机优化 凸优化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5346" y="3507292"/>
            <a:ext cx="1111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几乎所有的机器学习库（例如</a:t>
            </a:r>
            <a:r>
              <a:rPr lang="en-US" altLang="zh-CN" b="1" dirty="0" err="1">
                <a:solidFill>
                  <a:srgbClr val="C00000"/>
                </a:solidFill>
              </a:rPr>
              <a:t>Sklearn</a:t>
            </a:r>
            <a:r>
              <a:rPr lang="zh-CN" altLang="en-US" b="1" dirty="0">
                <a:solidFill>
                  <a:srgbClr val="C00000"/>
                </a:solidFill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</a:rPr>
              <a:t>PyTorch</a:t>
            </a:r>
            <a:r>
              <a:rPr lang="zh-CN" altLang="en-US" b="1" dirty="0">
                <a:solidFill>
                  <a:srgbClr val="C00000"/>
                </a:solidFill>
              </a:rPr>
              <a:t>），都是以这个逻辑构建训练过程的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9" y="4690968"/>
            <a:ext cx="607909" cy="21376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189319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81506" y="4229303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482563" y="4209685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725238" y="4192034"/>
            <a:ext cx="1441174" cy="8973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89319" y="4219210"/>
            <a:ext cx="1358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决策函数 </a:t>
            </a:r>
            <a:endParaRPr lang="en-US" altLang="zh-CN" sz="1200" b="1" dirty="0"/>
          </a:p>
          <a:p>
            <a:r>
              <a:rPr lang="en-US" altLang="zh-CN" sz="1200" b="1" dirty="0"/>
              <a:t>Decision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sp>
        <p:nvSpPr>
          <p:cNvPr id="23" name="矩形 22"/>
          <p:cNvSpPr/>
          <p:nvPr/>
        </p:nvSpPr>
        <p:spPr>
          <a:xfrm>
            <a:off x="3244589" y="4208051"/>
            <a:ext cx="1120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损失函数 </a:t>
            </a:r>
            <a:endParaRPr lang="en-US" altLang="zh-CN" sz="1200" b="1" dirty="0"/>
          </a:p>
          <a:p>
            <a:r>
              <a:rPr lang="en-US" altLang="zh-CN" sz="1200" b="1" dirty="0"/>
              <a:t>Loss Function</a:t>
            </a:r>
            <a:r>
              <a:rPr lang="zh-CN" altLang="en-US" sz="1200" b="1" dirty="0"/>
              <a:t> </a:t>
            </a:r>
            <a:endParaRPr lang="zh-CN" altLang="en-US" sz="12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58" y="4638463"/>
            <a:ext cx="353576" cy="28863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535" y="4677991"/>
            <a:ext cx="318914" cy="37206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304" y="4669716"/>
            <a:ext cx="407690" cy="37206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364" y="4690968"/>
            <a:ext cx="419945" cy="36055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68" y="4613386"/>
            <a:ext cx="329958" cy="34233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238" y="4658372"/>
            <a:ext cx="159365" cy="42210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78" y="4683378"/>
            <a:ext cx="135182" cy="397096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5482563" y="4209685"/>
            <a:ext cx="835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优化目标 </a:t>
            </a:r>
            <a:endParaRPr lang="en-US" altLang="zh-CN" sz="1200" b="1" dirty="0"/>
          </a:p>
          <a:p>
            <a:r>
              <a:rPr lang="en-US" altLang="zh-CN" sz="1200" b="1" dirty="0"/>
              <a:t>Objective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623" y="4696261"/>
            <a:ext cx="267618" cy="24500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851" y="4683379"/>
            <a:ext cx="239028" cy="397096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200" y="4640832"/>
            <a:ext cx="181548" cy="439642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968" y="4658372"/>
            <a:ext cx="157755" cy="422102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7725238" y="4201549"/>
            <a:ext cx="835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求解目标 </a:t>
            </a:r>
            <a:endParaRPr lang="en-US" altLang="zh-CN" sz="1200" b="1" dirty="0"/>
          </a:p>
          <a:p>
            <a:r>
              <a:rPr lang="en-US" altLang="zh-CN" sz="1200" b="1" dirty="0"/>
              <a:t>Solver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051" y="4731222"/>
            <a:ext cx="313929" cy="305444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125" y="4739002"/>
            <a:ext cx="402256" cy="27461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381" y="4739002"/>
            <a:ext cx="296698" cy="303847"/>
          </a:xfrm>
          <a:prstGeom prst="rect">
            <a:avLst/>
          </a:prstGeom>
        </p:spPr>
      </p:pic>
      <p:sp>
        <p:nvSpPr>
          <p:cNvPr id="40" name="右箭头 39"/>
          <p:cNvSpPr/>
          <p:nvPr/>
        </p:nvSpPr>
        <p:spPr>
          <a:xfrm>
            <a:off x="1032436" y="5493446"/>
            <a:ext cx="8963418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186835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>
            <a:off x="3946224" y="5145879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6176997" y="5144265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下箭头 43"/>
          <p:cNvSpPr/>
          <p:nvPr/>
        </p:nvSpPr>
        <p:spPr>
          <a:xfrm>
            <a:off x="8437071" y="5126677"/>
            <a:ext cx="77595" cy="366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61" y="5725809"/>
            <a:ext cx="607909" cy="213769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907" y="5736367"/>
            <a:ext cx="318914" cy="37206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552" y="5722313"/>
            <a:ext cx="159365" cy="422102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592" y="5747319"/>
            <a:ext cx="135182" cy="397096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587" y="5758782"/>
            <a:ext cx="313929" cy="30544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500" y="4997458"/>
            <a:ext cx="1046984" cy="1220576"/>
          </a:xfrm>
          <a:prstGeom prst="rect">
            <a:avLst/>
          </a:prstGeom>
        </p:spPr>
      </p:pic>
      <p:sp>
        <p:nvSpPr>
          <p:cNvPr id="51" name="矩形 50"/>
          <p:cNvSpPr/>
          <p:nvPr/>
        </p:nvSpPr>
        <p:spPr>
          <a:xfrm>
            <a:off x="10088050" y="4409582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/>
              <a:t>拼出一个完整的</a:t>
            </a:r>
            <a:endParaRPr lang="en-US" altLang="zh-CN" sz="1200" b="1" dirty="0"/>
          </a:p>
          <a:p>
            <a:r>
              <a:rPr lang="zh-CN" altLang="en-US" sz="1200" b="1" dirty="0"/>
              <a:t>机器学习模型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31948619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5434-05AA-4028-98DA-4ABF0C3BEA2A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65914" y="2307771"/>
            <a:ext cx="2826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Thanks</a:t>
            </a:r>
            <a:r>
              <a:rPr lang="zh-CN" altLang="en-US" sz="4800" b="1" dirty="0"/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10761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2970</Words>
  <Application>Microsoft Office PowerPoint</Application>
  <PresentationFormat>宽屏</PresentationFormat>
  <Paragraphs>554</Paragraphs>
  <Slides>69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5" baseType="lpstr">
      <vt:lpstr>等线</vt:lpstr>
      <vt:lpstr>等线 Light</vt:lpstr>
      <vt:lpstr>微软雅黑</vt:lpstr>
      <vt:lpstr>Arial</vt:lpstr>
      <vt:lpstr>Office 主题​​</vt:lpstr>
      <vt:lpstr>Equation</vt:lpstr>
      <vt:lpstr>第七讲 优化理论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机器学习的基本流程 Process of Machine Learning</vt:lpstr>
      <vt:lpstr>机器学习的基本流程 Process of Machine Learning</vt:lpstr>
      <vt:lpstr>PowerPoint 演示文稿</vt:lpstr>
      <vt:lpstr>PowerPoint 演示文稿</vt:lpstr>
      <vt:lpstr>如何求解函数的最小值</vt:lpstr>
      <vt:lpstr>如何求解函数的最小值</vt:lpstr>
      <vt:lpstr>如何求解函数的最小值</vt:lpstr>
      <vt:lpstr>目录 Content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随机优化 Stochastic Optimization</vt:lpstr>
      <vt:lpstr>目录 Content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凸优化 Convex Optimization</vt:lpstr>
      <vt:lpstr>PowerPoint 演示文稿</vt:lpstr>
      <vt:lpstr>如何求解函数的最小值</vt:lpstr>
      <vt:lpstr>机器学习的基本流程 Process of Machine Learning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NING MEI</dc:creator>
  <cp:lastModifiedBy>郑 子杰</cp:lastModifiedBy>
  <cp:revision>666</cp:revision>
  <dcterms:created xsi:type="dcterms:W3CDTF">2021-12-09T06:18:18Z</dcterms:created>
  <dcterms:modified xsi:type="dcterms:W3CDTF">2023-08-01T06:40:57Z</dcterms:modified>
</cp:coreProperties>
</file>