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386" r:id="rId3"/>
    <p:sldId id="387" r:id="rId4"/>
    <p:sldId id="388" r:id="rId5"/>
    <p:sldId id="389" r:id="rId6"/>
    <p:sldId id="390" r:id="rId7"/>
    <p:sldId id="394" r:id="rId8"/>
    <p:sldId id="391" r:id="rId9"/>
    <p:sldId id="379" r:id="rId10"/>
    <p:sldId id="456" r:id="rId11"/>
    <p:sldId id="457" r:id="rId12"/>
    <p:sldId id="392" r:id="rId13"/>
    <p:sldId id="393" r:id="rId14"/>
    <p:sldId id="453" r:id="rId15"/>
    <p:sldId id="399" r:id="rId16"/>
    <p:sldId id="398" r:id="rId17"/>
    <p:sldId id="464" r:id="rId18"/>
    <p:sldId id="459" r:id="rId19"/>
    <p:sldId id="395" r:id="rId20"/>
    <p:sldId id="401" r:id="rId21"/>
    <p:sldId id="396" r:id="rId22"/>
    <p:sldId id="460" r:id="rId23"/>
    <p:sldId id="461" r:id="rId24"/>
    <p:sldId id="400" r:id="rId25"/>
    <p:sldId id="465" r:id="rId26"/>
    <p:sldId id="462" r:id="rId27"/>
    <p:sldId id="463" r:id="rId28"/>
    <p:sldId id="403" r:id="rId29"/>
    <p:sldId id="402" r:id="rId30"/>
    <p:sldId id="405" r:id="rId31"/>
    <p:sldId id="406" r:id="rId32"/>
    <p:sldId id="407" r:id="rId33"/>
    <p:sldId id="412" r:id="rId34"/>
    <p:sldId id="411" r:id="rId35"/>
    <p:sldId id="410" r:id="rId36"/>
    <p:sldId id="409" r:id="rId37"/>
    <p:sldId id="413" r:id="rId38"/>
    <p:sldId id="434" r:id="rId39"/>
    <p:sldId id="415" r:id="rId40"/>
    <p:sldId id="416" r:id="rId41"/>
    <p:sldId id="418" r:id="rId42"/>
    <p:sldId id="420" r:id="rId43"/>
    <p:sldId id="419" r:id="rId44"/>
    <p:sldId id="422" r:id="rId45"/>
    <p:sldId id="423" r:id="rId46"/>
    <p:sldId id="421" r:id="rId47"/>
    <p:sldId id="424" r:id="rId48"/>
    <p:sldId id="426" r:id="rId49"/>
    <p:sldId id="454" r:id="rId50"/>
    <p:sldId id="414" r:id="rId51"/>
    <p:sldId id="428" r:id="rId52"/>
    <p:sldId id="429" r:id="rId53"/>
    <p:sldId id="427" r:id="rId54"/>
    <p:sldId id="431" r:id="rId55"/>
    <p:sldId id="432" r:id="rId56"/>
    <p:sldId id="430" r:id="rId57"/>
    <p:sldId id="433" r:id="rId58"/>
    <p:sldId id="435" r:id="rId59"/>
    <p:sldId id="436" r:id="rId60"/>
    <p:sldId id="437" r:id="rId61"/>
    <p:sldId id="438" r:id="rId62"/>
    <p:sldId id="440" r:id="rId63"/>
    <p:sldId id="443" r:id="rId64"/>
    <p:sldId id="441" r:id="rId65"/>
    <p:sldId id="444" r:id="rId66"/>
    <p:sldId id="442" r:id="rId67"/>
    <p:sldId id="445" r:id="rId68"/>
    <p:sldId id="446" r:id="rId69"/>
    <p:sldId id="452" r:id="rId70"/>
    <p:sldId id="448" r:id="rId71"/>
    <p:sldId id="449" r:id="rId72"/>
    <p:sldId id="447" r:id="rId73"/>
    <p:sldId id="450" r:id="rId74"/>
    <p:sldId id="451" r:id="rId75"/>
    <p:sldId id="300" r:id="rId76"/>
    <p:sldId id="466" r:id="rId77"/>
    <p:sldId id="467" r:id="rId7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91" autoAdjust="0"/>
    <p:restoredTop sz="68531" autoAdjust="0"/>
  </p:normalViewPr>
  <p:slideViewPr>
    <p:cSldViewPr snapToGrid="0">
      <p:cViewPr varScale="1">
        <p:scale>
          <a:sx n="78" d="100"/>
          <a:sy n="78"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324957-F043-4A67-B583-2D01282B6A0B}" type="datetimeFigureOut">
              <a:rPr lang="zh-CN" altLang="en-US" smtClean="0"/>
              <a:t>2023/8/1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335FCC-DBA1-4D6B-AA09-F4D87A578E5B}" type="slidenum">
              <a:rPr lang="zh-CN" altLang="en-US" smtClean="0"/>
              <a:t>‹#›</a:t>
            </a:fld>
            <a:endParaRPr lang="zh-CN" altLang="en-US"/>
          </a:p>
        </p:txBody>
      </p:sp>
    </p:spTree>
    <p:extLst>
      <p:ext uri="{BB962C8B-B14F-4D97-AF65-F5344CB8AC3E}">
        <p14:creationId xmlns:p14="http://schemas.microsoft.com/office/powerpoint/2010/main" val="107418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1</a:t>
            </a:fld>
            <a:endParaRPr lang="zh-CN" altLang="en-US"/>
          </a:p>
        </p:txBody>
      </p:sp>
    </p:spTree>
    <p:extLst>
      <p:ext uri="{BB962C8B-B14F-4D97-AF65-F5344CB8AC3E}">
        <p14:creationId xmlns:p14="http://schemas.microsoft.com/office/powerpoint/2010/main" val="2838896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9</a:t>
            </a:fld>
            <a:endParaRPr lang="zh-CN" altLang="en-US"/>
          </a:p>
        </p:txBody>
      </p:sp>
    </p:spTree>
    <p:extLst>
      <p:ext uri="{BB962C8B-B14F-4D97-AF65-F5344CB8AC3E}">
        <p14:creationId xmlns:p14="http://schemas.microsoft.com/office/powerpoint/2010/main" val="541226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Sigmoid function </a:t>
            </a:r>
            <a:r>
              <a:rPr lang="zh-CN" altLang="en-US" dirty="0"/>
              <a:t>人教</a:t>
            </a:r>
            <a:r>
              <a:rPr lang="en-US" altLang="zh-CN" dirty="0"/>
              <a:t>B</a:t>
            </a:r>
            <a:r>
              <a:rPr lang="zh-CN" altLang="en-US" dirty="0"/>
              <a:t>版必修二 </a:t>
            </a:r>
            <a:r>
              <a:rPr lang="en-US" altLang="zh-CN" dirty="0" err="1"/>
              <a:t>P46</a:t>
            </a:r>
            <a:r>
              <a:rPr lang="en-US" altLang="zh-CN" dirty="0"/>
              <a:t>-47</a:t>
            </a:r>
            <a:r>
              <a:rPr lang="zh-CN" altLang="en-US" dirty="0"/>
              <a:t>数学建模活动</a:t>
            </a:r>
          </a:p>
        </p:txBody>
      </p:sp>
      <p:sp>
        <p:nvSpPr>
          <p:cNvPr id="4" name="灯片编号占位符 3"/>
          <p:cNvSpPr>
            <a:spLocks noGrp="1"/>
          </p:cNvSpPr>
          <p:nvPr>
            <p:ph type="sldNum" sz="quarter" idx="10"/>
          </p:nvPr>
        </p:nvSpPr>
        <p:spPr/>
        <p:txBody>
          <a:bodyPr/>
          <a:lstStyle/>
          <a:p>
            <a:fld id="{B2335FCC-DBA1-4D6B-AA09-F4D87A578E5B}" type="slidenum">
              <a:rPr lang="zh-CN" altLang="en-US" smtClean="0"/>
              <a:t>24</a:t>
            </a:fld>
            <a:endParaRPr lang="zh-CN" altLang="en-US"/>
          </a:p>
        </p:txBody>
      </p:sp>
    </p:spTree>
    <p:extLst>
      <p:ext uri="{BB962C8B-B14F-4D97-AF65-F5344CB8AC3E}">
        <p14:creationId xmlns:p14="http://schemas.microsoft.com/office/powerpoint/2010/main" val="4223874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Sigmoid function </a:t>
            </a:r>
            <a:r>
              <a:rPr lang="zh-CN" altLang="en-US" dirty="0"/>
              <a:t>人教</a:t>
            </a:r>
            <a:r>
              <a:rPr lang="en-US" altLang="zh-CN" dirty="0"/>
              <a:t>B</a:t>
            </a:r>
            <a:r>
              <a:rPr lang="zh-CN" altLang="en-US" dirty="0"/>
              <a:t>版必修二 </a:t>
            </a:r>
            <a:r>
              <a:rPr lang="en-US" altLang="zh-CN" dirty="0" err="1"/>
              <a:t>P46</a:t>
            </a:r>
            <a:r>
              <a:rPr lang="en-US" altLang="zh-CN" dirty="0"/>
              <a:t>-47</a:t>
            </a:r>
            <a:r>
              <a:rPr lang="zh-CN" altLang="en-US" dirty="0"/>
              <a:t>数学建模活动</a:t>
            </a:r>
          </a:p>
        </p:txBody>
      </p:sp>
      <p:sp>
        <p:nvSpPr>
          <p:cNvPr id="4" name="灯片编号占位符 3"/>
          <p:cNvSpPr>
            <a:spLocks noGrp="1"/>
          </p:cNvSpPr>
          <p:nvPr>
            <p:ph type="sldNum" sz="quarter" idx="10"/>
          </p:nvPr>
        </p:nvSpPr>
        <p:spPr/>
        <p:txBody>
          <a:bodyPr/>
          <a:lstStyle/>
          <a:p>
            <a:fld id="{B2335FCC-DBA1-4D6B-AA09-F4D87A578E5B}" type="slidenum">
              <a:rPr lang="zh-CN" altLang="en-US" smtClean="0"/>
              <a:t>25</a:t>
            </a:fld>
            <a:endParaRPr lang="zh-CN" altLang="en-US"/>
          </a:p>
        </p:txBody>
      </p:sp>
    </p:spTree>
    <p:extLst>
      <p:ext uri="{BB962C8B-B14F-4D97-AF65-F5344CB8AC3E}">
        <p14:creationId xmlns:p14="http://schemas.microsoft.com/office/powerpoint/2010/main" val="1185244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26</a:t>
            </a:fld>
            <a:endParaRPr lang="zh-CN" altLang="en-US"/>
          </a:p>
        </p:txBody>
      </p:sp>
    </p:spTree>
    <p:extLst>
      <p:ext uri="{BB962C8B-B14F-4D97-AF65-F5344CB8AC3E}">
        <p14:creationId xmlns:p14="http://schemas.microsoft.com/office/powerpoint/2010/main" val="3854831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27</a:t>
            </a:fld>
            <a:endParaRPr lang="zh-CN" altLang="en-US"/>
          </a:p>
        </p:txBody>
      </p:sp>
    </p:spTree>
    <p:extLst>
      <p:ext uri="{BB962C8B-B14F-4D97-AF65-F5344CB8AC3E}">
        <p14:creationId xmlns:p14="http://schemas.microsoft.com/office/powerpoint/2010/main" val="2913514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28</a:t>
            </a:fld>
            <a:endParaRPr lang="zh-CN" altLang="en-US"/>
          </a:p>
        </p:txBody>
      </p:sp>
    </p:spTree>
    <p:extLst>
      <p:ext uri="{BB962C8B-B14F-4D97-AF65-F5344CB8AC3E}">
        <p14:creationId xmlns:p14="http://schemas.microsoft.com/office/powerpoint/2010/main" val="303534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71</a:t>
            </a:fld>
            <a:endParaRPr lang="zh-CN" altLang="en-US"/>
          </a:p>
        </p:txBody>
      </p:sp>
    </p:spTree>
    <p:extLst>
      <p:ext uri="{BB962C8B-B14F-4D97-AF65-F5344CB8AC3E}">
        <p14:creationId xmlns:p14="http://schemas.microsoft.com/office/powerpoint/2010/main" val="2771024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2335FCC-DBA1-4D6B-AA09-F4D87A578E5B}" type="slidenum">
              <a:rPr lang="zh-CN" altLang="en-US" smtClean="0"/>
              <a:t>72</a:t>
            </a:fld>
            <a:endParaRPr lang="zh-CN" altLang="en-US"/>
          </a:p>
        </p:txBody>
      </p:sp>
    </p:spTree>
    <p:extLst>
      <p:ext uri="{BB962C8B-B14F-4D97-AF65-F5344CB8AC3E}">
        <p14:creationId xmlns:p14="http://schemas.microsoft.com/office/powerpoint/2010/main" val="1100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F9F6283-0BA8-496B-9B7D-D96FB8E1B44C}" type="datetime1">
              <a:rPr lang="zh-CN" altLang="en-US" smtClean="0"/>
              <a:t>2023/8/1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425351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308D13-BB64-4037-B97D-FF22DD47A0CB}" type="datetime1">
              <a:rPr lang="zh-CN" altLang="en-US" smtClean="0"/>
              <a:t>2023/8/1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36378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8BB68B49-0ECD-448C-A632-FE3651B055C5}" type="datetime1">
              <a:rPr lang="zh-CN" altLang="en-US" smtClean="0"/>
              <a:t>2023/8/1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301186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1A836D5-9F28-45D8-ADBE-206FC78C7B09}" type="datetime1">
              <a:rPr lang="zh-CN" altLang="en-US" smtClean="0"/>
              <a:t>2023/8/1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4187902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6DE147-4129-4A3B-9383-F6D8D5D66529}" type="datetime1">
              <a:rPr lang="zh-CN" altLang="en-US" smtClean="0"/>
              <a:t>2023/8/1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3626202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908601-C1EA-4621-8063-CE081694931B}" type="datetime1">
              <a:rPr lang="zh-CN" altLang="en-US" smtClean="0"/>
              <a:t>2023/8/1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440938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00272A-059B-492D-BDA6-34038D12BFFC}" type="datetime1">
              <a:rPr lang="zh-CN" altLang="en-US" smtClean="0"/>
              <a:t>2023/8/1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1011149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EE6C416-A810-4C40-AAEA-43CEF40E7D28}" type="datetime1">
              <a:rPr lang="zh-CN" altLang="en-US" smtClean="0"/>
              <a:t>2023/8/1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1022580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E15B66C-B0E7-4B0D-8701-3A4381D3D4E4}" type="datetime1">
              <a:rPr lang="zh-CN" altLang="en-US" smtClean="0"/>
              <a:t>2023/8/1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736447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637771C-B7CC-4728-BF6A-1EFDFB48FB08}" type="datetime1">
              <a:rPr lang="zh-CN" altLang="en-US" smtClean="0"/>
              <a:t>2023/8/1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315175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952258E-8B9C-411C-B898-65BED14876C9}" type="datetime1">
              <a:rPr lang="zh-CN" altLang="en-US" smtClean="0"/>
              <a:t>2023/8/1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04D5434-05AA-4028-98DA-4ABF0C3BEA2A}" type="slidenum">
              <a:rPr lang="zh-CN" altLang="en-US" smtClean="0"/>
              <a:t>‹#›</a:t>
            </a:fld>
            <a:endParaRPr lang="zh-CN" altLang="en-US"/>
          </a:p>
        </p:txBody>
      </p:sp>
    </p:spTree>
    <p:extLst>
      <p:ext uri="{BB962C8B-B14F-4D97-AF65-F5344CB8AC3E}">
        <p14:creationId xmlns:p14="http://schemas.microsoft.com/office/powerpoint/2010/main" val="219864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7FFD79-FADF-4760-B260-9E78EEDF2DE0}" type="datetime1">
              <a:rPr lang="zh-CN" altLang="en-US" smtClean="0"/>
              <a:t>2023/8/1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D5434-05AA-4028-98DA-4ABF0C3BEA2A}" type="slidenum">
              <a:rPr lang="zh-CN" altLang="en-US" smtClean="0"/>
              <a:t>‹#›</a:t>
            </a:fld>
            <a:endParaRPr lang="zh-CN" altLang="en-US" dirty="0"/>
          </a:p>
        </p:txBody>
      </p:sp>
      <p:pic>
        <p:nvPicPr>
          <p:cNvPr id="7" name="Picture 12" descr="幻灯片子页-"/>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890" y="3657600"/>
            <a:ext cx="4500563" cy="32004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2"/>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0204255" y="173282"/>
            <a:ext cx="1672741" cy="418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925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2.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0.png"/><Relationship Id="rId7" Type="http://schemas.openxmlformats.org/officeDocument/2006/relationships/image" Target="../media/image7.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9.wmf"/><Relationship Id="rId5" Type="http://schemas.openxmlformats.org/officeDocument/2006/relationships/image" Target="../media/image6.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8.wmf"/></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10.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18.w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18.wmf"/><Relationship Id="rId4"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3.png"/><Relationship Id="rId7" Type="http://schemas.openxmlformats.org/officeDocument/2006/relationships/image" Target="../media/image25.wm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6.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3.png"/><Relationship Id="rId7" Type="http://schemas.openxmlformats.org/officeDocument/2006/relationships/image" Target="../media/image25.wm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6.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23.png"/><Relationship Id="rId7" Type="http://schemas.openxmlformats.org/officeDocument/2006/relationships/image" Target="../media/image25.wm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6.wmf"/></Relationships>
</file>

<file path=ppt/slides/_rels/slide24.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3.bin"/><Relationship Id="rId7" Type="http://schemas.openxmlformats.org/officeDocument/2006/relationships/oleObject" Target="../embeddings/oleObject24.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8.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5.wmf"/><Relationship Id="rId18" Type="http://schemas.openxmlformats.org/officeDocument/2006/relationships/image" Target="../media/image38.wmf"/><Relationship Id="rId26" Type="http://schemas.openxmlformats.org/officeDocument/2006/relationships/image" Target="../media/image42.wmf"/><Relationship Id="rId3" Type="http://schemas.openxmlformats.org/officeDocument/2006/relationships/oleObject" Target="../embeddings/oleObject24.bin"/><Relationship Id="rId21" Type="http://schemas.openxmlformats.org/officeDocument/2006/relationships/oleObject" Target="../embeddings/oleObject32.bin"/><Relationship Id="rId7" Type="http://schemas.openxmlformats.org/officeDocument/2006/relationships/image" Target="../media/image32.wmf"/><Relationship Id="rId12" Type="http://schemas.openxmlformats.org/officeDocument/2006/relationships/oleObject" Target="../embeddings/oleObject28.bin"/><Relationship Id="rId17" Type="http://schemas.openxmlformats.org/officeDocument/2006/relationships/oleObject" Target="../embeddings/oleObject30.bin"/><Relationship Id="rId25" Type="http://schemas.openxmlformats.org/officeDocument/2006/relationships/oleObject" Target="../embeddings/oleObject34.bin"/><Relationship Id="rId2" Type="http://schemas.openxmlformats.org/officeDocument/2006/relationships/notesSlide" Target="../notesSlides/notesSlide4.xml"/><Relationship Id="rId16" Type="http://schemas.openxmlformats.org/officeDocument/2006/relationships/image" Target="../media/image37.png"/><Relationship Id="rId20" Type="http://schemas.openxmlformats.org/officeDocument/2006/relationships/image" Target="../media/image39.wmf"/><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34.wmf"/><Relationship Id="rId24" Type="http://schemas.openxmlformats.org/officeDocument/2006/relationships/image" Target="../media/image41.wmf"/><Relationship Id="rId5" Type="http://schemas.openxmlformats.org/officeDocument/2006/relationships/image" Target="../media/image31.png"/><Relationship Id="rId15" Type="http://schemas.openxmlformats.org/officeDocument/2006/relationships/image" Target="../media/image36.wmf"/><Relationship Id="rId23" Type="http://schemas.openxmlformats.org/officeDocument/2006/relationships/oleObject" Target="../embeddings/oleObject33.bin"/><Relationship Id="rId10" Type="http://schemas.openxmlformats.org/officeDocument/2006/relationships/oleObject" Target="../embeddings/oleObject27.bin"/><Relationship Id="rId19" Type="http://schemas.openxmlformats.org/officeDocument/2006/relationships/oleObject" Target="../embeddings/oleObject31.bin"/><Relationship Id="rId4" Type="http://schemas.openxmlformats.org/officeDocument/2006/relationships/image" Target="../media/image30.wmf"/><Relationship Id="rId9" Type="http://schemas.openxmlformats.org/officeDocument/2006/relationships/image" Target="../media/image33.wmf"/><Relationship Id="rId14" Type="http://schemas.openxmlformats.org/officeDocument/2006/relationships/oleObject" Target="../embeddings/oleObject29.bin"/><Relationship Id="rId22" Type="http://schemas.openxmlformats.org/officeDocument/2006/relationships/image" Target="../media/image4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3.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oleObject" Target="../embeddings/oleObject35.bin"/><Relationship Id="rId7" Type="http://schemas.openxmlformats.org/officeDocument/2006/relationships/image" Target="../media/image44.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29.png"/><Relationship Id="rId4" Type="http://schemas.openxmlformats.org/officeDocument/2006/relationships/image" Target="../media/image43.wmf"/><Relationship Id="rId9" Type="http://schemas.openxmlformats.org/officeDocument/2006/relationships/image" Target="../media/image45.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oleObject" Target="../embeddings/oleObject35.bin"/><Relationship Id="rId7" Type="http://schemas.openxmlformats.org/officeDocument/2006/relationships/image" Target="../media/image44.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46.wmf"/><Relationship Id="rId5" Type="http://schemas.openxmlformats.org/officeDocument/2006/relationships/image" Target="../media/image29.png"/><Relationship Id="rId10" Type="http://schemas.openxmlformats.org/officeDocument/2006/relationships/oleObject" Target="../embeddings/oleObject38.bin"/><Relationship Id="rId4" Type="http://schemas.openxmlformats.org/officeDocument/2006/relationships/image" Target="../media/image43.wmf"/><Relationship Id="rId9" Type="http://schemas.openxmlformats.org/officeDocument/2006/relationships/image" Target="../media/image45.wmf"/></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44.bin"/><Relationship Id="rId18" Type="http://schemas.openxmlformats.org/officeDocument/2006/relationships/image" Target="../media/image54.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51.wmf"/><Relationship Id="rId17" Type="http://schemas.openxmlformats.org/officeDocument/2006/relationships/oleObject" Target="../embeddings/oleObject46.bin"/><Relationship Id="rId2" Type="http://schemas.openxmlformats.org/officeDocument/2006/relationships/image" Target="../media/image29.png"/><Relationship Id="rId16" Type="http://schemas.openxmlformats.org/officeDocument/2006/relationships/image" Target="../media/image53.wmf"/><Relationship Id="rId20" Type="http://schemas.openxmlformats.org/officeDocument/2006/relationships/image" Target="../media/image55.wmf"/><Relationship Id="rId1" Type="http://schemas.openxmlformats.org/officeDocument/2006/relationships/slideLayout" Target="../slideLayouts/slideLayout2.xml"/><Relationship Id="rId6" Type="http://schemas.openxmlformats.org/officeDocument/2006/relationships/image" Target="../media/image48.wmf"/><Relationship Id="rId11" Type="http://schemas.openxmlformats.org/officeDocument/2006/relationships/oleObject" Target="../embeddings/oleObject43.bin"/><Relationship Id="rId5" Type="http://schemas.openxmlformats.org/officeDocument/2006/relationships/oleObject" Target="../embeddings/oleObject40.bin"/><Relationship Id="rId15" Type="http://schemas.openxmlformats.org/officeDocument/2006/relationships/oleObject" Target="../embeddings/oleObject45.bin"/><Relationship Id="rId10" Type="http://schemas.openxmlformats.org/officeDocument/2006/relationships/image" Target="../media/image50.wmf"/><Relationship Id="rId19" Type="http://schemas.openxmlformats.org/officeDocument/2006/relationships/oleObject" Target="../embeddings/oleObject47.bin"/><Relationship Id="rId4" Type="http://schemas.openxmlformats.org/officeDocument/2006/relationships/image" Target="../media/image47.wmf"/><Relationship Id="rId9" Type="http://schemas.openxmlformats.org/officeDocument/2006/relationships/oleObject" Target="../embeddings/oleObject42.bin"/><Relationship Id="rId14" Type="http://schemas.openxmlformats.org/officeDocument/2006/relationships/image" Target="../media/image52.wmf"/></Relationships>
</file>

<file path=ppt/slides/_rels/slide32.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51.bin"/><Relationship Id="rId18" Type="http://schemas.openxmlformats.org/officeDocument/2006/relationships/image" Target="../media/image54.wmf"/><Relationship Id="rId3" Type="http://schemas.openxmlformats.org/officeDocument/2006/relationships/oleObject" Target="../embeddings/oleObject39.bin"/><Relationship Id="rId21" Type="http://schemas.openxmlformats.org/officeDocument/2006/relationships/oleObject" Target="../embeddings/oleObject55.bin"/><Relationship Id="rId7" Type="http://schemas.openxmlformats.org/officeDocument/2006/relationships/oleObject" Target="../embeddings/oleObject49.bin"/><Relationship Id="rId12" Type="http://schemas.openxmlformats.org/officeDocument/2006/relationships/image" Target="../media/image51.wmf"/><Relationship Id="rId17" Type="http://schemas.openxmlformats.org/officeDocument/2006/relationships/oleObject" Target="../embeddings/oleObject53.bin"/><Relationship Id="rId2" Type="http://schemas.openxmlformats.org/officeDocument/2006/relationships/image" Target="../media/image29.png"/><Relationship Id="rId16" Type="http://schemas.openxmlformats.org/officeDocument/2006/relationships/image" Target="../media/image53.wmf"/><Relationship Id="rId20" Type="http://schemas.openxmlformats.org/officeDocument/2006/relationships/image" Target="../media/image55.wmf"/><Relationship Id="rId1" Type="http://schemas.openxmlformats.org/officeDocument/2006/relationships/slideLayout" Target="../slideLayouts/slideLayout2.xml"/><Relationship Id="rId6" Type="http://schemas.openxmlformats.org/officeDocument/2006/relationships/image" Target="../media/image48.wmf"/><Relationship Id="rId11" Type="http://schemas.openxmlformats.org/officeDocument/2006/relationships/oleObject" Target="../embeddings/oleObject50.bin"/><Relationship Id="rId5" Type="http://schemas.openxmlformats.org/officeDocument/2006/relationships/oleObject" Target="../embeddings/oleObject48.bin"/><Relationship Id="rId15" Type="http://schemas.openxmlformats.org/officeDocument/2006/relationships/oleObject" Target="../embeddings/oleObject52.bin"/><Relationship Id="rId10" Type="http://schemas.openxmlformats.org/officeDocument/2006/relationships/image" Target="../media/image50.wmf"/><Relationship Id="rId19" Type="http://schemas.openxmlformats.org/officeDocument/2006/relationships/oleObject" Target="../embeddings/oleObject54.bin"/><Relationship Id="rId4" Type="http://schemas.openxmlformats.org/officeDocument/2006/relationships/image" Target="../media/image47.wmf"/><Relationship Id="rId9" Type="http://schemas.openxmlformats.org/officeDocument/2006/relationships/oleObject" Target="../embeddings/oleObject42.bin"/><Relationship Id="rId14" Type="http://schemas.openxmlformats.org/officeDocument/2006/relationships/image" Target="../media/image52.wmf"/><Relationship Id="rId22" Type="http://schemas.openxmlformats.org/officeDocument/2006/relationships/image" Target="../media/image56.wmf"/></Relationships>
</file>

<file path=ppt/slides/_rels/slide33.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59.bin"/><Relationship Id="rId3" Type="http://schemas.openxmlformats.org/officeDocument/2006/relationships/oleObject" Target="../embeddings/oleObject39.bin"/><Relationship Id="rId7" Type="http://schemas.openxmlformats.org/officeDocument/2006/relationships/oleObject" Target="../embeddings/oleObject42.bin"/><Relationship Id="rId12" Type="http://schemas.openxmlformats.org/officeDocument/2006/relationships/image" Target="../media/image53.wmf"/><Relationship Id="rId2" Type="http://schemas.openxmlformats.org/officeDocument/2006/relationships/image" Target="../media/image29.png"/><Relationship Id="rId16" Type="http://schemas.openxmlformats.org/officeDocument/2006/relationships/image" Target="../media/image55.wmf"/><Relationship Id="rId1" Type="http://schemas.openxmlformats.org/officeDocument/2006/relationships/slideLayout" Target="../slideLayouts/slideLayout2.xml"/><Relationship Id="rId6" Type="http://schemas.openxmlformats.org/officeDocument/2006/relationships/image" Target="../media/image49.wmf"/><Relationship Id="rId11" Type="http://schemas.openxmlformats.org/officeDocument/2006/relationships/oleObject" Target="../embeddings/oleObject58.bin"/><Relationship Id="rId5" Type="http://schemas.openxmlformats.org/officeDocument/2006/relationships/oleObject" Target="../embeddings/oleObject56.bin"/><Relationship Id="rId15" Type="http://schemas.openxmlformats.org/officeDocument/2006/relationships/oleObject" Target="../embeddings/oleObject60.bin"/><Relationship Id="rId10" Type="http://schemas.openxmlformats.org/officeDocument/2006/relationships/image" Target="../media/image52.wmf"/><Relationship Id="rId4" Type="http://schemas.openxmlformats.org/officeDocument/2006/relationships/image" Target="../media/image47.wmf"/><Relationship Id="rId9" Type="http://schemas.openxmlformats.org/officeDocument/2006/relationships/oleObject" Target="../embeddings/oleObject57.bin"/><Relationship Id="rId14" Type="http://schemas.openxmlformats.org/officeDocument/2006/relationships/image" Target="../media/image54.wmf"/></Relationships>
</file>

<file path=ppt/slides/_rels/slide34.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64.bin"/><Relationship Id="rId18" Type="http://schemas.openxmlformats.org/officeDocument/2006/relationships/image" Target="../media/image57.wmf"/><Relationship Id="rId3" Type="http://schemas.openxmlformats.org/officeDocument/2006/relationships/oleObject" Target="../embeddings/oleObject39.bin"/><Relationship Id="rId7" Type="http://schemas.openxmlformats.org/officeDocument/2006/relationships/oleObject" Target="../embeddings/oleObject42.bin"/><Relationship Id="rId12" Type="http://schemas.openxmlformats.org/officeDocument/2006/relationships/image" Target="../media/image53.wmf"/><Relationship Id="rId17" Type="http://schemas.openxmlformats.org/officeDocument/2006/relationships/oleObject" Target="../embeddings/oleObject66.bin"/><Relationship Id="rId2" Type="http://schemas.openxmlformats.org/officeDocument/2006/relationships/image" Target="../media/image29.png"/><Relationship Id="rId16" Type="http://schemas.openxmlformats.org/officeDocument/2006/relationships/image" Target="../media/image55.wmf"/><Relationship Id="rId20" Type="http://schemas.openxmlformats.org/officeDocument/2006/relationships/image" Target="../media/image58.wmf"/><Relationship Id="rId1" Type="http://schemas.openxmlformats.org/officeDocument/2006/relationships/slideLayout" Target="../slideLayouts/slideLayout2.xml"/><Relationship Id="rId6" Type="http://schemas.openxmlformats.org/officeDocument/2006/relationships/image" Target="../media/image49.wmf"/><Relationship Id="rId11" Type="http://schemas.openxmlformats.org/officeDocument/2006/relationships/oleObject" Target="../embeddings/oleObject63.bin"/><Relationship Id="rId5" Type="http://schemas.openxmlformats.org/officeDocument/2006/relationships/oleObject" Target="../embeddings/oleObject61.bin"/><Relationship Id="rId15" Type="http://schemas.openxmlformats.org/officeDocument/2006/relationships/oleObject" Target="../embeddings/oleObject65.bin"/><Relationship Id="rId10" Type="http://schemas.openxmlformats.org/officeDocument/2006/relationships/image" Target="../media/image52.wmf"/><Relationship Id="rId19" Type="http://schemas.openxmlformats.org/officeDocument/2006/relationships/oleObject" Target="../embeddings/oleObject67.bin"/><Relationship Id="rId4" Type="http://schemas.openxmlformats.org/officeDocument/2006/relationships/image" Target="../media/image47.wmf"/><Relationship Id="rId9" Type="http://schemas.openxmlformats.org/officeDocument/2006/relationships/oleObject" Target="../embeddings/oleObject62.bin"/><Relationship Id="rId14" Type="http://schemas.openxmlformats.org/officeDocument/2006/relationships/image" Target="../media/image54.wmf"/></Relationships>
</file>

<file path=ppt/slides/_rels/slide35.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71.bin"/><Relationship Id="rId18" Type="http://schemas.openxmlformats.org/officeDocument/2006/relationships/image" Target="../media/image57.wmf"/><Relationship Id="rId3" Type="http://schemas.openxmlformats.org/officeDocument/2006/relationships/oleObject" Target="../embeddings/oleObject39.bin"/><Relationship Id="rId21" Type="http://schemas.openxmlformats.org/officeDocument/2006/relationships/oleObject" Target="../embeddings/oleObject75.bin"/><Relationship Id="rId7" Type="http://schemas.openxmlformats.org/officeDocument/2006/relationships/oleObject" Target="../embeddings/oleObject42.bin"/><Relationship Id="rId12" Type="http://schemas.openxmlformats.org/officeDocument/2006/relationships/image" Target="../media/image53.wmf"/><Relationship Id="rId17" Type="http://schemas.openxmlformats.org/officeDocument/2006/relationships/oleObject" Target="../embeddings/oleObject73.bin"/><Relationship Id="rId2" Type="http://schemas.openxmlformats.org/officeDocument/2006/relationships/image" Target="../media/image29.png"/><Relationship Id="rId16" Type="http://schemas.openxmlformats.org/officeDocument/2006/relationships/image" Target="../media/image55.wmf"/><Relationship Id="rId20" Type="http://schemas.openxmlformats.org/officeDocument/2006/relationships/image" Target="../media/image58.wmf"/><Relationship Id="rId1" Type="http://schemas.openxmlformats.org/officeDocument/2006/relationships/slideLayout" Target="../slideLayouts/slideLayout2.xml"/><Relationship Id="rId6" Type="http://schemas.openxmlformats.org/officeDocument/2006/relationships/image" Target="../media/image49.wmf"/><Relationship Id="rId11" Type="http://schemas.openxmlformats.org/officeDocument/2006/relationships/oleObject" Target="../embeddings/oleObject70.bin"/><Relationship Id="rId5" Type="http://schemas.openxmlformats.org/officeDocument/2006/relationships/oleObject" Target="../embeddings/oleObject68.bin"/><Relationship Id="rId15" Type="http://schemas.openxmlformats.org/officeDocument/2006/relationships/oleObject" Target="../embeddings/oleObject72.bin"/><Relationship Id="rId23" Type="http://schemas.openxmlformats.org/officeDocument/2006/relationships/oleObject" Target="../embeddings/oleObject76.bin"/><Relationship Id="rId10" Type="http://schemas.openxmlformats.org/officeDocument/2006/relationships/image" Target="../media/image52.wmf"/><Relationship Id="rId19" Type="http://schemas.openxmlformats.org/officeDocument/2006/relationships/oleObject" Target="../embeddings/oleObject74.bin"/><Relationship Id="rId4" Type="http://schemas.openxmlformats.org/officeDocument/2006/relationships/image" Target="../media/image47.wmf"/><Relationship Id="rId9" Type="http://schemas.openxmlformats.org/officeDocument/2006/relationships/oleObject" Target="../embeddings/oleObject69.bin"/><Relationship Id="rId14" Type="http://schemas.openxmlformats.org/officeDocument/2006/relationships/image" Target="../media/image54.wmf"/><Relationship Id="rId22" Type="http://schemas.openxmlformats.org/officeDocument/2006/relationships/image" Target="../media/image59.wmf"/></Relationships>
</file>

<file path=ppt/slides/_rels/slide36.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80.bin"/><Relationship Id="rId18" Type="http://schemas.openxmlformats.org/officeDocument/2006/relationships/image" Target="../media/image57.wmf"/><Relationship Id="rId3" Type="http://schemas.openxmlformats.org/officeDocument/2006/relationships/oleObject" Target="../embeddings/oleObject39.bin"/><Relationship Id="rId21" Type="http://schemas.openxmlformats.org/officeDocument/2006/relationships/oleObject" Target="../embeddings/oleObject84.bin"/><Relationship Id="rId7" Type="http://schemas.openxmlformats.org/officeDocument/2006/relationships/oleObject" Target="../embeddings/oleObject42.bin"/><Relationship Id="rId12" Type="http://schemas.openxmlformats.org/officeDocument/2006/relationships/image" Target="../media/image53.wmf"/><Relationship Id="rId17" Type="http://schemas.openxmlformats.org/officeDocument/2006/relationships/oleObject" Target="../embeddings/oleObject82.bin"/><Relationship Id="rId2" Type="http://schemas.openxmlformats.org/officeDocument/2006/relationships/image" Target="../media/image29.png"/><Relationship Id="rId16" Type="http://schemas.openxmlformats.org/officeDocument/2006/relationships/image" Target="../media/image55.wmf"/><Relationship Id="rId20" Type="http://schemas.openxmlformats.org/officeDocument/2006/relationships/image" Target="../media/image58.wmf"/><Relationship Id="rId1" Type="http://schemas.openxmlformats.org/officeDocument/2006/relationships/slideLayout" Target="../slideLayouts/slideLayout2.xml"/><Relationship Id="rId6" Type="http://schemas.openxmlformats.org/officeDocument/2006/relationships/image" Target="../media/image49.wmf"/><Relationship Id="rId11" Type="http://schemas.openxmlformats.org/officeDocument/2006/relationships/oleObject" Target="../embeddings/oleObject79.bin"/><Relationship Id="rId5" Type="http://schemas.openxmlformats.org/officeDocument/2006/relationships/oleObject" Target="../embeddings/oleObject77.bin"/><Relationship Id="rId15" Type="http://schemas.openxmlformats.org/officeDocument/2006/relationships/oleObject" Target="../embeddings/oleObject81.bin"/><Relationship Id="rId23" Type="http://schemas.openxmlformats.org/officeDocument/2006/relationships/oleObject" Target="../embeddings/oleObject85.bin"/><Relationship Id="rId10" Type="http://schemas.openxmlformats.org/officeDocument/2006/relationships/image" Target="../media/image52.wmf"/><Relationship Id="rId19" Type="http://schemas.openxmlformats.org/officeDocument/2006/relationships/oleObject" Target="../embeddings/oleObject83.bin"/><Relationship Id="rId4" Type="http://schemas.openxmlformats.org/officeDocument/2006/relationships/image" Target="../media/image47.wmf"/><Relationship Id="rId9" Type="http://schemas.openxmlformats.org/officeDocument/2006/relationships/oleObject" Target="../embeddings/oleObject78.bin"/><Relationship Id="rId14" Type="http://schemas.openxmlformats.org/officeDocument/2006/relationships/image" Target="../media/image54.wmf"/><Relationship Id="rId22" Type="http://schemas.openxmlformats.org/officeDocument/2006/relationships/image" Target="../media/image59.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59.wmf"/><Relationship Id="rId5" Type="http://schemas.openxmlformats.org/officeDocument/2006/relationships/oleObject" Target="../embeddings/oleObject87.bin"/><Relationship Id="rId4" Type="http://schemas.openxmlformats.org/officeDocument/2006/relationships/image" Target="../media/image49.wmf"/></Relationships>
</file>

<file path=ppt/slides/_rels/slide38.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93.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62.wmf"/><Relationship Id="rId2" Type="http://schemas.openxmlformats.org/officeDocument/2006/relationships/image" Target="../media/image29.png"/><Relationship Id="rId16" Type="http://schemas.openxmlformats.org/officeDocument/2006/relationships/image" Target="../media/image64.wmf"/><Relationship Id="rId1" Type="http://schemas.openxmlformats.org/officeDocument/2006/relationships/slideLayout" Target="../slideLayouts/slideLayout2.xml"/><Relationship Id="rId6" Type="http://schemas.openxmlformats.org/officeDocument/2006/relationships/image" Target="../media/image59.wmf"/><Relationship Id="rId11" Type="http://schemas.openxmlformats.org/officeDocument/2006/relationships/oleObject" Target="../embeddings/oleObject92.bin"/><Relationship Id="rId5" Type="http://schemas.openxmlformats.org/officeDocument/2006/relationships/oleObject" Target="../embeddings/oleObject89.bin"/><Relationship Id="rId15" Type="http://schemas.openxmlformats.org/officeDocument/2006/relationships/oleObject" Target="../embeddings/oleObject94.bin"/><Relationship Id="rId10" Type="http://schemas.openxmlformats.org/officeDocument/2006/relationships/image" Target="../media/image61.wmf"/><Relationship Id="rId4" Type="http://schemas.openxmlformats.org/officeDocument/2006/relationships/image" Target="../media/image49.wmf"/><Relationship Id="rId9" Type="http://schemas.openxmlformats.org/officeDocument/2006/relationships/oleObject" Target="../embeddings/oleObject91.bin"/><Relationship Id="rId14" Type="http://schemas.openxmlformats.org/officeDocument/2006/relationships/image" Target="../media/image63.wmf"/></Relationships>
</file>

<file path=ppt/slides/_rels/slide39.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59.wmf"/><Relationship Id="rId5" Type="http://schemas.openxmlformats.org/officeDocument/2006/relationships/oleObject" Target="../embeddings/oleObject96.bin"/><Relationship Id="rId10" Type="http://schemas.openxmlformats.org/officeDocument/2006/relationships/image" Target="../media/image66.wmf"/><Relationship Id="rId4" Type="http://schemas.openxmlformats.org/officeDocument/2006/relationships/image" Target="../media/image49.wmf"/><Relationship Id="rId9" Type="http://schemas.openxmlformats.org/officeDocument/2006/relationships/oleObject" Target="../embeddings/oleObject98.bin"/></Relationships>
</file>

<file path=ppt/slides/_rels/slide40.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67.wmf"/><Relationship Id="rId2" Type="http://schemas.openxmlformats.org/officeDocument/2006/relationships/oleObject" Target="../embeddings/oleObject99.bin"/><Relationship Id="rId1" Type="http://schemas.openxmlformats.org/officeDocument/2006/relationships/slideLayout" Target="../slideLayouts/slideLayout2.xml"/><Relationship Id="rId6" Type="http://schemas.openxmlformats.org/officeDocument/2006/relationships/oleObject" Target="../embeddings/oleObject101.bin"/><Relationship Id="rId5" Type="http://schemas.openxmlformats.org/officeDocument/2006/relationships/image" Target="../media/image66.wmf"/><Relationship Id="rId4" Type="http://schemas.openxmlformats.org/officeDocument/2006/relationships/oleObject" Target="../embeddings/oleObject100.bin"/></Relationships>
</file>

<file path=ppt/slides/_rels/slide41.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67.wmf"/><Relationship Id="rId2" Type="http://schemas.openxmlformats.org/officeDocument/2006/relationships/oleObject" Target="../embeddings/oleObject99.bin"/><Relationship Id="rId1" Type="http://schemas.openxmlformats.org/officeDocument/2006/relationships/slideLayout" Target="../slideLayouts/slideLayout2.xml"/><Relationship Id="rId6" Type="http://schemas.openxmlformats.org/officeDocument/2006/relationships/oleObject" Target="../embeddings/oleObject101.bin"/><Relationship Id="rId5" Type="http://schemas.openxmlformats.org/officeDocument/2006/relationships/image" Target="../media/image66.wmf"/><Relationship Id="rId4" Type="http://schemas.openxmlformats.org/officeDocument/2006/relationships/oleObject" Target="../embeddings/oleObject100.bin"/></Relationships>
</file>

<file path=ppt/slides/_rels/slide42.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101.bin"/><Relationship Id="rId1" Type="http://schemas.openxmlformats.org/officeDocument/2006/relationships/slideLayout" Target="../slideLayouts/slideLayout2.xml"/><Relationship Id="rId5" Type="http://schemas.openxmlformats.org/officeDocument/2006/relationships/image" Target="../media/image68.wmf"/><Relationship Id="rId4" Type="http://schemas.openxmlformats.org/officeDocument/2006/relationships/oleObject" Target="../embeddings/oleObject102.bin"/></Relationships>
</file>

<file path=ppt/slides/_rels/slide43.xml.rels><?xml version="1.0" encoding="UTF-8" standalone="yes"?>
<Relationships xmlns="http://schemas.openxmlformats.org/package/2006/relationships"><Relationship Id="rId3" Type="http://schemas.openxmlformats.org/officeDocument/2006/relationships/image" Target="../media/image67.wmf"/><Relationship Id="rId7" Type="http://schemas.openxmlformats.org/officeDocument/2006/relationships/image" Target="../media/image69.wmf"/><Relationship Id="rId2" Type="http://schemas.openxmlformats.org/officeDocument/2006/relationships/oleObject" Target="../embeddings/oleObject101.bin"/><Relationship Id="rId1" Type="http://schemas.openxmlformats.org/officeDocument/2006/relationships/slideLayout" Target="../slideLayouts/slideLayout2.xml"/><Relationship Id="rId6" Type="http://schemas.openxmlformats.org/officeDocument/2006/relationships/oleObject" Target="../embeddings/oleObject103.bin"/><Relationship Id="rId5" Type="http://schemas.openxmlformats.org/officeDocument/2006/relationships/image" Target="../media/image68.wmf"/><Relationship Id="rId4" Type="http://schemas.openxmlformats.org/officeDocument/2006/relationships/oleObject" Target="../embeddings/oleObject102.bin"/></Relationships>
</file>

<file path=ppt/slides/_rels/slide4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0.wmf"/><Relationship Id="rId7" Type="http://schemas.openxmlformats.org/officeDocument/2006/relationships/image" Target="../media/image71.wmf"/><Relationship Id="rId2" Type="http://schemas.openxmlformats.org/officeDocument/2006/relationships/oleObject" Target="../embeddings/oleObject104.bin"/><Relationship Id="rId1" Type="http://schemas.openxmlformats.org/officeDocument/2006/relationships/slideLayout" Target="../slideLayouts/slideLayout2.xml"/><Relationship Id="rId6" Type="http://schemas.openxmlformats.org/officeDocument/2006/relationships/oleObject" Target="../embeddings/oleObject106.bin"/><Relationship Id="rId5" Type="http://schemas.openxmlformats.org/officeDocument/2006/relationships/image" Target="../media/image70.wmf"/><Relationship Id="rId4" Type="http://schemas.openxmlformats.org/officeDocument/2006/relationships/oleObject" Target="../embeddings/oleObject105.bin"/></Relationships>
</file>

<file path=ppt/slides/_rels/slide4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0.wmf"/><Relationship Id="rId7" Type="http://schemas.openxmlformats.org/officeDocument/2006/relationships/image" Target="../media/image71.wmf"/><Relationship Id="rId2" Type="http://schemas.openxmlformats.org/officeDocument/2006/relationships/oleObject" Target="../embeddings/oleObject104.bin"/><Relationship Id="rId1" Type="http://schemas.openxmlformats.org/officeDocument/2006/relationships/slideLayout" Target="../slideLayouts/slideLayout2.xml"/><Relationship Id="rId6" Type="http://schemas.openxmlformats.org/officeDocument/2006/relationships/oleObject" Target="../embeddings/oleObject106.bin"/><Relationship Id="rId5" Type="http://schemas.openxmlformats.org/officeDocument/2006/relationships/image" Target="../media/image70.wmf"/><Relationship Id="rId10" Type="http://schemas.openxmlformats.org/officeDocument/2006/relationships/image" Target="../media/image72.wmf"/><Relationship Id="rId4" Type="http://schemas.openxmlformats.org/officeDocument/2006/relationships/oleObject" Target="../embeddings/oleObject105.bin"/><Relationship Id="rId9" Type="http://schemas.openxmlformats.org/officeDocument/2006/relationships/oleObject" Target="../embeddings/oleObject107.bin"/></Relationships>
</file>

<file path=ppt/slides/_rels/slide4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0.wmf"/><Relationship Id="rId7" Type="http://schemas.openxmlformats.org/officeDocument/2006/relationships/image" Target="../media/image71.wmf"/><Relationship Id="rId2" Type="http://schemas.openxmlformats.org/officeDocument/2006/relationships/oleObject" Target="../embeddings/oleObject104.bin"/><Relationship Id="rId1" Type="http://schemas.openxmlformats.org/officeDocument/2006/relationships/slideLayout" Target="../slideLayouts/slideLayout2.xml"/><Relationship Id="rId6" Type="http://schemas.openxmlformats.org/officeDocument/2006/relationships/oleObject" Target="../embeddings/oleObject106.bin"/><Relationship Id="rId5" Type="http://schemas.openxmlformats.org/officeDocument/2006/relationships/image" Target="../media/image70.wmf"/><Relationship Id="rId10" Type="http://schemas.openxmlformats.org/officeDocument/2006/relationships/image" Target="../media/image72.wmf"/><Relationship Id="rId4" Type="http://schemas.openxmlformats.org/officeDocument/2006/relationships/oleObject" Target="../embeddings/oleObject105.bin"/><Relationship Id="rId9" Type="http://schemas.openxmlformats.org/officeDocument/2006/relationships/oleObject" Target="../embeddings/oleObject107.bin"/></Relationships>
</file>

<file path=ppt/slides/_rels/slide47.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18.wmf"/><Relationship Id="rId4" Type="http://schemas.openxmlformats.org/officeDocument/2006/relationships/oleObject" Target="../embeddings/oleObject14.bin"/></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0.wmf"/><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oleObject" Target="../embeddings/oleObject24.bin"/><Relationship Id="rId5" Type="http://schemas.openxmlformats.org/officeDocument/2006/relationships/image" Target="../media/image74.wmf"/><Relationship Id="rId4" Type="http://schemas.openxmlformats.org/officeDocument/2006/relationships/oleObject" Target="../embeddings/oleObject108.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image" Target="../media/image75.wmf"/><Relationship Id="rId7" Type="http://schemas.openxmlformats.org/officeDocument/2006/relationships/image" Target="../media/image77.wmf"/><Relationship Id="rId2" Type="http://schemas.openxmlformats.org/officeDocument/2006/relationships/oleObject" Target="../embeddings/oleObject109.bin"/><Relationship Id="rId1" Type="http://schemas.openxmlformats.org/officeDocument/2006/relationships/slideLayout" Target="../slideLayouts/slideLayout2.xml"/><Relationship Id="rId6" Type="http://schemas.openxmlformats.org/officeDocument/2006/relationships/oleObject" Target="../embeddings/oleObject111.bin"/><Relationship Id="rId5" Type="http://schemas.openxmlformats.org/officeDocument/2006/relationships/image" Target="../media/image76.wmf"/><Relationship Id="rId10" Type="http://schemas.openxmlformats.org/officeDocument/2006/relationships/image" Target="../media/image79.png"/><Relationship Id="rId4" Type="http://schemas.openxmlformats.org/officeDocument/2006/relationships/oleObject" Target="../embeddings/oleObject110.bin"/><Relationship Id="rId9" Type="http://schemas.openxmlformats.org/officeDocument/2006/relationships/image" Target="../media/image78.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13.bin"/><Relationship Id="rId13" Type="http://schemas.openxmlformats.org/officeDocument/2006/relationships/image" Target="../media/image86.wmf"/><Relationship Id="rId3" Type="http://schemas.openxmlformats.org/officeDocument/2006/relationships/image" Target="../media/image81.jpeg"/><Relationship Id="rId7" Type="http://schemas.openxmlformats.org/officeDocument/2006/relationships/image" Target="../media/image84.jpeg"/><Relationship Id="rId12" Type="http://schemas.openxmlformats.org/officeDocument/2006/relationships/oleObject" Target="../embeddings/oleObject115.bin"/><Relationship Id="rId2" Type="http://schemas.openxmlformats.org/officeDocument/2006/relationships/image" Target="../media/image80.jpeg"/><Relationship Id="rId16" Type="http://schemas.openxmlformats.org/officeDocument/2006/relationships/image" Target="../media/image87.wmf"/><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5.wmf"/><Relationship Id="rId5" Type="http://schemas.openxmlformats.org/officeDocument/2006/relationships/image" Target="../media/image83.jpeg"/><Relationship Id="rId15" Type="http://schemas.openxmlformats.org/officeDocument/2006/relationships/oleObject" Target="../embeddings/oleObject117.bin"/><Relationship Id="rId10" Type="http://schemas.openxmlformats.org/officeDocument/2006/relationships/oleObject" Target="../embeddings/oleObject114.bin"/><Relationship Id="rId4" Type="http://schemas.openxmlformats.org/officeDocument/2006/relationships/image" Target="../media/image82.jpeg"/><Relationship Id="rId9" Type="http://schemas.openxmlformats.org/officeDocument/2006/relationships/image" Target="../media/image75.wmf"/><Relationship Id="rId14" Type="http://schemas.openxmlformats.org/officeDocument/2006/relationships/oleObject" Target="../embeddings/oleObject116.bin"/></Relationships>
</file>

<file path=ppt/slides/_rels/slide57.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image" Target="../media/image81.jpeg"/><Relationship Id="rId7" Type="http://schemas.openxmlformats.org/officeDocument/2006/relationships/image" Target="../media/image90.jpeg"/><Relationship Id="rId2" Type="http://schemas.openxmlformats.org/officeDocument/2006/relationships/image" Target="../media/image88.jpe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29.png"/><Relationship Id="rId5" Type="http://schemas.openxmlformats.org/officeDocument/2006/relationships/image" Target="../media/image89.jpeg"/><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s>
</file>

<file path=ppt/slides/_rels/slide58.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image" Target="../media/image29.png"/><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94.wmf"/><Relationship Id="rId2" Type="http://schemas.openxmlformats.org/officeDocument/2006/relationships/image" Target="../media/image88.jpe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18.bin"/><Relationship Id="rId5" Type="http://schemas.openxmlformats.org/officeDocument/2006/relationships/image" Target="../media/image89.jpeg"/><Relationship Id="rId15" Type="http://schemas.openxmlformats.org/officeDocument/2006/relationships/image" Target="../media/image95.wmf"/><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oleObject" Target="../embeddings/oleObject119.bin"/></Relationships>
</file>

<file path=ppt/slides/_rels/slide59.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1.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96.wmf"/><Relationship Id="rId2" Type="http://schemas.openxmlformats.org/officeDocument/2006/relationships/image" Target="../media/image88.jpeg"/><Relationship Id="rId16" Type="http://schemas.openxmlformats.org/officeDocument/2006/relationships/image" Target="../media/image98.wmf"/><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0.bin"/><Relationship Id="rId5" Type="http://schemas.openxmlformats.org/officeDocument/2006/relationships/image" Target="../media/image89.jpeg"/><Relationship Id="rId15" Type="http://schemas.openxmlformats.org/officeDocument/2006/relationships/oleObject" Target="../embeddings/oleObject122.bin"/><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97.wmf"/></Relationships>
</file>

<file path=ppt/slides/_rels/slide60.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4.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96.wmf"/><Relationship Id="rId2" Type="http://schemas.openxmlformats.org/officeDocument/2006/relationships/image" Target="../media/image88.jpeg"/><Relationship Id="rId16" Type="http://schemas.openxmlformats.org/officeDocument/2006/relationships/image" Target="../media/image98.wmf"/><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3.bin"/><Relationship Id="rId5" Type="http://schemas.openxmlformats.org/officeDocument/2006/relationships/image" Target="../media/image89.jpeg"/><Relationship Id="rId15" Type="http://schemas.openxmlformats.org/officeDocument/2006/relationships/oleObject" Target="../embeddings/oleObject125.bin"/><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97.wmf"/></Relationships>
</file>

<file path=ppt/slides/_rels/slide61.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image" Target="../media/image81.jpeg"/><Relationship Id="rId7" Type="http://schemas.openxmlformats.org/officeDocument/2006/relationships/image" Target="../media/image90.jpeg"/><Relationship Id="rId2" Type="http://schemas.openxmlformats.org/officeDocument/2006/relationships/image" Target="../media/image88.jpe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89.jpeg"/><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s>
</file>

<file path=ppt/slides/_rels/slide62.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oleObject" Target="../embeddings/oleObject126.bin"/><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63.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8.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101.wmf"/><Relationship Id="rId2" Type="http://schemas.openxmlformats.org/officeDocument/2006/relationships/image" Target="../media/image88.jpeg"/><Relationship Id="rId16" Type="http://schemas.openxmlformats.org/officeDocument/2006/relationships/image" Target="../media/image103.wmf"/><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7.bin"/><Relationship Id="rId5" Type="http://schemas.openxmlformats.org/officeDocument/2006/relationships/image" Target="../media/image89.jpeg"/><Relationship Id="rId15" Type="http://schemas.openxmlformats.org/officeDocument/2006/relationships/oleObject" Target="../embeddings/oleObject129.bin"/><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102.wmf"/></Relationships>
</file>

<file path=ppt/slides/_rels/slide64.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8.bin"/><Relationship Id="rId18" Type="http://schemas.openxmlformats.org/officeDocument/2006/relationships/oleObject" Target="../embeddings/oleObject130.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101.wmf"/><Relationship Id="rId17" Type="http://schemas.openxmlformats.org/officeDocument/2006/relationships/image" Target="../media/image104.jpeg"/><Relationship Id="rId2" Type="http://schemas.openxmlformats.org/officeDocument/2006/relationships/image" Target="../media/image88.jpeg"/><Relationship Id="rId16" Type="http://schemas.openxmlformats.org/officeDocument/2006/relationships/image" Target="../media/image103.wmf"/><Relationship Id="rId20" Type="http://schemas.openxmlformats.org/officeDocument/2006/relationships/oleObject" Target="../embeddings/oleObject132.bin"/><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7.bin"/><Relationship Id="rId5" Type="http://schemas.openxmlformats.org/officeDocument/2006/relationships/image" Target="../media/image89.jpeg"/><Relationship Id="rId15" Type="http://schemas.openxmlformats.org/officeDocument/2006/relationships/oleObject" Target="../embeddings/oleObject129.bin"/><Relationship Id="rId10" Type="http://schemas.openxmlformats.org/officeDocument/2006/relationships/image" Target="../media/image93.jpeg"/><Relationship Id="rId19" Type="http://schemas.openxmlformats.org/officeDocument/2006/relationships/oleObject" Target="../embeddings/oleObject131.bin"/><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102.wmf"/></Relationships>
</file>

<file path=ppt/slides/_rels/slide65.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8.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101.wmf"/><Relationship Id="rId2" Type="http://schemas.openxmlformats.org/officeDocument/2006/relationships/image" Target="../media/image88.jpeg"/><Relationship Id="rId16" Type="http://schemas.openxmlformats.org/officeDocument/2006/relationships/image" Target="../media/image103.wmf"/><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7.bin"/><Relationship Id="rId5" Type="http://schemas.openxmlformats.org/officeDocument/2006/relationships/image" Target="../media/image89.jpeg"/><Relationship Id="rId15" Type="http://schemas.openxmlformats.org/officeDocument/2006/relationships/oleObject" Target="../embeddings/oleObject129.bin"/><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102.wmf"/></Relationships>
</file>

<file path=ppt/slides/_rels/slide66.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8.bin"/><Relationship Id="rId18" Type="http://schemas.openxmlformats.org/officeDocument/2006/relationships/oleObject" Target="../embeddings/oleObject130.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101.wmf"/><Relationship Id="rId17" Type="http://schemas.openxmlformats.org/officeDocument/2006/relationships/image" Target="../media/image104.jpeg"/><Relationship Id="rId2" Type="http://schemas.openxmlformats.org/officeDocument/2006/relationships/image" Target="../media/image88.jpeg"/><Relationship Id="rId16" Type="http://schemas.openxmlformats.org/officeDocument/2006/relationships/image" Target="../media/image103.wmf"/><Relationship Id="rId20" Type="http://schemas.openxmlformats.org/officeDocument/2006/relationships/oleObject" Target="../embeddings/oleObject132.bin"/><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7.bin"/><Relationship Id="rId5" Type="http://schemas.openxmlformats.org/officeDocument/2006/relationships/image" Target="../media/image89.jpeg"/><Relationship Id="rId15" Type="http://schemas.openxmlformats.org/officeDocument/2006/relationships/oleObject" Target="../embeddings/oleObject129.bin"/><Relationship Id="rId10" Type="http://schemas.openxmlformats.org/officeDocument/2006/relationships/image" Target="../media/image93.jpeg"/><Relationship Id="rId19" Type="http://schemas.openxmlformats.org/officeDocument/2006/relationships/oleObject" Target="../embeddings/oleObject131.bin"/><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102.wmf"/></Relationships>
</file>

<file path=ppt/slides/_rels/slide67.xml.rels><?xml version="1.0" encoding="UTF-8" standalone="yes"?>
<Relationships xmlns="http://schemas.openxmlformats.org/package/2006/relationships"><Relationship Id="rId8" Type="http://schemas.openxmlformats.org/officeDocument/2006/relationships/image" Target="../media/image91.jpeg"/><Relationship Id="rId13" Type="http://schemas.openxmlformats.org/officeDocument/2006/relationships/oleObject" Target="../embeddings/oleObject128.bin"/><Relationship Id="rId3" Type="http://schemas.openxmlformats.org/officeDocument/2006/relationships/image" Target="../media/image81.jpeg"/><Relationship Id="rId7" Type="http://schemas.openxmlformats.org/officeDocument/2006/relationships/image" Target="../media/image90.jpeg"/><Relationship Id="rId12" Type="http://schemas.openxmlformats.org/officeDocument/2006/relationships/image" Target="../media/image101.wmf"/><Relationship Id="rId2" Type="http://schemas.openxmlformats.org/officeDocument/2006/relationships/image" Target="../media/image88.jpeg"/><Relationship Id="rId16" Type="http://schemas.openxmlformats.org/officeDocument/2006/relationships/image" Target="../media/image103.wmf"/><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oleObject" Target="../embeddings/oleObject127.bin"/><Relationship Id="rId5" Type="http://schemas.openxmlformats.org/officeDocument/2006/relationships/image" Target="../media/image89.jpeg"/><Relationship Id="rId15" Type="http://schemas.openxmlformats.org/officeDocument/2006/relationships/oleObject" Target="../embeddings/oleObject129.bin"/><Relationship Id="rId10" Type="http://schemas.openxmlformats.org/officeDocument/2006/relationships/image" Target="../media/image93.jpeg"/><Relationship Id="rId4" Type="http://schemas.openxmlformats.org/officeDocument/2006/relationships/image" Target="../media/image82.jpeg"/><Relationship Id="rId9" Type="http://schemas.openxmlformats.org/officeDocument/2006/relationships/image" Target="../media/image92.jpeg"/><Relationship Id="rId14" Type="http://schemas.openxmlformats.org/officeDocument/2006/relationships/image" Target="../media/image102.wmf"/></Relationships>
</file>

<file path=ppt/slides/_rels/slide6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33.bin"/><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75.wmf"/><Relationship Id="rId5" Type="http://schemas.openxmlformats.org/officeDocument/2006/relationships/oleObject" Target="../embeddings/oleObject134.bin"/><Relationship Id="rId4" Type="http://schemas.openxmlformats.org/officeDocument/2006/relationships/image" Target="../media/image106.wmf"/></Relationships>
</file>

<file path=ppt/slides/_rels/slide70.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133.bin"/><Relationship Id="rId7" Type="http://schemas.openxmlformats.org/officeDocument/2006/relationships/oleObject" Target="../embeddings/oleObject135.bin"/><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75.wmf"/><Relationship Id="rId5" Type="http://schemas.openxmlformats.org/officeDocument/2006/relationships/oleObject" Target="../embeddings/oleObject134.bin"/><Relationship Id="rId4" Type="http://schemas.openxmlformats.org/officeDocument/2006/relationships/image" Target="../media/image106.wmf"/><Relationship Id="rId9" Type="http://schemas.openxmlformats.org/officeDocument/2006/relationships/oleObject" Target="../embeddings/oleObject136.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2.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4.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59.wmf"/><Relationship Id="rId5" Type="http://schemas.openxmlformats.org/officeDocument/2006/relationships/oleObject" Target="../embeddings/oleObject87.bin"/><Relationship Id="rId4" Type="http://schemas.openxmlformats.org/officeDocument/2006/relationships/image" Target="../media/image49.wmf"/></Relationships>
</file>

<file path=ppt/slides/_rels/slide77.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93.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62.wmf"/><Relationship Id="rId2" Type="http://schemas.openxmlformats.org/officeDocument/2006/relationships/image" Target="../media/image29.png"/><Relationship Id="rId16" Type="http://schemas.openxmlformats.org/officeDocument/2006/relationships/image" Target="../media/image64.wmf"/><Relationship Id="rId1" Type="http://schemas.openxmlformats.org/officeDocument/2006/relationships/slideLayout" Target="../slideLayouts/slideLayout2.xml"/><Relationship Id="rId6" Type="http://schemas.openxmlformats.org/officeDocument/2006/relationships/image" Target="../media/image59.wmf"/><Relationship Id="rId11" Type="http://schemas.openxmlformats.org/officeDocument/2006/relationships/oleObject" Target="../embeddings/oleObject92.bin"/><Relationship Id="rId5" Type="http://schemas.openxmlformats.org/officeDocument/2006/relationships/oleObject" Target="../embeddings/oleObject89.bin"/><Relationship Id="rId15" Type="http://schemas.openxmlformats.org/officeDocument/2006/relationships/oleObject" Target="../embeddings/oleObject94.bin"/><Relationship Id="rId10" Type="http://schemas.openxmlformats.org/officeDocument/2006/relationships/image" Target="../media/image61.wmf"/><Relationship Id="rId4" Type="http://schemas.openxmlformats.org/officeDocument/2006/relationships/image" Target="../media/image49.wmf"/><Relationship Id="rId9" Type="http://schemas.openxmlformats.org/officeDocument/2006/relationships/oleObject" Target="../embeddings/oleObject91.bin"/><Relationship Id="rId14" Type="http://schemas.openxmlformats.org/officeDocument/2006/relationships/image" Target="../media/image6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3999" y="1122363"/>
            <a:ext cx="9587345" cy="2387600"/>
          </a:xfrm>
        </p:spPr>
        <p:txBody>
          <a:bodyPr/>
          <a:lstStyle/>
          <a:p>
            <a:r>
              <a:rPr lang="zh-CN" altLang="en-US" b="1" dirty="0"/>
              <a:t>第六讲 监督学习</a:t>
            </a:r>
            <a:br>
              <a:rPr lang="en-US" altLang="zh-CN" b="1" dirty="0"/>
            </a:br>
            <a:r>
              <a:rPr lang="zh-CN" altLang="en-US" b="1" dirty="0"/>
              <a:t>与逻辑斯蒂回归</a:t>
            </a:r>
          </a:p>
        </p:txBody>
      </p:sp>
      <p:sp>
        <p:nvSpPr>
          <p:cNvPr id="3" name="副标题 2"/>
          <p:cNvSpPr>
            <a:spLocks noGrp="1"/>
          </p:cNvSpPr>
          <p:nvPr>
            <p:ph type="subTitle" idx="1"/>
          </p:nvPr>
        </p:nvSpPr>
        <p:spPr/>
        <p:txBody>
          <a:bodyPr/>
          <a:lstStyle/>
          <a:p>
            <a:endParaRPr lang="en-US" altLang="zh-CN" dirty="0"/>
          </a:p>
          <a:p>
            <a:r>
              <a:rPr lang="zh-CN" altLang="en-US" dirty="0"/>
              <a:t>郑子杰 韩思瑶</a:t>
            </a:r>
            <a:endParaRPr lang="en-US" altLang="zh-CN" dirty="0"/>
          </a:p>
          <a:p>
            <a:r>
              <a:rPr lang="zh-CN" altLang="en-US" dirty="0"/>
              <a:t>北京市十一学校</a:t>
            </a:r>
          </a:p>
        </p:txBody>
      </p:sp>
      <p:sp>
        <p:nvSpPr>
          <p:cNvPr id="4" name="灯片编号占位符 3"/>
          <p:cNvSpPr>
            <a:spLocks noGrp="1"/>
          </p:cNvSpPr>
          <p:nvPr>
            <p:ph type="sldNum" sz="quarter" idx="12"/>
          </p:nvPr>
        </p:nvSpPr>
        <p:spPr/>
        <p:txBody>
          <a:bodyPr/>
          <a:lstStyle/>
          <a:p>
            <a:fld id="{C04D5434-05AA-4028-98DA-4ABF0C3BEA2A}" type="slidenum">
              <a:rPr lang="zh-CN" altLang="en-US" smtClean="0"/>
              <a:t>1</a:t>
            </a:fld>
            <a:endParaRPr lang="zh-CN" altLang="en-US"/>
          </a:p>
        </p:txBody>
      </p:sp>
      <p:sp>
        <p:nvSpPr>
          <p:cNvPr id="5" name="文本框 4"/>
          <p:cNvSpPr txBox="1"/>
          <p:nvPr/>
        </p:nvSpPr>
        <p:spPr>
          <a:xfrm>
            <a:off x="3396418" y="6444476"/>
            <a:ext cx="5936268" cy="276999"/>
          </a:xfrm>
          <a:prstGeom prst="rect">
            <a:avLst/>
          </a:prstGeom>
          <a:noFill/>
        </p:spPr>
        <p:txBody>
          <a:bodyPr wrap="square" rtlCol="0">
            <a:spAutoFit/>
          </a:bodyPr>
          <a:lstStyle/>
          <a:p>
            <a:pPr algn="ctr"/>
            <a:r>
              <a:rPr lang="zh-CN" altLang="en-US" sz="1200" dirty="0"/>
              <a:t>所有课件可以用来教学使用，未经允许不得以盈利为目的进行分享</a:t>
            </a:r>
          </a:p>
        </p:txBody>
      </p:sp>
    </p:spTree>
    <p:extLst>
      <p:ext uri="{BB962C8B-B14F-4D97-AF65-F5344CB8AC3E}">
        <p14:creationId xmlns:p14="http://schemas.microsoft.com/office/powerpoint/2010/main" val="2965943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机器学习的基本流程 </a:t>
            </a:r>
            <a:r>
              <a:rPr lang="en-US" altLang="zh-CN" sz="3600" b="1" dirty="0"/>
              <a:t>Process of</a:t>
            </a:r>
            <a:r>
              <a:rPr lang="zh-CN" altLang="en-US" sz="3600" b="1" dirty="0"/>
              <a:t> </a:t>
            </a:r>
            <a:r>
              <a:rPr lang="en-US" altLang="zh-CN" sz="3600" b="1" dirty="0"/>
              <a:t>Machine Learning</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a:t>
            </a:fld>
            <a:endParaRPr lang="zh-CN" altLang="en-US"/>
          </a:p>
        </p:txBody>
      </p:sp>
      <p:sp>
        <p:nvSpPr>
          <p:cNvPr id="6" name="流程图: 磁盘 5"/>
          <p:cNvSpPr/>
          <p:nvPr/>
        </p:nvSpPr>
        <p:spPr>
          <a:xfrm>
            <a:off x="1736978" y="440963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流程图: 磁盘 6"/>
          <p:cNvSpPr/>
          <p:nvPr/>
        </p:nvSpPr>
        <p:spPr>
          <a:xfrm>
            <a:off x="1736978" y="424337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流程图: 磁盘 7"/>
          <p:cNvSpPr/>
          <p:nvPr/>
        </p:nvSpPr>
        <p:spPr>
          <a:xfrm>
            <a:off x="1736978" y="407712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流程图: 磁盘 8"/>
          <p:cNvSpPr/>
          <p:nvPr/>
        </p:nvSpPr>
        <p:spPr>
          <a:xfrm>
            <a:off x="1736978" y="391086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流程图: 磁盘 9"/>
          <p:cNvSpPr/>
          <p:nvPr/>
        </p:nvSpPr>
        <p:spPr>
          <a:xfrm>
            <a:off x="1736978" y="374461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流程图: 磁盘 10"/>
          <p:cNvSpPr/>
          <p:nvPr/>
        </p:nvSpPr>
        <p:spPr>
          <a:xfrm>
            <a:off x="1736978" y="357835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流程图: 磁盘 11"/>
          <p:cNvSpPr/>
          <p:nvPr/>
        </p:nvSpPr>
        <p:spPr>
          <a:xfrm>
            <a:off x="1736978" y="341210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流程图: 磁盘 12"/>
          <p:cNvSpPr/>
          <p:nvPr/>
        </p:nvSpPr>
        <p:spPr>
          <a:xfrm>
            <a:off x="1736978" y="324584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流程图: 磁盘 13"/>
          <p:cNvSpPr/>
          <p:nvPr/>
        </p:nvSpPr>
        <p:spPr>
          <a:xfrm>
            <a:off x="1736978" y="307959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流程图: 磁盘 14"/>
          <p:cNvSpPr/>
          <p:nvPr/>
        </p:nvSpPr>
        <p:spPr>
          <a:xfrm>
            <a:off x="1736978" y="291333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矩形 15"/>
          <p:cNvSpPr/>
          <p:nvPr/>
        </p:nvSpPr>
        <p:spPr>
          <a:xfrm>
            <a:off x="1936607" y="4647249"/>
            <a:ext cx="673582" cy="646331"/>
          </a:xfrm>
          <a:prstGeom prst="rect">
            <a:avLst/>
          </a:prstGeom>
        </p:spPr>
        <p:txBody>
          <a:bodyPr wrap="none">
            <a:spAutoFit/>
          </a:bodyPr>
          <a:lstStyle/>
          <a:p>
            <a:pPr algn="ctr"/>
            <a:r>
              <a:rPr lang="zh-CN" altLang="en-US" b="1" dirty="0"/>
              <a:t>数据</a:t>
            </a:r>
            <a:endParaRPr lang="en-US" altLang="zh-CN" b="1" dirty="0"/>
          </a:p>
          <a:p>
            <a:pPr algn="ctr"/>
            <a:r>
              <a:rPr lang="en-US" altLang="zh-CN" b="1" dirty="0"/>
              <a:t>Data</a:t>
            </a:r>
            <a:endParaRPr lang="zh-CN" altLang="en-US" dirty="0"/>
          </a:p>
        </p:txBody>
      </p:sp>
    </p:spTree>
    <p:extLst>
      <p:ext uri="{BB962C8B-B14F-4D97-AF65-F5344CB8AC3E}">
        <p14:creationId xmlns:p14="http://schemas.microsoft.com/office/powerpoint/2010/main" val="1812055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机器学习的基本流程 </a:t>
            </a:r>
            <a:r>
              <a:rPr lang="en-US" altLang="zh-CN" sz="3600" b="1" dirty="0"/>
              <a:t>Process of</a:t>
            </a:r>
            <a:r>
              <a:rPr lang="zh-CN" altLang="en-US" sz="3600" b="1" dirty="0"/>
              <a:t> </a:t>
            </a:r>
            <a:r>
              <a:rPr lang="en-US" altLang="zh-CN" sz="3600" b="1" dirty="0"/>
              <a:t>Machine Learning</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a:t>
            </a:fld>
            <a:endParaRPr lang="zh-CN" altLang="en-US"/>
          </a:p>
        </p:txBody>
      </p:sp>
      <p:sp>
        <p:nvSpPr>
          <p:cNvPr id="6" name="流程图: 磁盘 5"/>
          <p:cNvSpPr/>
          <p:nvPr/>
        </p:nvSpPr>
        <p:spPr>
          <a:xfrm>
            <a:off x="1736978" y="440963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流程图: 磁盘 6"/>
          <p:cNvSpPr/>
          <p:nvPr/>
        </p:nvSpPr>
        <p:spPr>
          <a:xfrm>
            <a:off x="1736978" y="424337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流程图: 磁盘 7"/>
          <p:cNvSpPr/>
          <p:nvPr/>
        </p:nvSpPr>
        <p:spPr>
          <a:xfrm>
            <a:off x="1736978" y="407712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流程图: 磁盘 8"/>
          <p:cNvSpPr/>
          <p:nvPr/>
        </p:nvSpPr>
        <p:spPr>
          <a:xfrm>
            <a:off x="1736978" y="391086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流程图: 磁盘 9"/>
          <p:cNvSpPr/>
          <p:nvPr/>
        </p:nvSpPr>
        <p:spPr>
          <a:xfrm>
            <a:off x="1736978" y="374461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流程图: 磁盘 10"/>
          <p:cNvSpPr/>
          <p:nvPr/>
        </p:nvSpPr>
        <p:spPr>
          <a:xfrm>
            <a:off x="1736978" y="357835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流程图: 磁盘 11"/>
          <p:cNvSpPr/>
          <p:nvPr/>
        </p:nvSpPr>
        <p:spPr>
          <a:xfrm>
            <a:off x="1736978" y="341210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流程图: 磁盘 12"/>
          <p:cNvSpPr/>
          <p:nvPr/>
        </p:nvSpPr>
        <p:spPr>
          <a:xfrm>
            <a:off x="1736978" y="324584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流程图: 磁盘 13"/>
          <p:cNvSpPr/>
          <p:nvPr/>
        </p:nvSpPr>
        <p:spPr>
          <a:xfrm>
            <a:off x="1736978" y="307959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流程图: 磁盘 14"/>
          <p:cNvSpPr/>
          <p:nvPr/>
        </p:nvSpPr>
        <p:spPr>
          <a:xfrm>
            <a:off x="1736978" y="291333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矩形 15"/>
          <p:cNvSpPr/>
          <p:nvPr/>
        </p:nvSpPr>
        <p:spPr>
          <a:xfrm>
            <a:off x="1936607" y="4647249"/>
            <a:ext cx="673582" cy="646331"/>
          </a:xfrm>
          <a:prstGeom prst="rect">
            <a:avLst/>
          </a:prstGeom>
        </p:spPr>
        <p:txBody>
          <a:bodyPr wrap="none">
            <a:spAutoFit/>
          </a:bodyPr>
          <a:lstStyle/>
          <a:p>
            <a:pPr algn="ctr"/>
            <a:r>
              <a:rPr lang="zh-CN" altLang="en-US" b="1" dirty="0"/>
              <a:t>数据</a:t>
            </a:r>
            <a:endParaRPr lang="en-US" altLang="zh-CN" b="1" dirty="0"/>
          </a:p>
          <a:p>
            <a:pPr algn="ctr"/>
            <a:r>
              <a:rPr lang="en-US" altLang="zh-CN" b="1" dirty="0"/>
              <a:t>Data</a:t>
            </a:r>
            <a:endParaRPr lang="zh-CN" altLang="en-US" dirty="0"/>
          </a:p>
        </p:txBody>
      </p:sp>
      <p:sp>
        <p:nvSpPr>
          <p:cNvPr id="23" name="流程图: 磁盘 22"/>
          <p:cNvSpPr/>
          <p:nvPr/>
        </p:nvSpPr>
        <p:spPr>
          <a:xfrm>
            <a:off x="4959488" y="231868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流程图: 磁盘 23"/>
          <p:cNvSpPr/>
          <p:nvPr/>
        </p:nvSpPr>
        <p:spPr>
          <a:xfrm>
            <a:off x="4959488" y="2152428"/>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5" name="流程图: 磁盘 24"/>
          <p:cNvSpPr/>
          <p:nvPr/>
        </p:nvSpPr>
        <p:spPr>
          <a:xfrm>
            <a:off x="4959488" y="198617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3" name="流程图: 磁盘 62"/>
          <p:cNvSpPr/>
          <p:nvPr/>
        </p:nvSpPr>
        <p:spPr>
          <a:xfrm>
            <a:off x="4959488" y="574208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4" name="流程图: 磁盘 63"/>
          <p:cNvSpPr/>
          <p:nvPr/>
        </p:nvSpPr>
        <p:spPr>
          <a:xfrm>
            <a:off x="4959488" y="557582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5" name="流程图: 磁盘 64"/>
          <p:cNvSpPr/>
          <p:nvPr/>
        </p:nvSpPr>
        <p:spPr>
          <a:xfrm>
            <a:off x="4959488" y="540957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6" name="流程图: 磁盘 65"/>
          <p:cNvSpPr/>
          <p:nvPr/>
        </p:nvSpPr>
        <p:spPr>
          <a:xfrm>
            <a:off x="4959488" y="524331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7" name="流程图: 磁盘 66"/>
          <p:cNvSpPr/>
          <p:nvPr/>
        </p:nvSpPr>
        <p:spPr>
          <a:xfrm>
            <a:off x="4959488" y="507706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8" name="流程图: 磁盘 67"/>
          <p:cNvSpPr/>
          <p:nvPr/>
        </p:nvSpPr>
        <p:spPr>
          <a:xfrm>
            <a:off x="4959488" y="491080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9" name="流程图: 磁盘 68"/>
          <p:cNvSpPr/>
          <p:nvPr/>
        </p:nvSpPr>
        <p:spPr>
          <a:xfrm>
            <a:off x="4959488" y="474455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3" name="右箭头 72"/>
          <p:cNvSpPr/>
          <p:nvPr/>
        </p:nvSpPr>
        <p:spPr>
          <a:xfrm rot="20218143">
            <a:off x="3261924" y="2675200"/>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2907276" y="1746134"/>
            <a:ext cx="1768433" cy="646331"/>
          </a:xfrm>
          <a:prstGeom prst="rect">
            <a:avLst/>
          </a:prstGeom>
        </p:spPr>
        <p:txBody>
          <a:bodyPr wrap="none">
            <a:spAutoFit/>
          </a:bodyPr>
          <a:lstStyle/>
          <a:p>
            <a:pPr algn="ctr"/>
            <a:r>
              <a:rPr lang="zh-CN" altLang="en-US" b="1" dirty="0"/>
              <a:t>假装的“新数据”</a:t>
            </a:r>
            <a:endParaRPr lang="en-US" altLang="zh-CN" b="1" dirty="0"/>
          </a:p>
          <a:p>
            <a:pPr algn="ctr"/>
            <a:r>
              <a:rPr lang="en-US" altLang="zh-CN" b="1" dirty="0"/>
              <a:t>Fake New Data</a:t>
            </a:r>
            <a:endParaRPr lang="zh-CN" altLang="en-US" dirty="0"/>
          </a:p>
        </p:txBody>
      </p:sp>
      <p:sp>
        <p:nvSpPr>
          <p:cNvPr id="76" name="矩形 75"/>
          <p:cNvSpPr/>
          <p:nvPr/>
        </p:nvSpPr>
        <p:spPr>
          <a:xfrm>
            <a:off x="4892093" y="2581585"/>
            <a:ext cx="1348447" cy="646331"/>
          </a:xfrm>
          <a:prstGeom prst="rect">
            <a:avLst/>
          </a:prstGeom>
        </p:spPr>
        <p:txBody>
          <a:bodyPr wrap="none">
            <a:spAutoFit/>
          </a:bodyPr>
          <a:lstStyle/>
          <a:p>
            <a:pPr algn="ctr"/>
            <a:r>
              <a:rPr lang="zh-CN" altLang="en-US" b="1" dirty="0"/>
              <a:t>测试集</a:t>
            </a:r>
            <a:endParaRPr lang="en-US" altLang="zh-CN" b="1" dirty="0"/>
          </a:p>
          <a:p>
            <a:pPr algn="ctr"/>
            <a:r>
              <a:rPr lang="en-US" altLang="zh-CN" b="1" dirty="0"/>
              <a:t>Testing Set</a:t>
            </a:r>
            <a:endParaRPr lang="zh-CN" altLang="en-US" dirty="0"/>
          </a:p>
        </p:txBody>
      </p:sp>
      <p:sp>
        <p:nvSpPr>
          <p:cNvPr id="77" name="矩形 76"/>
          <p:cNvSpPr/>
          <p:nvPr/>
        </p:nvSpPr>
        <p:spPr>
          <a:xfrm>
            <a:off x="4844804" y="5997284"/>
            <a:ext cx="1443024" cy="646331"/>
          </a:xfrm>
          <a:prstGeom prst="rect">
            <a:avLst/>
          </a:prstGeom>
        </p:spPr>
        <p:txBody>
          <a:bodyPr wrap="none">
            <a:spAutoFit/>
          </a:bodyPr>
          <a:lstStyle/>
          <a:p>
            <a:pPr algn="ctr"/>
            <a:r>
              <a:rPr lang="zh-CN" altLang="en-US" b="1" dirty="0"/>
              <a:t>训练集</a:t>
            </a:r>
            <a:endParaRPr lang="en-US" altLang="zh-CN" b="1" dirty="0"/>
          </a:p>
          <a:p>
            <a:pPr algn="ctr"/>
            <a:r>
              <a:rPr lang="en-US" altLang="zh-CN" b="1" dirty="0"/>
              <a:t>Training Set</a:t>
            </a:r>
            <a:endParaRPr lang="zh-CN" altLang="en-US" dirty="0"/>
          </a:p>
        </p:txBody>
      </p:sp>
      <p:sp>
        <p:nvSpPr>
          <p:cNvPr id="78" name="矩形 77"/>
          <p:cNvSpPr/>
          <p:nvPr/>
        </p:nvSpPr>
        <p:spPr>
          <a:xfrm>
            <a:off x="2907276" y="5006452"/>
            <a:ext cx="1768433" cy="646331"/>
          </a:xfrm>
          <a:prstGeom prst="rect">
            <a:avLst/>
          </a:prstGeom>
        </p:spPr>
        <p:txBody>
          <a:bodyPr wrap="none">
            <a:spAutoFit/>
          </a:bodyPr>
          <a:lstStyle/>
          <a:p>
            <a:pPr algn="ctr"/>
            <a:r>
              <a:rPr lang="zh-CN" altLang="en-US" b="1" dirty="0"/>
              <a:t>剩下的“老数据”</a:t>
            </a:r>
            <a:endParaRPr lang="en-US" altLang="zh-CN" b="1" dirty="0"/>
          </a:p>
          <a:p>
            <a:pPr algn="ctr"/>
            <a:r>
              <a:rPr lang="en-US" altLang="zh-CN" b="1" dirty="0"/>
              <a:t>Rest Old Data</a:t>
            </a:r>
            <a:endParaRPr lang="zh-CN" altLang="en-US" dirty="0"/>
          </a:p>
        </p:txBody>
      </p:sp>
      <p:sp>
        <p:nvSpPr>
          <p:cNvPr id="79" name="右箭头 78"/>
          <p:cNvSpPr/>
          <p:nvPr/>
        </p:nvSpPr>
        <p:spPr>
          <a:xfrm rot="1641280">
            <a:off x="3262989" y="4510312"/>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6554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机器学习的基本流程 </a:t>
            </a:r>
            <a:r>
              <a:rPr lang="en-US" altLang="zh-CN" sz="3600" b="1" dirty="0"/>
              <a:t>Process of</a:t>
            </a:r>
            <a:r>
              <a:rPr lang="zh-CN" altLang="en-US" sz="3600" b="1" dirty="0"/>
              <a:t> </a:t>
            </a:r>
            <a:r>
              <a:rPr lang="en-US" altLang="zh-CN" sz="3600" b="1" dirty="0"/>
              <a:t>Machine Learning</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a:t>
            </a:fld>
            <a:endParaRPr lang="zh-CN" altLang="en-US"/>
          </a:p>
        </p:txBody>
      </p:sp>
      <p:sp>
        <p:nvSpPr>
          <p:cNvPr id="6" name="流程图: 磁盘 5"/>
          <p:cNvSpPr/>
          <p:nvPr/>
        </p:nvSpPr>
        <p:spPr>
          <a:xfrm>
            <a:off x="1736978" y="440963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流程图: 磁盘 6"/>
          <p:cNvSpPr/>
          <p:nvPr/>
        </p:nvSpPr>
        <p:spPr>
          <a:xfrm>
            <a:off x="1736978" y="424337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流程图: 磁盘 7"/>
          <p:cNvSpPr/>
          <p:nvPr/>
        </p:nvSpPr>
        <p:spPr>
          <a:xfrm>
            <a:off x="1736978" y="407712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流程图: 磁盘 8"/>
          <p:cNvSpPr/>
          <p:nvPr/>
        </p:nvSpPr>
        <p:spPr>
          <a:xfrm>
            <a:off x="1736978" y="391086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流程图: 磁盘 9"/>
          <p:cNvSpPr/>
          <p:nvPr/>
        </p:nvSpPr>
        <p:spPr>
          <a:xfrm>
            <a:off x="1736978" y="374461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流程图: 磁盘 10"/>
          <p:cNvSpPr/>
          <p:nvPr/>
        </p:nvSpPr>
        <p:spPr>
          <a:xfrm>
            <a:off x="1736978" y="357835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流程图: 磁盘 11"/>
          <p:cNvSpPr/>
          <p:nvPr/>
        </p:nvSpPr>
        <p:spPr>
          <a:xfrm>
            <a:off x="1736978" y="341210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流程图: 磁盘 12"/>
          <p:cNvSpPr/>
          <p:nvPr/>
        </p:nvSpPr>
        <p:spPr>
          <a:xfrm>
            <a:off x="1736978" y="324584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流程图: 磁盘 13"/>
          <p:cNvSpPr/>
          <p:nvPr/>
        </p:nvSpPr>
        <p:spPr>
          <a:xfrm>
            <a:off x="1736978" y="307959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流程图: 磁盘 14"/>
          <p:cNvSpPr/>
          <p:nvPr/>
        </p:nvSpPr>
        <p:spPr>
          <a:xfrm>
            <a:off x="1736978" y="291333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矩形 15"/>
          <p:cNvSpPr/>
          <p:nvPr/>
        </p:nvSpPr>
        <p:spPr>
          <a:xfrm>
            <a:off x="1936607" y="4647249"/>
            <a:ext cx="673582" cy="646331"/>
          </a:xfrm>
          <a:prstGeom prst="rect">
            <a:avLst/>
          </a:prstGeom>
        </p:spPr>
        <p:txBody>
          <a:bodyPr wrap="none">
            <a:spAutoFit/>
          </a:bodyPr>
          <a:lstStyle/>
          <a:p>
            <a:pPr algn="ctr"/>
            <a:r>
              <a:rPr lang="zh-CN" altLang="en-US" b="1" dirty="0"/>
              <a:t>数据</a:t>
            </a:r>
            <a:endParaRPr lang="en-US" altLang="zh-CN" b="1" dirty="0"/>
          </a:p>
          <a:p>
            <a:pPr algn="ctr"/>
            <a:r>
              <a:rPr lang="en-US" altLang="zh-CN" b="1" dirty="0"/>
              <a:t>Data</a:t>
            </a:r>
            <a:endParaRPr lang="zh-CN" altLang="en-US" dirty="0"/>
          </a:p>
        </p:txBody>
      </p:sp>
      <p:sp>
        <p:nvSpPr>
          <p:cNvPr id="19" name="矩形 18"/>
          <p:cNvSpPr/>
          <p:nvPr/>
        </p:nvSpPr>
        <p:spPr>
          <a:xfrm>
            <a:off x="7013276" y="4910858"/>
            <a:ext cx="712054" cy="646331"/>
          </a:xfrm>
          <a:prstGeom prst="rect">
            <a:avLst/>
          </a:prstGeom>
        </p:spPr>
        <p:txBody>
          <a:bodyPr wrap="none">
            <a:spAutoFit/>
          </a:bodyPr>
          <a:lstStyle/>
          <a:p>
            <a:pPr algn="ctr"/>
            <a:r>
              <a:rPr lang="zh-CN" altLang="en-US" b="1" dirty="0"/>
              <a:t>训练</a:t>
            </a:r>
            <a:endParaRPr lang="en-US" altLang="zh-CN" b="1" dirty="0"/>
          </a:p>
          <a:p>
            <a:pPr algn="ctr"/>
            <a:r>
              <a:rPr lang="en-US" altLang="zh-CN" b="1" dirty="0"/>
              <a:t>Train</a:t>
            </a:r>
            <a:endParaRPr lang="zh-CN" altLang="en-US" dirty="0"/>
          </a:p>
        </p:txBody>
      </p:sp>
      <p:grpSp>
        <p:nvGrpSpPr>
          <p:cNvPr id="62" name="组合 61"/>
          <p:cNvGrpSpPr/>
          <p:nvPr/>
        </p:nvGrpSpPr>
        <p:grpSpPr>
          <a:xfrm>
            <a:off x="8102623" y="2871214"/>
            <a:ext cx="2159635" cy="2304610"/>
            <a:chOff x="4449907" y="3191494"/>
            <a:chExt cx="2159635" cy="2304610"/>
          </a:xfrm>
        </p:grpSpPr>
        <p:grpSp>
          <p:nvGrpSpPr>
            <p:cNvPr id="18" name="组合 17"/>
            <p:cNvGrpSpPr/>
            <p:nvPr/>
          </p:nvGrpSpPr>
          <p:grpSpPr>
            <a:xfrm>
              <a:off x="4449907" y="3191494"/>
              <a:ext cx="2159635" cy="1905240"/>
              <a:chOff x="7411085" y="4840845"/>
              <a:chExt cx="2159635" cy="1905240"/>
            </a:xfrm>
          </p:grpSpPr>
          <p:sp>
            <p:nvSpPr>
              <p:cNvPr id="27" name="椭圆 26"/>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箭头连接符 34"/>
              <p:cNvCxnSpPr>
                <a:endCxn id="27"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27"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28"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28"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29"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27"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endCxn id="29"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7" idx="6"/>
                <a:endCxn id="30"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27" idx="6"/>
                <a:endCxn id="31"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7" idx="6"/>
                <a:endCxn id="32"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27" idx="6"/>
                <a:endCxn id="33"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8" idx="6"/>
                <a:endCxn id="30"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28" idx="6"/>
                <a:endCxn id="31"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28" idx="6"/>
                <a:endCxn id="32"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8" idx="6"/>
                <a:endCxn id="33"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9" idx="6"/>
                <a:endCxn id="30"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29" idx="6"/>
                <a:endCxn id="31"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29" idx="6"/>
                <a:endCxn id="32"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endCxn id="33"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33" idx="6"/>
                <a:endCxn id="34"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32" idx="6"/>
                <a:endCxn id="34"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1" idx="6"/>
                <a:endCxn id="34"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0" idx="6"/>
                <a:endCxn id="34"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34"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20" name="矩形 19"/>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sp>
        <p:nvSpPr>
          <p:cNvPr id="23" name="流程图: 磁盘 22"/>
          <p:cNvSpPr/>
          <p:nvPr/>
        </p:nvSpPr>
        <p:spPr>
          <a:xfrm>
            <a:off x="4959488" y="231868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流程图: 磁盘 23"/>
          <p:cNvSpPr/>
          <p:nvPr/>
        </p:nvSpPr>
        <p:spPr>
          <a:xfrm>
            <a:off x="4959488" y="2152428"/>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5" name="流程图: 磁盘 24"/>
          <p:cNvSpPr/>
          <p:nvPr/>
        </p:nvSpPr>
        <p:spPr>
          <a:xfrm>
            <a:off x="4959488" y="198617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3" name="流程图: 磁盘 62"/>
          <p:cNvSpPr/>
          <p:nvPr/>
        </p:nvSpPr>
        <p:spPr>
          <a:xfrm>
            <a:off x="4959488" y="574208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4" name="流程图: 磁盘 63"/>
          <p:cNvSpPr/>
          <p:nvPr/>
        </p:nvSpPr>
        <p:spPr>
          <a:xfrm>
            <a:off x="4959488" y="557582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5" name="流程图: 磁盘 64"/>
          <p:cNvSpPr/>
          <p:nvPr/>
        </p:nvSpPr>
        <p:spPr>
          <a:xfrm>
            <a:off x="4959488" y="540957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6" name="流程图: 磁盘 65"/>
          <p:cNvSpPr/>
          <p:nvPr/>
        </p:nvSpPr>
        <p:spPr>
          <a:xfrm>
            <a:off x="4959488" y="524331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7" name="流程图: 磁盘 66"/>
          <p:cNvSpPr/>
          <p:nvPr/>
        </p:nvSpPr>
        <p:spPr>
          <a:xfrm>
            <a:off x="4959488" y="507706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8" name="流程图: 磁盘 67"/>
          <p:cNvSpPr/>
          <p:nvPr/>
        </p:nvSpPr>
        <p:spPr>
          <a:xfrm>
            <a:off x="4959488" y="491080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9" name="流程图: 磁盘 68"/>
          <p:cNvSpPr/>
          <p:nvPr/>
        </p:nvSpPr>
        <p:spPr>
          <a:xfrm>
            <a:off x="4959488" y="474455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3" name="右箭头 72"/>
          <p:cNvSpPr/>
          <p:nvPr/>
        </p:nvSpPr>
        <p:spPr>
          <a:xfrm rot="20218143">
            <a:off x="3261924" y="2675200"/>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2907276" y="1746134"/>
            <a:ext cx="1768433" cy="646331"/>
          </a:xfrm>
          <a:prstGeom prst="rect">
            <a:avLst/>
          </a:prstGeom>
        </p:spPr>
        <p:txBody>
          <a:bodyPr wrap="none">
            <a:spAutoFit/>
          </a:bodyPr>
          <a:lstStyle/>
          <a:p>
            <a:pPr algn="ctr"/>
            <a:r>
              <a:rPr lang="zh-CN" altLang="en-US" b="1" dirty="0"/>
              <a:t>假装的“新数据”</a:t>
            </a:r>
            <a:endParaRPr lang="en-US" altLang="zh-CN" b="1" dirty="0"/>
          </a:p>
          <a:p>
            <a:pPr algn="ctr"/>
            <a:r>
              <a:rPr lang="en-US" altLang="zh-CN" b="1" dirty="0"/>
              <a:t>Fake New Data</a:t>
            </a:r>
            <a:endParaRPr lang="zh-CN" altLang="en-US" dirty="0"/>
          </a:p>
        </p:txBody>
      </p:sp>
      <p:sp>
        <p:nvSpPr>
          <p:cNvPr id="76" name="矩形 75"/>
          <p:cNvSpPr/>
          <p:nvPr/>
        </p:nvSpPr>
        <p:spPr>
          <a:xfrm>
            <a:off x="4892093" y="2581585"/>
            <a:ext cx="1348447" cy="646331"/>
          </a:xfrm>
          <a:prstGeom prst="rect">
            <a:avLst/>
          </a:prstGeom>
        </p:spPr>
        <p:txBody>
          <a:bodyPr wrap="none">
            <a:spAutoFit/>
          </a:bodyPr>
          <a:lstStyle/>
          <a:p>
            <a:pPr algn="ctr"/>
            <a:r>
              <a:rPr lang="zh-CN" altLang="en-US" b="1" dirty="0"/>
              <a:t>测试集</a:t>
            </a:r>
            <a:endParaRPr lang="en-US" altLang="zh-CN" b="1" dirty="0"/>
          </a:p>
          <a:p>
            <a:pPr algn="ctr"/>
            <a:r>
              <a:rPr lang="en-US" altLang="zh-CN" b="1" dirty="0"/>
              <a:t>Testing Set</a:t>
            </a:r>
            <a:endParaRPr lang="zh-CN" altLang="en-US" dirty="0"/>
          </a:p>
        </p:txBody>
      </p:sp>
      <p:sp>
        <p:nvSpPr>
          <p:cNvPr id="77" name="矩形 76"/>
          <p:cNvSpPr/>
          <p:nvPr/>
        </p:nvSpPr>
        <p:spPr>
          <a:xfrm>
            <a:off x="4844804" y="5997284"/>
            <a:ext cx="1443024" cy="646331"/>
          </a:xfrm>
          <a:prstGeom prst="rect">
            <a:avLst/>
          </a:prstGeom>
        </p:spPr>
        <p:txBody>
          <a:bodyPr wrap="none">
            <a:spAutoFit/>
          </a:bodyPr>
          <a:lstStyle/>
          <a:p>
            <a:pPr algn="ctr"/>
            <a:r>
              <a:rPr lang="zh-CN" altLang="en-US" b="1" dirty="0"/>
              <a:t>训练集</a:t>
            </a:r>
            <a:endParaRPr lang="en-US" altLang="zh-CN" b="1" dirty="0"/>
          </a:p>
          <a:p>
            <a:pPr algn="ctr"/>
            <a:r>
              <a:rPr lang="en-US" altLang="zh-CN" b="1" dirty="0"/>
              <a:t>Training Set</a:t>
            </a:r>
            <a:endParaRPr lang="zh-CN" altLang="en-US" dirty="0"/>
          </a:p>
        </p:txBody>
      </p:sp>
      <p:sp>
        <p:nvSpPr>
          <p:cNvPr id="78" name="矩形 77"/>
          <p:cNvSpPr/>
          <p:nvPr/>
        </p:nvSpPr>
        <p:spPr>
          <a:xfrm>
            <a:off x="2907276" y="5006452"/>
            <a:ext cx="1768433" cy="646331"/>
          </a:xfrm>
          <a:prstGeom prst="rect">
            <a:avLst/>
          </a:prstGeom>
        </p:spPr>
        <p:txBody>
          <a:bodyPr wrap="none">
            <a:spAutoFit/>
          </a:bodyPr>
          <a:lstStyle/>
          <a:p>
            <a:pPr algn="ctr"/>
            <a:r>
              <a:rPr lang="zh-CN" altLang="en-US" b="1" dirty="0"/>
              <a:t>剩下的“老数据”</a:t>
            </a:r>
            <a:endParaRPr lang="en-US" altLang="zh-CN" b="1" dirty="0"/>
          </a:p>
          <a:p>
            <a:pPr algn="ctr"/>
            <a:r>
              <a:rPr lang="en-US" altLang="zh-CN" b="1" dirty="0"/>
              <a:t>Rest Old Data</a:t>
            </a:r>
            <a:endParaRPr lang="zh-CN" altLang="en-US" dirty="0"/>
          </a:p>
        </p:txBody>
      </p:sp>
      <p:sp>
        <p:nvSpPr>
          <p:cNvPr id="79" name="右箭头 78"/>
          <p:cNvSpPr/>
          <p:nvPr/>
        </p:nvSpPr>
        <p:spPr>
          <a:xfrm rot="1641280">
            <a:off x="3262989" y="4510312"/>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右箭头 79"/>
          <p:cNvSpPr/>
          <p:nvPr/>
        </p:nvSpPr>
        <p:spPr>
          <a:xfrm rot="20218143">
            <a:off x="6589844" y="4550189"/>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11825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机器学习的基本流程 </a:t>
            </a:r>
            <a:r>
              <a:rPr lang="en-US" altLang="zh-CN" sz="3600" b="1" dirty="0"/>
              <a:t>Process of</a:t>
            </a:r>
            <a:r>
              <a:rPr lang="zh-CN" altLang="en-US" sz="3600" b="1" dirty="0"/>
              <a:t> </a:t>
            </a:r>
            <a:r>
              <a:rPr lang="en-US" altLang="zh-CN" sz="3600" b="1" dirty="0"/>
              <a:t>Machine Learning</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a:t>
            </a:fld>
            <a:endParaRPr lang="zh-CN" altLang="en-US"/>
          </a:p>
        </p:txBody>
      </p:sp>
      <p:sp>
        <p:nvSpPr>
          <p:cNvPr id="6" name="流程图: 磁盘 5"/>
          <p:cNvSpPr/>
          <p:nvPr/>
        </p:nvSpPr>
        <p:spPr>
          <a:xfrm>
            <a:off x="1736978" y="440963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流程图: 磁盘 6"/>
          <p:cNvSpPr/>
          <p:nvPr/>
        </p:nvSpPr>
        <p:spPr>
          <a:xfrm>
            <a:off x="1736978" y="424337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流程图: 磁盘 7"/>
          <p:cNvSpPr/>
          <p:nvPr/>
        </p:nvSpPr>
        <p:spPr>
          <a:xfrm>
            <a:off x="1736978" y="407712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流程图: 磁盘 8"/>
          <p:cNvSpPr/>
          <p:nvPr/>
        </p:nvSpPr>
        <p:spPr>
          <a:xfrm>
            <a:off x="1736978" y="391086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流程图: 磁盘 9"/>
          <p:cNvSpPr/>
          <p:nvPr/>
        </p:nvSpPr>
        <p:spPr>
          <a:xfrm>
            <a:off x="1736978" y="374461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流程图: 磁盘 10"/>
          <p:cNvSpPr/>
          <p:nvPr/>
        </p:nvSpPr>
        <p:spPr>
          <a:xfrm>
            <a:off x="1736978" y="357835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流程图: 磁盘 11"/>
          <p:cNvSpPr/>
          <p:nvPr/>
        </p:nvSpPr>
        <p:spPr>
          <a:xfrm>
            <a:off x="1736978" y="341210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流程图: 磁盘 12"/>
          <p:cNvSpPr/>
          <p:nvPr/>
        </p:nvSpPr>
        <p:spPr>
          <a:xfrm>
            <a:off x="1736978" y="324584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流程图: 磁盘 13"/>
          <p:cNvSpPr/>
          <p:nvPr/>
        </p:nvSpPr>
        <p:spPr>
          <a:xfrm>
            <a:off x="1736978" y="307959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流程图: 磁盘 14"/>
          <p:cNvSpPr/>
          <p:nvPr/>
        </p:nvSpPr>
        <p:spPr>
          <a:xfrm>
            <a:off x="1736978" y="291333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矩形 15"/>
          <p:cNvSpPr/>
          <p:nvPr/>
        </p:nvSpPr>
        <p:spPr>
          <a:xfrm>
            <a:off x="1936607" y="4647249"/>
            <a:ext cx="673582" cy="646331"/>
          </a:xfrm>
          <a:prstGeom prst="rect">
            <a:avLst/>
          </a:prstGeom>
        </p:spPr>
        <p:txBody>
          <a:bodyPr wrap="none">
            <a:spAutoFit/>
          </a:bodyPr>
          <a:lstStyle/>
          <a:p>
            <a:pPr algn="ctr"/>
            <a:r>
              <a:rPr lang="zh-CN" altLang="en-US" b="1" dirty="0"/>
              <a:t>数据</a:t>
            </a:r>
            <a:endParaRPr lang="en-US" altLang="zh-CN" b="1" dirty="0"/>
          </a:p>
          <a:p>
            <a:pPr algn="ctr"/>
            <a:r>
              <a:rPr lang="en-US" altLang="zh-CN" b="1" dirty="0"/>
              <a:t>Data</a:t>
            </a:r>
            <a:endParaRPr lang="zh-CN" altLang="en-US" dirty="0"/>
          </a:p>
        </p:txBody>
      </p:sp>
      <p:sp>
        <p:nvSpPr>
          <p:cNvPr id="19" name="矩形 18"/>
          <p:cNvSpPr/>
          <p:nvPr/>
        </p:nvSpPr>
        <p:spPr>
          <a:xfrm>
            <a:off x="7013276" y="4910858"/>
            <a:ext cx="712054" cy="646331"/>
          </a:xfrm>
          <a:prstGeom prst="rect">
            <a:avLst/>
          </a:prstGeom>
        </p:spPr>
        <p:txBody>
          <a:bodyPr wrap="none">
            <a:spAutoFit/>
          </a:bodyPr>
          <a:lstStyle/>
          <a:p>
            <a:pPr algn="ctr"/>
            <a:r>
              <a:rPr lang="zh-CN" altLang="en-US" b="1" dirty="0"/>
              <a:t>训练</a:t>
            </a:r>
            <a:endParaRPr lang="en-US" altLang="zh-CN" b="1" dirty="0"/>
          </a:p>
          <a:p>
            <a:pPr algn="ctr"/>
            <a:r>
              <a:rPr lang="en-US" altLang="zh-CN" b="1" dirty="0"/>
              <a:t>Train</a:t>
            </a:r>
            <a:endParaRPr lang="zh-CN" altLang="en-US" dirty="0"/>
          </a:p>
        </p:txBody>
      </p:sp>
      <p:grpSp>
        <p:nvGrpSpPr>
          <p:cNvPr id="62" name="组合 61"/>
          <p:cNvGrpSpPr/>
          <p:nvPr/>
        </p:nvGrpSpPr>
        <p:grpSpPr>
          <a:xfrm>
            <a:off x="8102623" y="2871214"/>
            <a:ext cx="2159635" cy="2304610"/>
            <a:chOff x="4449907" y="3191494"/>
            <a:chExt cx="2159635" cy="2304610"/>
          </a:xfrm>
        </p:grpSpPr>
        <p:grpSp>
          <p:nvGrpSpPr>
            <p:cNvPr id="18" name="组合 17"/>
            <p:cNvGrpSpPr/>
            <p:nvPr/>
          </p:nvGrpSpPr>
          <p:grpSpPr>
            <a:xfrm>
              <a:off x="4449907" y="3191494"/>
              <a:ext cx="2159635" cy="1905240"/>
              <a:chOff x="7411085" y="4840845"/>
              <a:chExt cx="2159635" cy="1905240"/>
            </a:xfrm>
          </p:grpSpPr>
          <p:sp>
            <p:nvSpPr>
              <p:cNvPr id="27" name="椭圆 26"/>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箭头连接符 34"/>
              <p:cNvCxnSpPr>
                <a:endCxn id="27"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27"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28"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28"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29"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27"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endCxn id="29"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7" idx="6"/>
                <a:endCxn id="30"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27" idx="6"/>
                <a:endCxn id="31"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7" idx="6"/>
                <a:endCxn id="32"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27" idx="6"/>
                <a:endCxn id="33"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8" idx="6"/>
                <a:endCxn id="30"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28" idx="6"/>
                <a:endCxn id="31"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28" idx="6"/>
                <a:endCxn id="32"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8" idx="6"/>
                <a:endCxn id="33"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9" idx="6"/>
                <a:endCxn id="30"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29" idx="6"/>
                <a:endCxn id="31"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29" idx="6"/>
                <a:endCxn id="32"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endCxn id="33"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33" idx="6"/>
                <a:endCxn id="34"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32" idx="6"/>
                <a:endCxn id="34"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1" idx="6"/>
                <a:endCxn id="34"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0" idx="6"/>
                <a:endCxn id="34"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34"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20" name="矩形 19"/>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sp>
        <p:nvSpPr>
          <p:cNvPr id="22" name="矩形 21"/>
          <p:cNvSpPr/>
          <p:nvPr/>
        </p:nvSpPr>
        <p:spPr>
          <a:xfrm>
            <a:off x="7078999" y="1957785"/>
            <a:ext cx="646331" cy="646331"/>
          </a:xfrm>
          <a:prstGeom prst="rect">
            <a:avLst/>
          </a:prstGeom>
        </p:spPr>
        <p:txBody>
          <a:bodyPr wrap="none">
            <a:spAutoFit/>
          </a:bodyPr>
          <a:lstStyle/>
          <a:p>
            <a:pPr algn="ctr"/>
            <a:r>
              <a:rPr lang="zh-CN" altLang="en-US" b="1" dirty="0"/>
              <a:t>测试</a:t>
            </a:r>
            <a:endParaRPr lang="en-US" altLang="zh-CN" b="1" dirty="0"/>
          </a:p>
          <a:p>
            <a:pPr algn="ctr"/>
            <a:r>
              <a:rPr lang="en-US" altLang="zh-CN" b="1" dirty="0"/>
              <a:t>Test</a:t>
            </a:r>
            <a:endParaRPr lang="zh-CN" altLang="en-US" dirty="0"/>
          </a:p>
        </p:txBody>
      </p:sp>
      <p:sp>
        <p:nvSpPr>
          <p:cNvPr id="23" name="流程图: 磁盘 22"/>
          <p:cNvSpPr/>
          <p:nvPr/>
        </p:nvSpPr>
        <p:spPr>
          <a:xfrm>
            <a:off x="4959488" y="231868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流程图: 磁盘 23"/>
          <p:cNvSpPr/>
          <p:nvPr/>
        </p:nvSpPr>
        <p:spPr>
          <a:xfrm>
            <a:off x="4959488" y="2152428"/>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5" name="流程图: 磁盘 24"/>
          <p:cNvSpPr/>
          <p:nvPr/>
        </p:nvSpPr>
        <p:spPr>
          <a:xfrm>
            <a:off x="4959488" y="198617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3" name="流程图: 磁盘 62"/>
          <p:cNvSpPr/>
          <p:nvPr/>
        </p:nvSpPr>
        <p:spPr>
          <a:xfrm>
            <a:off x="4959488" y="574208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4" name="流程图: 磁盘 63"/>
          <p:cNvSpPr/>
          <p:nvPr/>
        </p:nvSpPr>
        <p:spPr>
          <a:xfrm>
            <a:off x="4959488" y="557582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5" name="流程图: 磁盘 64"/>
          <p:cNvSpPr/>
          <p:nvPr/>
        </p:nvSpPr>
        <p:spPr>
          <a:xfrm>
            <a:off x="4959488" y="540957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6" name="流程图: 磁盘 65"/>
          <p:cNvSpPr/>
          <p:nvPr/>
        </p:nvSpPr>
        <p:spPr>
          <a:xfrm>
            <a:off x="4959488" y="524331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7" name="流程图: 磁盘 66"/>
          <p:cNvSpPr/>
          <p:nvPr/>
        </p:nvSpPr>
        <p:spPr>
          <a:xfrm>
            <a:off x="4959488" y="507706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8" name="流程图: 磁盘 67"/>
          <p:cNvSpPr/>
          <p:nvPr/>
        </p:nvSpPr>
        <p:spPr>
          <a:xfrm>
            <a:off x="4959488" y="491080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9" name="流程图: 磁盘 68"/>
          <p:cNvSpPr/>
          <p:nvPr/>
        </p:nvSpPr>
        <p:spPr>
          <a:xfrm>
            <a:off x="4959488" y="474455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3" name="右箭头 72"/>
          <p:cNvSpPr/>
          <p:nvPr/>
        </p:nvSpPr>
        <p:spPr>
          <a:xfrm rot="20218143">
            <a:off x="3261924" y="2675200"/>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2907276" y="1746134"/>
            <a:ext cx="1768433" cy="646331"/>
          </a:xfrm>
          <a:prstGeom prst="rect">
            <a:avLst/>
          </a:prstGeom>
        </p:spPr>
        <p:txBody>
          <a:bodyPr wrap="none">
            <a:spAutoFit/>
          </a:bodyPr>
          <a:lstStyle/>
          <a:p>
            <a:pPr algn="ctr"/>
            <a:r>
              <a:rPr lang="zh-CN" altLang="en-US" b="1" dirty="0"/>
              <a:t>假装的“新数据”</a:t>
            </a:r>
            <a:endParaRPr lang="en-US" altLang="zh-CN" b="1" dirty="0"/>
          </a:p>
          <a:p>
            <a:pPr algn="ctr"/>
            <a:r>
              <a:rPr lang="en-US" altLang="zh-CN" b="1" dirty="0"/>
              <a:t>Fake New Data</a:t>
            </a:r>
            <a:endParaRPr lang="zh-CN" altLang="en-US" dirty="0"/>
          </a:p>
        </p:txBody>
      </p:sp>
      <p:sp>
        <p:nvSpPr>
          <p:cNvPr id="76" name="矩形 75"/>
          <p:cNvSpPr/>
          <p:nvPr/>
        </p:nvSpPr>
        <p:spPr>
          <a:xfrm>
            <a:off x="4892093" y="2581585"/>
            <a:ext cx="1348447" cy="646331"/>
          </a:xfrm>
          <a:prstGeom prst="rect">
            <a:avLst/>
          </a:prstGeom>
        </p:spPr>
        <p:txBody>
          <a:bodyPr wrap="none">
            <a:spAutoFit/>
          </a:bodyPr>
          <a:lstStyle/>
          <a:p>
            <a:pPr algn="ctr"/>
            <a:r>
              <a:rPr lang="zh-CN" altLang="en-US" b="1" dirty="0"/>
              <a:t>测试集</a:t>
            </a:r>
            <a:endParaRPr lang="en-US" altLang="zh-CN" b="1" dirty="0"/>
          </a:p>
          <a:p>
            <a:pPr algn="ctr"/>
            <a:r>
              <a:rPr lang="en-US" altLang="zh-CN" b="1" dirty="0"/>
              <a:t>Testing Set</a:t>
            </a:r>
            <a:endParaRPr lang="zh-CN" altLang="en-US" dirty="0"/>
          </a:p>
        </p:txBody>
      </p:sp>
      <p:sp>
        <p:nvSpPr>
          <p:cNvPr id="77" name="矩形 76"/>
          <p:cNvSpPr/>
          <p:nvPr/>
        </p:nvSpPr>
        <p:spPr>
          <a:xfrm>
            <a:off x="4844804" y="5997284"/>
            <a:ext cx="1443024" cy="646331"/>
          </a:xfrm>
          <a:prstGeom prst="rect">
            <a:avLst/>
          </a:prstGeom>
        </p:spPr>
        <p:txBody>
          <a:bodyPr wrap="none">
            <a:spAutoFit/>
          </a:bodyPr>
          <a:lstStyle/>
          <a:p>
            <a:pPr algn="ctr"/>
            <a:r>
              <a:rPr lang="zh-CN" altLang="en-US" b="1" dirty="0"/>
              <a:t>训练集</a:t>
            </a:r>
            <a:endParaRPr lang="en-US" altLang="zh-CN" b="1" dirty="0"/>
          </a:p>
          <a:p>
            <a:pPr algn="ctr"/>
            <a:r>
              <a:rPr lang="en-US" altLang="zh-CN" b="1" dirty="0"/>
              <a:t>Training Set</a:t>
            </a:r>
            <a:endParaRPr lang="zh-CN" altLang="en-US" dirty="0"/>
          </a:p>
        </p:txBody>
      </p:sp>
      <p:sp>
        <p:nvSpPr>
          <p:cNvPr id="78" name="矩形 77"/>
          <p:cNvSpPr/>
          <p:nvPr/>
        </p:nvSpPr>
        <p:spPr>
          <a:xfrm>
            <a:off x="2907276" y="5006452"/>
            <a:ext cx="1768433" cy="646331"/>
          </a:xfrm>
          <a:prstGeom prst="rect">
            <a:avLst/>
          </a:prstGeom>
        </p:spPr>
        <p:txBody>
          <a:bodyPr wrap="none">
            <a:spAutoFit/>
          </a:bodyPr>
          <a:lstStyle/>
          <a:p>
            <a:pPr algn="ctr"/>
            <a:r>
              <a:rPr lang="zh-CN" altLang="en-US" b="1" dirty="0"/>
              <a:t>剩下的“老数据”</a:t>
            </a:r>
            <a:endParaRPr lang="en-US" altLang="zh-CN" b="1" dirty="0"/>
          </a:p>
          <a:p>
            <a:pPr algn="ctr"/>
            <a:r>
              <a:rPr lang="en-US" altLang="zh-CN" b="1" dirty="0"/>
              <a:t>Rest Old Data</a:t>
            </a:r>
            <a:endParaRPr lang="zh-CN" altLang="en-US" dirty="0"/>
          </a:p>
        </p:txBody>
      </p:sp>
      <p:sp>
        <p:nvSpPr>
          <p:cNvPr id="79" name="右箭头 78"/>
          <p:cNvSpPr/>
          <p:nvPr/>
        </p:nvSpPr>
        <p:spPr>
          <a:xfrm rot="1641280">
            <a:off x="3262989" y="4510312"/>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右箭头 79"/>
          <p:cNvSpPr/>
          <p:nvPr/>
        </p:nvSpPr>
        <p:spPr>
          <a:xfrm rot="20218143">
            <a:off x="6589844" y="4550189"/>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rot="12384537">
            <a:off x="6578310" y="2706208"/>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62519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机器学习的基本流程 </a:t>
            </a:r>
            <a:r>
              <a:rPr lang="en-US" altLang="zh-CN" sz="3600" b="1" dirty="0"/>
              <a:t>Process of</a:t>
            </a:r>
            <a:r>
              <a:rPr lang="zh-CN" altLang="en-US" sz="3600" b="1" dirty="0"/>
              <a:t> </a:t>
            </a:r>
            <a:r>
              <a:rPr lang="en-US" altLang="zh-CN" sz="3600" b="1" dirty="0"/>
              <a:t>Machine Learning</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6</a:t>
            </a:fld>
            <a:endParaRPr lang="zh-CN" altLang="en-US"/>
          </a:p>
        </p:txBody>
      </p:sp>
      <p:sp>
        <p:nvSpPr>
          <p:cNvPr id="6" name="流程图: 磁盘 5"/>
          <p:cNvSpPr/>
          <p:nvPr/>
        </p:nvSpPr>
        <p:spPr>
          <a:xfrm>
            <a:off x="1736978" y="440963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流程图: 磁盘 6"/>
          <p:cNvSpPr/>
          <p:nvPr/>
        </p:nvSpPr>
        <p:spPr>
          <a:xfrm>
            <a:off x="1736978" y="424337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流程图: 磁盘 7"/>
          <p:cNvSpPr/>
          <p:nvPr/>
        </p:nvSpPr>
        <p:spPr>
          <a:xfrm>
            <a:off x="1736978" y="407712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流程图: 磁盘 8"/>
          <p:cNvSpPr/>
          <p:nvPr/>
        </p:nvSpPr>
        <p:spPr>
          <a:xfrm>
            <a:off x="1736978" y="391086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流程图: 磁盘 9"/>
          <p:cNvSpPr/>
          <p:nvPr/>
        </p:nvSpPr>
        <p:spPr>
          <a:xfrm>
            <a:off x="1736978" y="374461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流程图: 磁盘 10"/>
          <p:cNvSpPr/>
          <p:nvPr/>
        </p:nvSpPr>
        <p:spPr>
          <a:xfrm>
            <a:off x="1736978" y="357835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流程图: 磁盘 11"/>
          <p:cNvSpPr/>
          <p:nvPr/>
        </p:nvSpPr>
        <p:spPr>
          <a:xfrm>
            <a:off x="1736978" y="341210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流程图: 磁盘 12"/>
          <p:cNvSpPr/>
          <p:nvPr/>
        </p:nvSpPr>
        <p:spPr>
          <a:xfrm>
            <a:off x="1736978" y="324584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流程图: 磁盘 13"/>
          <p:cNvSpPr/>
          <p:nvPr/>
        </p:nvSpPr>
        <p:spPr>
          <a:xfrm>
            <a:off x="1736978" y="307959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流程图: 磁盘 14"/>
          <p:cNvSpPr/>
          <p:nvPr/>
        </p:nvSpPr>
        <p:spPr>
          <a:xfrm>
            <a:off x="1736978" y="291333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矩形 15"/>
          <p:cNvSpPr/>
          <p:nvPr/>
        </p:nvSpPr>
        <p:spPr>
          <a:xfrm>
            <a:off x="1936607" y="4647249"/>
            <a:ext cx="673582" cy="646331"/>
          </a:xfrm>
          <a:prstGeom prst="rect">
            <a:avLst/>
          </a:prstGeom>
        </p:spPr>
        <p:txBody>
          <a:bodyPr wrap="none">
            <a:spAutoFit/>
          </a:bodyPr>
          <a:lstStyle/>
          <a:p>
            <a:pPr algn="ctr"/>
            <a:r>
              <a:rPr lang="zh-CN" altLang="en-US" b="1" dirty="0"/>
              <a:t>数据</a:t>
            </a:r>
            <a:endParaRPr lang="en-US" altLang="zh-CN" b="1" dirty="0"/>
          </a:p>
          <a:p>
            <a:pPr algn="ctr"/>
            <a:r>
              <a:rPr lang="en-US" altLang="zh-CN" b="1" dirty="0"/>
              <a:t>Data</a:t>
            </a:r>
            <a:endParaRPr lang="zh-CN" altLang="en-US" dirty="0"/>
          </a:p>
        </p:txBody>
      </p:sp>
      <p:sp>
        <p:nvSpPr>
          <p:cNvPr id="19" name="矩形 18"/>
          <p:cNvSpPr/>
          <p:nvPr/>
        </p:nvSpPr>
        <p:spPr>
          <a:xfrm>
            <a:off x="7013276" y="4910858"/>
            <a:ext cx="712054" cy="646331"/>
          </a:xfrm>
          <a:prstGeom prst="rect">
            <a:avLst/>
          </a:prstGeom>
        </p:spPr>
        <p:txBody>
          <a:bodyPr wrap="none">
            <a:spAutoFit/>
          </a:bodyPr>
          <a:lstStyle/>
          <a:p>
            <a:pPr algn="ctr"/>
            <a:r>
              <a:rPr lang="zh-CN" altLang="en-US" b="1" dirty="0"/>
              <a:t>训练</a:t>
            </a:r>
            <a:endParaRPr lang="en-US" altLang="zh-CN" b="1" dirty="0"/>
          </a:p>
          <a:p>
            <a:pPr algn="ctr"/>
            <a:r>
              <a:rPr lang="en-US" altLang="zh-CN" b="1" dirty="0"/>
              <a:t>Train</a:t>
            </a:r>
            <a:endParaRPr lang="zh-CN" altLang="en-US" dirty="0"/>
          </a:p>
        </p:txBody>
      </p:sp>
      <p:grpSp>
        <p:nvGrpSpPr>
          <p:cNvPr id="62" name="组合 61"/>
          <p:cNvGrpSpPr/>
          <p:nvPr/>
        </p:nvGrpSpPr>
        <p:grpSpPr>
          <a:xfrm>
            <a:off x="8102623" y="2871214"/>
            <a:ext cx="2159635" cy="2304610"/>
            <a:chOff x="4449907" y="3191494"/>
            <a:chExt cx="2159635" cy="2304610"/>
          </a:xfrm>
        </p:grpSpPr>
        <p:grpSp>
          <p:nvGrpSpPr>
            <p:cNvPr id="18" name="组合 17"/>
            <p:cNvGrpSpPr/>
            <p:nvPr/>
          </p:nvGrpSpPr>
          <p:grpSpPr>
            <a:xfrm>
              <a:off x="4449907" y="3191494"/>
              <a:ext cx="2159635" cy="1905240"/>
              <a:chOff x="7411085" y="4840845"/>
              <a:chExt cx="2159635" cy="1905240"/>
            </a:xfrm>
          </p:grpSpPr>
          <p:sp>
            <p:nvSpPr>
              <p:cNvPr id="27" name="椭圆 26"/>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箭头连接符 34"/>
              <p:cNvCxnSpPr>
                <a:endCxn id="27"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27"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28"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28"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29"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27"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endCxn id="29"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7" idx="6"/>
                <a:endCxn id="30"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27" idx="6"/>
                <a:endCxn id="31"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7" idx="6"/>
                <a:endCxn id="32"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27" idx="6"/>
                <a:endCxn id="33"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8" idx="6"/>
                <a:endCxn id="30"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28" idx="6"/>
                <a:endCxn id="31"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28" idx="6"/>
                <a:endCxn id="32"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8" idx="6"/>
                <a:endCxn id="33"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9" idx="6"/>
                <a:endCxn id="30"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29" idx="6"/>
                <a:endCxn id="31"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29" idx="6"/>
                <a:endCxn id="32"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endCxn id="33"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33" idx="6"/>
                <a:endCxn id="34"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32" idx="6"/>
                <a:endCxn id="34"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1" idx="6"/>
                <a:endCxn id="34"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0" idx="6"/>
                <a:endCxn id="34"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34"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20" name="矩形 19"/>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sp>
        <p:nvSpPr>
          <p:cNvPr id="22" name="矩形 21"/>
          <p:cNvSpPr/>
          <p:nvPr/>
        </p:nvSpPr>
        <p:spPr>
          <a:xfrm>
            <a:off x="7078999" y="1957785"/>
            <a:ext cx="646331" cy="646331"/>
          </a:xfrm>
          <a:prstGeom prst="rect">
            <a:avLst/>
          </a:prstGeom>
        </p:spPr>
        <p:txBody>
          <a:bodyPr wrap="none">
            <a:spAutoFit/>
          </a:bodyPr>
          <a:lstStyle/>
          <a:p>
            <a:pPr algn="ctr"/>
            <a:r>
              <a:rPr lang="zh-CN" altLang="en-US" b="1" dirty="0"/>
              <a:t>测试</a:t>
            </a:r>
            <a:endParaRPr lang="en-US" altLang="zh-CN" b="1" dirty="0"/>
          </a:p>
          <a:p>
            <a:pPr algn="ctr"/>
            <a:r>
              <a:rPr lang="en-US" altLang="zh-CN" b="1" dirty="0"/>
              <a:t>Test</a:t>
            </a:r>
            <a:endParaRPr lang="zh-CN" altLang="en-US" dirty="0"/>
          </a:p>
        </p:txBody>
      </p:sp>
      <p:sp>
        <p:nvSpPr>
          <p:cNvPr id="23" name="流程图: 磁盘 22"/>
          <p:cNvSpPr/>
          <p:nvPr/>
        </p:nvSpPr>
        <p:spPr>
          <a:xfrm>
            <a:off x="4959488" y="231868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流程图: 磁盘 23"/>
          <p:cNvSpPr/>
          <p:nvPr/>
        </p:nvSpPr>
        <p:spPr>
          <a:xfrm>
            <a:off x="4959488" y="2152428"/>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5" name="流程图: 磁盘 24"/>
          <p:cNvSpPr/>
          <p:nvPr/>
        </p:nvSpPr>
        <p:spPr>
          <a:xfrm>
            <a:off x="4959488" y="198617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3" name="流程图: 磁盘 62"/>
          <p:cNvSpPr/>
          <p:nvPr/>
        </p:nvSpPr>
        <p:spPr>
          <a:xfrm>
            <a:off x="4959488" y="574208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4" name="流程图: 磁盘 63"/>
          <p:cNvSpPr/>
          <p:nvPr/>
        </p:nvSpPr>
        <p:spPr>
          <a:xfrm>
            <a:off x="4959488" y="557582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5" name="流程图: 磁盘 64"/>
          <p:cNvSpPr/>
          <p:nvPr/>
        </p:nvSpPr>
        <p:spPr>
          <a:xfrm>
            <a:off x="4959488" y="540957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6" name="流程图: 磁盘 65"/>
          <p:cNvSpPr/>
          <p:nvPr/>
        </p:nvSpPr>
        <p:spPr>
          <a:xfrm>
            <a:off x="4959488" y="524331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7" name="流程图: 磁盘 66"/>
          <p:cNvSpPr/>
          <p:nvPr/>
        </p:nvSpPr>
        <p:spPr>
          <a:xfrm>
            <a:off x="4959488" y="507706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8" name="流程图: 磁盘 67"/>
          <p:cNvSpPr/>
          <p:nvPr/>
        </p:nvSpPr>
        <p:spPr>
          <a:xfrm>
            <a:off x="4959488" y="491080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9" name="流程图: 磁盘 68"/>
          <p:cNvSpPr/>
          <p:nvPr/>
        </p:nvSpPr>
        <p:spPr>
          <a:xfrm>
            <a:off x="4959488" y="474455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3" name="右箭头 72"/>
          <p:cNvSpPr/>
          <p:nvPr/>
        </p:nvSpPr>
        <p:spPr>
          <a:xfrm rot="20218143">
            <a:off x="3261924" y="2675200"/>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2907276" y="1746134"/>
            <a:ext cx="1768433" cy="646331"/>
          </a:xfrm>
          <a:prstGeom prst="rect">
            <a:avLst/>
          </a:prstGeom>
        </p:spPr>
        <p:txBody>
          <a:bodyPr wrap="none">
            <a:spAutoFit/>
          </a:bodyPr>
          <a:lstStyle/>
          <a:p>
            <a:pPr algn="ctr"/>
            <a:r>
              <a:rPr lang="zh-CN" altLang="en-US" b="1" dirty="0"/>
              <a:t>假装的“新数据”</a:t>
            </a:r>
            <a:endParaRPr lang="en-US" altLang="zh-CN" b="1" dirty="0"/>
          </a:p>
          <a:p>
            <a:pPr algn="ctr"/>
            <a:r>
              <a:rPr lang="en-US" altLang="zh-CN" b="1" dirty="0"/>
              <a:t>Fake New Data</a:t>
            </a:r>
            <a:endParaRPr lang="zh-CN" altLang="en-US" dirty="0"/>
          </a:p>
        </p:txBody>
      </p:sp>
      <p:sp>
        <p:nvSpPr>
          <p:cNvPr id="76" name="矩形 75"/>
          <p:cNvSpPr/>
          <p:nvPr/>
        </p:nvSpPr>
        <p:spPr>
          <a:xfrm>
            <a:off x="4892093" y="2581585"/>
            <a:ext cx="1348447" cy="646331"/>
          </a:xfrm>
          <a:prstGeom prst="rect">
            <a:avLst/>
          </a:prstGeom>
        </p:spPr>
        <p:txBody>
          <a:bodyPr wrap="none">
            <a:spAutoFit/>
          </a:bodyPr>
          <a:lstStyle/>
          <a:p>
            <a:pPr algn="ctr"/>
            <a:r>
              <a:rPr lang="zh-CN" altLang="en-US" b="1" dirty="0"/>
              <a:t>测试集</a:t>
            </a:r>
            <a:endParaRPr lang="en-US" altLang="zh-CN" b="1" dirty="0"/>
          </a:p>
          <a:p>
            <a:pPr algn="ctr"/>
            <a:r>
              <a:rPr lang="en-US" altLang="zh-CN" b="1" dirty="0"/>
              <a:t>Testing Set</a:t>
            </a:r>
            <a:endParaRPr lang="zh-CN" altLang="en-US" dirty="0"/>
          </a:p>
        </p:txBody>
      </p:sp>
      <p:sp>
        <p:nvSpPr>
          <p:cNvPr id="77" name="矩形 76"/>
          <p:cNvSpPr/>
          <p:nvPr/>
        </p:nvSpPr>
        <p:spPr>
          <a:xfrm>
            <a:off x="4844804" y="5997284"/>
            <a:ext cx="1443024" cy="646331"/>
          </a:xfrm>
          <a:prstGeom prst="rect">
            <a:avLst/>
          </a:prstGeom>
        </p:spPr>
        <p:txBody>
          <a:bodyPr wrap="none">
            <a:spAutoFit/>
          </a:bodyPr>
          <a:lstStyle/>
          <a:p>
            <a:pPr algn="ctr"/>
            <a:r>
              <a:rPr lang="zh-CN" altLang="en-US" b="1" dirty="0"/>
              <a:t>训练集</a:t>
            </a:r>
            <a:endParaRPr lang="en-US" altLang="zh-CN" b="1" dirty="0"/>
          </a:p>
          <a:p>
            <a:pPr algn="ctr"/>
            <a:r>
              <a:rPr lang="en-US" altLang="zh-CN" b="1" dirty="0"/>
              <a:t>Training Set</a:t>
            </a:r>
            <a:endParaRPr lang="zh-CN" altLang="en-US" dirty="0"/>
          </a:p>
        </p:txBody>
      </p:sp>
      <p:sp>
        <p:nvSpPr>
          <p:cNvPr id="78" name="矩形 77"/>
          <p:cNvSpPr/>
          <p:nvPr/>
        </p:nvSpPr>
        <p:spPr>
          <a:xfrm>
            <a:off x="2907276" y="5006452"/>
            <a:ext cx="1768433" cy="646331"/>
          </a:xfrm>
          <a:prstGeom prst="rect">
            <a:avLst/>
          </a:prstGeom>
        </p:spPr>
        <p:txBody>
          <a:bodyPr wrap="none">
            <a:spAutoFit/>
          </a:bodyPr>
          <a:lstStyle/>
          <a:p>
            <a:pPr algn="ctr"/>
            <a:r>
              <a:rPr lang="zh-CN" altLang="en-US" b="1" dirty="0"/>
              <a:t>剩下的“老数据”</a:t>
            </a:r>
            <a:endParaRPr lang="en-US" altLang="zh-CN" b="1" dirty="0"/>
          </a:p>
          <a:p>
            <a:pPr algn="ctr"/>
            <a:r>
              <a:rPr lang="en-US" altLang="zh-CN" b="1" dirty="0"/>
              <a:t>Rest Old Data</a:t>
            </a:r>
            <a:endParaRPr lang="zh-CN" altLang="en-US" dirty="0"/>
          </a:p>
        </p:txBody>
      </p:sp>
      <p:sp>
        <p:nvSpPr>
          <p:cNvPr id="79" name="右箭头 78"/>
          <p:cNvSpPr/>
          <p:nvPr/>
        </p:nvSpPr>
        <p:spPr>
          <a:xfrm rot="1641280">
            <a:off x="3262989" y="4510312"/>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右箭头 79"/>
          <p:cNvSpPr/>
          <p:nvPr/>
        </p:nvSpPr>
        <p:spPr>
          <a:xfrm rot="20218143">
            <a:off x="6589844" y="4550189"/>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rot="12384537">
            <a:off x="6578310" y="2706208"/>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604689" y="2743200"/>
            <a:ext cx="3977967" cy="290958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213567" y="5187857"/>
            <a:ext cx="1243942" cy="369332"/>
          </a:xfrm>
          <a:prstGeom prst="rect">
            <a:avLst/>
          </a:prstGeom>
          <a:noFill/>
        </p:spPr>
        <p:txBody>
          <a:bodyPr wrap="square" rtlCol="0">
            <a:spAutoFit/>
          </a:bodyPr>
          <a:lstStyle/>
          <a:p>
            <a:r>
              <a:rPr lang="zh-CN" altLang="en-US" b="1" dirty="0">
                <a:solidFill>
                  <a:srgbClr val="C00000"/>
                </a:solidFill>
              </a:rPr>
              <a:t>怎么训练？</a:t>
            </a:r>
          </a:p>
        </p:txBody>
      </p:sp>
    </p:spTree>
    <p:extLst>
      <p:ext uri="{BB962C8B-B14F-4D97-AF65-F5344CB8AC3E}">
        <p14:creationId xmlns:p14="http://schemas.microsoft.com/office/powerpoint/2010/main" val="3649915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典型的</a:t>
            </a:r>
            <a:r>
              <a:rPr lang="zh-CN" altLang="en-US" sz="3600" b="1" dirty="0"/>
              <a:t>回归</a:t>
            </a:r>
            <a:r>
              <a:rPr lang="zh-CN" altLang="en-US" sz="3600" dirty="0"/>
              <a:t>问题 </a:t>
            </a:r>
            <a:r>
              <a:rPr lang="en-US" altLang="zh-CN" sz="3600" dirty="0"/>
              <a:t>Typical Regression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7</a:t>
            </a:fld>
            <a:endParaRPr lang="zh-CN" altLang="en-US"/>
          </a:p>
        </p:txBody>
      </p:sp>
      <p:sp>
        <p:nvSpPr>
          <p:cNvPr id="5" name="矩形 4"/>
          <p:cNvSpPr/>
          <p:nvPr/>
        </p:nvSpPr>
        <p:spPr>
          <a:xfrm>
            <a:off x="868255" y="1372813"/>
            <a:ext cx="10131552" cy="1477328"/>
          </a:xfrm>
          <a:prstGeom prst="rect">
            <a:avLst/>
          </a:prstGeom>
        </p:spPr>
        <p:txBody>
          <a:bodyPr wrap="square">
            <a:spAutoFit/>
          </a:bodyPr>
          <a:lstStyle/>
          <a:p>
            <a:pPr marL="285750" indent="-285750" algn="just">
              <a:spcAft>
                <a:spcPts val="0"/>
              </a:spcAft>
              <a:buFont typeface="Arial" panose="020B0604020202020204" pitchFamily="34" charset="0"/>
              <a:buChar char="•"/>
            </a:pPr>
            <a:r>
              <a:rPr lang="zh-CN" altLang="en-US" b="1" kern="100" dirty="0">
                <a:ea typeface="微软雅黑" panose="020B0503020204020204" pitchFamily="34" charset="-122"/>
                <a:cs typeface="Times New Roman" panose="02020603050405020304" pitchFamily="18" charset="0"/>
              </a:rPr>
              <a:t>回顾：新冠疫情预测 </a:t>
            </a:r>
            <a:r>
              <a:rPr lang="en-US" altLang="zh-CN" b="1" kern="100" dirty="0" err="1">
                <a:ea typeface="微软雅黑" panose="020B0503020204020204" pitchFamily="34" charset="-122"/>
                <a:cs typeface="Times New Roman" panose="02020603050405020304" pitchFamily="18" charset="0"/>
              </a:rPr>
              <a:t>Covid</a:t>
            </a:r>
            <a:r>
              <a:rPr lang="en-US" altLang="zh-CN" b="1" kern="100" dirty="0">
                <a:ea typeface="微软雅黑" panose="020B0503020204020204" pitchFamily="34" charset="-122"/>
                <a:cs typeface="Times New Roman" panose="02020603050405020304" pitchFamily="18" charset="0"/>
              </a:rPr>
              <a:t>-19 Prediction</a:t>
            </a:r>
          </a:p>
          <a:p>
            <a:pPr marL="285750" indent="-285750" algn="just">
              <a:spcAft>
                <a:spcPts val="0"/>
              </a:spcAft>
              <a:buFont typeface="Arial" panose="020B0604020202020204" pitchFamily="34" charset="0"/>
              <a:buChar char="•"/>
            </a:pPr>
            <a:endParaRPr lang="en-US" altLang="zh-CN" b="1" kern="100" dirty="0">
              <a:ea typeface="微软雅黑" panose="020B0503020204020204" pitchFamily="34" charset="-122"/>
              <a:cs typeface="Times New Roman" panose="02020603050405020304" pitchFamily="18" charset="0"/>
            </a:endParaRPr>
          </a:p>
          <a:p>
            <a:pPr marL="285750" indent="-285750" algn="just">
              <a:spcAft>
                <a:spcPts val="0"/>
              </a:spcAft>
              <a:buFont typeface="Arial" panose="020B0604020202020204" pitchFamily="34" charset="0"/>
              <a:buChar char="•"/>
            </a:pPr>
            <a:r>
              <a:rPr lang="zh-CN" altLang="en-US" kern="100" dirty="0">
                <a:ea typeface="微软雅黑" panose="020B0503020204020204" pitchFamily="34" charset="-122"/>
                <a:cs typeface="Times New Roman" panose="02020603050405020304" pitchFamily="18" charset="0"/>
              </a:rPr>
              <a:t>我们</a:t>
            </a:r>
            <a:r>
              <a:rPr lang="zh-CN" altLang="zh-CN" kern="100" dirty="0">
                <a:ea typeface="微软雅黑" panose="020B0503020204020204" pitchFamily="34" charset="-122"/>
                <a:cs typeface="Times New Roman" panose="02020603050405020304" pitchFamily="18" charset="0"/>
              </a:rPr>
              <a:t>从美国疾病预防控制中心的官网下载了</a:t>
            </a:r>
            <a:r>
              <a:rPr lang="en-US" altLang="zh-CN" kern="100" dirty="0">
                <a:ea typeface="微软雅黑" panose="020B0503020204020204" pitchFamily="34" charset="-122"/>
                <a:cs typeface="Times New Roman" panose="02020603050405020304" pitchFamily="18" charset="0"/>
              </a:rPr>
              <a:t>2020</a:t>
            </a:r>
            <a:r>
              <a:rPr lang="zh-CN" altLang="zh-CN" kern="100" dirty="0">
                <a:ea typeface="微软雅黑" panose="020B0503020204020204" pitchFamily="34" charset="-122"/>
                <a:cs typeface="Times New Roman" panose="02020603050405020304" pitchFamily="18" charset="0"/>
              </a:rPr>
              <a:t>年</a:t>
            </a:r>
            <a:r>
              <a:rPr lang="zh-CN" altLang="en-US" kern="100" dirty="0">
                <a:ea typeface="微软雅黑" panose="020B0503020204020204" pitchFamily="34" charset="-122"/>
                <a:cs typeface="Times New Roman" panose="02020603050405020304" pitchFamily="18" charset="0"/>
              </a:rPr>
              <a:t>三月下旬</a:t>
            </a:r>
            <a:r>
              <a:rPr lang="en-US" altLang="zh-CN" kern="100" dirty="0">
                <a:ea typeface="微软雅黑" panose="020B0503020204020204" pitchFamily="34" charset="-122"/>
                <a:cs typeface="Times New Roman" panose="02020603050405020304" pitchFamily="18" charset="0"/>
              </a:rPr>
              <a:t>CDC</a:t>
            </a:r>
            <a:r>
              <a:rPr lang="zh-CN" altLang="zh-CN" kern="100" dirty="0">
                <a:ea typeface="微软雅黑" panose="020B0503020204020204" pitchFamily="34" charset="-122"/>
                <a:cs typeface="Times New Roman" panose="02020603050405020304" pitchFamily="18" charset="0"/>
              </a:rPr>
              <a:t>报告的全美每日感染人数的报告。</a:t>
            </a:r>
            <a:endParaRPr lang="en-US" altLang="zh-CN" kern="100" dirty="0">
              <a:ea typeface="微软雅黑" panose="020B0503020204020204" pitchFamily="34" charset="-122"/>
              <a:cs typeface="Times New Roman" panose="02020603050405020304" pitchFamily="18" charset="0"/>
            </a:endParaRPr>
          </a:p>
          <a:p>
            <a:pPr marL="285750" indent="-285750" algn="just">
              <a:spcAft>
                <a:spcPts val="0"/>
              </a:spcAft>
              <a:buFont typeface="Arial" panose="020B0604020202020204" pitchFamily="34" charset="0"/>
              <a:buChar char="•"/>
            </a:pPr>
            <a:endParaRPr lang="en-US" altLang="zh-CN" kern="100" dirty="0">
              <a:ea typeface="微软雅黑" panose="020B0503020204020204" pitchFamily="34" charset="-122"/>
              <a:cs typeface="Times New Roman" panose="02020603050405020304" pitchFamily="18" charset="0"/>
            </a:endParaRPr>
          </a:p>
          <a:p>
            <a:pPr marL="285750" indent="-285750" algn="just">
              <a:spcAft>
                <a:spcPts val="0"/>
              </a:spcAft>
              <a:buFont typeface="Arial" panose="020B0604020202020204" pitchFamily="34" charset="0"/>
              <a:buChar char="•"/>
            </a:pPr>
            <a:r>
              <a:rPr lang="zh-CN" altLang="en-US" kern="100" dirty="0">
                <a:ea typeface="微软雅黑" panose="020B0503020204020204" pitchFamily="34" charset="-122"/>
                <a:cs typeface="Times New Roman" panose="02020603050405020304" pitchFamily="18" charset="0"/>
              </a:rPr>
              <a:t>任务：根据</a:t>
            </a:r>
            <a:r>
              <a:rPr lang="en-US" altLang="zh-CN" kern="100" dirty="0">
                <a:ea typeface="微软雅黑" panose="020B0503020204020204" pitchFamily="34" charset="-122"/>
                <a:cs typeface="Times New Roman" panose="02020603050405020304" pitchFamily="18" charset="0"/>
              </a:rPr>
              <a:t>3</a:t>
            </a:r>
            <a:r>
              <a:rPr lang="zh-CN" altLang="en-US" kern="100" dirty="0">
                <a:ea typeface="微软雅黑" panose="020B0503020204020204" pitchFamily="34" charset="-122"/>
                <a:cs typeface="Times New Roman" panose="02020603050405020304" pitchFamily="18" charset="0"/>
              </a:rPr>
              <a:t>月份数据（训练集）</a:t>
            </a:r>
            <a:r>
              <a:rPr lang="zh-CN" altLang="en-US" kern="100" dirty="0">
                <a:solidFill>
                  <a:srgbClr val="C00000"/>
                </a:solidFill>
                <a:ea typeface="微软雅黑" panose="020B0503020204020204" pitchFamily="34" charset="-122"/>
                <a:cs typeface="Times New Roman" panose="02020603050405020304" pitchFamily="18" charset="0"/>
              </a:rPr>
              <a:t>建立模型，</a:t>
            </a:r>
            <a:r>
              <a:rPr lang="zh-CN" altLang="zh-CN" kern="100" dirty="0">
                <a:solidFill>
                  <a:srgbClr val="C00000"/>
                </a:solidFill>
                <a:ea typeface="微软雅黑" panose="020B0503020204020204" pitchFamily="34" charset="-122"/>
                <a:cs typeface="Times New Roman" panose="02020603050405020304" pitchFamily="18" charset="0"/>
              </a:rPr>
              <a:t>预测</a:t>
            </a:r>
            <a:r>
              <a:rPr lang="zh-CN" altLang="zh-CN" kern="100" dirty="0">
                <a:ea typeface="微软雅黑" panose="020B0503020204020204" pitchFamily="34" charset="-122"/>
                <a:cs typeface="Times New Roman" panose="02020603050405020304" pitchFamily="18" charset="0"/>
              </a:rPr>
              <a:t>美国</a:t>
            </a:r>
            <a:r>
              <a:rPr lang="en-US" altLang="zh-CN" kern="100" dirty="0">
                <a:ea typeface="微软雅黑" panose="020B0503020204020204" pitchFamily="34" charset="-122"/>
                <a:cs typeface="Times New Roman" panose="02020603050405020304" pitchFamily="18" charset="0"/>
              </a:rPr>
              <a:t>4</a:t>
            </a:r>
            <a:r>
              <a:rPr lang="zh-CN" altLang="zh-CN" kern="100" dirty="0">
                <a:ea typeface="微软雅黑" panose="020B0503020204020204" pitchFamily="34" charset="-122"/>
                <a:cs typeface="Times New Roman" panose="02020603050405020304" pitchFamily="18" charset="0"/>
              </a:rPr>
              <a:t>月</a:t>
            </a:r>
            <a:r>
              <a:rPr lang="zh-CN" altLang="en-US" kern="100" dirty="0">
                <a:ea typeface="微软雅黑" panose="020B0503020204020204" pitchFamily="34" charset="-122"/>
                <a:cs typeface="Times New Roman" panose="02020603050405020304" pitchFamily="18" charset="0"/>
              </a:rPr>
              <a:t>（测试集）</a:t>
            </a:r>
            <a:r>
              <a:rPr lang="zh-CN" altLang="zh-CN" kern="100" dirty="0">
                <a:ea typeface="微软雅黑" panose="020B0503020204020204" pitchFamily="34" charset="-122"/>
                <a:cs typeface="Times New Roman" panose="02020603050405020304" pitchFamily="18" charset="0"/>
              </a:rPr>
              <a:t>的新冠感染人数</a:t>
            </a:r>
            <a:r>
              <a:rPr lang="zh-CN" altLang="en-US" kern="100" dirty="0">
                <a:ea typeface="微软雅黑" panose="020B0503020204020204" pitchFamily="34" charset="-122"/>
                <a:cs typeface="Times New Roman" panose="02020603050405020304" pitchFamily="18" charset="0"/>
              </a:rPr>
              <a:t>变化</a:t>
            </a:r>
            <a:r>
              <a:rPr lang="zh-CN" altLang="zh-CN" kern="100" dirty="0">
                <a:ea typeface="微软雅黑" panose="020B0503020204020204" pitchFamily="34" charset="-122"/>
                <a:cs typeface="Times New Roman" panose="02020603050405020304" pitchFamily="18" charset="0"/>
              </a:rPr>
              <a:t>。</a:t>
            </a:r>
            <a:endParaRPr lang="en-US" altLang="zh-CN" kern="100" dirty="0">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3B347144-4EBB-4BC3-B0B2-C2D9EFAA2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5905" y="4052801"/>
            <a:ext cx="1336626" cy="2521526"/>
          </a:xfrm>
          <a:prstGeom prst="rect">
            <a:avLst/>
          </a:prstGeom>
        </p:spPr>
      </p:pic>
      <p:pic>
        <p:nvPicPr>
          <p:cNvPr id="7" name="图片 6"/>
          <p:cNvPicPr/>
          <p:nvPr/>
        </p:nvPicPr>
        <p:blipFill>
          <a:blip r:embed="rId3">
            <a:extLst>
              <a:ext uri="{28A0092B-C50C-407E-A947-70E740481C1C}">
                <a14:useLocalDpi xmlns:a14="http://schemas.microsoft.com/office/drawing/2010/main" val="0"/>
              </a:ext>
            </a:extLst>
          </a:blip>
          <a:stretch>
            <a:fillRect/>
          </a:stretch>
        </p:blipFill>
        <p:spPr>
          <a:xfrm>
            <a:off x="5835350" y="3492885"/>
            <a:ext cx="4963714" cy="3081442"/>
          </a:xfrm>
          <a:prstGeom prst="rect">
            <a:avLst/>
          </a:prstGeom>
        </p:spPr>
      </p:pic>
      <p:sp>
        <p:nvSpPr>
          <p:cNvPr id="8" name="矩形 7"/>
          <p:cNvSpPr/>
          <p:nvPr/>
        </p:nvSpPr>
        <p:spPr>
          <a:xfrm>
            <a:off x="2255520" y="3430065"/>
            <a:ext cx="989951" cy="646331"/>
          </a:xfrm>
          <a:prstGeom prst="rect">
            <a:avLst/>
          </a:prstGeom>
        </p:spPr>
        <p:txBody>
          <a:bodyPr wrap="square">
            <a:spAutoFit/>
          </a:bodyPr>
          <a:lstStyle/>
          <a:p>
            <a:r>
              <a:rPr lang="zh-CN" altLang="en-US" b="1" dirty="0">
                <a:solidFill>
                  <a:srgbClr val="C00000"/>
                </a:solidFill>
              </a:rPr>
              <a:t>日期</a:t>
            </a:r>
            <a:r>
              <a:rPr lang="en-US" altLang="zh-CN" b="1" dirty="0">
                <a:solidFill>
                  <a:srgbClr val="C00000"/>
                </a:solidFill>
              </a:rPr>
              <a:t>Date</a:t>
            </a:r>
          </a:p>
        </p:txBody>
      </p:sp>
      <p:sp>
        <p:nvSpPr>
          <p:cNvPr id="9" name="矩形 8"/>
          <p:cNvSpPr/>
          <p:nvPr/>
        </p:nvSpPr>
        <p:spPr>
          <a:xfrm>
            <a:off x="3334218" y="3430066"/>
            <a:ext cx="1847382" cy="646331"/>
          </a:xfrm>
          <a:prstGeom prst="rect">
            <a:avLst/>
          </a:prstGeom>
        </p:spPr>
        <p:txBody>
          <a:bodyPr wrap="square">
            <a:spAutoFit/>
          </a:bodyPr>
          <a:lstStyle/>
          <a:p>
            <a:r>
              <a:rPr lang="zh-CN" altLang="en-US" b="1" dirty="0">
                <a:solidFill>
                  <a:srgbClr val="C00000"/>
                </a:solidFill>
              </a:rPr>
              <a:t>日新增人数</a:t>
            </a:r>
            <a:endParaRPr lang="en-US" altLang="zh-CN" b="1" dirty="0">
              <a:solidFill>
                <a:srgbClr val="C00000"/>
              </a:solidFill>
            </a:endParaRPr>
          </a:p>
          <a:p>
            <a:r>
              <a:rPr lang="en-US" altLang="zh-CN" b="1" dirty="0">
                <a:solidFill>
                  <a:srgbClr val="C00000"/>
                </a:solidFill>
              </a:rPr>
              <a:t>Daily Infections</a:t>
            </a:r>
          </a:p>
        </p:txBody>
      </p:sp>
      <p:sp>
        <p:nvSpPr>
          <p:cNvPr id="10" name="矩形 9"/>
          <p:cNvSpPr/>
          <p:nvPr/>
        </p:nvSpPr>
        <p:spPr>
          <a:xfrm rot="16200000">
            <a:off x="4624167" y="4477353"/>
            <a:ext cx="1847382" cy="646331"/>
          </a:xfrm>
          <a:prstGeom prst="rect">
            <a:avLst/>
          </a:prstGeom>
        </p:spPr>
        <p:txBody>
          <a:bodyPr wrap="square">
            <a:spAutoFit/>
          </a:bodyPr>
          <a:lstStyle/>
          <a:p>
            <a:r>
              <a:rPr lang="zh-CN" altLang="en-US" b="1" dirty="0">
                <a:solidFill>
                  <a:srgbClr val="C00000"/>
                </a:solidFill>
              </a:rPr>
              <a:t>日新增人数</a:t>
            </a:r>
            <a:endParaRPr lang="en-US" altLang="zh-CN" b="1" dirty="0">
              <a:solidFill>
                <a:srgbClr val="C00000"/>
              </a:solidFill>
            </a:endParaRPr>
          </a:p>
          <a:p>
            <a:r>
              <a:rPr lang="en-US" altLang="zh-CN" b="1" dirty="0">
                <a:solidFill>
                  <a:srgbClr val="C00000"/>
                </a:solidFill>
              </a:rPr>
              <a:t>Daily Infections</a:t>
            </a:r>
          </a:p>
        </p:txBody>
      </p:sp>
      <p:sp>
        <p:nvSpPr>
          <p:cNvPr id="11" name="矩形 10"/>
          <p:cNvSpPr/>
          <p:nvPr/>
        </p:nvSpPr>
        <p:spPr>
          <a:xfrm>
            <a:off x="10661413" y="5724210"/>
            <a:ext cx="676788" cy="646331"/>
          </a:xfrm>
          <a:prstGeom prst="rect">
            <a:avLst/>
          </a:prstGeom>
        </p:spPr>
        <p:txBody>
          <a:bodyPr wrap="none">
            <a:spAutoFit/>
          </a:bodyPr>
          <a:lstStyle/>
          <a:p>
            <a:r>
              <a:rPr lang="zh-CN" altLang="en-US" b="1" dirty="0">
                <a:solidFill>
                  <a:srgbClr val="C00000"/>
                </a:solidFill>
              </a:rPr>
              <a:t>日期</a:t>
            </a:r>
            <a:endParaRPr lang="en-US" altLang="zh-CN" b="1" dirty="0">
              <a:solidFill>
                <a:srgbClr val="C00000"/>
              </a:solidFill>
            </a:endParaRPr>
          </a:p>
          <a:p>
            <a:r>
              <a:rPr lang="en-US" altLang="zh-CN" b="1" dirty="0">
                <a:solidFill>
                  <a:srgbClr val="C00000"/>
                </a:solidFill>
              </a:rPr>
              <a:t>Date</a:t>
            </a:r>
          </a:p>
        </p:txBody>
      </p:sp>
    </p:spTree>
    <p:extLst>
      <p:ext uri="{BB962C8B-B14F-4D97-AF65-F5344CB8AC3E}">
        <p14:creationId xmlns:p14="http://schemas.microsoft.com/office/powerpoint/2010/main" val="2415878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8</a:t>
            </a:fld>
            <a:endParaRPr lang="zh-CN" altLang="en-US"/>
          </a:p>
        </p:txBody>
      </p:sp>
      <p:sp>
        <p:nvSpPr>
          <p:cNvPr id="81" name="标题 1"/>
          <p:cNvSpPr txBox="1">
            <a:spLocks/>
          </p:cNvSpPr>
          <p:nvPr/>
        </p:nvSpPr>
        <p:spPr>
          <a:xfrm>
            <a:off x="915346" y="3875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机器学习的数学范式 </a:t>
            </a:r>
            <a:r>
              <a:rPr lang="en-US" altLang="zh-CN" sz="3600" dirty="0">
                <a:latin typeface="+mn-lt"/>
              </a:rPr>
              <a:t>Mathematical Paradigm</a:t>
            </a:r>
          </a:p>
          <a:p>
            <a:endParaRPr lang="zh-CN" altLang="en-US" sz="360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060" y="2077070"/>
            <a:ext cx="5352587" cy="2917643"/>
          </a:xfrm>
          <a:prstGeom prst="rect">
            <a:avLst/>
          </a:prstGeom>
        </p:spPr>
      </p:pic>
      <p:sp>
        <p:nvSpPr>
          <p:cNvPr id="83" name="文本框 82"/>
          <p:cNvSpPr txBox="1"/>
          <p:nvPr/>
        </p:nvSpPr>
        <p:spPr>
          <a:xfrm>
            <a:off x="6021938" y="1728068"/>
            <a:ext cx="5977230" cy="954107"/>
          </a:xfrm>
          <a:prstGeom prst="rect">
            <a:avLst/>
          </a:prstGeom>
          <a:noFill/>
        </p:spPr>
        <p:txBody>
          <a:bodyPr wrap="square" rtlCol="0">
            <a:spAutoFit/>
          </a:bodyPr>
          <a:lstStyle/>
          <a:p>
            <a:r>
              <a:rPr lang="zh-CN" altLang="en-US" b="1" dirty="0"/>
              <a:t>① 选择一个模型的基本形式</a:t>
            </a:r>
            <a:endParaRPr lang="en-US" altLang="zh-CN" b="1" dirty="0"/>
          </a:p>
          <a:p>
            <a:r>
              <a:rPr lang="en-US" altLang="zh-CN" b="1" dirty="0"/>
              <a:t>    </a:t>
            </a:r>
            <a:r>
              <a:rPr lang="zh-CN" altLang="en-US" b="1" dirty="0"/>
              <a:t> </a:t>
            </a:r>
            <a:r>
              <a:rPr lang="en-US" altLang="zh-CN" b="1" dirty="0"/>
              <a:t>Find a basic form of model</a:t>
            </a:r>
          </a:p>
          <a:p>
            <a:r>
              <a:rPr lang="en-US" altLang="zh-CN" sz="2000" b="1" dirty="0"/>
              <a:t>     </a:t>
            </a:r>
            <a:endParaRPr lang="zh-CN" altLang="en-US" sz="2000" b="1" dirty="0">
              <a:solidFill>
                <a:srgbClr val="C00000"/>
              </a:solidFill>
            </a:endParaRPr>
          </a:p>
        </p:txBody>
      </p:sp>
      <p:graphicFrame>
        <p:nvGraphicFramePr>
          <p:cNvPr id="84" name="对象 83"/>
          <p:cNvGraphicFramePr>
            <a:graphicFrameLocks noChangeAspect="1"/>
          </p:cNvGraphicFramePr>
          <p:nvPr/>
        </p:nvGraphicFramePr>
        <p:xfrm>
          <a:off x="6418416" y="2301188"/>
          <a:ext cx="1814513" cy="491773"/>
        </p:xfrm>
        <a:graphic>
          <a:graphicData uri="http://schemas.openxmlformats.org/presentationml/2006/ole">
            <mc:AlternateContent xmlns:mc="http://schemas.openxmlformats.org/markup-compatibility/2006">
              <mc:Choice xmlns:v="urn:schemas-microsoft-com:vml" Requires="v">
                <p:oleObj name="Equation" r:id="rId3" imgW="1015920" imgH="253800" progId="Equation.DSMT4">
                  <p:embed/>
                </p:oleObj>
              </mc:Choice>
              <mc:Fallback>
                <p:oleObj name="Equation" r:id="rId3" imgW="1015920" imgH="253800" progId="Equation.DSMT4">
                  <p:embed/>
                  <p:pic>
                    <p:nvPicPr>
                      <p:cNvPr id="84" name="对象 83"/>
                      <p:cNvPicPr/>
                      <p:nvPr/>
                    </p:nvPicPr>
                    <p:blipFill>
                      <a:blip r:embed="rId4"/>
                      <a:stretch>
                        <a:fillRect/>
                      </a:stretch>
                    </p:blipFill>
                    <p:spPr>
                      <a:xfrm>
                        <a:off x="6418416" y="2301188"/>
                        <a:ext cx="1814513" cy="491773"/>
                      </a:xfrm>
                      <a:prstGeom prst="rect">
                        <a:avLst/>
                      </a:prstGeom>
                    </p:spPr>
                  </p:pic>
                </p:oleObj>
              </mc:Fallback>
            </mc:AlternateContent>
          </a:graphicData>
        </a:graphic>
      </p:graphicFrame>
      <p:sp>
        <p:nvSpPr>
          <p:cNvPr id="85" name="文本框 84"/>
          <p:cNvSpPr txBox="1"/>
          <p:nvPr/>
        </p:nvSpPr>
        <p:spPr>
          <a:xfrm>
            <a:off x="5966993" y="2857560"/>
            <a:ext cx="5840261" cy="923330"/>
          </a:xfrm>
          <a:prstGeom prst="rect">
            <a:avLst/>
          </a:prstGeom>
          <a:noFill/>
        </p:spPr>
        <p:txBody>
          <a:bodyPr wrap="square" rtlCol="0">
            <a:spAutoFit/>
          </a:bodyPr>
          <a:lstStyle/>
          <a:p>
            <a:r>
              <a:rPr lang="zh-CN" altLang="en-US" b="1" dirty="0"/>
              <a:t>② 定义拟合好坏的判定函数（距离远近）</a:t>
            </a:r>
            <a:endParaRPr lang="en-US" altLang="zh-CN" b="1" dirty="0"/>
          </a:p>
          <a:p>
            <a:r>
              <a:rPr lang="en-US" altLang="zh-CN" b="1" dirty="0"/>
              <a:t>     Define the judgment function of good or bad fitting (the distance between training data and model)</a:t>
            </a:r>
            <a:r>
              <a:rPr lang="zh-CN" altLang="en-US" b="1" dirty="0">
                <a:solidFill>
                  <a:srgbClr val="C00000"/>
                </a:solidFill>
              </a:rPr>
              <a:t>    </a:t>
            </a:r>
          </a:p>
        </p:txBody>
      </p:sp>
      <p:sp>
        <p:nvSpPr>
          <p:cNvPr id="86" name="矩形 85"/>
          <p:cNvSpPr/>
          <p:nvPr/>
        </p:nvSpPr>
        <p:spPr>
          <a:xfrm>
            <a:off x="8326792" y="2385832"/>
            <a:ext cx="3102131" cy="369332"/>
          </a:xfrm>
          <a:prstGeom prst="rect">
            <a:avLst/>
          </a:prstGeom>
        </p:spPr>
        <p:txBody>
          <a:bodyPr wrap="none">
            <a:spAutoFit/>
          </a:bodyPr>
          <a:lstStyle/>
          <a:p>
            <a:r>
              <a:rPr lang="zh-CN" altLang="en-US" b="1" dirty="0">
                <a:solidFill>
                  <a:srgbClr val="C00000"/>
                </a:solidFill>
              </a:rPr>
              <a:t>决策函数 </a:t>
            </a:r>
            <a:r>
              <a:rPr lang="en-US" altLang="zh-CN" b="1" dirty="0">
                <a:solidFill>
                  <a:srgbClr val="C00000"/>
                </a:solidFill>
              </a:rPr>
              <a:t>Decision Function</a:t>
            </a:r>
            <a:r>
              <a:rPr lang="zh-CN" altLang="en-US" b="1" dirty="0">
                <a:solidFill>
                  <a:srgbClr val="C00000"/>
                </a:solidFill>
              </a:rPr>
              <a:t> </a:t>
            </a:r>
            <a:endParaRPr lang="zh-CN" altLang="en-US" dirty="0"/>
          </a:p>
        </p:txBody>
      </p:sp>
      <p:sp>
        <p:nvSpPr>
          <p:cNvPr id="87" name="矩形 86"/>
          <p:cNvSpPr/>
          <p:nvPr/>
        </p:nvSpPr>
        <p:spPr>
          <a:xfrm>
            <a:off x="9211672" y="3853879"/>
            <a:ext cx="2595582" cy="369332"/>
          </a:xfrm>
          <a:prstGeom prst="rect">
            <a:avLst/>
          </a:prstGeom>
        </p:spPr>
        <p:txBody>
          <a:bodyPr wrap="none">
            <a:spAutoFit/>
          </a:bodyPr>
          <a:lstStyle/>
          <a:p>
            <a:r>
              <a:rPr lang="zh-CN" altLang="en-US" b="1" dirty="0">
                <a:solidFill>
                  <a:srgbClr val="C00000"/>
                </a:solidFill>
              </a:rPr>
              <a:t>损失函数 </a:t>
            </a:r>
            <a:r>
              <a:rPr lang="en-US" altLang="zh-CN" b="1" dirty="0">
                <a:solidFill>
                  <a:srgbClr val="C00000"/>
                </a:solidFill>
              </a:rPr>
              <a:t>Loss Function</a:t>
            </a:r>
            <a:endParaRPr lang="zh-CN" altLang="en-US" b="1" dirty="0">
              <a:solidFill>
                <a:srgbClr val="C00000"/>
              </a:solidFill>
            </a:endParaRPr>
          </a:p>
        </p:txBody>
      </p:sp>
      <p:graphicFrame>
        <p:nvGraphicFramePr>
          <p:cNvPr id="88" name="对象 87"/>
          <p:cNvGraphicFramePr>
            <a:graphicFrameLocks noChangeAspect="1"/>
          </p:cNvGraphicFramePr>
          <p:nvPr/>
        </p:nvGraphicFramePr>
        <p:xfrm>
          <a:off x="6273210" y="3712229"/>
          <a:ext cx="2938462" cy="504672"/>
        </p:xfrm>
        <a:graphic>
          <a:graphicData uri="http://schemas.openxmlformats.org/presentationml/2006/ole">
            <mc:AlternateContent xmlns:mc="http://schemas.openxmlformats.org/markup-compatibility/2006">
              <mc:Choice xmlns:v="urn:schemas-microsoft-com:vml" Requires="v">
                <p:oleObj name="Equation" r:id="rId5" imgW="1688760" imgH="291960" progId="Equation.DSMT4">
                  <p:embed/>
                </p:oleObj>
              </mc:Choice>
              <mc:Fallback>
                <p:oleObj name="Equation" r:id="rId5" imgW="1688760" imgH="291960" progId="Equation.DSMT4">
                  <p:embed/>
                  <p:pic>
                    <p:nvPicPr>
                      <p:cNvPr id="88" name="对象 87"/>
                      <p:cNvPicPr/>
                      <p:nvPr/>
                    </p:nvPicPr>
                    <p:blipFill>
                      <a:blip r:embed="rId6"/>
                      <a:stretch>
                        <a:fillRect/>
                      </a:stretch>
                    </p:blipFill>
                    <p:spPr>
                      <a:xfrm>
                        <a:off x="6273210" y="3712229"/>
                        <a:ext cx="2938462" cy="504672"/>
                      </a:xfrm>
                      <a:prstGeom prst="rect">
                        <a:avLst/>
                      </a:prstGeom>
                    </p:spPr>
                  </p:pic>
                </p:oleObj>
              </mc:Fallback>
            </mc:AlternateContent>
          </a:graphicData>
        </a:graphic>
      </p:graphicFrame>
      <p:sp>
        <p:nvSpPr>
          <p:cNvPr id="89" name="文本框 88"/>
          <p:cNvSpPr txBox="1"/>
          <p:nvPr/>
        </p:nvSpPr>
        <p:spPr>
          <a:xfrm>
            <a:off x="5966995" y="4362376"/>
            <a:ext cx="5666724" cy="646331"/>
          </a:xfrm>
          <a:prstGeom prst="rect">
            <a:avLst/>
          </a:prstGeom>
          <a:noFill/>
        </p:spPr>
        <p:txBody>
          <a:bodyPr wrap="square" rtlCol="0">
            <a:spAutoFit/>
          </a:bodyPr>
          <a:lstStyle/>
          <a:p>
            <a:r>
              <a:rPr lang="zh-CN" altLang="en-US" b="1" dirty="0"/>
              <a:t>③ 参数确定：</a:t>
            </a:r>
            <a:r>
              <a:rPr lang="zh-CN" altLang="en-US" b="1" dirty="0">
                <a:solidFill>
                  <a:srgbClr val="C00000"/>
                </a:solidFill>
              </a:rPr>
              <a:t>最小化损失和</a:t>
            </a:r>
            <a:endParaRPr lang="en-US" altLang="zh-CN" b="1" dirty="0">
              <a:solidFill>
                <a:srgbClr val="C00000"/>
              </a:solidFill>
            </a:endParaRPr>
          </a:p>
          <a:p>
            <a:r>
              <a:rPr lang="en-US" altLang="zh-CN" b="1" dirty="0"/>
              <a:t>     Objective</a:t>
            </a:r>
            <a:r>
              <a:rPr lang="zh-CN" altLang="en-US" b="1" dirty="0"/>
              <a:t>：</a:t>
            </a:r>
            <a:r>
              <a:rPr lang="en-US" altLang="zh-CN" b="1" dirty="0"/>
              <a:t>minimize the sum loss of the data</a:t>
            </a:r>
            <a:endParaRPr lang="zh-CN" altLang="en-US" b="1" dirty="0">
              <a:solidFill>
                <a:srgbClr val="C00000"/>
              </a:solidFill>
            </a:endParaRPr>
          </a:p>
        </p:txBody>
      </p:sp>
      <p:graphicFrame>
        <p:nvGraphicFramePr>
          <p:cNvPr id="90" name="对象 89"/>
          <p:cNvGraphicFramePr>
            <a:graphicFrameLocks noChangeAspect="1"/>
          </p:cNvGraphicFramePr>
          <p:nvPr/>
        </p:nvGraphicFramePr>
        <p:xfrm>
          <a:off x="6399755" y="4994713"/>
          <a:ext cx="2276475" cy="746529"/>
        </p:xfrm>
        <a:graphic>
          <a:graphicData uri="http://schemas.openxmlformats.org/presentationml/2006/ole">
            <mc:AlternateContent xmlns:mc="http://schemas.openxmlformats.org/markup-compatibility/2006">
              <mc:Choice xmlns:v="urn:schemas-microsoft-com:vml" Requires="v">
                <p:oleObj name="Equation" r:id="rId7" imgW="1307880" imgH="431640" progId="Equation.DSMT4">
                  <p:embed/>
                </p:oleObj>
              </mc:Choice>
              <mc:Fallback>
                <p:oleObj name="Equation" r:id="rId7" imgW="1307880" imgH="431640" progId="Equation.DSMT4">
                  <p:embed/>
                  <p:pic>
                    <p:nvPicPr>
                      <p:cNvPr id="90" name="对象 89"/>
                      <p:cNvPicPr/>
                      <p:nvPr/>
                    </p:nvPicPr>
                    <p:blipFill>
                      <a:blip r:embed="rId8"/>
                      <a:stretch>
                        <a:fillRect/>
                      </a:stretch>
                    </p:blipFill>
                    <p:spPr>
                      <a:xfrm>
                        <a:off x="6399755" y="4994713"/>
                        <a:ext cx="2276475" cy="746529"/>
                      </a:xfrm>
                      <a:prstGeom prst="rect">
                        <a:avLst/>
                      </a:prstGeom>
                    </p:spPr>
                  </p:pic>
                </p:oleObj>
              </mc:Fallback>
            </mc:AlternateContent>
          </a:graphicData>
        </a:graphic>
      </p:graphicFrame>
      <p:sp>
        <p:nvSpPr>
          <p:cNvPr id="91" name="右箭头 90"/>
          <p:cNvSpPr/>
          <p:nvPr/>
        </p:nvSpPr>
        <p:spPr>
          <a:xfrm>
            <a:off x="8801125" y="5255038"/>
            <a:ext cx="821094" cy="233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2" name="对象 91"/>
          <p:cNvGraphicFramePr>
            <a:graphicFrameLocks noChangeAspect="1"/>
          </p:cNvGraphicFramePr>
          <p:nvPr/>
        </p:nvGraphicFramePr>
        <p:xfrm>
          <a:off x="9747114" y="5152309"/>
          <a:ext cx="1082675" cy="438565"/>
        </p:xfrm>
        <a:graphic>
          <a:graphicData uri="http://schemas.openxmlformats.org/presentationml/2006/ole">
            <mc:AlternateContent xmlns:mc="http://schemas.openxmlformats.org/markup-compatibility/2006">
              <mc:Choice xmlns:v="urn:schemas-microsoft-com:vml" Requires="v">
                <p:oleObj name="Equation" r:id="rId9" imgW="622080" imgH="253800" progId="Equation.DSMT4">
                  <p:embed/>
                </p:oleObj>
              </mc:Choice>
              <mc:Fallback>
                <p:oleObj name="Equation" r:id="rId9" imgW="622080" imgH="253800" progId="Equation.DSMT4">
                  <p:embed/>
                  <p:pic>
                    <p:nvPicPr>
                      <p:cNvPr id="92" name="对象 91"/>
                      <p:cNvPicPr/>
                      <p:nvPr/>
                    </p:nvPicPr>
                    <p:blipFill>
                      <a:blip r:embed="rId10"/>
                      <a:stretch>
                        <a:fillRect/>
                      </a:stretch>
                    </p:blipFill>
                    <p:spPr>
                      <a:xfrm>
                        <a:off x="9747114" y="5152309"/>
                        <a:ext cx="1082675" cy="438565"/>
                      </a:xfrm>
                      <a:prstGeom prst="rect">
                        <a:avLst/>
                      </a:prstGeom>
                    </p:spPr>
                  </p:pic>
                </p:oleObj>
              </mc:Fallback>
            </mc:AlternateContent>
          </a:graphicData>
        </a:graphic>
      </p:graphicFrame>
    </p:spTree>
    <p:extLst>
      <p:ext uri="{BB962C8B-B14F-4D97-AF65-F5344CB8AC3E}">
        <p14:creationId xmlns:p14="http://schemas.microsoft.com/office/powerpoint/2010/main" val="3338086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9</a:t>
            </a:fld>
            <a:endParaRPr lang="zh-CN" altLang="en-US"/>
          </a:p>
        </p:txBody>
      </p:sp>
      <p:sp>
        <p:nvSpPr>
          <p:cNvPr id="5" name="标题 1"/>
          <p:cNvSpPr>
            <a:spLocks noGrp="1"/>
          </p:cNvSpPr>
          <p:nvPr>
            <p:ph type="title"/>
          </p:nvPr>
        </p:nvSpPr>
        <p:spPr>
          <a:xfrm>
            <a:off x="838199" y="365125"/>
            <a:ext cx="11815119" cy="1325563"/>
          </a:xfrm>
        </p:spPr>
        <p:txBody>
          <a:bodyPr>
            <a:normAutofit/>
          </a:bodyPr>
          <a:lstStyle/>
          <a:p>
            <a:r>
              <a:rPr lang="zh-CN" altLang="en-US" sz="3600" b="1" dirty="0"/>
              <a:t>典型的回归问题 </a:t>
            </a:r>
            <a:r>
              <a:rPr lang="en-US" altLang="zh-CN" sz="3600" b="1" dirty="0"/>
              <a:t>Typical Regression Problem</a:t>
            </a:r>
            <a:endParaRPr lang="zh-CN" altLang="en-US" sz="4000" b="1" dirty="0"/>
          </a:p>
        </p:txBody>
      </p:sp>
      <p:pic>
        <p:nvPicPr>
          <p:cNvPr id="6" name="图片 5">
            <a:extLst>
              <a:ext uri="{FF2B5EF4-FFF2-40B4-BE49-F238E27FC236}">
                <a16:creationId xmlns:a16="http://schemas.microsoft.com/office/drawing/2014/main" id="{BA6ADC07-70E8-40EB-88A9-D32B222C2D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605" y="2029727"/>
            <a:ext cx="4394938" cy="2829175"/>
          </a:xfrm>
          <a:prstGeom prst="rect">
            <a:avLst/>
          </a:prstGeom>
        </p:spPr>
      </p:pic>
      <p:sp>
        <p:nvSpPr>
          <p:cNvPr id="7" name="文本框 6"/>
          <p:cNvSpPr txBox="1"/>
          <p:nvPr/>
        </p:nvSpPr>
        <p:spPr>
          <a:xfrm>
            <a:off x="5327001" y="1723595"/>
            <a:ext cx="6567197" cy="954107"/>
          </a:xfrm>
          <a:prstGeom prst="rect">
            <a:avLst/>
          </a:prstGeom>
          <a:noFill/>
        </p:spPr>
        <p:txBody>
          <a:bodyPr wrap="square" rtlCol="0">
            <a:spAutoFit/>
          </a:bodyPr>
          <a:lstStyle/>
          <a:p>
            <a:r>
              <a:rPr lang="zh-CN" altLang="en-US" b="1" dirty="0"/>
              <a:t>① 选择一个模型的基本形式</a:t>
            </a:r>
            <a:endParaRPr lang="en-US" altLang="zh-CN" b="1" dirty="0"/>
          </a:p>
          <a:p>
            <a:r>
              <a:rPr lang="en-US" altLang="zh-CN" b="1" dirty="0"/>
              <a:t>    </a:t>
            </a:r>
            <a:r>
              <a:rPr lang="zh-CN" altLang="en-US" b="1" dirty="0"/>
              <a:t> </a:t>
            </a:r>
            <a:r>
              <a:rPr lang="en-US" altLang="zh-CN" b="1" dirty="0"/>
              <a:t>Find a basic form of model</a:t>
            </a:r>
          </a:p>
          <a:p>
            <a:r>
              <a:rPr lang="en-US" altLang="zh-CN" sz="2000" b="1" dirty="0"/>
              <a:t>     </a:t>
            </a:r>
            <a:endParaRPr lang="zh-CN" altLang="en-US" sz="2000" b="1" dirty="0">
              <a:solidFill>
                <a:srgbClr val="C00000"/>
              </a:solidFill>
            </a:endParaRPr>
          </a:p>
        </p:txBody>
      </p:sp>
      <p:graphicFrame>
        <p:nvGraphicFramePr>
          <p:cNvPr id="8" name="对象 7"/>
          <p:cNvGraphicFramePr>
            <a:graphicFrameLocks noChangeAspect="1"/>
          </p:cNvGraphicFramePr>
          <p:nvPr/>
        </p:nvGraphicFramePr>
        <p:xfrm>
          <a:off x="5723480" y="2304301"/>
          <a:ext cx="1814513" cy="484187"/>
        </p:xfrm>
        <a:graphic>
          <a:graphicData uri="http://schemas.openxmlformats.org/presentationml/2006/ole">
            <mc:AlternateContent xmlns:mc="http://schemas.openxmlformats.org/markup-compatibility/2006">
              <mc:Choice xmlns:v="urn:schemas-microsoft-com:vml" Requires="v">
                <p:oleObj name="Equation" r:id="rId4" imgW="1015920" imgH="253800" progId="Equation.DSMT4">
                  <p:embed/>
                </p:oleObj>
              </mc:Choice>
              <mc:Fallback>
                <p:oleObj name="Equation" r:id="rId4" imgW="1015920" imgH="253800" progId="Equation.DSMT4">
                  <p:embed/>
                  <p:pic>
                    <p:nvPicPr>
                      <p:cNvPr id="8" name="对象 7"/>
                      <p:cNvPicPr/>
                      <p:nvPr/>
                    </p:nvPicPr>
                    <p:blipFill>
                      <a:blip r:embed="rId5"/>
                      <a:stretch>
                        <a:fillRect/>
                      </a:stretch>
                    </p:blipFill>
                    <p:spPr>
                      <a:xfrm>
                        <a:off x="5723480" y="2304301"/>
                        <a:ext cx="1814513" cy="484187"/>
                      </a:xfrm>
                      <a:prstGeom prst="rect">
                        <a:avLst/>
                      </a:prstGeom>
                    </p:spPr>
                  </p:pic>
                </p:oleObj>
              </mc:Fallback>
            </mc:AlternateContent>
          </a:graphicData>
        </a:graphic>
      </p:graphicFrame>
      <p:sp>
        <p:nvSpPr>
          <p:cNvPr id="9" name="文本框 8"/>
          <p:cNvSpPr txBox="1"/>
          <p:nvPr/>
        </p:nvSpPr>
        <p:spPr>
          <a:xfrm>
            <a:off x="5272057" y="2853087"/>
            <a:ext cx="6567197" cy="923330"/>
          </a:xfrm>
          <a:prstGeom prst="rect">
            <a:avLst/>
          </a:prstGeom>
          <a:noFill/>
        </p:spPr>
        <p:txBody>
          <a:bodyPr wrap="square" rtlCol="0">
            <a:spAutoFit/>
          </a:bodyPr>
          <a:lstStyle/>
          <a:p>
            <a:r>
              <a:rPr lang="zh-CN" altLang="en-US" b="1" dirty="0"/>
              <a:t>② 定义拟合好坏的判定函数（距离远近）</a:t>
            </a:r>
            <a:endParaRPr lang="en-US" altLang="zh-CN" b="1" dirty="0"/>
          </a:p>
          <a:p>
            <a:r>
              <a:rPr lang="en-US" altLang="zh-CN" b="1" dirty="0"/>
              <a:t>     Define the judgment function of good or bad fitting (the distance between training data and model)</a:t>
            </a:r>
            <a:r>
              <a:rPr lang="zh-CN" altLang="en-US" b="1" dirty="0">
                <a:solidFill>
                  <a:srgbClr val="C00000"/>
                </a:solidFill>
              </a:rPr>
              <a:t>    </a:t>
            </a:r>
          </a:p>
        </p:txBody>
      </p:sp>
      <p:sp>
        <p:nvSpPr>
          <p:cNvPr id="10" name="矩形 9"/>
          <p:cNvSpPr/>
          <p:nvPr/>
        </p:nvSpPr>
        <p:spPr>
          <a:xfrm>
            <a:off x="7631856" y="2381359"/>
            <a:ext cx="3102131" cy="369332"/>
          </a:xfrm>
          <a:prstGeom prst="rect">
            <a:avLst/>
          </a:prstGeom>
        </p:spPr>
        <p:txBody>
          <a:bodyPr wrap="none">
            <a:spAutoFit/>
          </a:bodyPr>
          <a:lstStyle/>
          <a:p>
            <a:r>
              <a:rPr lang="zh-CN" altLang="en-US" b="1" dirty="0">
                <a:solidFill>
                  <a:srgbClr val="C00000"/>
                </a:solidFill>
              </a:rPr>
              <a:t>决策函数 </a:t>
            </a:r>
            <a:r>
              <a:rPr lang="en-US" altLang="zh-CN" b="1" dirty="0">
                <a:solidFill>
                  <a:srgbClr val="C00000"/>
                </a:solidFill>
              </a:rPr>
              <a:t>Decision Function</a:t>
            </a:r>
            <a:r>
              <a:rPr lang="zh-CN" altLang="en-US" b="1" dirty="0">
                <a:solidFill>
                  <a:srgbClr val="C00000"/>
                </a:solidFill>
              </a:rPr>
              <a:t> </a:t>
            </a:r>
            <a:endParaRPr lang="zh-CN" altLang="en-US" dirty="0"/>
          </a:p>
        </p:txBody>
      </p:sp>
      <p:sp>
        <p:nvSpPr>
          <p:cNvPr id="11" name="矩形 10"/>
          <p:cNvSpPr/>
          <p:nvPr/>
        </p:nvSpPr>
        <p:spPr>
          <a:xfrm>
            <a:off x="8516736" y="3849406"/>
            <a:ext cx="2595582" cy="369332"/>
          </a:xfrm>
          <a:prstGeom prst="rect">
            <a:avLst/>
          </a:prstGeom>
        </p:spPr>
        <p:txBody>
          <a:bodyPr wrap="none">
            <a:spAutoFit/>
          </a:bodyPr>
          <a:lstStyle/>
          <a:p>
            <a:r>
              <a:rPr lang="zh-CN" altLang="en-US" b="1" dirty="0">
                <a:solidFill>
                  <a:srgbClr val="C00000"/>
                </a:solidFill>
              </a:rPr>
              <a:t>损失函数 </a:t>
            </a:r>
            <a:r>
              <a:rPr lang="en-US" altLang="zh-CN" b="1" dirty="0">
                <a:solidFill>
                  <a:srgbClr val="C00000"/>
                </a:solidFill>
              </a:rPr>
              <a:t>Loss Function</a:t>
            </a:r>
            <a:endParaRPr lang="zh-CN" altLang="en-US" b="1" dirty="0">
              <a:solidFill>
                <a:srgbClr val="C00000"/>
              </a:solidFill>
            </a:endParaRPr>
          </a:p>
        </p:txBody>
      </p:sp>
      <p:graphicFrame>
        <p:nvGraphicFramePr>
          <p:cNvPr id="12" name="对象 11"/>
          <p:cNvGraphicFramePr>
            <a:graphicFrameLocks noChangeAspect="1"/>
          </p:cNvGraphicFramePr>
          <p:nvPr/>
        </p:nvGraphicFramePr>
        <p:xfrm>
          <a:off x="5578274" y="3715540"/>
          <a:ext cx="2938462" cy="496887"/>
        </p:xfrm>
        <a:graphic>
          <a:graphicData uri="http://schemas.openxmlformats.org/presentationml/2006/ole">
            <mc:AlternateContent xmlns:mc="http://schemas.openxmlformats.org/markup-compatibility/2006">
              <mc:Choice xmlns:v="urn:schemas-microsoft-com:vml" Requires="v">
                <p:oleObj name="Equation" r:id="rId6" imgW="1688760" imgH="291960" progId="Equation.DSMT4">
                  <p:embed/>
                </p:oleObj>
              </mc:Choice>
              <mc:Fallback>
                <p:oleObj name="Equation" r:id="rId6" imgW="1688760" imgH="291960" progId="Equation.DSMT4">
                  <p:embed/>
                  <p:pic>
                    <p:nvPicPr>
                      <p:cNvPr id="12" name="对象 11"/>
                      <p:cNvPicPr/>
                      <p:nvPr/>
                    </p:nvPicPr>
                    <p:blipFill>
                      <a:blip r:embed="rId7"/>
                      <a:stretch>
                        <a:fillRect/>
                      </a:stretch>
                    </p:blipFill>
                    <p:spPr>
                      <a:xfrm>
                        <a:off x="5578274" y="3715540"/>
                        <a:ext cx="2938462" cy="496887"/>
                      </a:xfrm>
                      <a:prstGeom prst="rect">
                        <a:avLst/>
                      </a:prstGeom>
                    </p:spPr>
                  </p:pic>
                </p:oleObj>
              </mc:Fallback>
            </mc:AlternateContent>
          </a:graphicData>
        </a:graphic>
      </p:graphicFrame>
      <p:sp>
        <p:nvSpPr>
          <p:cNvPr id="13" name="文本框 12"/>
          <p:cNvSpPr txBox="1"/>
          <p:nvPr/>
        </p:nvSpPr>
        <p:spPr>
          <a:xfrm>
            <a:off x="5272058" y="4357903"/>
            <a:ext cx="6567197" cy="646331"/>
          </a:xfrm>
          <a:prstGeom prst="rect">
            <a:avLst/>
          </a:prstGeom>
          <a:noFill/>
        </p:spPr>
        <p:txBody>
          <a:bodyPr wrap="square" rtlCol="0">
            <a:spAutoFit/>
          </a:bodyPr>
          <a:lstStyle/>
          <a:p>
            <a:r>
              <a:rPr lang="zh-CN" altLang="en-US" b="1" dirty="0"/>
              <a:t>③ 参数确定：</a:t>
            </a:r>
            <a:r>
              <a:rPr lang="zh-CN" altLang="en-US" b="1" dirty="0">
                <a:solidFill>
                  <a:srgbClr val="C00000"/>
                </a:solidFill>
              </a:rPr>
              <a:t>最小化损失和</a:t>
            </a:r>
            <a:endParaRPr lang="en-US" altLang="zh-CN" b="1" dirty="0">
              <a:solidFill>
                <a:srgbClr val="C00000"/>
              </a:solidFill>
            </a:endParaRPr>
          </a:p>
          <a:p>
            <a:r>
              <a:rPr lang="en-US" altLang="zh-CN" b="1" dirty="0"/>
              <a:t>     Objective</a:t>
            </a:r>
            <a:r>
              <a:rPr lang="zh-CN" altLang="en-US" b="1" dirty="0"/>
              <a:t>：</a:t>
            </a:r>
            <a:r>
              <a:rPr lang="en-US" altLang="zh-CN" b="1" dirty="0"/>
              <a:t>minimize the sum loss of the data</a:t>
            </a:r>
            <a:endParaRPr lang="zh-CN" altLang="en-US" b="1" dirty="0">
              <a:solidFill>
                <a:srgbClr val="C00000"/>
              </a:solidFill>
            </a:endParaRPr>
          </a:p>
        </p:txBody>
      </p:sp>
      <p:graphicFrame>
        <p:nvGraphicFramePr>
          <p:cNvPr id="14" name="对象 13"/>
          <p:cNvGraphicFramePr>
            <a:graphicFrameLocks noChangeAspect="1"/>
          </p:cNvGraphicFramePr>
          <p:nvPr/>
        </p:nvGraphicFramePr>
        <p:xfrm>
          <a:off x="5704819" y="5001756"/>
          <a:ext cx="2276475" cy="735013"/>
        </p:xfrm>
        <a:graphic>
          <a:graphicData uri="http://schemas.openxmlformats.org/presentationml/2006/ole">
            <mc:AlternateContent xmlns:mc="http://schemas.openxmlformats.org/markup-compatibility/2006">
              <mc:Choice xmlns:v="urn:schemas-microsoft-com:vml" Requires="v">
                <p:oleObj name="Equation" r:id="rId8" imgW="1307880" imgH="431640" progId="Equation.DSMT4">
                  <p:embed/>
                </p:oleObj>
              </mc:Choice>
              <mc:Fallback>
                <p:oleObj name="Equation" r:id="rId8" imgW="1307880" imgH="431640" progId="Equation.DSMT4">
                  <p:embed/>
                  <p:pic>
                    <p:nvPicPr>
                      <p:cNvPr id="14" name="对象 13"/>
                      <p:cNvPicPr/>
                      <p:nvPr/>
                    </p:nvPicPr>
                    <p:blipFill>
                      <a:blip r:embed="rId9"/>
                      <a:stretch>
                        <a:fillRect/>
                      </a:stretch>
                    </p:blipFill>
                    <p:spPr>
                      <a:xfrm>
                        <a:off x="5704819" y="5001756"/>
                        <a:ext cx="2276475" cy="735013"/>
                      </a:xfrm>
                      <a:prstGeom prst="rect">
                        <a:avLst/>
                      </a:prstGeom>
                    </p:spPr>
                  </p:pic>
                </p:oleObj>
              </mc:Fallback>
            </mc:AlternateContent>
          </a:graphicData>
        </a:graphic>
      </p:graphicFrame>
      <p:sp>
        <p:nvSpPr>
          <p:cNvPr id="15" name="右箭头 14"/>
          <p:cNvSpPr/>
          <p:nvPr/>
        </p:nvSpPr>
        <p:spPr>
          <a:xfrm>
            <a:off x="8106189" y="5254171"/>
            <a:ext cx="821094" cy="230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6" name="对象 15"/>
          <p:cNvGraphicFramePr>
            <a:graphicFrameLocks noChangeAspect="1"/>
          </p:cNvGraphicFramePr>
          <p:nvPr/>
        </p:nvGraphicFramePr>
        <p:xfrm>
          <a:off x="9052178" y="5154601"/>
          <a:ext cx="1082675" cy="431800"/>
        </p:xfrm>
        <a:graphic>
          <a:graphicData uri="http://schemas.openxmlformats.org/presentationml/2006/ole">
            <mc:AlternateContent xmlns:mc="http://schemas.openxmlformats.org/markup-compatibility/2006">
              <mc:Choice xmlns:v="urn:schemas-microsoft-com:vml" Requires="v">
                <p:oleObj name="Equation" r:id="rId10" imgW="622080" imgH="253800" progId="Equation.DSMT4">
                  <p:embed/>
                </p:oleObj>
              </mc:Choice>
              <mc:Fallback>
                <p:oleObj name="Equation" r:id="rId10" imgW="622080" imgH="253800" progId="Equation.DSMT4">
                  <p:embed/>
                  <p:pic>
                    <p:nvPicPr>
                      <p:cNvPr id="16" name="对象 15"/>
                      <p:cNvPicPr/>
                      <p:nvPr/>
                    </p:nvPicPr>
                    <p:blipFill>
                      <a:blip r:embed="rId11"/>
                      <a:stretch>
                        <a:fillRect/>
                      </a:stretch>
                    </p:blipFill>
                    <p:spPr>
                      <a:xfrm>
                        <a:off x="9052178" y="5154601"/>
                        <a:ext cx="1082675" cy="431800"/>
                      </a:xfrm>
                      <a:prstGeom prst="rect">
                        <a:avLst/>
                      </a:prstGeom>
                    </p:spPr>
                  </p:pic>
                </p:oleObj>
              </mc:Fallback>
            </mc:AlternateContent>
          </a:graphicData>
        </a:graphic>
      </p:graphicFrame>
      <p:sp>
        <p:nvSpPr>
          <p:cNvPr id="3" name="文本框 2">
            <a:extLst>
              <a:ext uri="{FF2B5EF4-FFF2-40B4-BE49-F238E27FC236}">
                <a16:creationId xmlns:a16="http://schemas.microsoft.com/office/drawing/2014/main" id="{3FC18EDE-098D-3D9C-6AF2-7454959BF14D}"/>
              </a:ext>
            </a:extLst>
          </p:cNvPr>
          <p:cNvSpPr txBox="1"/>
          <p:nvPr/>
        </p:nvSpPr>
        <p:spPr>
          <a:xfrm>
            <a:off x="838199" y="1465940"/>
            <a:ext cx="6326658" cy="369332"/>
          </a:xfrm>
          <a:prstGeom prst="rect">
            <a:avLst/>
          </a:prstGeom>
          <a:noFill/>
        </p:spPr>
        <p:txBody>
          <a:bodyPr wrap="square">
            <a:spAutoFit/>
          </a:bodyPr>
          <a:lstStyle/>
          <a:p>
            <a:pPr marL="285750" indent="-285750" algn="just">
              <a:spcAft>
                <a:spcPts val="0"/>
              </a:spcAft>
              <a:buFont typeface="Arial" panose="020B0604020202020204" pitchFamily="34" charset="0"/>
              <a:buChar char="•"/>
            </a:pPr>
            <a:r>
              <a:rPr lang="zh-CN" altLang="en-US" b="1" kern="100" dirty="0">
                <a:ea typeface="微软雅黑" panose="020B0503020204020204" pitchFamily="34" charset="-122"/>
                <a:cs typeface="Times New Roman" panose="02020603050405020304" pitchFamily="18" charset="0"/>
              </a:rPr>
              <a:t>回顾：新冠疫情预测 </a:t>
            </a:r>
            <a:r>
              <a:rPr lang="en-US" altLang="zh-CN" b="1" kern="100" dirty="0">
                <a:ea typeface="微软雅黑" panose="020B0503020204020204" pitchFamily="34" charset="-122"/>
                <a:cs typeface="Times New Roman" panose="02020603050405020304" pitchFamily="18" charset="0"/>
              </a:rPr>
              <a:t>Covid-19 Prediction</a:t>
            </a:r>
          </a:p>
        </p:txBody>
      </p:sp>
    </p:spTree>
    <p:extLst>
      <p:ext uri="{BB962C8B-B14F-4D97-AF65-F5344CB8AC3E}">
        <p14:creationId xmlns:p14="http://schemas.microsoft.com/office/powerpoint/2010/main" val="3655532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典型的</a:t>
            </a:r>
            <a:r>
              <a:rPr lang="zh-CN" altLang="en-US" sz="3600" b="1" dirty="0">
                <a:solidFill>
                  <a:srgbClr val="0070C0"/>
                </a:solidFill>
              </a:rPr>
              <a:t>分类</a:t>
            </a:r>
            <a:r>
              <a:rPr lang="zh-CN" altLang="en-US" sz="3600" b="1" dirty="0"/>
              <a:t>问题 </a:t>
            </a:r>
            <a:r>
              <a:rPr lang="en-US" altLang="zh-CN" sz="3600" b="1" dirty="0"/>
              <a:t>Typical 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10</a:t>
            </a:fld>
            <a:endParaRPr lang="zh-CN" altLang="en-US" dirty="0"/>
          </a:p>
        </p:txBody>
      </p:sp>
      <p:pic>
        <p:nvPicPr>
          <p:cNvPr id="1026" name="Picture 2" descr="purple flower in tilt shift le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21616" y="3210924"/>
            <a:ext cx="2039112" cy="2039112"/>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838200" y="1427192"/>
            <a:ext cx="9813324" cy="1200329"/>
          </a:xfrm>
          <a:prstGeom prst="rect">
            <a:avLst/>
          </a:prstGeom>
        </p:spPr>
        <p:txBody>
          <a:bodyPr wrap="square">
            <a:spAutoFit/>
          </a:bodyPr>
          <a:lstStyle/>
          <a:p>
            <a:r>
              <a:rPr lang="zh-CN" altLang="en-US" b="1" dirty="0">
                <a:latin typeface="arial" panose="020B0604020202020204" pitchFamily="34" charset="0"/>
              </a:rPr>
              <a:t>例：</a:t>
            </a:r>
            <a:r>
              <a:rPr lang="zh-CN" altLang="en-US" dirty="0">
                <a:latin typeface="arial" panose="020B0604020202020204" pitchFamily="34" charset="0"/>
              </a:rPr>
              <a:t>鸢尾花数据集是常用的分类实验数据集，由</a:t>
            </a:r>
            <a:r>
              <a:rPr lang="en-US" altLang="zh-CN" dirty="0" err="1">
                <a:latin typeface="arial" panose="020B0604020202020204" pitchFamily="34" charset="0"/>
              </a:rPr>
              <a:t>Fisher1936</a:t>
            </a:r>
            <a:r>
              <a:rPr lang="zh-CN" altLang="en-US" dirty="0">
                <a:latin typeface="arial" panose="020B0604020202020204" pitchFamily="34" charset="0"/>
              </a:rPr>
              <a:t>收集整理。</a:t>
            </a:r>
            <a:r>
              <a:rPr lang="en-US" altLang="zh-CN" dirty="0">
                <a:latin typeface="arial" panose="020B0604020202020204" pitchFamily="34" charset="0"/>
              </a:rPr>
              <a:t>Iris</a:t>
            </a:r>
            <a:r>
              <a:rPr lang="zh-CN" altLang="en-US" dirty="0">
                <a:latin typeface="arial" panose="020B0604020202020204" pitchFamily="34" charset="0"/>
              </a:rPr>
              <a:t>也称鸢尾花卉数据集，是一类多重变量分析的数据集。数据集包含</a:t>
            </a:r>
            <a:r>
              <a:rPr lang="en-US" altLang="zh-CN" b="1" dirty="0">
                <a:latin typeface="arial" panose="020B0604020202020204" pitchFamily="34" charset="0"/>
              </a:rPr>
              <a:t>150</a:t>
            </a:r>
            <a:r>
              <a:rPr lang="zh-CN" altLang="en-US" b="1" dirty="0">
                <a:latin typeface="arial" panose="020B0604020202020204" pitchFamily="34" charset="0"/>
              </a:rPr>
              <a:t>个数据样本，分为</a:t>
            </a:r>
            <a:r>
              <a:rPr lang="en-US" altLang="zh-CN" b="1" dirty="0">
                <a:latin typeface="arial" panose="020B0604020202020204" pitchFamily="34" charset="0"/>
              </a:rPr>
              <a:t>3</a:t>
            </a:r>
            <a:r>
              <a:rPr lang="zh-CN" altLang="en-US" b="1" dirty="0">
                <a:latin typeface="arial" panose="020B0604020202020204" pitchFamily="34" charset="0"/>
              </a:rPr>
              <a:t>类，每类</a:t>
            </a:r>
            <a:r>
              <a:rPr lang="en-US" altLang="zh-CN" b="1" dirty="0">
                <a:latin typeface="arial" panose="020B0604020202020204" pitchFamily="34" charset="0"/>
              </a:rPr>
              <a:t>50</a:t>
            </a:r>
            <a:r>
              <a:rPr lang="zh-CN" altLang="en-US" b="1" dirty="0">
                <a:latin typeface="arial" panose="020B0604020202020204" pitchFamily="34" charset="0"/>
              </a:rPr>
              <a:t>个数据</a:t>
            </a:r>
            <a:r>
              <a:rPr lang="zh-CN" altLang="en-US" dirty="0">
                <a:latin typeface="arial" panose="020B0604020202020204" pitchFamily="34" charset="0"/>
              </a:rPr>
              <a:t>，每个数据包含</a:t>
            </a:r>
            <a:r>
              <a:rPr lang="en-US" altLang="zh-CN" dirty="0">
                <a:latin typeface="arial" panose="020B0604020202020204" pitchFamily="34" charset="0"/>
              </a:rPr>
              <a:t>4</a:t>
            </a:r>
            <a:r>
              <a:rPr lang="zh-CN" altLang="en-US" dirty="0">
                <a:latin typeface="arial" panose="020B0604020202020204" pitchFamily="34" charset="0"/>
              </a:rPr>
              <a:t>个属性。可通过</a:t>
            </a:r>
            <a:r>
              <a:rPr lang="zh-CN" altLang="en-US" b="1" dirty="0">
                <a:solidFill>
                  <a:srgbClr val="C00000"/>
                </a:solidFill>
                <a:latin typeface="arial" panose="020B0604020202020204" pitchFamily="34" charset="0"/>
              </a:rPr>
              <a:t>花萼长度，花萼宽度，花瓣长度，花瓣宽度</a:t>
            </a:r>
            <a:r>
              <a:rPr lang="en-US" altLang="zh-CN" b="1" dirty="0">
                <a:solidFill>
                  <a:srgbClr val="C00000"/>
                </a:solidFill>
                <a:latin typeface="arial" panose="020B0604020202020204" pitchFamily="34" charset="0"/>
              </a:rPr>
              <a:t>4</a:t>
            </a:r>
            <a:r>
              <a:rPr lang="zh-CN" altLang="en-US" b="1" dirty="0">
                <a:solidFill>
                  <a:srgbClr val="C00000"/>
                </a:solidFill>
                <a:latin typeface="arial" panose="020B0604020202020204" pitchFamily="34" charset="0"/>
              </a:rPr>
              <a:t>个属性</a:t>
            </a:r>
            <a:r>
              <a:rPr lang="zh-CN" altLang="en-US" dirty="0">
                <a:latin typeface="arial" panose="020B0604020202020204" pitchFamily="34" charset="0"/>
              </a:rPr>
              <a:t>预测鸢尾花卉属于</a:t>
            </a:r>
            <a:r>
              <a:rPr lang="zh-CN" altLang="en-US" b="1" dirty="0">
                <a:solidFill>
                  <a:schemeClr val="accent1">
                    <a:lumMod val="75000"/>
                  </a:schemeClr>
                </a:solidFill>
                <a:latin typeface="arial" panose="020B0604020202020204" pitchFamily="34" charset="0"/>
              </a:rPr>
              <a:t>（</a:t>
            </a:r>
            <a:r>
              <a:rPr lang="en-US" altLang="zh-CN" b="1" dirty="0" err="1">
                <a:solidFill>
                  <a:schemeClr val="accent1">
                    <a:lumMod val="75000"/>
                  </a:schemeClr>
                </a:solidFill>
                <a:latin typeface="arial" panose="020B0604020202020204" pitchFamily="34" charset="0"/>
              </a:rPr>
              <a:t>Sentosa</a:t>
            </a:r>
            <a:r>
              <a:rPr lang="en-US" altLang="zh-CN" b="1" dirty="0">
                <a:solidFill>
                  <a:schemeClr val="accent1">
                    <a:lumMod val="75000"/>
                  </a:schemeClr>
                </a:solidFill>
                <a:latin typeface="arial" panose="020B0604020202020204" pitchFamily="34" charset="0"/>
              </a:rPr>
              <a:t> 0</a:t>
            </a:r>
            <a:r>
              <a:rPr lang="zh-CN" altLang="en-US" b="1" dirty="0">
                <a:solidFill>
                  <a:schemeClr val="accent1">
                    <a:lumMod val="75000"/>
                  </a:schemeClr>
                </a:solidFill>
                <a:latin typeface="arial" panose="020B0604020202020204" pitchFamily="34" charset="0"/>
              </a:rPr>
              <a:t>，</a:t>
            </a:r>
            <a:r>
              <a:rPr lang="en-US" altLang="zh-CN" b="1" dirty="0">
                <a:solidFill>
                  <a:schemeClr val="accent1">
                    <a:lumMod val="75000"/>
                  </a:schemeClr>
                </a:solidFill>
                <a:latin typeface="arial" panose="020B0604020202020204" pitchFamily="34" charset="0"/>
              </a:rPr>
              <a:t>Versicolor 1</a:t>
            </a:r>
            <a:r>
              <a:rPr lang="zh-CN" altLang="en-US" b="1" dirty="0">
                <a:solidFill>
                  <a:schemeClr val="accent1">
                    <a:lumMod val="75000"/>
                  </a:schemeClr>
                </a:solidFill>
                <a:latin typeface="arial" panose="020B0604020202020204" pitchFamily="34" charset="0"/>
              </a:rPr>
              <a:t>，</a:t>
            </a:r>
            <a:r>
              <a:rPr lang="en-US" altLang="zh-CN" b="1" dirty="0">
                <a:solidFill>
                  <a:schemeClr val="accent1">
                    <a:lumMod val="75000"/>
                  </a:schemeClr>
                </a:solidFill>
                <a:latin typeface="arial" panose="020B0604020202020204" pitchFamily="34" charset="0"/>
              </a:rPr>
              <a:t>Virginia 2</a:t>
            </a:r>
            <a:r>
              <a:rPr lang="zh-CN" altLang="en-US" b="1" dirty="0">
                <a:solidFill>
                  <a:schemeClr val="accent1">
                    <a:lumMod val="75000"/>
                  </a:schemeClr>
                </a:solidFill>
                <a:latin typeface="arial" panose="020B0604020202020204" pitchFamily="34" charset="0"/>
              </a:rPr>
              <a:t>）</a:t>
            </a:r>
            <a:r>
              <a:rPr lang="zh-CN" altLang="en-US" dirty="0">
                <a:latin typeface="arial" panose="020B0604020202020204" pitchFamily="34" charset="0"/>
              </a:rPr>
              <a:t>三个种类中的哪一类。</a:t>
            </a:r>
            <a:endParaRPr lang="en-US" altLang="zh-CN" dirty="0">
              <a:latin typeface="arial" panose="020B0604020202020204" pitchFamily="34" charset="0"/>
            </a:endParaRPr>
          </a:p>
        </p:txBody>
      </p:sp>
      <p:sp>
        <p:nvSpPr>
          <p:cNvPr id="27" name="矩形 26"/>
          <p:cNvSpPr/>
          <p:nvPr/>
        </p:nvSpPr>
        <p:spPr>
          <a:xfrm>
            <a:off x="838200" y="6459865"/>
            <a:ext cx="3150221" cy="261610"/>
          </a:xfrm>
          <a:prstGeom prst="rect">
            <a:avLst/>
          </a:prstGeom>
        </p:spPr>
        <p:txBody>
          <a:bodyPr wrap="none">
            <a:spAutoFit/>
          </a:bodyPr>
          <a:lstStyle/>
          <a:p>
            <a:r>
              <a:rPr lang="zh-CN" altLang="en-US" sz="1100" dirty="0"/>
              <a:t>本页图片来源：https://unsplash.dogedoge.com/</a:t>
            </a:r>
          </a:p>
        </p:txBody>
      </p:sp>
    </p:spTree>
    <p:extLst>
      <p:ext uri="{BB962C8B-B14F-4D97-AF65-F5344CB8AC3E}">
        <p14:creationId xmlns:p14="http://schemas.microsoft.com/office/powerpoint/2010/main" val="3312713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典型的</a:t>
            </a:r>
            <a:r>
              <a:rPr lang="zh-CN" altLang="en-US" sz="3600" b="1" dirty="0">
                <a:solidFill>
                  <a:srgbClr val="0070C0"/>
                </a:solidFill>
              </a:rPr>
              <a:t>分类</a:t>
            </a:r>
            <a:r>
              <a:rPr lang="zh-CN" altLang="en-US" sz="3600" b="1" dirty="0"/>
              <a:t>问题 </a:t>
            </a:r>
            <a:r>
              <a:rPr lang="en-US" altLang="zh-CN" sz="3600" b="1" dirty="0"/>
              <a:t>Typical 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11</a:t>
            </a:fld>
            <a:endParaRPr lang="zh-CN" altLang="en-US"/>
          </a:p>
        </p:txBody>
      </p:sp>
      <p:sp>
        <p:nvSpPr>
          <p:cNvPr id="5" name="矩形 4"/>
          <p:cNvSpPr/>
          <p:nvPr/>
        </p:nvSpPr>
        <p:spPr>
          <a:xfrm>
            <a:off x="923544" y="1506022"/>
            <a:ext cx="9805416" cy="369332"/>
          </a:xfrm>
          <a:prstGeom prst="rect">
            <a:avLst/>
          </a:prstGeom>
        </p:spPr>
        <p:txBody>
          <a:bodyPr wrap="square">
            <a:spAutoFit/>
          </a:bodyPr>
          <a:lstStyle/>
          <a:p>
            <a:r>
              <a:rPr lang="zh-CN" altLang="en-US" b="1" dirty="0">
                <a:latin typeface="arial" panose="020B0604020202020204" pitchFamily="34" charset="0"/>
              </a:rPr>
              <a:t>例：</a:t>
            </a:r>
            <a:r>
              <a:rPr lang="en-US" altLang="zh-CN" dirty="0">
                <a:latin typeface="arial" panose="020B0604020202020204" pitchFamily="34" charset="0"/>
              </a:rPr>
              <a:t>iris</a:t>
            </a:r>
            <a:r>
              <a:rPr lang="zh-CN" altLang="en-US" dirty="0">
                <a:latin typeface="arial" panose="020B0604020202020204" pitchFamily="34" charset="0"/>
              </a:rPr>
              <a:t>数据集  </a:t>
            </a:r>
            <a:r>
              <a:rPr lang="en-US" altLang="zh-CN" dirty="0">
                <a:latin typeface="arial" panose="020B0604020202020204" pitchFamily="34" charset="0"/>
              </a:rPr>
              <a:t>iris dataset</a:t>
            </a:r>
            <a:endParaRPr lang="en-US" altLang="zh-CN" b="1" dirty="0">
              <a:solidFill>
                <a:srgbClr val="C00000"/>
              </a:solidFill>
              <a:latin typeface="arial" panose="020B0604020202020204" pitchFamily="34" charset="0"/>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3172" y="2382060"/>
            <a:ext cx="4677428" cy="3467584"/>
          </a:xfrm>
          <a:prstGeom prst="rect">
            <a:avLst/>
          </a:prstGeom>
        </p:spPr>
      </p:pic>
      <p:sp>
        <p:nvSpPr>
          <p:cNvPr id="11" name="矩形 10">
            <a:extLst>
              <a:ext uri="{FF2B5EF4-FFF2-40B4-BE49-F238E27FC236}">
                <a16:creationId xmlns:a16="http://schemas.microsoft.com/office/drawing/2014/main" id="{3F8AF56B-8A6F-4AEB-AA40-3E5BD57B0881}"/>
              </a:ext>
            </a:extLst>
          </p:cNvPr>
          <p:cNvSpPr/>
          <p:nvPr/>
        </p:nvSpPr>
        <p:spPr>
          <a:xfrm flipV="1">
            <a:off x="4707016" y="2382060"/>
            <a:ext cx="3315319" cy="202644"/>
          </a:xfrm>
          <a:prstGeom prst="rect">
            <a:avLst/>
          </a:prstGeom>
          <a:noFill/>
          <a:ln w="444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2" name="文本框 11"/>
          <p:cNvSpPr txBox="1"/>
          <p:nvPr/>
        </p:nvSpPr>
        <p:spPr>
          <a:xfrm>
            <a:off x="5193569" y="1574787"/>
            <a:ext cx="2231136" cy="646331"/>
          </a:xfrm>
          <a:prstGeom prst="rect">
            <a:avLst/>
          </a:prstGeom>
          <a:noFill/>
        </p:spPr>
        <p:txBody>
          <a:bodyPr wrap="square" rtlCol="0">
            <a:spAutoFit/>
          </a:bodyPr>
          <a:lstStyle/>
          <a:p>
            <a:pPr algn="ctr"/>
            <a:r>
              <a:rPr lang="en-US" altLang="zh-CN" b="1" dirty="0">
                <a:solidFill>
                  <a:schemeClr val="accent5">
                    <a:lumMod val="75000"/>
                  </a:schemeClr>
                </a:solidFill>
              </a:rPr>
              <a:t>4</a:t>
            </a:r>
            <a:r>
              <a:rPr lang="zh-CN" altLang="en-US" b="1" dirty="0">
                <a:solidFill>
                  <a:schemeClr val="accent5">
                    <a:lumMod val="75000"/>
                  </a:schemeClr>
                </a:solidFill>
              </a:rPr>
              <a:t>个属性</a:t>
            </a:r>
            <a:r>
              <a:rPr lang="en-US" altLang="zh-CN" b="1" dirty="0">
                <a:solidFill>
                  <a:schemeClr val="accent5">
                    <a:lumMod val="75000"/>
                  </a:schemeClr>
                </a:solidFill>
              </a:rPr>
              <a:t> </a:t>
            </a:r>
          </a:p>
          <a:p>
            <a:pPr algn="ctr"/>
            <a:r>
              <a:rPr lang="en-US" altLang="zh-CN" b="1" dirty="0">
                <a:solidFill>
                  <a:schemeClr val="accent5">
                    <a:lumMod val="75000"/>
                  </a:schemeClr>
                </a:solidFill>
              </a:rPr>
              <a:t>4 Features</a:t>
            </a:r>
            <a:endParaRPr lang="zh-CN" altLang="en-US" b="1" dirty="0">
              <a:solidFill>
                <a:schemeClr val="accent5">
                  <a:lumMod val="75000"/>
                </a:schemeClr>
              </a:solidFill>
            </a:endParaRPr>
          </a:p>
        </p:txBody>
      </p:sp>
      <p:sp>
        <p:nvSpPr>
          <p:cNvPr id="13" name="矩形 12">
            <a:extLst>
              <a:ext uri="{FF2B5EF4-FFF2-40B4-BE49-F238E27FC236}">
                <a16:creationId xmlns:a16="http://schemas.microsoft.com/office/drawing/2014/main" id="{3F8AF56B-8A6F-4AEB-AA40-3E5BD57B0881}"/>
              </a:ext>
            </a:extLst>
          </p:cNvPr>
          <p:cNvSpPr/>
          <p:nvPr/>
        </p:nvSpPr>
        <p:spPr>
          <a:xfrm flipV="1">
            <a:off x="8058911" y="2382060"/>
            <a:ext cx="551690" cy="202644"/>
          </a:xfrm>
          <a:prstGeom prst="rect">
            <a:avLst/>
          </a:prstGeom>
          <a:noFill/>
          <a:ln w="444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4" name="文本框 13"/>
          <p:cNvSpPr txBox="1"/>
          <p:nvPr/>
        </p:nvSpPr>
        <p:spPr>
          <a:xfrm>
            <a:off x="7242810" y="1574786"/>
            <a:ext cx="2425446" cy="646331"/>
          </a:xfrm>
          <a:prstGeom prst="rect">
            <a:avLst/>
          </a:prstGeom>
          <a:noFill/>
        </p:spPr>
        <p:txBody>
          <a:bodyPr wrap="square" rtlCol="0">
            <a:spAutoFit/>
          </a:bodyPr>
          <a:lstStyle/>
          <a:p>
            <a:pPr algn="ctr"/>
            <a:r>
              <a:rPr lang="en-US" altLang="zh-CN" b="1" dirty="0">
                <a:solidFill>
                  <a:srgbClr val="C00000"/>
                </a:solidFill>
              </a:rPr>
              <a:t>1</a:t>
            </a:r>
            <a:r>
              <a:rPr lang="zh-CN" altLang="en-US" b="1" dirty="0">
                <a:solidFill>
                  <a:srgbClr val="C00000"/>
                </a:solidFill>
              </a:rPr>
              <a:t>个标签</a:t>
            </a:r>
            <a:r>
              <a:rPr lang="en-US" altLang="zh-CN" b="1" dirty="0">
                <a:solidFill>
                  <a:srgbClr val="C00000"/>
                </a:solidFill>
              </a:rPr>
              <a:t> 1 Label </a:t>
            </a:r>
          </a:p>
          <a:p>
            <a:pPr algn="ctr"/>
            <a:r>
              <a:rPr lang="zh-CN" altLang="en-US" b="1" dirty="0">
                <a:solidFill>
                  <a:srgbClr val="C00000"/>
                </a:solidFill>
              </a:rPr>
              <a:t>用来标记种类 </a:t>
            </a:r>
          </a:p>
        </p:txBody>
      </p:sp>
      <p:sp>
        <p:nvSpPr>
          <p:cNvPr id="15" name="矩形 14">
            <a:extLst>
              <a:ext uri="{FF2B5EF4-FFF2-40B4-BE49-F238E27FC236}">
                <a16:creationId xmlns:a16="http://schemas.microsoft.com/office/drawing/2014/main" id="{3F8AF56B-8A6F-4AEB-AA40-3E5BD57B0881}"/>
              </a:ext>
            </a:extLst>
          </p:cNvPr>
          <p:cNvSpPr/>
          <p:nvPr/>
        </p:nvSpPr>
        <p:spPr>
          <a:xfrm flipV="1">
            <a:off x="4044248" y="2382060"/>
            <a:ext cx="626191" cy="3823668"/>
          </a:xfrm>
          <a:prstGeom prst="rect">
            <a:avLst/>
          </a:prstGeom>
          <a:no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75000"/>
                </a:schemeClr>
              </a:solidFill>
            </a:endParaRPr>
          </a:p>
        </p:txBody>
      </p:sp>
      <p:sp>
        <p:nvSpPr>
          <p:cNvPr id="16" name="文本框 15"/>
          <p:cNvSpPr txBox="1"/>
          <p:nvPr/>
        </p:nvSpPr>
        <p:spPr>
          <a:xfrm>
            <a:off x="1828800" y="3284854"/>
            <a:ext cx="2067795" cy="923330"/>
          </a:xfrm>
          <a:prstGeom prst="rect">
            <a:avLst/>
          </a:prstGeom>
          <a:noFill/>
        </p:spPr>
        <p:txBody>
          <a:bodyPr wrap="square" rtlCol="0">
            <a:spAutoFit/>
          </a:bodyPr>
          <a:lstStyle/>
          <a:p>
            <a:pPr algn="ctr"/>
            <a:r>
              <a:rPr lang="zh-CN" altLang="en-US" b="1" dirty="0">
                <a:solidFill>
                  <a:srgbClr val="00B050"/>
                </a:solidFill>
              </a:rPr>
              <a:t>序号 </a:t>
            </a:r>
            <a:r>
              <a:rPr lang="en-US" altLang="zh-CN" b="1" dirty="0">
                <a:solidFill>
                  <a:srgbClr val="00B050"/>
                </a:solidFill>
              </a:rPr>
              <a:t>Index</a:t>
            </a:r>
            <a:r>
              <a:rPr lang="zh-CN" altLang="en-US" b="1" dirty="0">
                <a:solidFill>
                  <a:srgbClr val="00B050"/>
                </a:solidFill>
              </a:rPr>
              <a:t> </a:t>
            </a:r>
            <a:r>
              <a:rPr lang="en-US" altLang="zh-CN" b="1" dirty="0">
                <a:solidFill>
                  <a:srgbClr val="00B050"/>
                </a:solidFill>
              </a:rPr>
              <a:t>0-149</a:t>
            </a:r>
            <a:r>
              <a:rPr lang="zh-CN" altLang="en-US" b="1" dirty="0">
                <a:solidFill>
                  <a:srgbClr val="00B050"/>
                </a:solidFill>
              </a:rPr>
              <a:t>，一共</a:t>
            </a:r>
            <a:r>
              <a:rPr lang="en-US" altLang="zh-CN" b="1" dirty="0">
                <a:solidFill>
                  <a:srgbClr val="00B050"/>
                </a:solidFill>
              </a:rPr>
              <a:t>150</a:t>
            </a:r>
            <a:r>
              <a:rPr lang="zh-CN" altLang="en-US" b="1" dirty="0">
                <a:solidFill>
                  <a:srgbClr val="00B050"/>
                </a:solidFill>
              </a:rPr>
              <a:t>个样本</a:t>
            </a:r>
            <a:endParaRPr lang="en-US" altLang="zh-CN" b="1" dirty="0">
              <a:solidFill>
                <a:srgbClr val="00B050"/>
              </a:solidFill>
            </a:endParaRPr>
          </a:p>
          <a:p>
            <a:pPr algn="ctr"/>
            <a:endParaRPr lang="en-US" altLang="zh-CN" b="1" dirty="0">
              <a:solidFill>
                <a:srgbClr val="00B050"/>
              </a:solidFill>
            </a:endParaRPr>
          </a:p>
        </p:txBody>
      </p:sp>
      <p:sp>
        <p:nvSpPr>
          <p:cNvPr id="17" name="文本框 16"/>
          <p:cNvSpPr txBox="1"/>
          <p:nvPr/>
        </p:nvSpPr>
        <p:spPr>
          <a:xfrm>
            <a:off x="4174463" y="5843020"/>
            <a:ext cx="365760" cy="369332"/>
          </a:xfrm>
          <a:prstGeom prst="rect">
            <a:avLst/>
          </a:prstGeom>
          <a:noFill/>
        </p:spPr>
        <p:txBody>
          <a:bodyPr wrap="square" rtlCol="0">
            <a:spAutoFit/>
          </a:bodyPr>
          <a:lstStyle/>
          <a:p>
            <a:r>
              <a:rPr lang="en-US" altLang="zh-CN" b="1" dirty="0"/>
              <a:t>…</a:t>
            </a:r>
            <a:endParaRPr lang="zh-CN" altLang="en-US" b="1" dirty="0"/>
          </a:p>
        </p:txBody>
      </p:sp>
      <p:grpSp>
        <p:nvGrpSpPr>
          <p:cNvPr id="3" name="组合 2">
            <a:extLst>
              <a:ext uri="{FF2B5EF4-FFF2-40B4-BE49-F238E27FC236}">
                <a16:creationId xmlns:a16="http://schemas.microsoft.com/office/drawing/2014/main" id="{3E702FCE-0A55-D518-7764-48368F250E04}"/>
              </a:ext>
            </a:extLst>
          </p:cNvPr>
          <p:cNvGrpSpPr/>
          <p:nvPr/>
        </p:nvGrpSpPr>
        <p:grpSpPr>
          <a:xfrm>
            <a:off x="9384233" y="2605999"/>
            <a:ext cx="2159635" cy="2304610"/>
            <a:chOff x="4449907" y="3191494"/>
            <a:chExt cx="2159635" cy="2304610"/>
          </a:xfrm>
        </p:grpSpPr>
        <p:grpSp>
          <p:nvGrpSpPr>
            <p:cNvPr id="6" name="组合 5">
              <a:extLst>
                <a:ext uri="{FF2B5EF4-FFF2-40B4-BE49-F238E27FC236}">
                  <a16:creationId xmlns:a16="http://schemas.microsoft.com/office/drawing/2014/main" id="{99FFB9B5-31A6-4306-C70D-B17A8E35CEC5}"/>
                </a:ext>
              </a:extLst>
            </p:cNvPr>
            <p:cNvGrpSpPr/>
            <p:nvPr/>
          </p:nvGrpSpPr>
          <p:grpSpPr>
            <a:xfrm>
              <a:off x="4449907" y="3191494"/>
              <a:ext cx="2159635" cy="1905240"/>
              <a:chOff x="7411085" y="4840845"/>
              <a:chExt cx="2159635" cy="1905240"/>
            </a:xfrm>
          </p:grpSpPr>
          <p:sp>
            <p:nvSpPr>
              <p:cNvPr id="8" name="椭圆 7">
                <a:extLst>
                  <a:ext uri="{FF2B5EF4-FFF2-40B4-BE49-F238E27FC236}">
                    <a16:creationId xmlns:a16="http://schemas.microsoft.com/office/drawing/2014/main" id="{0CB3439D-1ADA-AB46-3197-92C3DE016622}"/>
                  </a:ext>
                </a:extLst>
              </p:cNvPr>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D6394EC-47CA-F099-C91E-B516054F2D2D}"/>
                  </a:ext>
                </a:extLst>
              </p:cNvPr>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46BDF29B-AF9C-8E93-694B-153176625E8B}"/>
                  </a:ext>
                </a:extLst>
              </p:cNvPr>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9C16017C-42B8-0311-48B7-8AFD745AA071}"/>
                  </a:ext>
                </a:extLst>
              </p:cNvPr>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92491D4E-F97C-21BA-9BD2-D3BE5652301F}"/>
                  </a:ext>
                </a:extLst>
              </p:cNvPr>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DCCB0149-A9A6-BEA5-357A-CD7BD72BEF8F}"/>
                  </a:ext>
                </a:extLst>
              </p:cNvPr>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B0013DE3-96C3-72B1-2EFF-9A75F6873456}"/>
                  </a:ext>
                </a:extLst>
              </p:cNvPr>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68FE57A5-82B7-21E6-AE39-3DD4B3DCD00B}"/>
                  </a:ext>
                </a:extLst>
              </p:cNvPr>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a:extLst>
                  <a:ext uri="{FF2B5EF4-FFF2-40B4-BE49-F238E27FC236}">
                    <a16:creationId xmlns:a16="http://schemas.microsoft.com/office/drawing/2014/main" id="{2374800D-4C1B-5E53-6CC1-D121C3FD7B7B}"/>
                  </a:ext>
                </a:extLst>
              </p:cNvPr>
              <p:cNvCxnSpPr>
                <a:endCxn id="8"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1B8BF1B7-E0C6-F426-E8A6-6D0BBB2E4C6A}"/>
                  </a:ext>
                </a:extLst>
              </p:cNvPr>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E6815A34-31CC-914D-9F60-D629B9BA301A}"/>
                  </a:ext>
                </a:extLst>
              </p:cNvPr>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BB484C76-D3E9-1A1B-6FF1-224E0300FE52}"/>
                  </a:ext>
                </a:extLst>
              </p:cNvPr>
              <p:cNvCxnSpPr>
                <a:endCxn id="8"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0995C9CE-B60B-ED04-9B46-CB4070643446}"/>
                  </a:ext>
                </a:extLst>
              </p:cNvPr>
              <p:cNvCxnSpPr>
                <a:endCxn id="9"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9067EBD8-9D1E-67A2-2FF5-B3A4E112EA84}"/>
                  </a:ext>
                </a:extLst>
              </p:cNvPr>
              <p:cNvCxnSpPr>
                <a:endCxn id="9"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41D725A7-8F4A-B12E-70A5-255D4114C9A2}"/>
                  </a:ext>
                </a:extLst>
              </p:cNvPr>
              <p:cNvCxnSpPr>
                <a:endCxn id="18"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D161AF1E-C6ED-4399-44A6-F42B4D5FC8A6}"/>
                  </a:ext>
                </a:extLst>
              </p:cNvPr>
              <p:cNvCxnSpPr>
                <a:endCxn id="8"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A72FB068-993B-D0B8-9256-3223DC3D4E2D}"/>
                  </a:ext>
                </a:extLst>
              </p:cNvPr>
              <p:cNvCxnSpPr>
                <a:endCxn id="18"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316844D-3937-CB97-662F-5613B5D18621}"/>
                  </a:ext>
                </a:extLst>
              </p:cNvPr>
              <p:cNvCxnSpPr>
                <a:stCxn id="8" idx="6"/>
                <a:endCxn id="19"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AAE4361-128A-A704-24EF-3C57910724A8}"/>
                  </a:ext>
                </a:extLst>
              </p:cNvPr>
              <p:cNvCxnSpPr>
                <a:stCxn id="8" idx="6"/>
                <a:endCxn id="20"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7A509966-D548-EE02-940A-C09AD5361C24}"/>
                  </a:ext>
                </a:extLst>
              </p:cNvPr>
              <p:cNvCxnSpPr>
                <a:stCxn id="8" idx="6"/>
                <a:endCxn id="21"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0930A108-808A-D99E-73F2-A80C9C11967A}"/>
                  </a:ext>
                </a:extLst>
              </p:cNvPr>
              <p:cNvCxnSpPr>
                <a:stCxn id="8" idx="6"/>
                <a:endCxn id="22"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B9FB53A-F90E-FD4C-9B96-213FE810C744}"/>
                  </a:ext>
                </a:extLst>
              </p:cNvPr>
              <p:cNvCxnSpPr>
                <a:stCxn id="9" idx="6"/>
                <a:endCxn id="19"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AD206B5C-45C7-500A-0892-8F78FDFDA6AE}"/>
                  </a:ext>
                </a:extLst>
              </p:cNvPr>
              <p:cNvCxnSpPr>
                <a:stCxn id="9" idx="6"/>
                <a:endCxn id="20"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1FA1886-876D-29FE-688C-6257554E830D}"/>
                  </a:ext>
                </a:extLst>
              </p:cNvPr>
              <p:cNvCxnSpPr>
                <a:stCxn id="9" idx="6"/>
                <a:endCxn id="21"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77E4814-6C13-4AE4-E3AB-E302A8327CF0}"/>
                  </a:ext>
                </a:extLst>
              </p:cNvPr>
              <p:cNvCxnSpPr>
                <a:stCxn id="9" idx="6"/>
                <a:endCxn id="22"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4FEE1D36-7E0E-2D26-CC95-19F134090FEE}"/>
                  </a:ext>
                </a:extLst>
              </p:cNvPr>
              <p:cNvCxnSpPr>
                <a:stCxn id="18" idx="6"/>
                <a:endCxn id="19"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2720273-AC01-FDAC-57E6-ECBD78DA8F3F}"/>
                  </a:ext>
                </a:extLst>
              </p:cNvPr>
              <p:cNvCxnSpPr>
                <a:stCxn id="18" idx="6"/>
                <a:endCxn id="20"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B160C6EF-926D-C23F-948B-6652D245D8F9}"/>
                  </a:ext>
                </a:extLst>
              </p:cNvPr>
              <p:cNvCxnSpPr>
                <a:stCxn id="18" idx="6"/>
                <a:endCxn id="21"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86BF4209-4D0D-9D66-45DE-A7AC8C97D460}"/>
                  </a:ext>
                </a:extLst>
              </p:cNvPr>
              <p:cNvCxnSpPr>
                <a:endCxn id="22"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3E3010DA-1ED0-8875-38D3-D764BDBAC984}"/>
                  </a:ext>
                </a:extLst>
              </p:cNvPr>
              <p:cNvCxnSpPr>
                <a:stCxn id="22" idx="6"/>
                <a:endCxn id="23"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DB74602D-5FB0-0A8D-3F2E-C5D37FFA2C95}"/>
                  </a:ext>
                </a:extLst>
              </p:cNvPr>
              <p:cNvCxnSpPr>
                <a:stCxn id="21" idx="6"/>
                <a:endCxn id="23"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AFE3E6DA-4389-ACC0-C8AD-0CD32ADBC00B}"/>
                  </a:ext>
                </a:extLst>
              </p:cNvPr>
              <p:cNvCxnSpPr>
                <a:stCxn id="20" idx="6"/>
                <a:endCxn id="23"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BAE8AFCA-8194-5DC6-0DF0-B069C071CB12}"/>
                  </a:ext>
                </a:extLst>
              </p:cNvPr>
              <p:cNvCxnSpPr>
                <a:stCxn id="19" idx="6"/>
                <a:endCxn id="23"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371A6A97-F37C-8543-612B-A9D0014B1E93}"/>
                  </a:ext>
                </a:extLst>
              </p:cNvPr>
              <p:cNvCxnSpPr>
                <a:stCxn id="23"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2CFD7B2D-1684-A637-8857-484362B71C58}"/>
                  </a:ext>
                </a:extLst>
              </p:cNvPr>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7" name="矩形 6">
              <a:extLst>
                <a:ext uri="{FF2B5EF4-FFF2-40B4-BE49-F238E27FC236}">
                  <a16:creationId xmlns:a16="http://schemas.microsoft.com/office/drawing/2014/main" id="{FAB22A00-5352-D153-7480-79555DB84AAD}"/>
                </a:ext>
              </a:extLst>
            </p:cNvPr>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graphicFrame>
        <p:nvGraphicFramePr>
          <p:cNvPr id="51" name="对象 50">
            <a:extLst>
              <a:ext uri="{FF2B5EF4-FFF2-40B4-BE49-F238E27FC236}">
                <a16:creationId xmlns:a16="http://schemas.microsoft.com/office/drawing/2014/main" id="{BC6CE6BE-ACD1-F2D5-87AB-9266BDD0F3B4}"/>
              </a:ext>
            </a:extLst>
          </p:cNvPr>
          <p:cNvGraphicFramePr>
            <a:graphicFrameLocks noChangeAspect="1"/>
          </p:cNvGraphicFramePr>
          <p:nvPr/>
        </p:nvGraphicFramePr>
        <p:xfrm>
          <a:off x="8999423" y="3262627"/>
          <a:ext cx="228600" cy="268288"/>
        </p:xfrm>
        <a:graphic>
          <a:graphicData uri="http://schemas.openxmlformats.org/presentationml/2006/ole">
            <mc:AlternateContent xmlns:mc="http://schemas.openxmlformats.org/markup-compatibility/2006">
              <mc:Choice xmlns:v="urn:schemas-microsoft-com:vml" Requires="v">
                <p:oleObj name="Equation" r:id="rId3" imgW="126720" imgH="139680" progId="Equation.DSMT4">
                  <p:embed/>
                </p:oleObj>
              </mc:Choice>
              <mc:Fallback>
                <p:oleObj name="Equation" r:id="rId3" imgW="126720" imgH="139680" progId="Equation.DSMT4">
                  <p:embed/>
                  <p:pic>
                    <p:nvPicPr>
                      <p:cNvPr id="51" name="对象 50">
                        <a:extLst>
                          <a:ext uri="{FF2B5EF4-FFF2-40B4-BE49-F238E27FC236}">
                            <a16:creationId xmlns:a16="http://schemas.microsoft.com/office/drawing/2014/main" id="{BC6CE6BE-ACD1-F2D5-87AB-9266BDD0F3B4}"/>
                          </a:ext>
                        </a:extLst>
                      </p:cNvPr>
                      <p:cNvPicPr/>
                      <p:nvPr/>
                    </p:nvPicPr>
                    <p:blipFill>
                      <a:blip r:embed="rId4"/>
                      <a:stretch>
                        <a:fillRect/>
                      </a:stretch>
                    </p:blipFill>
                    <p:spPr>
                      <a:xfrm>
                        <a:off x="8999423" y="3262627"/>
                        <a:ext cx="228600" cy="268288"/>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78C53614-49E2-DD2C-97D2-0D5901A91002}"/>
              </a:ext>
            </a:extLst>
          </p:cNvPr>
          <p:cNvGraphicFramePr>
            <a:graphicFrameLocks noChangeAspect="1"/>
          </p:cNvGraphicFramePr>
          <p:nvPr/>
        </p:nvGraphicFramePr>
        <p:xfrm>
          <a:off x="11647055" y="3238021"/>
          <a:ext cx="250825" cy="317500"/>
        </p:xfrm>
        <a:graphic>
          <a:graphicData uri="http://schemas.openxmlformats.org/presentationml/2006/ole">
            <mc:AlternateContent xmlns:mc="http://schemas.openxmlformats.org/markup-compatibility/2006">
              <mc:Choice xmlns:v="urn:schemas-microsoft-com:vml" Requires="v">
                <p:oleObj name="Equation" r:id="rId5" imgW="139680" imgH="164880" progId="Equation.DSMT4">
                  <p:embed/>
                </p:oleObj>
              </mc:Choice>
              <mc:Fallback>
                <p:oleObj name="Equation" r:id="rId5" imgW="139680" imgH="164880" progId="Equation.DSMT4">
                  <p:embed/>
                  <p:pic>
                    <p:nvPicPr>
                      <p:cNvPr id="52" name="对象 51">
                        <a:extLst>
                          <a:ext uri="{FF2B5EF4-FFF2-40B4-BE49-F238E27FC236}">
                            <a16:creationId xmlns:a16="http://schemas.microsoft.com/office/drawing/2014/main" id="{78C53614-49E2-DD2C-97D2-0D5901A91002}"/>
                          </a:ext>
                        </a:extLst>
                      </p:cNvPr>
                      <p:cNvPicPr/>
                      <p:nvPr/>
                    </p:nvPicPr>
                    <p:blipFill>
                      <a:blip r:embed="rId6"/>
                      <a:stretch>
                        <a:fillRect/>
                      </a:stretch>
                    </p:blipFill>
                    <p:spPr>
                      <a:xfrm>
                        <a:off x="11647055" y="3238021"/>
                        <a:ext cx="250825" cy="317500"/>
                      </a:xfrm>
                      <a:prstGeom prst="rect">
                        <a:avLst/>
                      </a:prstGeom>
                    </p:spPr>
                  </p:pic>
                </p:oleObj>
              </mc:Fallback>
            </mc:AlternateContent>
          </a:graphicData>
        </a:graphic>
      </p:graphicFrame>
      <p:graphicFrame>
        <p:nvGraphicFramePr>
          <p:cNvPr id="53" name="对象 52">
            <a:extLst>
              <a:ext uri="{FF2B5EF4-FFF2-40B4-BE49-F238E27FC236}">
                <a16:creationId xmlns:a16="http://schemas.microsoft.com/office/drawing/2014/main" id="{58483048-5E60-6D9E-BFB3-F45A1CCEE377}"/>
              </a:ext>
            </a:extLst>
          </p:cNvPr>
          <p:cNvGraphicFramePr>
            <a:graphicFrameLocks noChangeAspect="1"/>
          </p:cNvGraphicFramePr>
          <p:nvPr/>
        </p:nvGraphicFramePr>
        <p:xfrm>
          <a:off x="10603372" y="4322399"/>
          <a:ext cx="661988" cy="487362"/>
        </p:xfrm>
        <a:graphic>
          <a:graphicData uri="http://schemas.openxmlformats.org/presentationml/2006/ole">
            <mc:AlternateContent xmlns:mc="http://schemas.openxmlformats.org/markup-compatibility/2006">
              <mc:Choice xmlns:v="urn:schemas-microsoft-com:vml" Requires="v">
                <p:oleObj name="Equation" r:id="rId7" imgW="368280" imgH="253800" progId="Equation.DSMT4">
                  <p:embed/>
                </p:oleObj>
              </mc:Choice>
              <mc:Fallback>
                <p:oleObj name="Equation" r:id="rId7" imgW="368280" imgH="253800" progId="Equation.DSMT4">
                  <p:embed/>
                  <p:pic>
                    <p:nvPicPr>
                      <p:cNvPr id="53" name="对象 52">
                        <a:extLst>
                          <a:ext uri="{FF2B5EF4-FFF2-40B4-BE49-F238E27FC236}">
                            <a16:creationId xmlns:a16="http://schemas.microsoft.com/office/drawing/2014/main" id="{58483048-5E60-6D9E-BFB3-F45A1CCEE377}"/>
                          </a:ext>
                        </a:extLst>
                      </p:cNvPr>
                      <p:cNvPicPr/>
                      <p:nvPr/>
                    </p:nvPicPr>
                    <p:blipFill>
                      <a:blip r:embed="rId8"/>
                      <a:stretch>
                        <a:fillRect/>
                      </a:stretch>
                    </p:blipFill>
                    <p:spPr>
                      <a:xfrm>
                        <a:off x="10603372" y="4322399"/>
                        <a:ext cx="661988" cy="487362"/>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4FA33C12-AF71-B599-9AFE-1E6E3C99B6B3}"/>
              </a:ext>
            </a:extLst>
          </p:cNvPr>
          <p:cNvGraphicFramePr>
            <a:graphicFrameLocks noChangeAspect="1"/>
          </p:cNvGraphicFramePr>
          <p:nvPr/>
        </p:nvGraphicFramePr>
        <p:xfrm>
          <a:off x="9207849" y="5077504"/>
          <a:ext cx="2334977" cy="491574"/>
        </p:xfrm>
        <a:graphic>
          <a:graphicData uri="http://schemas.openxmlformats.org/presentationml/2006/ole">
            <mc:AlternateContent xmlns:mc="http://schemas.openxmlformats.org/markup-compatibility/2006">
              <mc:Choice xmlns:v="urn:schemas-microsoft-com:vml" Requires="v">
                <p:oleObj name="Equation" r:id="rId9" imgW="1206360" imgH="253800" progId="Equation.DSMT4">
                  <p:embed/>
                </p:oleObj>
              </mc:Choice>
              <mc:Fallback>
                <p:oleObj name="Equation" r:id="rId9" imgW="1206360" imgH="253800" progId="Equation.DSMT4">
                  <p:embed/>
                  <p:pic>
                    <p:nvPicPr>
                      <p:cNvPr id="54" name="对象 53">
                        <a:extLst>
                          <a:ext uri="{FF2B5EF4-FFF2-40B4-BE49-F238E27FC236}">
                            <a16:creationId xmlns:a16="http://schemas.microsoft.com/office/drawing/2014/main" id="{4FA33C12-AF71-B599-9AFE-1E6E3C99B6B3}"/>
                          </a:ext>
                        </a:extLst>
                      </p:cNvPr>
                      <p:cNvPicPr/>
                      <p:nvPr/>
                    </p:nvPicPr>
                    <p:blipFill>
                      <a:blip r:embed="rId10"/>
                      <a:stretch>
                        <a:fillRect/>
                      </a:stretch>
                    </p:blipFill>
                    <p:spPr>
                      <a:xfrm>
                        <a:off x="9207849" y="5077504"/>
                        <a:ext cx="2334977" cy="491574"/>
                      </a:xfrm>
                      <a:prstGeom prst="rect">
                        <a:avLst/>
                      </a:prstGeom>
                    </p:spPr>
                  </p:pic>
                </p:oleObj>
              </mc:Fallback>
            </mc:AlternateContent>
          </a:graphicData>
        </a:graphic>
      </p:graphicFrame>
    </p:spTree>
    <p:extLst>
      <p:ext uri="{BB962C8B-B14F-4D97-AF65-F5344CB8AC3E}">
        <p14:creationId xmlns:p14="http://schemas.microsoft.com/office/powerpoint/2010/main" val="3101939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回归与分类 </a:t>
            </a:r>
            <a:r>
              <a:rPr lang="en-US" altLang="zh-CN" dirty="0"/>
              <a:t>Regression &amp; Classification</a:t>
            </a:r>
            <a:endParaRPr lang="zh-CN" altLang="en-US"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12</a:t>
            </a:fld>
            <a:endParaRPr lang="zh-CN" altLang="en-US"/>
          </a:p>
        </p:txBody>
      </p:sp>
      <p:grpSp>
        <p:nvGrpSpPr>
          <p:cNvPr id="5" name="组合 4"/>
          <p:cNvGrpSpPr/>
          <p:nvPr/>
        </p:nvGrpSpPr>
        <p:grpSpPr>
          <a:xfrm>
            <a:off x="9144358" y="2090798"/>
            <a:ext cx="2159635" cy="2304610"/>
            <a:chOff x="4449907" y="3191494"/>
            <a:chExt cx="2159635" cy="2304610"/>
          </a:xfrm>
        </p:grpSpPr>
        <p:grpSp>
          <p:nvGrpSpPr>
            <p:cNvPr id="6" name="组合 5"/>
            <p:cNvGrpSpPr/>
            <p:nvPr/>
          </p:nvGrpSpPr>
          <p:grpSpPr>
            <a:xfrm>
              <a:off x="4449907" y="3191494"/>
              <a:ext cx="2159635" cy="1905240"/>
              <a:chOff x="7411085" y="4840845"/>
              <a:chExt cx="2159635" cy="1905240"/>
            </a:xfrm>
          </p:grpSpPr>
          <p:sp>
            <p:nvSpPr>
              <p:cNvPr id="8" name="椭圆 7"/>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a:endCxn id="8"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8"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9"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9"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10"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8"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0"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8" idx="6"/>
                <a:endCxn id="11"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8" idx="6"/>
                <a:endCxn id="12"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8" idx="6"/>
                <a:endCxn id="13"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8" idx="6"/>
                <a:endCxn id="14"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9" idx="6"/>
                <a:endCxn id="11"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9" idx="6"/>
                <a:endCxn id="12"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9" idx="6"/>
                <a:endCxn id="13"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9" idx="6"/>
                <a:endCxn id="14"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0" idx="6"/>
                <a:endCxn id="11"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0" idx="6"/>
                <a:endCxn id="12"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0" idx="6"/>
                <a:endCxn id="13"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14"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4" idx="6"/>
                <a:endCxn id="15"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3" idx="6"/>
                <a:endCxn id="15"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12" idx="6"/>
                <a:endCxn id="15"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1" idx="6"/>
                <a:endCxn id="15"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5"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7" name="矩形 6"/>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sp>
        <p:nvSpPr>
          <p:cNvPr id="43" name="矩形 42"/>
          <p:cNvSpPr/>
          <p:nvPr/>
        </p:nvSpPr>
        <p:spPr>
          <a:xfrm>
            <a:off x="452717" y="1690688"/>
            <a:ext cx="8455302" cy="400110"/>
          </a:xfrm>
          <a:prstGeom prst="rect">
            <a:avLst/>
          </a:prstGeom>
        </p:spPr>
        <p:txBody>
          <a:bodyPr wrap="square">
            <a:spAutoFit/>
          </a:bodyPr>
          <a:lstStyle/>
          <a:p>
            <a:pPr marL="914400" lvl="1" indent="-457200">
              <a:buFont typeface="Arial" panose="020B0604020202020204" pitchFamily="34" charset="0"/>
              <a:buChar char="•"/>
            </a:pPr>
            <a:r>
              <a:rPr lang="zh-CN" altLang="en-US" sz="2000" b="1" dirty="0">
                <a:solidFill>
                  <a:srgbClr val="C00000"/>
                </a:solidFill>
              </a:rPr>
              <a:t>回归（</a:t>
            </a:r>
            <a:r>
              <a:rPr lang="en-US" altLang="zh-CN" sz="2000" b="1" dirty="0">
                <a:solidFill>
                  <a:srgbClr val="C00000"/>
                </a:solidFill>
              </a:rPr>
              <a:t>Regression</a:t>
            </a:r>
            <a:r>
              <a:rPr lang="zh-CN" altLang="en-US" sz="2000" b="1" dirty="0">
                <a:solidFill>
                  <a:srgbClr val="C00000"/>
                </a:solidFill>
              </a:rPr>
              <a:t>）</a:t>
            </a:r>
            <a:r>
              <a:rPr lang="zh-CN" altLang="en-US" sz="2000" b="1" dirty="0"/>
              <a:t>：模型的输出</a:t>
            </a:r>
            <a:r>
              <a:rPr lang="en-US" altLang="zh-CN" sz="2000" b="1" dirty="0"/>
              <a:t>Label</a:t>
            </a:r>
            <a:r>
              <a:rPr lang="zh-CN" altLang="en-US" sz="2000" b="1" dirty="0"/>
              <a:t>是连续值，即</a:t>
            </a:r>
            <a:r>
              <a:rPr lang="en-US" altLang="zh-CN" sz="2000" b="1" i="1" dirty="0">
                <a:latin typeface="Times New Roman" panose="02020603050405020304" pitchFamily="18" charset="0"/>
                <a:cs typeface="Times New Roman" panose="02020603050405020304" pitchFamily="18" charset="0"/>
              </a:rPr>
              <a:t>y</a:t>
            </a:r>
            <a:r>
              <a:rPr lang="zh-CN" altLang="en-US" sz="2000" b="1" dirty="0"/>
              <a:t>是连续的</a:t>
            </a:r>
            <a:endParaRPr lang="en-US" altLang="zh-CN" sz="2000" b="1" dirty="0"/>
          </a:p>
        </p:txBody>
      </p:sp>
      <p:sp>
        <p:nvSpPr>
          <p:cNvPr id="44" name="矩形 43"/>
          <p:cNvSpPr/>
          <p:nvPr/>
        </p:nvSpPr>
        <p:spPr>
          <a:xfrm>
            <a:off x="452717" y="2557318"/>
            <a:ext cx="8265714" cy="707886"/>
          </a:xfrm>
          <a:prstGeom prst="rect">
            <a:avLst/>
          </a:prstGeom>
        </p:spPr>
        <p:txBody>
          <a:bodyPr wrap="square">
            <a:spAutoFit/>
          </a:bodyPr>
          <a:lstStyle/>
          <a:p>
            <a:pPr marL="914400" lvl="1" indent="-457200">
              <a:buFont typeface="Arial" panose="020B0604020202020204" pitchFamily="34" charset="0"/>
              <a:buChar char="•"/>
            </a:pPr>
            <a:r>
              <a:rPr lang="zh-CN" altLang="en-US" sz="2000" b="1" dirty="0">
                <a:solidFill>
                  <a:srgbClr val="C00000"/>
                </a:solidFill>
              </a:rPr>
              <a:t>分类（</a:t>
            </a:r>
            <a:r>
              <a:rPr lang="en-US" altLang="zh-CN" sz="2000" b="1" dirty="0">
                <a:solidFill>
                  <a:srgbClr val="C00000"/>
                </a:solidFill>
              </a:rPr>
              <a:t>Classification</a:t>
            </a:r>
            <a:r>
              <a:rPr lang="zh-CN" altLang="en-US" sz="2000" b="1" dirty="0">
                <a:solidFill>
                  <a:srgbClr val="C00000"/>
                </a:solidFill>
              </a:rPr>
              <a:t>）</a:t>
            </a:r>
            <a:r>
              <a:rPr lang="zh-CN" altLang="en-US" sz="2000" b="1" dirty="0"/>
              <a:t>：模型的输出</a:t>
            </a:r>
            <a:r>
              <a:rPr lang="en-US" altLang="zh-CN" sz="2000" b="1" dirty="0"/>
              <a:t>Label</a:t>
            </a:r>
            <a:r>
              <a:rPr lang="zh-CN" altLang="en-US" sz="2000" b="1" dirty="0"/>
              <a:t>是类别值，例如</a:t>
            </a:r>
            <a:r>
              <a:rPr lang="en-US" altLang="zh-CN" sz="2000" b="1" dirty="0"/>
              <a:t>y</a:t>
            </a:r>
            <a:r>
              <a:rPr lang="zh-CN" altLang="en-US" sz="2000" b="1" dirty="0"/>
              <a:t>只能取</a:t>
            </a:r>
            <a:r>
              <a:rPr lang="en-US" altLang="zh-CN" sz="2000" b="1" dirty="0"/>
              <a:t>0</a:t>
            </a:r>
            <a:r>
              <a:rPr lang="zh-CN" altLang="en-US" sz="2000" b="1" dirty="0"/>
              <a:t>或</a:t>
            </a:r>
            <a:r>
              <a:rPr lang="en-US" altLang="zh-CN" sz="2000" b="1" dirty="0"/>
              <a:t>1</a:t>
            </a:r>
            <a:r>
              <a:rPr lang="zh-CN" altLang="en-US" sz="2000" b="1" dirty="0"/>
              <a:t>，来表明两类最后根据不同的</a:t>
            </a:r>
            <a:r>
              <a:rPr lang="en-US" altLang="zh-CN" sz="2000" b="1" dirty="0"/>
              <a:t>x</a:t>
            </a:r>
            <a:r>
              <a:rPr lang="zh-CN" altLang="en-US" sz="2000" b="1" dirty="0"/>
              <a:t>应该归到哪一类中</a:t>
            </a:r>
            <a:endParaRPr lang="en-US" altLang="zh-CN" sz="2000" b="1" dirty="0"/>
          </a:p>
        </p:txBody>
      </p:sp>
      <p:graphicFrame>
        <p:nvGraphicFramePr>
          <p:cNvPr id="45" name="对象 44"/>
          <p:cNvGraphicFramePr>
            <a:graphicFrameLocks noChangeAspect="1"/>
          </p:cNvGraphicFramePr>
          <p:nvPr>
            <p:extLst>
              <p:ext uri="{D42A27DB-BD31-4B8C-83A1-F6EECF244321}">
                <p14:modId xmlns:p14="http://schemas.microsoft.com/office/powerpoint/2010/main" val="3513832236"/>
              </p:ext>
            </p:extLst>
          </p:nvPr>
        </p:nvGraphicFramePr>
        <p:xfrm>
          <a:off x="8718431" y="2811504"/>
          <a:ext cx="227013" cy="271463"/>
        </p:xfrm>
        <a:graphic>
          <a:graphicData uri="http://schemas.openxmlformats.org/presentationml/2006/ole">
            <mc:AlternateContent xmlns:mc="http://schemas.openxmlformats.org/markup-compatibility/2006">
              <mc:Choice xmlns:v="urn:schemas-microsoft-com:vml" Requires="v">
                <p:oleObj name="Equation" r:id="rId2" imgW="126720" imgH="139680" progId="Equation.DSMT4">
                  <p:embed/>
                </p:oleObj>
              </mc:Choice>
              <mc:Fallback>
                <p:oleObj name="Equation" r:id="rId2" imgW="126720" imgH="139680" progId="Equation.DSMT4">
                  <p:embed/>
                  <p:pic>
                    <p:nvPicPr>
                      <p:cNvPr id="84" name="对象 83"/>
                      <p:cNvPicPr/>
                      <p:nvPr/>
                    </p:nvPicPr>
                    <p:blipFill>
                      <a:blip r:embed="rId3"/>
                      <a:stretch>
                        <a:fillRect/>
                      </a:stretch>
                    </p:blipFill>
                    <p:spPr>
                      <a:xfrm>
                        <a:off x="8718431" y="2811504"/>
                        <a:ext cx="227013" cy="271463"/>
                      </a:xfrm>
                      <a:prstGeom prst="rect">
                        <a:avLst/>
                      </a:prstGeom>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1264018779"/>
              </p:ext>
            </p:extLst>
          </p:nvPr>
        </p:nvGraphicFramePr>
        <p:xfrm>
          <a:off x="11294151" y="2754641"/>
          <a:ext cx="249238" cy="320675"/>
        </p:xfrm>
        <a:graphic>
          <a:graphicData uri="http://schemas.openxmlformats.org/presentationml/2006/ole">
            <mc:AlternateContent xmlns:mc="http://schemas.openxmlformats.org/markup-compatibility/2006">
              <mc:Choice xmlns:v="urn:schemas-microsoft-com:vml" Requires="v">
                <p:oleObj name="Equation" r:id="rId4" imgW="139680" imgH="164880" progId="Equation.DSMT4">
                  <p:embed/>
                </p:oleObj>
              </mc:Choice>
              <mc:Fallback>
                <p:oleObj name="Equation" r:id="rId4" imgW="139680" imgH="164880" progId="Equation.DSMT4">
                  <p:embed/>
                  <p:pic>
                    <p:nvPicPr>
                      <p:cNvPr id="45" name="对象 44"/>
                      <p:cNvPicPr/>
                      <p:nvPr/>
                    </p:nvPicPr>
                    <p:blipFill>
                      <a:blip r:embed="rId5"/>
                      <a:stretch>
                        <a:fillRect/>
                      </a:stretch>
                    </p:blipFill>
                    <p:spPr>
                      <a:xfrm>
                        <a:off x="11294151" y="2754641"/>
                        <a:ext cx="249238" cy="320675"/>
                      </a:xfrm>
                      <a:prstGeom prst="rect">
                        <a:avLst/>
                      </a:prstGeom>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2365987164"/>
              </p:ext>
            </p:extLst>
          </p:nvPr>
        </p:nvGraphicFramePr>
        <p:xfrm>
          <a:off x="9536065" y="4370775"/>
          <a:ext cx="1087437" cy="493712"/>
        </p:xfrm>
        <a:graphic>
          <a:graphicData uri="http://schemas.openxmlformats.org/presentationml/2006/ole">
            <mc:AlternateContent xmlns:mc="http://schemas.openxmlformats.org/markup-compatibility/2006">
              <mc:Choice xmlns:v="urn:schemas-microsoft-com:vml" Requires="v">
                <p:oleObj name="Equation" r:id="rId6" imgW="609480" imgH="253800" progId="Equation.DSMT4">
                  <p:embed/>
                </p:oleObj>
              </mc:Choice>
              <mc:Fallback>
                <p:oleObj name="Equation" r:id="rId6" imgW="609480" imgH="253800" progId="Equation.DSMT4">
                  <p:embed/>
                  <p:pic>
                    <p:nvPicPr>
                      <p:cNvPr id="46" name="对象 45"/>
                      <p:cNvPicPr/>
                      <p:nvPr/>
                    </p:nvPicPr>
                    <p:blipFill>
                      <a:blip r:embed="rId7"/>
                      <a:stretch>
                        <a:fillRect/>
                      </a:stretch>
                    </p:blipFill>
                    <p:spPr>
                      <a:xfrm>
                        <a:off x="9536065" y="4370775"/>
                        <a:ext cx="1087437" cy="493712"/>
                      </a:xfrm>
                      <a:prstGeom prst="rect">
                        <a:avLst/>
                      </a:prstGeom>
                    </p:spPr>
                  </p:pic>
                </p:oleObj>
              </mc:Fallback>
            </mc:AlternateContent>
          </a:graphicData>
        </a:graphic>
      </p:graphicFrame>
    </p:spTree>
    <p:extLst>
      <p:ext uri="{BB962C8B-B14F-4D97-AF65-F5344CB8AC3E}">
        <p14:creationId xmlns:p14="http://schemas.microsoft.com/office/powerpoint/2010/main" val="1292732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回归与分类 </a:t>
            </a:r>
            <a:r>
              <a:rPr lang="en-US" altLang="zh-CN" dirty="0"/>
              <a:t>Regression &amp; Classification</a:t>
            </a:r>
            <a:endParaRPr lang="zh-CN" altLang="en-US"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13</a:t>
            </a:fld>
            <a:endParaRPr lang="zh-CN" altLang="en-US"/>
          </a:p>
        </p:txBody>
      </p:sp>
      <p:sp>
        <p:nvSpPr>
          <p:cNvPr id="5" name="矩形 4"/>
          <p:cNvSpPr/>
          <p:nvPr/>
        </p:nvSpPr>
        <p:spPr>
          <a:xfrm>
            <a:off x="452717" y="1690688"/>
            <a:ext cx="10197354" cy="707886"/>
          </a:xfrm>
          <a:prstGeom prst="rect">
            <a:avLst/>
          </a:prstGeom>
        </p:spPr>
        <p:txBody>
          <a:bodyPr wrap="square">
            <a:spAutoFit/>
          </a:bodyPr>
          <a:lstStyle/>
          <a:p>
            <a:pPr marL="914400" lvl="1" indent="-457200">
              <a:buFont typeface="Arial" panose="020B0604020202020204" pitchFamily="34" charset="0"/>
              <a:buChar char="•"/>
            </a:pPr>
            <a:r>
              <a:rPr lang="zh-CN" altLang="en-US" sz="2000" b="1" dirty="0">
                <a:solidFill>
                  <a:srgbClr val="C00000"/>
                </a:solidFill>
              </a:rPr>
              <a:t>回归（</a:t>
            </a:r>
            <a:r>
              <a:rPr lang="en-US" altLang="zh-CN" sz="2000" b="1" dirty="0">
                <a:solidFill>
                  <a:srgbClr val="C00000"/>
                </a:solidFill>
              </a:rPr>
              <a:t>Regression</a:t>
            </a:r>
            <a:r>
              <a:rPr lang="zh-CN" altLang="en-US" sz="2000" b="1" dirty="0">
                <a:solidFill>
                  <a:srgbClr val="C00000"/>
                </a:solidFill>
              </a:rPr>
              <a:t>）</a:t>
            </a:r>
            <a:r>
              <a:rPr lang="zh-CN" altLang="en-US" sz="2000" b="1" dirty="0"/>
              <a:t>与</a:t>
            </a:r>
            <a:r>
              <a:rPr lang="zh-CN" altLang="en-US" sz="2000" b="1" dirty="0">
                <a:solidFill>
                  <a:srgbClr val="C00000"/>
                </a:solidFill>
              </a:rPr>
              <a:t>分类（</a:t>
            </a:r>
            <a:r>
              <a:rPr lang="en-US" altLang="zh-CN" sz="2000" b="1" dirty="0">
                <a:solidFill>
                  <a:srgbClr val="C00000"/>
                </a:solidFill>
              </a:rPr>
              <a:t>Classification</a:t>
            </a:r>
            <a:r>
              <a:rPr lang="zh-CN" altLang="en-US" sz="2000" b="1" dirty="0">
                <a:solidFill>
                  <a:srgbClr val="C00000"/>
                </a:solidFill>
              </a:rPr>
              <a:t>）</a:t>
            </a:r>
            <a:r>
              <a:rPr lang="zh-CN" altLang="en-US" sz="2000" b="1" dirty="0"/>
              <a:t>是常见的的两类机器学习问题，其主要取决于现实问题是更适合建模成回归问题还是分类问题</a:t>
            </a:r>
            <a:r>
              <a:rPr lang="en-US" altLang="zh-CN" sz="2000" b="1" dirty="0"/>
              <a:t>.</a:t>
            </a:r>
          </a:p>
        </p:txBody>
      </p:sp>
    </p:spTree>
    <p:extLst>
      <p:ext uri="{BB962C8B-B14F-4D97-AF65-F5344CB8AC3E}">
        <p14:creationId xmlns:p14="http://schemas.microsoft.com/office/powerpoint/2010/main" val="3711273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C4BFDB-F49B-4365-9A07-79E760987583}"/>
              </a:ext>
            </a:extLst>
          </p:cNvPr>
          <p:cNvSpPr>
            <a:spLocks noGrp="1"/>
          </p:cNvSpPr>
          <p:nvPr>
            <p:ph type="title"/>
          </p:nvPr>
        </p:nvSpPr>
        <p:spPr/>
        <p:txBody>
          <a:bodyPr/>
          <a:lstStyle/>
          <a:p>
            <a:r>
              <a:rPr lang="zh-CN" altLang="en-US" b="1" dirty="0"/>
              <a:t>目录 </a:t>
            </a:r>
            <a:r>
              <a:rPr lang="en-US" altLang="zh-CN" b="1" dirty="0"/>
              <a:t>Content</a:t>
            </a:r>
            <a:endParaRPr lang="zh-CN" altLang="en-US" b="1" dirty="0"/>
          </a:p>
        </p:txBody>
      </p:sp>
      <p:sp>
        <p:nvSpPr>
          <p:cNvPr id="3" name="内容占位符 2">
            <a:extLst>
              <a:ext uri="{FF2B5EF4-FFF2-40B4-BE49-F238E27FC236}">
                <a16:creationId xmlns:a16="http://schemas.microsoft.com/office/drawing/2014/main" id="{487464C1-6AAD-4A92-A8D8-4F78DBC837B2}"/>
              </a:ext>
            </a:extLst>
          </p:cNvPr>
          <p:cNvSpPr>
            <a:spLocks noGrp="1"/>
          </p:cNvSpPr>
          <p:nvPr>
            <p:ph idx="1"/>
          </p:nvPr>
        </p:nvSpPr>
        <p:spPr/>
        <p:txBody>
          <a:bodyPr>
            <a:normAutofit/>
          </a:bodyPr>
          <a:lstStyle/>
          <a:p>
            <a:r>
              <a:rPr lang="zh-CN" altLang="en-US" sz="3200" b="1" dirty="0"/>
              <a:t>分类问题案例：体温检测 </a:t>
            </a:r>
            <a:r>
              <a:rPr lang="en-US" altLang="zh-CN" sz="3200" b="1" dirty="0"/>
              <a:t>Temperature Detection</a:t>
            </a:r>
          </a:p>
          <a:p>
            <a:endParaRPr lang="en-US" altLang="zh-CN" sz="3200" b="1" dirty="0"/>
          </a:p>
          <a:p>
            <a:r>
              <a:rPr lang="zh-CN" altLang="en-US" sz="3200" b="1" dirty="0"/>
              <a:t>分类问题的讨论 </a:t>
            </a:r>
            <a:r>
              <a:rPr lang="en-US" altLang="zh-CN" sz="3200" b="1" dirty="0"/>
              <a:t>Discussions on Classification</a:t>
            </a:r>
            <a:endParaRPr lang="zh-CN" altLang="en-US" sz="3200" b="1" dirty="0"/>
          </a:p>
        </p:txBody>
      </p:sp>
      <p:sp>
        <p:nvSpPr>
          <p:cNvPr id="4" name="灯片编号占位符 3">
            <a:extLst>
              <a:ext uri="{FF2B5EF4-FFF2-40B4-BE49-F238E27FC236}">
                <a16:creationId xmlns:a16="http://schemas.microsoft.com/office/drawing/2014/main" id="{56612429-2D6E-483A-8ACA-96CA876CF2CB}"/>
              </a:ext>
            </a:extLst>
          </p:cNvPr>
          <p:cNvSpPr>
            <a:spLocks noGrp="1"/>
          </p:cNvSpPr>
          <p:nvPr>
            <p:ph type="sldNum" sz="quarter" idx="12"/>
          </p:nvPr>
        </p:nvSpPr>
        <p:spPr/>
        <p:txBody>
          <a:bodyPr/>
          <a:lstStyle/>
          <a:p>
            <a:fld id="{C04D5434-05AA-4028-98DA-4ABF0C3BEA2A}" type="slidenum">
              <a:rPr lang="zh-CN" altLang="en-US" smtClean="0"/>
              <a:t>14</a:t>
            </a:fld>
            <a:endParaRPr lang="zh-CN" altLang="en-US"/>
          </a:p>
        </p:txBody>
      </p:sp>
    </p:spTree>
    <p:extLst>
      <p:ext uri="{BB962C8B-B14F-4D97-AF65-F5344CB8AC3E}">
        <p14:creationId xmlns:p14="http://schemas.microsoft.com/office/powerpoint/2010/main" val="1259959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分类</a:t>
            </a:r>
            <a:r>
              <a:rPr lang="zh-CN" altLang="en-US" sz="3600" dirty="0"/>
              <a:t>问题举例 </a:t>
            </a:r>
            <a:r>
              <a:rPr lang="en-US" altLang="zh-CN" sz="3600" dirty="0"/>
              <a:t>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15</a:t>
            </a:fld>
            <a:endParaRPr lang="zh-CN" altLang="en-US"/>
          </a:p>
        </p:txBody>
      </p:sp>
      <p:sp>
        <p:nvSpPr>
          <p:cNvPr id="3" name="文本框 2"/>
          <p:cNvSpPr txBox="1"/>
          <p:nvPr/>
        </p:nvSpPr>
        <p:spPr>
          <a:xfrm>
            <a:off x="838200" y="1506022"/>
            <a:ext cx="10515600" cy="1477328"/>
          </a:xfrm>
          <a:prstGeom prst="rect">
            <a:avLst/>
          </a:prstGeom>
          <a:noFill/>
        </p:spPr>
        <p:txBody>
          <a:bodyPr wrap="square" rtlCol="0">
            <a:spAutoFit/>
          </a:bodyPr>
          <a:lstStyle/>
          <a:p>
            <a:r>
              <a:rPr lang="zh-CN" altLang="en-US" b="1" dirty="0"/>
              <a:t>体温检测：</a:t>
            </a:r>
            <a:endParaRPr lang="en-US" altLang="zh-CN" b="1" dirty="0"/>
          </a:p>
          <a:p>
            <a:pPr marL="285750" indent="-285750">
              <a:buFont typeface="Arial" panose="020B0604020202020204" pitchFamily="34" charset="0"/>
              <a:buChar char="•"/>
            </a:pPr>
            <a:r>
              <a:rPr lang="zh-CN" altLang="en-US" dirty="0"/>
              <a:t>在现实中，我们一般认为体温</a:t>
            </a:r>
            <a:r>
              <a:rPr lang="en-US" altLang="zh-CN" dirty="0"/>
              <a:t>&gt;</a:t>
            </a:r>
            <a:r>
              <a:rPr lang="en-US" altLang="zh-CN" dirty="0" err="1"/>
              <a:t>37.3°C</a:t>
            </a:r>
            <a:r>
              <a:rPr lang="zh-CN" altLang="en-US" dirty="0"/>
              <a:t>就是发烧，那么这个临界温度是如何得到的呢？</a:t>
            </a:r>
            <a:endParaRPr lang="en-US" altLang="zh-CN" dirty="0"/>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endParaRPr lang="en-US" altLang="zh-CN" b="1" dirty="0"/>
          </a:p>
          <a:p>
            <a:endParaRPr lang="zh-CN" altLang="en-US" b="1" dirty="0"/>
          </a:p>
        </p:txBody>
      </p:sp>
    </p:spTree>
    <p:extLst>
      <p:ext uri="{BB962C8B-B14F-4D97-AF65-F5344CB8AC3E}">
        <p14:creationId xmlns:p14="http://schemas.microsoft.com/office/powerpoint/2010/main" val="851562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分类问题举例 </a:t>
            </a:r>
            <a:r>
              <a:rPr lang="en-US" altLang="zh-CN" sz="3600" dirty="0"/>
              <a:t>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16</a:t>
            </a:fld>
            <a:endParaRPr lang="zh-CN" altLang="en-US" dirty="0"/>
          </a:p>
        </p:txBody>
      </p:sp>
      <p:sp>
        <p:nvSpPr>
          <p:cNvPr id="3" name="文本框 2"/>
          <p:cNvSpPr txBox="1"/>
          <p:nvPr/>
        </p:nvSpPr>
        <p:spPr>
          <a:xfrm>
            <a:off x="838200" y="1506022"/>
            <a:ext cx="10515600" cy="2585323"/>
          </a:xfrm>
          <a:prstGeom prst="rect">
            <a:avLst/>
          </a:prstGeom>
          <a:noFill/>
        </p:spPr>
        <p:txBody>
          <a:bodyPr wrap="square" rtlCol="0">
            <a:spAutoFit/>
          </a:bodyPr>
          <a:lstStyle/>
          <a:p>
            <a:r>
              <a:rPr lang="zh-CN" altLang="en-US" b="1" dirty="0"/>
              <a:t>体温检测：</a:t>
            </a:r>
            <a:endParaRPr lang="en-US" altLang="zh-CN" b="1" dirty="0"/>
          </a:p>
          <a:p>
            <a:pPr marL="285750" indent="-285750">
              <a:buFont typeface="Arial" panose="020B0604020202020204" pitchFamily="34" charset="0"/>
              <a:buChar char="•"/>
            </a:pPr>
            <a:r>
              <a:rPr lang="zh-CN" altLang="en-US" dirty="0"/>
              <a:t>在现实中，我们一般认为体温</a:t>
            </a:r>
            <a:r>
              <a:rPr lang="en-US" altLang="zh-CN" dirty="0"/>
              <a:t>&gt;</a:t>
            </a:r>
            <a:r>
              <a:rPr lang="en-US" altLang="zh-CN" dirty="0" err="1"/>
              <a:t>37.3°C</a:t>
            </a:r>
            <a:r>
              <a:rPr lang="zh-CN" altLang="en-US" dirty="0"/>
              <a:t>就是发烧，那么这个临界温度是如何得到的呢？</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按照机器学习的思路建立模型：</a:t>
            </a:r>
            <a:endParaRPr lang="en-US" altLang="zh-CN" dirty="0"/>
          </a:p>
          <a:p>
            <a:pPr marL="285750" lvl="2" indent="-285750">
              <a:buFont typeface="Arial" panose="020B0604020202020204" pitchFamily="34" charset="0"/>
              <a:buChar char="•"/>
            </a:pPr>
            <a:r>
              <a:rPr lang="zh-CN" altLang="en-US" dirty="0"/>
              <a:t>现在有一些人的体温检测数据，每个样本有两个变量，体温值（</a:t>
            </a:r>
            <a:r>
              <a:rPr lang="en-US" altLang="zh-CN" dirty="0"/>
              <a:t>x</a:t>
            </a:r>
            <a:r>
              <a:rPr lang="zh-CN" altLang="en-US" dirty="0"/>
              <a:t>），是否生病（</a:t>
            </a:r>
            <a:r>
              <a:rPr lang="en-US" altLang="zh-CN" dirty="0"/>
              <a:t>y=0</a:t>
            </a:r>
            <a:r>
              <a:rPr lang="zh-CN" altLang="en-US" dirty="0"/>
              <a:t>或</a:t>
            </a:r>
            <a:r>
              <a:rPr lang="en-US" altLang="zh-CN" dirty="0"/>
              <a:t>1</a:t>
            </a:r>
            <a:r>
              <a:rPr lang="zh-CN" altLang="en-US" dirty="0"/>
              <a:t>）</a:t>
            </a:r>
            <a:endParaRPr lang="en-US" altLang="zh-CN" dirty="0"/>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endParaRPr lang="en-US" altLang="zh-CN" b="1" dirty="0"/>
          </a:p>
          <a:p>
            <a:endParaRPr lang="zh-CN" altLang="en-US" b="1" dirty="0"/>
          </a:p>
        </p:txBody>
      </p:sp>
    </p:spTree>
    <p:extLst>
      <p:ext uri="{BB962C8B-B14F-4D97-AF65-F5344CB8AC3E}">
        <p14:creationId xmlns:p14="http://schemas.microsoft.com/office/powerpoint/2010/main" val="4243177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分类问题举例 </a:t>
            </a:r>
            <a:r>
              <a:rPr lang="en-US" altLang="zh-CN" sz="3600" dirty="0"/>
              <a:t>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17</a:t>
            </a:fld>
            <a:endParaRPr lang="zh-CN" altLang="en-US" dirty="0"/>
          </a:p>
        </p:txBody>
      </p:sp>
      <p:sp>
        <p:nvSpPr>
          <p:cNvPr id="3" name="文本框 2"/>
          <p:cNvSpPr txBox="1"/>
          <p:nvPr/>
        </p:nvSpPr>
        <p:spPr>
          <a:xfrm>
            <a:off x="838200" y="1506022"/>
            <a:ext cx="10515600" cy="2585323"/>
          </a:xfrm>
          <a:prstGeom prst="rect">
            <a:avLst/>
          </a:prstGeom>
          <a:noFill/>
        </p:spPr>
        <p:txBody>
          <a:bodyPr wrap="square" rtlCol="0">
            <a:spAutoFit/>
          </a:bodyPr>
          <a:lstStyle/>
          <a:p>
            <a:r>
              <a:rPr lang="zh-CN" altLang="en-US" b="1" dirty="0"/>
              <a:t>体温检测：</a:t>
            </a:r>
            <a:endParaRPr lang="en-US" altLang="zh-CN" b="1" dirty="0"/>
          </a:p>
          <a:p>
            <a:pPr marL="285750" indent="-285750">
              <a:buFont typeface="Arial" panose="020B0604020202020204" pitchFamily="34" charset="0"/>
              <a:buChar char="•"/>
            </a:pPr>
            <a:r>
              <a:rPr lang="zh-CN" altLang="en-US" dirty="0"/>
              <a:t>在现实中，我们一般认为体温</a:t>
            </a:r>
            <a:r>
              <a:rPr lang="en-US" altLang="zh-CN" dirty="0"/>
              <a:t>&gt;</a:t>
            </a:r>
            <a:r>
              <a:rPr lang="en-US" altLang="zh-CN" dirty="0" err="1"/>
              <a:t>37.3°C</a:t>
            </a:r>
            <a:r>
              <a:rPr lang="zh-CN" altLang="en-US" dirty="0"/>
              <a:t>就是发烧，那么这个临界温度是如何得到的呢？</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按照机器学习的思路建立模型：</a:t>
            </a:r>
            <a:endParaRPr lang="en-US" altLang="zh-CN" dirty="0"/>
          </a:p>
          <a:p>
            <a:pPr marL="285750" lvl="2" indent="-285750">
              <a:buFont typeface="Arial" panose="020B0604020202020204" pitchFamily="34" charset="0"/>
              <a:buChar char="•"/>
            </a:pPr>
            <a:r>
              <a:rPr lang="zh-CN" altLang="en-US" dirty="0"/>
              <a:t>现在有一些人的体温检测数据，每个样本有两个变量，体温值（</a:t>
            </a:r>
            <a:r>
              <a:rPr lang="en-US" altLang="zh-CN" dirty="0"/>
              <a:t>x</a:t>
            </a:r>
            <a:r>
              <a:rPr lang="zh-CN" altLang="en-US" dirty="0"/>
              <a:t>），是否生病（</a:t>
            </a:r>
            <a:r>
              <a:rPr lang="en-US" altLang="zh-CN" dirty="0"/>
              <a:t>y=0</a:t>
            </a:r>
            <a:r>
              <a:rPr lang="zh-CN" altLang="en-US" dirty="0"/>
              <a:t>或</a:t>
            </a:r>
            <a:r>
              <a:rPr lang="en-US" altLang="zh-CN" dirty="0"/>
              <a:t>1</a:t>
            </a:r>
            <a:r>
              <a:rPr lang="zh-CN" altLang="en-US" dirty="0"/>
              <a:t>）</a:t>
            </a:r>
            <a:endParaRPr lang="en-US" altLang="zh-CN" dirty="0"/>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endParaRPr lang="en-US" altLang="zh-CN" b="1" dirty="0"/>
          </a:p>
          <a:p>
            <a:endParaRPr lang="zh-CN" altLang="en-US" b="1" dirty="0"/>
          </a:p>
        </p:txBody>
      </p:sp>
      <p:pic>
        <p:nvPicPr>
          <p:cNvPr id="5" name="图片 4">
            <a:extLst>
              <a:ext uri="{FF2B5EF4-FFF2-40B4-BE49-F238E27FC236}">
                <a16:creationId xmlns:a16="http://schemas.microsoft.com/office/drawing/2014/main" id="{EBA9AAF5-78F9-739E-1F86-BB8180719EE4}"/>
              </a:ext>
            </a:extLst>
          </p:cNvPr>
          <p:cNvPicPr>
            <a:picLocks noChangeAspect="1"/>
          </p:cNvPicPr>
          <p:nvPr/>
        </p:nvPicPr>
        <p:blipFill>
          <a:blip r:embed="rId2"/>
          <a:stretch>
            <a:fillRect/>
          </a:stretch>
        </p:blipFill>
        <p:spPr>
          <a:xfrm>
            <a:off x="6065520" y="3567430"/>
            <a:ext cx="4108867" cy="2788920"/>
          </a:xfrm>
          <a:prstGeom prst="rect">
            <a:avLst/>
          </a:prstGeom>
        </p:spPr>
      </p:pic>
      <p:sp>
        <p:nvSpPr>
          <p:cNvPr id="10" name="文本框 9">
            <a:extLst>
              <a:ext uri="{FF2B5EF4-FFF2-40B4-BE49-F238E27FC236}">
                <a16:creationId xmlns:a16="http://schemas.microsoft.com/office/drawing/2014/main" id="{EF39739B-6461-88BB-7716-A92DDAFAEA75}"/>
              </a:ext>
            </a:extLst>
          </p:cNvPr>
          <p:cNvSpPr txBox="1"/>
          <p:nvPr/>
        </p:nvSpPr>
        <p:spPr>
          <a:xfrm>
            <a:off x="3189813" y="4191427"/>
            <a:ext cx="1953687" cy="646331"/>
          </a:xfrm>
          <a:prstGeom prst="rect">
            <a:avLst/>
          </a:prstGeom>
          <a:noFill/>
        </p:spPr>
        <p:txBody>
          <a:bodyPr wrap="square" rtlCol="0">
            <a:spAutoFit/>
          </a:bodyPr>
          <a:lstStyle/>
          <a:p>
            <a:r>
              <a:rPr lang="zh-CN" altLang="en-US" b="1" dirty="0">
                <a:solidFill>
                  <a:srgbClr val="C00000"/>
                </a:solidFill>
              </a:rPr>
              <a:t>但是现实中的数据没有那么完美</a:t>
            </a:r>
          </a:p>
        </p:txBody>
      </p:sp>
    </p:spTree>
    <p:extLst>
      <p:ext uri="{BB962C8B-B14F-4D97-AF65-F5344CB8AC3E}">
        <p14:creationId xmlns:p14="http://schemas.microsoft.com/office/powerpoint/2010/main" val="3263902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分类问题举例 </a:t>
            </a:r>
            <a:r>
              <a:rPr lang="en-US" altLang="zh-CN" sz="3600" dirty="0"/>
              <a:t>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18</a:t>
            </a:fld>
            <a:endParaRPr lang="zh-CN" altLang="en-US" dirty="0"/>
          </a:p>
        </p:txBody>
      </p:sp>
      <p:sp>
        <p:nvSpPr>
          <p:cNvPr id="3" name="文本框 2"/>
          <p:cNvSpPr txBox="1"/>
          <p:nvPr/>
        </p:nvSpPr>
        <p:spPr>
          <a:xfrm>
            <a:off x="838200" y="1506022"/>
            <a:ext cx="10515600" cy="2585323"/>
          </a:xfrm>
          <a:prstGeom prst="rect">
            <a:avLst/>
          </a:prstGeom>
          <a:noFill/>
        </p:spPr>
        <p:txBody>
          <a:bodyPr wrap="square" rtlCol="0">
            <a:spAutoFit/>
          </a:bodyPr>
          <a:lstStyle/>
          <a:p>
            <a:r>
              <a:rPr lang="zh-CN" altLang="en-US" b="1" dirty="0"/>
              <a:t>体温检测：</a:t>
            </a:r>
            <a:endParaRPr lang="en-US" altLang="zh-CN" b="1" dirty="0"/>
          </a:p>
          <a:p>
            <a:pPr marL="285750" indent="-285750">
              <a:buFont typeface="Arial" panose="020B0604020202020204" pitchFamily="34" charset="0"/>
              <a:buChar char="•"/>
            </a:pPr>
            <a:r>
              <a:rPr lang="zh-CN" altLang="en-US" dirty="0"/>
              <a:t>在现实中，我们一般认为体温</a:t>
            </a:r>
            <a:r>
              <a:rPr lang="en-US" altLang="zh-CN" dirty="0"/>
              <a:t>&gt;</a:t>
            </a:r>
            <a:r>
              <a:rPr lang="en-US" altLang="zh-CN" dirty="0" err="1"/>
              <a:t>37.3°C</a:t>
            </a:r>
            <a:r>
              <a:rPr lang="zh-CN" altLang="en-US" dirty="0"/>
              <a:t>就是发烧，那么这个临界温度是如何得到的呢？</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按照机器学习的思路建立模型：</a:t>
            </a:r>
            <a:endParaRPr lang="en-US" altLang="zh-CN" dirty="0"/>
          </a:p>
          <a:p>
            <a:pPr marL="285750" lvl="2" indent="-285750">
              <a:buFont typeface="Arial" panose="020B0604020202020204" pitchFamily="34" charset="0"/>
              <a:buChar char="•"/>
            </a:pPr>
            <a:r>
              <a:rPr lang="zh-CN" altLang="en-US" dirty="0"/>
              <a:t>现在有一些人的体温检测数据，每个样本有两个变量，体温值（</a:t>
            </a:r>
            <a:r>
              <a:rPr lang="en-US" altLang="zh-CN" dirty="0"/>
              <a:t>x</a:t>
            </a:r>
            <a:r>
              <a:rPr lang="zh-CN" altLang="en-US" dirty="0"/>
              <a:t>），是否生病（</a:t>
            </a:r>
            <a:r>
              <a:rPr lang="en-US" altLang="zh-CN" dirty="0"/>
              <a:t>y=0</a:t>
            </a:r>
            <a:r>
              <a:rPr lang="zh-CN" altLang="en-US" dirty="0"/>
              <a:t>或</a:t>
            </a:r>
            <a:r>
              <a:rPr lang="en-US" altLang="zh-CN" dirty="0"/>
              <a:t>1</a:t>
            </a:r>
            <a:r>
              <a:rPr lang="zh-CN" altLang="en-US" dirty="0"/>
              <a:t>）</a:t>
            </a:r>
            <a:endParaRPr lang="en-US" altLang="zh-CN" dirty="0"/>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endParaRPr lang="en-US" altLang="zh-CN" b="1" dirty="0"/>
          </a:p>
          <a:p>
            <a:endParaRPr lang="zh-CN" altLang="en-US" b="1" dirty="0"/>
          </a:p>
        </p:txBody>
      </p:sp>
      <p:pic>
        <p:nvPicPr>
          <p:cNvPr id="5" name="图片 4">
            <a:extLst>
              <a:ext uri="{FF2B5EF4-FFF2-40B4-BE49-F238E27FC236}">
                <a16:creationId xmlns:a16="http://schemas.microsoft.com/office/drawing/2014/main" id="{EBA9AAF5-78F9-739E-1F86-BB8180719EE4}"/>
              </a:ext>
            </a:extLst>
          </p:cNvPr>
          <p:cNvPicPr>
            <a:picLocks noChangeAspect="1"/>
          </p:cNvPicPr>
          <p:nvPr/>
        </p:nvPicPr>
        <p:blipFill>
          <a:blip r:embed="rId2"/>
          <a:stretch>
            <a:fillRect/>
          </a:stretch>
        </p:blipFill>
        <p:spPr>
          <a:xfrm>
            <a:off x="6065520" y="3567430"/>
            <a:ext cx="4108867" cy="2788920"/>
          </a:xfrm>
          <a:prstGeom prst="rect">
            <a:avLst/>
          </a:prstGeom>
        </p:spPr>
      </p:pic>
      <p:cxnSp>
        <p:nvCxnSpPr>
          <p:cNvPr id="7" name="直接连接符 6">
            <a:extLst>
              <a:ext uri="{FF2B5EF4-FFF2-40B4-BE49-F238E27FC236}">
                <a16:creationId xmlns:a16="http://schemas.microsoft.com/office/drawing/2014/main" id="{594123FB-98DE-45BF-5912-45DCF0C0685D}"/>
              </a:ext>
            </a:extLst>
          </p:cNvPr>
          <p:cNvCxnSpPr/>
          <p:nvPr/>
        </p:nvCxnSpPr>
        <p:spPr>
          <a:xfrm>
            <a:off x="7693233" y="3445510"/>
            <a:ext cx="0" cy="275844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321D5A78-22EA-41E4-17B8-BC011140963D}"/>
              </a:ext>
            </a:extLst>
          </p:cNvPr>
          <p:cNvCxnSpPr/>
          <p:nvPr/>
        </p:nvCxnSpPr>
        <p:spPr>
          <a:xfrm>
            <a:off x="7845633" y="3445510"/>
            <a:ext cx="0" cy="275844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91810DF-6B49-4622-832C-4E67D6B3CF2F}"/>
              </a:ext>
            </a:extLst>
          </p:cNvPr>
          <p:cNvCxnSpPr/>
          <p:nvPr/>
        </p:nvCxnSpPr>
        <p:spPr>
          <a:xfrm>
            <a:off x="7495113" y="3445510"/>
            <a:ext cx="0" cy="275844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F39739B-6461-88BB-7716-A92DDAFAEA75}"/>
              </a:ext>
            </a:extLst>
          </p:cNvPr>
          <p:cNvSpPr txBox="1"/>
          <p:nvPr/>
        </p:nvSpPr>
        <p:spPr>
          <a:xfrm>
            <a:off x="3189813" y="4191427"/>
            <a:ext cx="1953687" cy="646331"/>
          </a:xfrm>
          <a:prstGeom prst="rect">
            <a:avLst/>
          </a:prstGeom>
          <a:noFill/>
        </p:spPr>
        <p:txBody>
          <a:bodyPr wrap="square" rtlCol="0">
            <a:spAutoFit/>
          </a:bodyPr>
          <a:lstStyle/>
          <a:p>
            <a:r>
              <a:rPr lang="zh-CN" altLang="en-US" b="1" dirty="0">
                <a:solidFill>
                  <a:srgbClr val="C00000"/>
                </a:solidFill>
              </a:rPr>
              <a:t>但是现实中的数据没有那么完美</a:t>
            </a:r>
          </a:p>
        </p:txBody>
      </p:sp>
    </p:spTree>
    <p:extLst>
      <p:ext uri="{BB962C8B-B14F-4D97-AF65-F5344CB8AC3E}">
        <p14:creationId xmlns:p14="http://schemas.microsoft.com/office/powerpoint/2010/main" val="1796396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分类问题举例 </a:t>
            </a:r>
            <a:r>
              <a:rPr lang="en-US" altLang="zh-CN" sz="3600" dirty="0"/>
              <a:t>Classification Problem</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19</a:t>
            </a:fld>
            <a:endParaRPr lang="zh-CN" altLang="en-US"/>
          </a:p>
        </p:txBody>
      </p:sp>
      <p:sp>
        <p:nvSpPr>
          <p:cNvPr id="3" name="文本框 2"/>
          <p:cNvSpPr txBox="1"/>
          <p:nvPr/>
        </p:nvSpPr>
        <p:spPr>
          <a:xfrm>
            <a:off x="838200" y="1506022"/>
            <a:ext cx="10515600" cy="3416320"/>
          </a:xfrm>
          <a:prstGeom prst="rect">
            <a:avLst/>
          </a:prstGeom>
          <a:noFill/>
        </p:spPr>
        <p:txBody>
          <a:bodyPr wrap="square" rtlCol="0">
            <a:spAutoFit/>
          </a:bodyPr>
          <a:lstStyle/>
          <a:p>
            <a:r>
              <a:rPr lang="zh-CN" altLang="en-US" b="1" dirty="0"/>
              <a:t>体温检测：</a:t>
            </a:r>
            <a:endParaRPr lang="en-US" altLang="zh-CN" b="1" dirty="0"/>
          </a:p>
          <a:p>
            <a:pPr marL="285750" indent="-285750">
              <a:buFont typeface="Arial" panose="020B0604020202020204" pitchFamily="34" charset="0"/>
              <a:buChar char="•"/>
            </a:pPr>
            <a:r>
              <a:rPr lang="zh-CN" altLang="en-US" dirty="0"/>
              <a:t>在现实中，我们一般认为体温</a:t>
            </a:r>
            <a:r>
              <a:rPr lang="en-US" altLang="zh-CN" dirty="0"/>
              <a:t>&gt;</a:t>
            </a:r>
            <a:r>
              <a:rPr lang="en-US" altLang="zh-CN" dirty="0" err="1"/>
              <a:t>37.3°C</a:t>
            </a:r>
            <a:r>
              <a:rPr lang="zh-CN" altLang="en-US" dirty="0"/>
              <a:t>就是发烧，那么这个临界温度是如何得到的呢？</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按照机器学习的思路建立模型：</a:t>
            </a:r>
            <a:endParaRPr lang="en-US" altLang="zh-CN" dirty="0"/>
          </a:p>
          <a:p>
            <a:pPr marL="285750" lvl="2" indent="-285750">
              <a:buFont typeface="Arial" panose="020B0604020202020204" pitchFamily="34" charset="0"/>
              <a:buChar char="•"/>
            </a:pPr>
            <a:r>
              <a:rPr lang="zh-CN" altLang="en-US" dirty="0"/>
              <a:t>现在有一些人的体温检测数据，每个样本有两个变量，体温值（</a:t>
            </a:r>
            <a:r>
              <a:rPr lang="en-US" altLang="zh-CN" dirty="0"/>
              <a:t>x</a:t>
            </a:r>
            <a:r>
              <a:rPr lang="zh-CN" altLang="en-US" dirty="0"/>
              <a:t>），是否生病（</a:t>
            </a:r>
            <a:r>
              <a:rPr lang="en-US" altLang="zh-CN" dirty="0"/>
              <a:t>y=0</a:t>
            </a:r>
            <a:r>
              <a:rPr lang="zh-CN" altLang="en-US" dirty="0"/>
              <a:t>或</a:t>
            </a:r>
            <a:r>
              <a:rPr lang="en-US" altLang="zh-CN" dirty="0"/>
              <a:t>1</a:t>
            </a:r>
            <a:r>
              <a:rPr lang="zh-CN" altLang="en-US" dirty="0"/>
              <a:t>）</a:t>
            </a:r>
            <a:endParaRPr lang="en-US" altLang="zh-CN" dirty="0"/>
          </a:p>
          <a:p>
            <a:pPr marL="285750" lvl="2" indent="-285750">
              <a:buFont typeface="Arial" panose="020B0604020202020204" pitchFamily="34" charset="0"/>
              <a:buChar char="•"/>
            </a:pPr>
            <a:endParaRPr lang="en-US" altLang="zh-CN" dirty="0"/>
          </a:p>
          <a:p>
            <a:pPr marL="285750" lvl="2"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现在的任务：建立一个模型，根据体温值来预测病人是否生病</a:t>
            </a:r>
            <a:endParaRPr lang="en-US" altLang="zh-CN" dirty="0"/>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endParaRPr lang="en-US" altLang="zh-CN" b="1" dirty="0"/>
          </a:p>
          <a:p>
            <a:endParaRPr lang="zh-CN" altLang="en-US" b="1" dirty="0"/>
          </a:p>
        </p:txBody>
      </p:sp>
      <p:graphicFrame>
        <p:nvGraphicFramePr>
          <p:cNvPr id="13" name="对象 12"/>
          <p:cNvGraphicFramePr>
            <a:graphicFrameLocks noChangeAspect="1"/>
          </p:cNvGraphicFramePr>
          <p:nvPr>
            <p:extLst>
              <p:ext uri="{D42A27DB-BD31-4B8C-83A1-F6EECF244321}">
                <p14:modId xmlns:p14="http://schemas.microsoft.com/office/powerpoint/2010/main" val="2625279464"/>
              </p:ext>
            </p:extLst>
          </p:nvPr>
        </p:nvGraphicFramePr>
        <p:xfrm>
          <a:off x="7817478" y="5488370"/>
          <a:ext cx="227013" cy="271463"/>
        </p:xfrm>
        <a:graphic>
          <a:graphicData uri="http://schemas.openxmlformats.org/presentationml/2006/ole">
            <mc:AlternateContent xmlns:mc="http://schemas.openxmlformats.org/markup-compatibility/2006">
              <mc:Choice xmlns:v="urn:schemas-microsoft-com:vml" Requires="v">
                <p:oleObj name="Equation" r:id="rId2" imgW="126720" imgH="139680" progId="Equation.DSMT4">
                  <p:embed/>
                </p:oleObj>
              </mc:Choice>
              <mc:Fallback>
                <p:oleObj name="Equation" r:id="rId2" imgW="126720" imgH="139680" progId="Equation.DSMT4">
                  <p:embed/>
                  <p:pic>
                    <p:nvPicPr>
                      <p:cNvPr id="45" name="对象 44"/>
                      <p:cNvPicPr/>
                      <p:nvPr/>
                    </p:nvPicPr>
                    <p:blipFill>
                      <a:blip r:embed="rId3"/>
                      <a:stretch>
                        <a:fillRect/>
                      </a:stretch>
                    </p:blipFill>
                    <p:spPr>
                      <a:xfrm>
                        <a:off x="7817478" y="5488370"/>
                        <a:ext cx="227013" cy="271463"/>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859350355"/>
              </p:ext>
            </p:extLst>
          </p:nvPr>
        </p:nvGraphicFramePr>
        <p:xfrm>
          <a:off x="9857581" y="5477422"/>
          <a:ext cx="249238" cy="320675"/>
        </p:xfrm>
        <a:graphic>
          <a:graphicData uri="http://schemas.openxmlformats.org/presentationml/2006/ole">
            <mc:AlternateContent xmlns:mc="http://schemas.openxmlformats.org/markup-compatibility/2006">
              <mc:Choice xmlns:v="urn:schemas-microsoft-com:vml" Requires="v">
                <p:oleObj name="Equation" r:id="rId4" imgW="139680" imgH="164880" progId="Equation.DSMT4">
                  <p:embed/>
                </p:oleObj>
              </mc:Choice>
              <mc:Fallback>
                <p:oleObj name="Equation" r:id="rId4" imgW="139680" imgH="164880" progId="Equation.DSMT4">
                  <p:embed/>
                  <p:pic>
                    <p:nvPicPr>
                      <p:cNvPr id="46" name="对象 45"/>
                      <p:cNvPicPr/>
                      <p:nvPr/>
                    </p:nvPicPr>
                    <p:blipFill>
                      <a:blip r:embed="rId5"/>
                      <a:stretch>
                        <a:fillRect/>
                      </a:stretch>
                    </p:blipFill>
                    <p:spPr>
                      <a:xfrm>
                        <a:off x="9857581" y="5477422"/>
                        <a:ext cx="249238" cy="320675"/>
                      </a:xfrm>
                      <a:prstGeom prst="rect">
                        <a:avLst/>
                      </a:prstGeom>
                    </p:spPr>
                  </p:pic>
                </p:oleObj>
              </mc:Fallback>
            </mc:AlternateContent>
          </a:graphicData>
        </a:graphic>
      </p:graphicFrame>
      <p:sp>
        <p:nvSpPr>
          <p:cNvPr id="15" name="矩形 14"/>
          <p:cNvSpPr/>
          <p:nvPr/>
        </p:nvSpPr>
        <p:spPr>
          <a:xfrm>
            <a:off x="8419877" y="5025473"/>
            <a:ext cx="1062317" cy="1197256"/>
          </a:xfrm>
          <a:prstGeom prst="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endCxn id="15" idx="1"/>
          </p:cNvCxnSpPr>
          <p:nvPr/>
        </p:nvCxnSpPr>
        <p:spPr>
          <a:xfrm>
            <a:off x="8115300" y="5624101"/>
            <a:ext cx="30457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9482194" y="5601782"/>
            <a:ext cx="30457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对象 19"/>
          <p:cNvGraphicFramePr>
            <a:graphicFrameLocks noChangeAspect="1"/>
          </p:cNvGraphicFramePr>
          <p:nvPr>
            <p:extLst>
              <p:ext uri="{D42A27DB-BD31-4B8C-83A1-F6EECF244321}">
                <p14:modId xmlns:p14="http://schemas.microsoft.com/office/powerpoint/2010/main" val="4089333708"/>
              </p:ext>
            </p:extLst>
          </p:nvPr>
        </p:nvGraphicFramePr>
        <p:xfrm>
          <a:off x="8610600" y="5363105"/>
          <a:ext cx="655638" cy="493712"/>
        </p:xfrm>
        <a:graphic>
          <a:graphicData uri="http://schemas.openxmlformats.org/presentationml/2006/ole">
            <mc:AlternateContent xmlns:mc="http://schemas.openxmlformats.org/markup-compatibility/2006">
              <mc:Choice xmlns:v="urn:schemas-microsoft-com:vml" Requires="v">
                <p:oleObj name="Equation" r:id="rId6" imgW="368280" imgH="253800" progId="Equation.DSMT4">
                  <p:embed/>
                </p:oleObj>
              </mc:Choice>
              <mc:Fallback>
                <p:oleObj name="Equation" r:id="rId6" imgW="368280" imgH="253800" progId="Equation.DSMT4">
                  <p:embed/>
                  <p:pic>
                    <p:nvPicPr>
                      <p:cNvPr id="48" name="对象 47"/>
                      <p:cNvPicPr/>
                      <p:nvPr/>
                    </p:nvPicPr>
                    <p:blipFill>
                      <a:blip r:embed="rId7"/>
                      <a:stretch>
                        <a:fillRect/>
                      </a:stretch>
                    </p:blipFill>
                    <p:spPr>
                      <a:xfrm>
                        <a:off x="8610600" y="5363105"/>
                        <a:ext cx="655638" cy="493712"/>
                      </a:xfrm>
                      <a:prstGeom prst="rect">
                        <a:avLst/>
                      </a:prstGeom>
                    </p:spPr>
                  </p:pic>
                </p:oleObj>
              </mc:Fallback>
            </mc:AlternateContent>
          </a:graphicData>
        </a:graphic>
      </p:graphicFrame>
    </p:spTree>
    <p:extLst>
      <p:ext uri="{BB962C8B-B14F-4D97-AF65-F5344CB8AC3E}">
        <p14:creationId xmlns:p14="http://schemas.microsoft.com/office/powerpoint/2010/main" val="2763705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20</a:t>
            </a:fld>
            <a:endParaRPr lang="zh-CN" altLang="en-US"/>
          </a:p>
        </p:txBody>
      </p:sp>
      <p:pic>
        <p:nvPicPr>
          <p:cNvPr id="5" name="图片 4">
            <a:extLst>
              <a:ext uri="{FF2B5EF4-FFF2-40B4-BE49-F238E27FC236}">
                <a16:creationId xmlns:a16="http://schemas.microsoft.com/office/drawing/2014/main" id="{53C82105-8EF6-4F8D-908B-A0B6C1E30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6972" y="2214197"/>
            <a:ext cx="2460284" cy="4271947"/>
          </a:xfrm>
          <a:prstGeom prst="rect">
            <a:avLst/>
          </a:prstGeom>
        </p:spPr>
      </p:pic>
      <p:sp>
        <p:nvSpPr>
          <p:cNvPr id="6" name="矩形 5"/>
          <p:cNvSpPr/>
          <p:nvPr/>
        </p:nvSpPr>
        <p:spPr>
          <a:xfrm>
            <a:off x="1729268" y="1567866"/>
            <a:ext cx="1962912" cy="646331"/>
          </a:xfrm>
          <a:prstGeom prst="rect">
            <a:avLst/>
          </a:prstGeom>
        </p:spPr>
        <p:txBody>
          <a:bodyPr wrap="square">
            <a:spAutoFit/>
          </a:bodyPr>
          <a:lstStyle/>
          <a:p>
            <a:pPr algn="ctr"/>
            <a:r>
              <a:rPr lang="zh-CN" altLang="en-US" b="1" dirty="0">
                <a:solidFill>
                  <a:srgbClr val="C00000"/>
                </a:solidFill>
              </a:rPr>
              <a:t>体温 </a:t>
            </a:r>
            <a:r>
              <a:rPr lang="en-US" altLang="zh-CN" b="1" dirty="0">
                <a:solidFill>
                  <a:srgbClr val="C00000"/>
                </a:solidFill>
              </a:rPr>
              <a:t>Temperature</a:t>
            </a:r>
            <a:endParaRPr lang="zh-CN" altLang="en-US" dirty="0">
              <a:solidFill>
                <a:srgbClr val="C00000"/>
              </a:solidFill>
            </a:endParaRPr>
          </a:p>
        </p:txBody>
      </p:sp>
      <p:sp>
        <p:nvSpPr>
          <p:cNvPr id="7" name="矩形 6"/>
          <p:cNvSpPr/>
          <p:nvPr/>
        </p:nvSpPr>
        <p:spPr>
          <a:xfrm>
            <a:off x="2895600" y="1567866"/>
            <a:ext cx="1962912" cy="646331"/>
          </a:xfrm>
          <a:prstGeom prst="rect">
            <a:avLst/>
          </a:prstGeom>
        </p:spPr>
        <p:txBody>
          <a:bodyPr wrap="square">
            <a:spAutoFit/>
          </a:bodyPr>
          <a:lstStyle/>
          <a:p>
            <a:pPr algn="ctr"/>
            <a:r>
              <a:rPr lang="zh-CN" altLang="en-US" b="1" dirty="0">
                <a:solidFill>
                  <a:srgbClr val="C00000"/>
                </a:solidFill>
              </a:rPr>
              <a:t>是否生病</a:t>
            </a:r>
            <a:endParaRPr lang="en-US" altLang="zh-CN" b="1" dirty="0">
              <a:solidFill>
                <a:srgbClr val="C00000"/>
              </a:solidFill>
            </a:endParaRPr>
          </a:p>
          <a:p>
            <a:pPr algn="ctr"/>
            <a:r>
              <a:rPr lang="en-US" altLang="zh-CN" b="1" dirty="0">
                <a:solidFill>
                  <a:srgbClr val="C00000"/>
                </a:solidFill>
              </a:rPr>
              <a:t>Illness</a:t>
            </a:r>
            <a:endParaRPr lang="zh-CN" altLang="en-US" b="1" dirty="0">
              <a:solidFill>
                <a:srgbClr val="C00000"/>
              </a:solidFill>
            </a:endParaRPr>
          </a:p>
        </p:txBody>
      </p:sp>
      <p:grpSp>
        <p:nvGrpSpPr>
          <p:cNvPr id="8" name="组合 7"/>
          <p:cNvGrpSpPr/>
          <p:nvPr/>
        </p:nvGrpSpPr>
        <p:grpSpPr>
          <a:xfrm>
            <a:off x="4858513" y="2773343"/>
            <a:ext cx="3752088" cy="2777354"/>
            <a:chOff x="13362912" y="688619"/>
            <a:chExt cx="10355385" cy="7028784"/>
          </a:xfrm>
        </p:grpSpPr>
        <p:grpSp>
          <p:nvGrpSpPr>
            <p:cNvPr id="9" name="组合 8">
              <a:extLst>
                <a:ext uri="{FF2B5EF4-FFF2-40B4-BE49-F238E27FC236}">
                  <a16:creationId xmlns:a16="http://schemas.microsoft.com/office/drawing/2014/main" id="{4AFFDC3F-21BA-4507-BE19-15BA1C3203C8}"/>
                </a:ext>
              </a:extLst>
            </p:cNvPr>
            <p:cNvGrpSpPr/>
            <p:nvPr/>
          </p:nvGrpSpPr>
          <p:grpSpPr>
            <a:xfrm>
              <a:off x="13362912" y="688619"/>
              <a:ext cx="10355385" cy="7028784"/>
              <a:chOff x="8872404" y="2473900"/>
              <a:chExt cx="10355385" cy="7028784"/>
            </a:xfrm>
          </p:grpSpPr>
          <p:pic>
            <p:nvPicPr>
              <p:cNvPr id="12" name="图片 11">
                <a:extLst>
                  <a:ext uri="{FF2B5EF4-FFF2-40B4-BE49-F238E27FC236}">
                    <a16:creationId xmlns:a16="http://schemas.microsoft.com/office/drawing/2014/main" id="{63585597-A80A-4F14-9F26-20069C258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404" y="2473900"/>
                <a:ext cx="10355385" cy="7028784"/>
              </a:xfrm>
              <a:prstGeom prst="rect">
                <a:avLst/>
              </a:prstGeom>
            </p:spPr>
          </p:pic>
          <p:cxnSp>
            <p:nvCxnSpPr>
              <p:cNvPr id="13" name="直接连接符 12">
                <a:extLst>
                  <a:ext uri="{FF2B5EF4-FFF2-40B4-BE49-F238E27FC236}">
                    <a16:creationId xmlns:a16="http://schemas.microsoft.com/office/drawing/2014/main" id="{AA505458-BF69-48CA-9762-81B3F6453003}"/>
                  </a:ext>
                </a:extLst>
              </p:cNvPr>
              <p:cNvCxnSpPr>
                <a:cxnSpLocks/>
              </p:cNvCxnSpPr>
              <p:nvPr/>
            </p:nvCxnSpPr>
            <p:spPr>
              <a:xfrm>
                <a:off x="12928600" y="2894234"/>
                <a:ext cx="0" cy="53307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E684BA56-9734-4040-B518-110716157968}"/>
                </a:ext>
              </a:extLst>
            </p:cNvPr>
            <p:cNvCxnSpPr>
              <a:cxnSpLocks/>
            </p:cNvCxnSpPr>
            <p:nvPr/>
          </p:nvCxnSpPr>
          <p:spPr>
            <a:xfrm>
              <a:off x="14435847" y="6439711"/>
              <a:ext cx="298326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50A684-0440-4D56-A85C-3EBAF1504B9E}"/>
                </a:ext>
              </a:extLst>
            </p:cNvPr>
            <p:cNvCxnSpPr>
              <a:cxnSpLocks/>
            </p:cNvCxnSpPr>
            <p:nvPr/>
          </p:nvCxnSpPr>
          <p:spPr>
            <a:xfrm>
              <a:off x="17419108" y="1108953"/>
              <a:ext cx="622299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4965192" y="2127010"/>
            <a:ext cx="4226870" cy="369332"/>
          </a:xfrm>
          <a:prstGeom prst="rect">
            <a:avLst/>
          </a:prstGeom>
          <a:noFill/>
        </p:spPr>
        <p:txBody>
          <a:bodyPr wrap="square" rtlCol="0">
            <a:spAutoFit/>
          </a:bodyPr>
          <a:lstStyle/>
          <a:p>
            <a:r>
              <a:rPr lang="zh-CN" altLang="en-US" b="1" dirty="0"/>
              <a:t>方案</a:t>
            </a:r>
            <a:r>
              <a:rPr lang="en-US" altLang="zh-CN" b="1" dirty="0"/>
              <a:t>1</a:t>
            </a:r>
            <a:r>
              <a:rPr lang="zh-CN" altLang="en-US" b="1" dirty="0"/>
              <a:t>：阶跃函数 </a:t>
            </a:r>
            <a:r>
              <a:rPr lang="en-US" altLang="zh-CN" b="1" dirty="0"/>
              <a:t>Step Function</a:t>
            </a:r>
            <a:endParaRPr lang="zh-CN" altLang="en-US" b="1" dirty="0"/>
          </a:p>
        </p:txBody>
      </p:sp>
    </p:spTree>
    <p:extLst>
      <p:ext uri="{BB962C8B-B14F-4D97-AF65-F5344CB8AC3E}">
        <p14:creationId xmlns:p14="http://schemas.microsoft.com/office/powerpoint/2010/main" val="3701019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21</a:t>
            </a:fld>
            <a:endParaRPr lang="zh-CN" altLang="en-US"/>
          </a:p>
        </p:txBody>
      </p:sp>
      <p:pic>
        <p:nvPicPr>
          <p:cNvPr id="5" name="图片 4">
            <a:extLst>
              <a:ext uri="{FF2B5EF4-FFF2-40B4-BE49-F238E27FC236}">
                <a16:creationId xmlns:a16="http://schemas.microsoft.com/office/drawing/2014/main" id="{53C82105-8EF6-4F8D-908B-A0B6C1E30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6972" y="2214197"/>
            <a:ext cx="2460284" cy="4271947"/>
          </a:xfrm>
          <a:prstGeom prst="rect">
            <a:avLst/>
          </a:prstGeom>
        </p:spPr>
      </p:pic>
      <p:sp>
        <p:nvSpPr>
          <p:cNvPr id="6" name="矩形 5"/>
          <p:cNvSpPr/>
          <p:nvPr/>
        </p:nvSpPr>
        <p:spPr>
          <a:xfrm>
            <a:off x="1729268" y="1567866"/>
            <a:ext cx="1962912" cy="646331"/>
          </a:xfrm>
          <a:prstGeom prst="rect">
            <a:avLst/>
          </a:prstGeom>
        </p:spPr>
        <p:txBody>
          <a:bodyPr wrap="square">
            <a:spAutoFit/>
          </a:bodyPr>
          <a:lstStyle/>
          <a:p>
            <a:pPr algn="ctr"/>
            <a:r>
              <a:rPr lang="zh-CN" altLang="en-US" b="1" dirty="0">
                <a:solidFill>
                  <a:srgbClr val="C00000"/>
                </a:solidFill>
              </a:rPr>
              <a:t>体温 </a:t>
            </a:r>
            <a:r>
              <a:rPr lang="en-US" altLang="zh-CN" b="1" dirty="0">
                <a:solidFill>
                  <a:srgbClr val="C00000"/>
                </a:solidFill>
              </a:rPr>
              <a:t>Temperature</a:t>
            </a:r>
            <a:endParaRPr lang="zh-CN" altLang="en-US" dirty="0">
              <a:solidFill>
                <a:srgbClr val="C00000"/>
              </a:solidFill>
            </a:endParaRPr>
          </a:p>
        </p:txBody>
      </p:sp>
      <p:sp>
        <p:nvSpPr>
          <p:cNvPr id="7" name="矩形 6"/>
          <p:cNvSpPr/>
          <p:nvPr/>
        </p:nvSpPr>
        <p:spPr>
          <a:xfrm>
            <a:off x="2895600" y="1567866"/>
            <a:ext cx="1962912" cy="646331"/>
          </a:xfrm>
          <a:prstGeom prst="rect">
            <a:avLst/>
          </a:prstGeom>
        </p:spPr>
        <p:txBody>
          <a:bodyPr wrap="square">
            <a:spAutoFit/>
          </a:bodyPr>
          <a:lstStyle/>
          <a:p>
            <a:pPr algn="ctr"/>
            <a:r>
              <a:rPr lang="zh-CN" altLang="en-US" b="1" dirty="0">
                <a:solidFill>
                  <a:srgbClr val="C00000"/>
                </a:solidFill>
              </a:rPr>
              <a:t>是否生病</a:t>
            </a:r>
            <a:endParaRPr lang="en-US" altLang="zh-CN" b="1" dirty="0">
              <a:solidFill>
                <a:srgbClr val="C00000"/>
              </a:solidFill>
            </a:endParaRPr>
          </a:p>
          <a:p>
            <a:pPr algn="ctr"/>
            <a:r>
              <a:rPr lang="en-US" altLang="zh-CN" b="1" dirty="0">
                <a:solidFill>
                  <a:srgbClr val="C00000"/>
                </a:solidFill>
              </a:rPr>
              <a:t>Illness</a:t>
            </a:r>
            <a:endParaRPr lang="zh-CN" altLang="en-US" b="1" dirty="0">
              <a:solidFill>
                <a:srgbClr val="C00000"/>
              </a:solidFill>
            </a:endParaRPr>
          </a:p>
        </p:txBody>
      </p:sp>
      <p:grpSp>
        <p:nvGrpSpPr>
          <p:cNvPr id="8" name="组合 7"/>
          <p:cNvGrpSpPr/>
          <p:nvPr/>
        </p:nvGrpSpPr>
        <p:grpSpPr>
          <a:xfrm>
            <a:off x="4626224" y="2239254"/>
            <a:ext cx="3752088" cy="2777354"/>
            <a:chOff x="13362912" y="688619"/>
            <a:chExt cx="10355385" cy="7028784"/>
          </a:xfrm>
        </p:grpSpPr>
        <p:grpSp>
          <p:nvGrpSpPr>
            <p:cNvPr id="9" name="组合 8">
              <a:extLst>
                <a:ext uri="{FF2B5EF4-FFF2-40B4-BE49-F238E27FC236}">
                  <a16:creationId xmlns:a16="http://schemas.microsoft.com/office/drawing/2014/main" id="{4AFFDC3F-21BA-4507-BE19-15BA1C3203C8}"/>
                </a:ext>
              </a:extLst>
            </p:cNvPr>
            <p:cNvGrpSpPr/>
            <p:nvPr/>
          </p:nvGrpSpPr>
          <p:grpSpPr>
            <a:xfrm>
              <a:off x="13362912" y="688619"/>
              <a:ext cx="10355385" cy="7028784"/>
              <a:chOff x="8872404" y="2473900"/>
              <a:chExt cx="10355385" cy="7028784"/>
            </a:xfrm>
          </p:grpSpPr>
          <p:pic>
            <p:nvPicPr>
              <p:cNvPr id="12" name="图片 11">
                <a:extLst>
                  <a:ext uri="{FF2B5EF4-FFF2-40B4-BE49-F238E27FC236}">
                    <a16:creationId xmlns:a16="http://schemas.microsoft.com/office/drawing/2014/main" id="{63585597-A80A-4F14-9F26-20069C258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404" y="2473900"/>
                <a:ext cx="10355385" cy="7028784"/>
              </a:xfrm>
              <a:prstGeom prst="rect">
                <a:avLst/>
              </a:prstGeom>
            </p:spPr>
          </p:pic>
          <p:cxnSp>
            <p:nvCxnSpPr>
              <p:cNvPr id="13" name="直接连接符 12">
                <a:extLst>
                  <a:ext uri="{FF2B5EF4-FFF2-40B4-BE49-F238E27FC236}">
                    <a16:creationId xmlns:a16="http://schemas.microsoft.com/office/drawing/2014/main" id="{AA505458-BF69-48CA-9762-81B3F6453003}"/>
                  </a:ext>
                </a:extLst>
              </p:cNvPr>
              <p:cNvCxnSpPr>
                <a:cxnSpLocks/>
              </p:cNvCxnSpPr>
              <p:nvPr/>
            </p:nvCxnSpPr>
            <p:spPr>
              <a:xfrm>
                <a:off x="12928600" y="2894234"/>
                <a:ext cx="0" cy="53307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E684BA56-9734-4040-B518-110716157968}"/>
                </a:ext>
              </a:extLst>
            </p:cNvPr>
            <p:cNvCxnSpPr>
              <a:cxnSpLocks/>
            </p:cNvCxnSpPr>
            <p:nvPr/>
          </p:nvCxnSpPr>
          <p:spPr>
            <a:xfrm>
              <a:off x="14435847" y="6439711"/>
              <a:ext cx="298326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50A684-0440-4D56-A85C-3EBAF1504B9E}"/>
                </a:ext>
              </a:extLst>
            </p:cNvPr>
            <p:cNvCxnSpPr>
              <a:cxnSpLocks/>
            </p:cNvCxnSpPr>
            <p:nvPr/>
          </p:nvCxnSpPr>
          <p:spPr>
            <a:xfrm>
              <a:off x="17419108" y="1108953"/>
              <a:ext cx="622299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5326705" y="5155048"/>
            <a:ext cx="4226870" cy="369332"/>
          </a:xfrm>
          <a:prstGeom prst="rect">
            <a:avLst/>
          </a:prstGeom>
          <a:noFill/>
        </p:spPr>
        <p:txBody>
          <a:bodyPr wrap="square" rtlCol="0">
            <a:spAutoFit/>
          </a:bodyPr>
          <a:lstStyle/>
          <a:p>
            <a:r>
              <a:rPr lang="zh-CN" altLang="en-US" b="1" dirty="0"/>
              <a:t>阶跃函数 </a:t>
            </a:r>
            <a:r>
              <a:rPr lang="en-US" altLang="zh-CN" b="1" dirty="0"/>
              <a:t>Step Function</a:t>
            </a:r>
            <a:endParaRPr lang="zh-CN" altLang="en-US" b="1" dirty="0"/>
          </a:p>
        </p:txBody>
      </p:sp>
      <p:graphicFrame>
        <p:nvGraphicFramePr>
          <p:cNvPr id="15" name="对象 14">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3309859747"/>
              </p:ext>
            </p:extLst>
          </p:nvPr>
        </p:nvGraphicFramePr>
        <p:xfrm>
          <a:off x="9172575" y="2654300"/>
          <a:ext cx="1897063" cy="798513"/>
        </p:xfrm>
        <a:graphic>
          <a:graphicData uri="http://schemas.openxmlformats.org/presentationml/2006/ole">
            <mc:AlternateContent xmlns:mc="http://schemas.openxmlformats.org/markup-compatibility/2006">
              <mc:Choice xmlns:v="urn:schemas-microsoft-com:vml" Requires="v">
                <p:oleObj name="Equation" r:id="rId4" imgW="1130040" imgH="482400" progId="Equation.DSMT4">
                  <p:embed/>
                </p:oleObj>
              </mc:Choice>
              <mc:Fallback>
                <p:oleObj name="Equation" r:id="rId4" imgW="1130040" imgH="482400" progId="Equation.DSMT4">
                  <p:embed/>
                  <p:pic>
                    <p:nvPicPr>
                      <p:cNvPr id="10" name="对象 9">
                        <a:extLst>
                          <a:ext uri="{FF2B5EF4-FFF2-40B4-BE49-F238E27FC236}">
                            <a16:creationId xmlns:a16="http://schemas.microsoft.com/office/drawing/2014/main" id="{EEABB904-9AD6-41E0-AAE3-6AF2A9716949}"/>
                          </a:ext>
                        </a:extLst>
                      </p:cNvPr>
                      <p:cNvPicPr>
                        <a:picLocks noChangeAspect="1" noChangeArrowheads="1"/>
                      </p:cNvPicPr>
                      <p:nvPr/>
                    </p:nvPicPr>
                    <p:blipFill>
                      <a:blip r:embed="rId5"/>
                      <a:srcRect/>
                      <a:stretch>
                        <a:fillRect/>
                      </a:stretch>
                    </p:blipFill>
                    <p:spPr bwMode="auto">
                      <a:xfrm>
                        <a:off x="9172575" y="2654300"/>
                        <a:ext cx="1897063" cy="798513"/>
                      </a:xfrm>
                      <a:prstGeom prst="rect">
                        <a:avLst/>
                      </a:prstGeom>
                      <a:noFill/>
                    </p:spPr>
                  </p:pic>
                </p:oleObj>
              </mc:Fallback>
            </mc:AlternateContent>
          </a:graphicData>
        </a:graphic>
      </p:graphicFrame>
      <p:sp>
        <p:nvSpPr>
          <p:cNvPr id="16" name="文本框 15"/>
          <p:cNvSpPr txBox="1"/>
          <p:nvPr/>
        </p:nvSpPr>
        <p:spPr>
          <a:xfrm>
            <a:off x="8717281" y="2214197"/>
            <a:ext cx="3292768" cy="369332"/>
          </a:xfrm>
          <a:prstGeom prst="rect">
            <a:avLst/>
          </a:prstGeom>
          <a:noFill/>
        </p:spPr>
        <p:txBody>
          <a:bodyPr wrap="square" rtlCol="0">
            <a:spAutoFit/>
          </a:bodyPr>
          <a:lstStyle/>
          <a:p>
            <a:r>
              <a:rPr lang="zh-CN" altLang="en-US" dirty="0"/>
              <a:t>① 决策函数 </a:t>
            </a:r>
            <a:r>
              <a:rPr lang="en-US" altLang="zh-CN" dirty="0"/>
              <a:t>Decision Function</a:t>
            </a:r>
            <a:endParaRPr lang="zh-CN" altLang="en-US" dirty="0"/>
          </a:p>
        </p:txBody>
      </p:sp>
      <p:sp>
        <p:nvSpPr>
          <p:cNvPr id="17" name="矩形 16"/>
          <p:cNvSpPr/>
          <p:nvPr/>
        </p:nvSpPr>
        <p:spPr>
          <a:xfrm>
            <a:off x="8717281" y="3955538"/>
            <a:ext cx="3024544" cy="369332"/>
          </a:xfrm>
          <a:prstGeom prst="rect">
            <a:avLst/>
          </a:prstGeom>
        </p:spPr>
        <p:txBody>
          <a:bodyPr wrap="square">
            <a:spAutoFit/>
          </a:bodyPr>
          <a:lstStyle/>
          <a:p>
            <a:r>
              <a:rPr lang="zh-CN" altLang="en-US" dirty="0"/>
              <a:t>② 损失函数 </a:t>
            </a:r>
            <a:r>
              <a:rPr lang="en-US" altLang="zh-CN" dirty="0"/>
              <a:t>Loss Function</a:t>
            </a:r>
            <a:endParaRPr lang="zh-CN" altLang="en-US" dirty="0"/>
          </a:p>
        </p:txBody>
      </p:sp>
      <p:sp>
        <p:nvSpPr>
          <p:cNvPr id="18" name="矩形 17"/>
          <p:cNvSpPr/>
          <p:nvPr/>
        </p:nvSpPr>
        <p:spPr>
          <a:xfrm>
            <a:off x="8717281" y="4940189"/>
            <a:ext cx="2805088" cy="369332"/>
          </a:xfrm>
          <a:prstGeom prst="rect">
            <a:avLst/>
          </a:prstGeom>
        </p:spPr>
        <p:txBody>
          <a:bodyPr wrap="square">
            <a:spAutoFit/>
          </a:bodyPr>
          <a:lstStyle/>
          <a:p>
            <a:r>
              <a:rPr lang="zh-CN" altLang="en-US" dirty="0"/>
              <a:t>③ 目标 </a:t>
            </a:r>
            <a:r>
              <a:rPr lang="en-US" altLang="zh-CN" dirty="0"/>
              <a:t>Objective	</a:t>
            </a:r>
            <a:endParaRPr lang="zh-CN" altLang="en-US" dirty="0"/>
          </a:p>
        </p:txBody>
      </p:sp>
      <p:graphicFrame>
        <p:nvGraphicFramePr>
          <p:cNvPr id="19" name="对象 18">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311917956"/>
              </p:ext>
            </p:extLst>
          </p:nvPr>
        </p:nvGraphicFramePr>
        <p:xfrm>
          <a:off x="9110663" y="4392613"/>
          <a:ext cx="1601787" cy="415925"/>
        </p:xfrm>
        <a:graphic>
          <a:graphicData uri="http://schemas.openxmlformats.org/presentationml/2006/ole">
            <mc:AlternateContent xmlns:mc="http://schemas.openxmlformats.org/markup-compatibility/2006">
              <mc:Choice xmlns:v="urn:schemas-microsoft-com:vml" Requires="v">
                <p:oleObj name="Equation" r:id="rId6" imgW="965160" imgH="253800" progId="Equation.DSMT4">
                  <p:embed/>
                </p:oleObj>
              </mc:Choice>
              <mc:Fallback>
                <p:oleObj name="Equation" r:id="rId6" imgW="965160" imgH="253800" progId="Equation.DSMT4">
                  <p:embed/>
                  <p:pic>
                    <p:nvPicPr>
                      <p:cNvPr id="6" name="对象 5">
                        <a:extLst>
                          <a:ext uri="{FF2B5EF4-FFF2-40B4-BE49-F238E27FC236}">
                            <a16:creationId xmlns:a16="http://schemas.microsoft.com/office/drawing/2014/main" id="{EEABB904-9AD6-41E0-AAE3-6AF2A9716949}"/>
                          </a:ext>
                        </a:extLst>
                      </p:cNvPr>
                      <p:cNvPicPr>
                        <a:picLocks noChangeAspect="1" noChangeArrowheads="1"/>
                      </p:cNvPicPr>
                      <p:nvPr/>
                    </p:nvPicPr>
                    <p:blipFill>
                      <a:blip r:embed="rId7"/>
                      <a:srcRect/>
                      <a:stretch>
                        <a:fillRect/>
                      </a:stretch>
                    </p:blipFill>
                    <p:spPr bwMode="auto">
                      <a:xfrm>
                        <a:off x="9110663" y="4392613"/>
                        <a:ext cx="1601787" cy="415925"/>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1754506985"/>
              </p:ext>
            </p:extLst>
          </p:nvPr>
        </p:nvGraphicFramePr>
        <p:xfrm>
          <a:off x="9082044" y="5334167"/>
          <a:ext cx="2075561" cy="675673"/>
        </p:xfrm>
        <a:graphic>
          <a:graphicData uri="http://schemas.openxmlformats.org/presentationml/2006/ole">
            <mc:AlternateContent xmlns:mc="http://schemas.openxmlformats.org/markup-compatibility/2006">
              <mc:Choice xmlns:v="urn:schemas-microsoft-com:vml" Requires="v">
                <p:oleObj name="Equation" r:id="rId8" imgW="1307880" imgH="431640" progId="Equation.DSMT4">
                  <p:embed/>
                </p:oleObj>
              </mc:Choice>
              <mc:Fallback>
                <p:oleObj name="Equation" r:id="rId8" imgW="1307880" imgH="431640" progId="Equation.DSMT4">
                  <p:embed/>
                  <p:pic>
                    <p:nvPicPr>
                      <p:cNvPr id="9" name="对象 8">
                        <a:extLst>
                          <a:ext uri="{FF2B5EF4-FFF2-40B4-BE49-F238E27FC236}">
                            <a16:creationId xmlns:a16="http://schemas.microsoft.com/office/drawing/2014/main" id="{EEABB904-9AD6-41E0-AAE3-6AF2A9716949}"/>
                          </a:ext>
                        </a:extLst>
                      </p:cNvPr>
                      <p:cNvPicPr>
                        <a:picLocks noChangeAspect="1" noChangeArrowheads="1"/>
                      </p:cNvPicPr>
                      <p:nvPr/>
                    </p:nvPicPr>
                    <p:blipFill>
                      <a:blip r:embed="rId9"/>
                      <a:srcRect/>
                      <a:stretch>
                        <a:fillRect/>
                      </a:stretch>
                    </p:blipFill>
                    <p:spPr bwMode="auto">
                      <a:xfrm>
                        <a:off x="9082044" y="5334167"/>
                        <a:ext cx="2075561" cy="675673"/>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2591258908"/>
              </p:ext>
            </p:extLst>
          </p:nvPr>
        </p:nvGraphicFramePr>
        <p:xfrm>
          <a:off x="9237663" y="3452813"/>
          <a:ext cx="315912" cy="433387"/>
        </p:xfrm>
        <a:graphic>
          <a:graphicData uri="http://schemas.openxmlformats.org/presentationml/2006/ole">
            <mc:AlternateContent xmlns:mc="http://schemas.openxmlformats.org/markup-compatibility/2006">
              <mc:Choice xmlns:v="urn:schemas-microsoft-com:vml" Requires="v">
                <p:oleObj name="Equation" r:id="rId10" imgW="164880" imgH="228600" progId="Equation.DSMT4">
                  <p:embed/>
                </p:oleObj>
              </mc:Choice>
              <mc:Fallback>
                <p:oleObj name="Equation" r:id="rId10" imgW="164880" imgH="228600" progId="Equation.DSMT4">
                  <p:embed/>
                  <p:pic>
                    <p:nvPicPr>
                      <p:cNvPr id="10" name="对象 9">
                        <a:extLst>
                          <a:ext uri="{FF2B5EF4-FFF2-40B4-BE49-F238E27FC236}">
                            <a16:creationId xmlns:a16="http://schemas.microsoft.com/office/drawing/2014/main" id="{EEABB904-9AD6-41E0-AAE3-6AF2A9716949}"/>
                          </a:ext>
                        </a:extLst>
                      </p:cNvPr>
                      <p:cNvPicPr>
                        <a:picLocks noChangeAspect="1" noChangeArrowheads="1"/>
                      </p:cNvPicPr>
                      <p:nvPr/>
                    </p:nvPicPr>
                    <p:blipFill>
                      <a:blip r:embed="rId11"/>
                      <a:srcRect/>
                      <a:stretch>
                        <a:fillRect/>
                      </a:stretch>
                    </p:blipFill>
                    <p:spPr bwMode="auto">
                      <a:xfrm>
                        <a:off x="9237663" y="3452813"/>
                        <a:ext cx="315912" cy="433387"/>
                      </a:xfrm>
                      <a:prstGeom prst="rect">
                        <a:avLst/>
                      </a:prstGeom>
                      <a:noFill/>
                    </p:spPr>
                  </p:pic>
                </p:oleObj>
              </mc:Fallback>
            </mc:AlternateContent>
          </a:graphicData>
        </a:graphic>
      </p:graphicFrame>
      <p:sp>
        <p:nvSpPr>
          <p:cNvPr id="22" name="矩形 21"/>
          <p:cNvSpPr/>
          <p:nvPr/>
        </p:nvSpPr>
        <p:spPr>
          <a:xfrm>
            <a:off x="9399873" y="3493294"/>
            <a:ext cx="2319866" cy="369332"/>
          </a:xfrm>
          <a:prstGeom prst="rect">
            <a:avLst/>
          </a:prstGeom>
        </p:spPr>
        <p:txBody>
          <a:bodyPr wrap="none">
            <a:spAutoFit/>
          </a:bodyPr>
          <a:lstStyle/>
          <a:p>
            <a:r>
              <a:rPr lang="zh-CN" altLang="en-US" b="1" dirty="0"/>
              <a:t>临界生病体温 </a:t>
            </a:r>
            <a:r>
              <a:rPr lang="en-US" altLang="zh-CN" b="1" dirty="0"/>
              <a:t>Bound</a:t>
            </a:r>
            <a:endParaRPr lang="zh-CN" altLang="en-US" b="1" dirty="0"/>
          </a:p>
        </p:txBody>
      </p:sp>
    </p:spTree>
    <p:extLst>
      <p:ext uri="{BB962C8B-B14F-4D97-AF65-F5344CB8AC3E}">
        <p14:creationId xmlns:p14="http://schemas.microsoft.com/office/powerpoint/2010/main" val="2868056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22</a:t>
            </a:fld>
            <a:endParaRPr lang="zh-CN" altLang="en-US"/>
          </a:p>
        </p:txBody>
      </p:sp>
      <p:pic>
        <p:nvPicPr>
          <p:cNvPr id="5" name="图片 4">
            <a:extLst>
              <a:ext uri="{FF2B5EF4-FFF2-40B4-BE49-F238E27FC236}">
                <a16:creationId xmlns:a16="http://schemas.microsoft.com/office/drawing/2014/main" id="{53C82105-8EF6-4F8D-908B-A0B6C1E30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6972" y="2214197"/>
            <a:ext cx="2460284" cy="4271947"/>
          </a:xfrm>
          <a:prstGeom prst="rect">
            <a:avLst/>
          </a:prstGeom>
        </p:spPr>
      </p:pic>
      <p:sp>
        <p:nvSpPr>
          <p:cNvPr id="6" name="矩形 5"/>
          <p:cNvSpPr/>
          <p:nvPr/>
        </p:nvSpPr>
        <p:spPr>
          <a:xfrm>
            <a:off x="1729268" y="1567866"/>
            <a:ext cx="1962912" cy="646331"/>
          </a:xfrm>
          <a:prstGeom prst="rect">
            <a:avLst/>
          </a:prstGeom>
        </p:spPr>
        <p:txBody>
          <a:bodyPr wrap="square">
            <a:spAutoFit/>
          </a:bodyPr>
          <a:lstStyle/>
          <a:p>
            <a:pPr algn="ctr"/>
            <a:r>
              <a:rPr lang="zh-CN" altLang="en-US" b="1" dirty="0">
                <a:solidFill>
                  <a:srgbClr val="C00000"/>
                </a:solidFill>
              </a:rPr>
              <a:t>体温 </a:t>
            </a:r>
            <a:r>
              <a:rPr lang="en-US" altLang="zh-CN" b="1" dirty="0">
                <a:solidFill>
                  <a:srgbClr val="C00000"/>
                </a:solidFill>
              </a:rPr>
              <a:t>Temperature</a:t>
            </a:r>
            <a:endParaRPr lang="zh-CN" altLang="en-US" dirty="0">
              <a:solidFill>
                <a:srgbClr val="C00000"/>
              </a:solidFill>
            </a:endParaRPr>
          </a:p>
        </p:txBody>
      </p:sp>
      <p:sp>
        <p:nvSpPr>
          <p:cNvPr id="7" name="矩形 6"/>
          <p:cNvSpPr/>
          <p:nvPr/>
        </p:nvSpPr>
        <p:spPr>
          <a:xfrm>
            <a:off x="2895600" y="1567866"/>
            <a:ext cx="1962912" cy="646331"/>
          </a:xfrm>
          <a:prstGeom prst="rect">
            <a:avLst/>
          </a:prstGeom>
        </p:spPr>
        <p:txBody>
          <a:bodyPr wrap="square">
            <a:spAutoFit/>
          </a:bodyPr>
          <a:lstStyle/>
          <a:p>
            <a:pPr algn="ctr"/>
            <a:r>
              <a:rPr lang="zh-CN" altLang="en-US" b="1" dirty="0">
                <a:solidFill>
                  <a:srgbClr val="C00000"/>
                </a:solidFill>
              </a:rPr>
              <a:t>是否生病</a:t>
            </a:r>
            <a:endParaRPr lang="en-US" altLang="zh-CN" b="1" dirty="0">
              <a:solidFill>
                <a:srgbClr val="C00000"/>
              </a:solidFill>
            </a:endParaRPr>
          </a:p>
          <a:p>
            <a:pPr algn="ctr"/>
            <a:r>
              <a:rPr lang="en-US" altLang="zh-CN" b="1" dirty="0">
                <a:solidFill>
                  <a:srgbClr val="C00000"/>
                </a:solidFill>
              </a:rPr>
              <a:t>Illness</a:t>
            </a:r>
            <a:endParaRPr lang="zh-CN" altLang="en-US" b="1" dirty="0">
              <a:solidFill>
                <a:srgbClr val="C00000"/>
              </a:solidFill>
            </a:endParaRPr>
          </a:p>
        </p:txBody>
      </p:sp>
      <p:grpSp>
        <p:nvGrpSpPr>
          <p:cNvPr id="8" name="组合 7"/>
          <p:cNvGrpSpPr/>
          <p:nvPr/>
        </p:nvGrpSpPr>
        <p:grpSpPr>
          <a:xfrm>
            <a:off x="4626224" y="2239254"/>
            <a:ext cx="3752088" cy="2777354"/>
            <a:chOff x="13362912" y="688619"/>
            <a:chExt cx="10355385" cy="7028784"/>
          </a:xfrm>
        </p:grpSpPr>
        <p:grpSp>
          <p:nvGrpSpPr>
            <p:cNvPr id="9" name="组合 8">
              <a:extLst>
                <a:ext uri="{FF2B5EF4-FFF2-40B4-BE49-F238E27FC236}">
                  <a16:creationId xmlns:a16="http://schemas.microsoft.com/office/drawing/2014/main" id="{4AFFDC3F-21BA-4507-BE19-15BA1C3203C8}"/>
                </a:ext>
              </a:extLst>
            </p:cNvPr>
            <p:cNvGrpSpPr/>
            <p:nvPr/>
          </p:nvGrpSpPr>
          <p:grpSpPr>
            <a:xfrm>
              <a:off x="13362912" y="688619"/>
              <a:ext cx="10355385" cy="7028784"/>
              <a:chOff x="8872404" y="2473900"/>
              <a:chExt cx="10355385" cy="7028784"/>
            </a:xfrm>
          </p:grpSpPr>
          <p:pic>
            <p:nvPicPr>
              <p:cNvPr id="12" name="图片 11">
                <a:extLst>
                  <a:ext uri="{FF2B5EF4-FFF2-40B4-BE49-F238E27FC236}">
                    <a16:creationId xmlns:a16="http://schemas.microsoft.com/office/drawing/2014/main" id="{63585597-A80A-4F14-9F26-20069C258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404" y="2473900"/>
                <a:ext cx="10355385" cy="7028784"/>
              </a:xfrm>
              <a:prstGeom prst="rect">
                <a:avLst/>
              </a:prstGeom>
            </p:spPr>
          </p:pic>
          <p:cxnSp>
            <p:nvCxnSpPr>
              <p:cNvPr id="13" name="直接连接符 12">
                <a:extLst>
                  <a:ext uri="{FF2B5EF4-FFF2-40B4-BE49-F238E27FC236}">
                    <a16:creationId xmlns:a16="http://schemas.microsoft.com/office/drawing/2014/main" id="{AA505458-BF69-48CA-9762-81B3F6453003}"/>
                  </a:ext>
                </a:extLst>
              </p:cNvPr>
              <p:cNvCxnSpPr>
                <a:cxnSpLocks/>
              </p:cNvCxnSpPr>
              <p:nvPr/>
            </p:nvCxnSpPr>
            <p:spPr>
              <a:xfrm>
                <a:off x="12928600" y="2894234"/>
                <a:ext cx="0" cy="53307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E684BA56-9734-4040-B518-110716157968}"/>
                </a:ext>
              </a:extLst>
            </p:cNvPr>
            <p:cNvCxnSpPr>
              <a:cxnSpLocks/>
            </p:cNvCxnSpPr>
            <p:nvPr/>
          </p:nvCxnSpPr>
          <p:spPr>
            <a:xfrm>
              <a:off x="14435847" y="6439711"/>
              <a:ext cx="298326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50A684-0440-4D56-A85C-3EBAF1504B9E}"/>
                </a:ext>
              </a:extLst>
            </p:cNvPr>
            <p:cNvCxnSpPr>
              <a:cxnSpLocks/>
            </p:cNvCxnSpPr>
            <p:nvPr/>
          </p:nvCxnSpPr>
          <p:spPr>
            <a:xfrm>
              <a:off x="17419108" y="1108953"/>
              <a:ext cx="622299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5326705" y="5155048"/>
            <a:ext cx="4226870" cy="369332"/>
          </a:xfrm>
          <a:prstGeom prst="rect">
            <a:avLst/>
          </a:prstGeom>
          <a:noFill/>
        </p:spPr>
        <p:txBody>
          <a:bodyPr wrap="square" rtlCol="0">
            <a:spAutoFit/>
          </a:bodyPr>
          <a:lstStyle/>
          <a:p>
            <a:r>
              <a:rPr lang="zh-CN" altLang="en-US" b="1" dirty="0"/>
              <a:t>阶跃函数 </a:t>
            </a:r>
            <a:r>
              <a:rPr lang="en-US" altLang="zh-CN" b="1" dirty="0"/>
              <a:t>Step Function</a:t>
            </a:r>
            <a:endParaRPr lang="zh-CN" altLang="en-US" b="1" dirty="0"/>
          </a:p>
        </p:txBody>
      </p:sp>
      <p:graphicFrame>
        <p:nvGraphicFramePr>
          <p:cNvPr id="15" name="对象 14">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172575" y="2654300"/>
          <a:ext cx="1897063" cy="798513"/>
        </p:xfrm>
        <a:graphic>
          <a:graphicData uri="http://schemas.openxmlformats.org/presentationml/2006/ole">
            <mc:AlternateContent xmlns:mc="http://schemas.openxmlformats.org/markup-compatibility/2006">
              <mc:Choice xmlns:v="urn:schemas-microsoft-com:vml" Requires="v">
                <p:oleObj name="Equation" r:id="rId4" imgW="1130040" imgH="482400" progId="Equation.DSMT4">
                  <p:embed/>
                </p:oleObj>
              </mc:Choice>
              <mc:Fallback>
                <p:oleObj name="Equation" r:id="rId4" imgW="1130040" imgH="482400" progId="Equation.DSMT4">
                  <p:embed/>
                  <p:pic>
                    <p:nvPicPr>
                      <p:cNvPr id="15" name="对象 14">
                        <a:extLst>
                          <a:ext uri="{FF2B5EF4-FFF2-40B4-BE49-F238E27FC236}">
                            <a16:creationId xmlns:a16="http://schemas.microsoft.com/office/drawing/2014/main" id="{EEABB904-9AD6-41E0-AAE3-6AF2A9716949}"/>
                          </a:ext>
                        </a:extLst>
                      </p:cNvPr>
                      <p:cNvPicPr>
                        <a:picLocks noChangeAspect="1" noChangeArrowheads="1"/>
                      </p:cNvPicPr>
                      <p:nvPr/>
                    </p:nvPicPr>
                    <p:blipFill>
                      <a:blip r:embed="rId5"/>
                      <a:srcRect/>
                      <a:stretch>
                        <a:fillRect/>
                      </a:stretch>
                    </p:blipFill>
                    <p:spPr bwMode="auto">
                      <a:xfrm>
                        <a:off x="9172575" y="2654300"/>
                        <a:ext cx="1897063" cy="798513"/>
                      </a:xfrm>
                      <a:prstGeom prst="rect">
                        <a:avLst/>
                      </a:prstGeom>
                      <a:noFill/>
                    </p:spPr>
                  </p:pic>
                </p:oleObj>
              </mc:Fallback>
            </mc:AlternateContent>
          </a:graphicData>
        </a:graphic>
      </p:graphicFrame>
      <p:sp>
        <p:nvSpPr>
          <p:cNvPr id="16" name="文本框 15"/>
          <p:cNvSpPr txBox="1"/>
          <p:nvPr/>
        </p:nvSpPr>
        <p:spPr>
          <a:xfrm>
            <a:off x="8717281" y="2214197"/>
            <a:ext cx="3292768" cy="369332"/>
          </a:xfrm>
          <a:prstGeom prst="rect">
            <a:avLst/>
          </a:prstGeom>
          <a:noFill/>
        </p:spPr>
        <p:txBody>
          <a:bodyPr wrap="square" rtlCol="0">
            <a:spAutoFit/>
          </a:bodyPr>
          <a:lstStyle/>
          <a:p>
            <a:r>
              <a:rPr lang="zh-CN" altLang="en-US" dirty="0"/>
              <a:t>① 决策函数 </a:t>
            </a:r>
            <a:r>
              <a:rPr lang="en-US" altLang="zh-CN" dirty="0"/>
              <a:t>Decision Function</a:t>
            </a:r>
            <a:endParaRPr lang="zh-CN" altLang="en-US" dirty="0"/>
          </a:p>
        </p:txBody>
      </p:sp>
      <p:sp>
        <p:nvSpPr>
          <p:cNvPr id="17" name="矩形 16"/>
          <p:cNvSpPr/>
          <p:nvPr/>
        </p:nvSpPr>
        <p:spPr>
          <a:xfrm>
            <a:off x="8717281" y="3955538"/>
            <a:ext cx="3024544" cy="369332"/>
          </a:xfrm>
          <a:prstGeom prst="rect">
            <a:avLst/>
          </a:prstGeom>
        </p:spPr>
        <p:txBody>
          <a:bodyPr wrap="square">
            <a:spAutoFit/>
          </a:bodyPr>
          <a:lstStyle/>
          <a:p>
            <a:r>
              <a:rPr lang="zh-CN" altLang="en-US" dirty="0"/>
              <a:t>② 损失函数 </a:t>
            </a:r>
            <a:r>
              <a:rPr lang="en-US" altLang="zh-CN" dirty="0"/>
              <a:t>Loss Function</a:t>
            </a:r>
            <a:endParaRPr lang="zh-CN" altLang="en-US" dirty="0"/>
          </a:p>
        </p:txBody>
      </p:sp>
      <p:sp>
        <p:nvSpPr>
          <p:cNvPr id="18" name="矩形 17"/>
          <p:cNvSpPr/>
          <p:nvPr/>
        </p:nvSpPr>
        <p:spPr>
          <a:xfrm>
            <a:off x="8717281" y="4940189"/>
            <a:ext cx="2805088" cy="369332"/>
          </a:xfrm>
          <a:prstGeom prst="rect">
            <a:avLst/>
          </a:prstGeom>
        </p:spPr>
        <p:txBody>
          <a:bodyPr wrap="square">
            <a:spAutoFit/>
          </a:bodyPr>
          <a:lstStyle/>
          <a:p>
            <a:r>
              <a:rPr lang="zh-CN" altLang="en-US" dirty="0"/>
              <a:t>③ 目标 </a:t>
            </a:r>
            <a:r>
              <a:rPr lang="en-US" altLang="zh-CN" dirty="0"/>
              <a:t>Objective	</a:t>
            </a:r>
            <a:endParaRPr lang="zh-CN" altLang="en-US" dirty="0"/>
          </a:p>
        </p:txBody>
      </p:sp>
      <p:graphicFrame>
        <p:nvGraphicFramePr>
          <p:cNvPr id="19" name="对象 18">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110663" y="4392613"/>
          <a:ext cx="1601787" cy="415925"/>
        </p:xfrm>
        <a:graphic>
          <a:graphicData uri="http://schemas.openxmlformats.org/presentationml/2006/ole">
            <mc:AlternateContent xmlns:mc="http://schemas.openxmlformats.org/markup-compatibility/2006">
              <mc:Choice xmlns:v="urn:schemas-microsoft-com:vml" Requires="v">
                <p:oleObj name="Equation" r:id="rId6" imgW="965160" imgH="253800" progId="Equation.DSMT4">
                  <p:embed/>
                </p:oleObj>
              </mc:Choice>
              <mc:Fallback>
                <p:oleObj name="Equation" r:id="rId6" imgW="965160" imgH="253800" progId="Equation.DSMT4">
                  <p:embed/>
                  <p:pic>
                    <p:nvPicPr>
                      <p:cNvPr id="19" name="对象 18">
                        <a:extLst>
                          <a:ext uri="{FF2B5EF4-FFF2-40B4-BE49-F238E27FC236}">
                            <a16:creationId xmlns:a16="http://schemas.microsoft.com/office/drawing/2014/main" id="{EEABB904-9AD6-41E0-AAE3-6AF2A9716949}"/>
                          </a:ext>
                        </a:extLst>
                      </p:cNvPr>
                      <p:cNvPicPr>
                        <a:picLocks noChangeAspect="1" noChangeArrowheads="1"/>
                      </p:cNvPicPr>
                      <p:nvPr/>
                    </p:nvPicPr>
                    <p:blipFill>
                      <a:blip r:embed="rId7"/>
                      <a:srcRect/>
                      <a:stretch>
                        <a:fillRect/>
                      </a:stretch>
                    </p:blipFill>
                    <p:spPr bwMode="auto">
                      <a:xfrm>
                        <a:off x="9110663" y="4392613"/>
                        <a:ext cx="1601787" cy="415925"/>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082044" y="5334167"/>
          <a:ext cx="2075561" cy="675673"/>
        </p:xfrm>
        <a:graphic>
          <a:graphicData uri="http://schemas.openxmlformats.org/presentationml/2006/ole">
            <mc:AlternateContent xmlns:mc="http://schemas.openxmlformats.org/markup-compatibility/2006">
              <mc:Choice xmlns:v="urn:schemas-microsoft-com:vml" Requires="v">
                <p:oleObj name="Equation" r:id="rId8" imgW="1307880" imgH="431640" progId="Equation.DSMT4">
                  <p:embed/>
                </p:oleObj>
              </mc:Choice>
              <mc:Fallback>
                <p:oleObj name="Equation" r:id="rId8" imgW="1307880" imgH="431640" progId="Equation.DSMT4">
                  <p:embed/>
                  <p:pic>
                    <p:nvPicPr>
                      <p:cNvPr id="20" name="对象 19">
                        <a:extLst>
                          <a:ext uri="{FF2B5EF4-FFF2-40B4-BE49-F238E27FC236}">
                            <a16:creationId xmlns:a16="http://schemas.microsoft.com/office/drawing/2014/main" id="{EEABB904-9AD6-41E0-AAE3-6AF2A9716949}"/>
                          </a:ext>
                        </a:extLst>
                      </p:cNvPr>
                      <p:cNvPicPr>
                        <a:picLocks noChangeAspect="1" noChangeArrowheads="1"/>
                      </p:cNvPicPr>
                      <p:nvPr/>
                    </p:nvPicPr>
                    <p:blipFill>
                      <a:blip r:embed="rId9"/>
                      <a:srcRect/>
                      <a:stretch>
                        <a:fillRect/>
                      </a:stretch>
                    </p:blipFill>
                    <p:spPr bwMode="auto">
                      <a:xfrm>
                        <a:off x="9082044" y="5334167"/>
                        <a:ext cx="2075561" cy="675673"/>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237663" y="3452813"/>
          <a:ext cx="315912" cy="433387"/>
        </p:xfrm>
        <a:graphic>
          <a:graphicData uri="http://schemas.openxmlformats.org/presentationml/2006/ole">
            <mc:AlternateContent xmlns:mc="http://schemas.openxmlformats.org/markup-compatibility/2006">
              <mc:Choice xmlns:v="urn:schemas-microsoft-com:vml" Requires="v">
                <p:oleObj name="Equation" r:id="rId10" imgW="164880" imgH="228600" progId="Equation.DSMT4">
                  <p:embed/>
                </p:oleObj>
              </mc:Choice>
              <mc:Fallback>
                <p:oleObj name="Equation" r:id="rId10" imgW="164880" imgH="228600" progId="Equation.DSMT4">
                  <p:embed/>
                  <p:pic>
                    <p:nvPicPr>
                      <p:cNvPr id="21" name="对象 20">
                        <a:extLst>
                          <a:ext uri="{FF2B5EF4-FFF2-40B4-BE49-F238E27FC236}">
                            <a16:creationId xmlns:a16="http://schemas.microsoft.com/office/drawing/2014/main" id="{EEABB904-9AD6-41E0-AAE3-6AF2A9716949}"/>
                          </a:ext>
                        </a:extLst>
                      </p:cNvPr>
                      <p:cNvPicPr>
                        <a:picLocks noChangeAspect="1" noChangeArrowheads="1"/>
                      </p:cNvPicPr>
                      <p:nvPr/>
                    </p:nvPicPr>
                    <p:blipFill>
                      <a:blip r:embed="rId11"/>
                      <a:srcRect/>
                      <a:stretch>
                        <a:fillRect/>
                      </a:stretch>
                    </p:blipFill>
                    <p:spPr bwMode="auto">
                      <a:xfrm>
                        <a:off x="9237663" y="3452813"/>
                        <a:ext cx="315912" cy="433387"/>
                      </a:xfrm>
                      <a:prstGeom prst="rect">
                        <a:avLst/>
                      </a:prstGeom>
                      <a:noFill/>
                    </p:spPr>
                  </p:pic>
                </p:oleObj>
              </mc:Fallback>
            </mc:AlternateContent>
          </a:graphicData>
        </a:graphic>
      </p:graphicFrame>
      <p:sp>
        <p:nvSpPr>
          <p:cNvPr id="22" name="矩形 21"/>
          <p:cNvSpPr/>
          <p:nvPr/>
        </p:nvSpPr>
        <p:spPr>
          <a:xfrm>
            <a:off x="9399873" y="3493294"/>
            <a:ext cx="2319866" cy="369332"/>
          </a:xfrm>
          <a:prstGeom prst="rect">
            <a:avLst/>
          </a:prstGeom>
        </p:spPr>
        <p:txBody>
          <a:bodyPr wrap="none">
            <a:spAutoFit/>
          </a:bodyPr>
          <a:lstStyle/>
          <a:p>
            <a:r>
              <a:rPr lang="zh-CN" altLang="en-US" b="1" dirty="0"/>
              <a:t>临界生病体温 </a:t>
            </a:r>
            <a:r>
              <a:rPr lang="en-US" altLang="zh-CN" b="1" dirty="0"/>
              <a:t>Bound</a:t>
            </a:r>
            <a:endParaRPr lang="zh-CN" altLang="en-US" b="1" dirty="0"/>
          </a:p>
        </p:txBody>
      </p:sp>
      <p:sp>
        <p:nvSpPr>
          <p:cNvPr id="3" name="文本框 2">
            <a:extLst>
              <a:ext uri="{FF2B5EF4-FFF2-40B4-BE49-F238E27FC236}">
                <a16:creationId xmlns:a16="http://schemas.microsoft.com/office/drawing/2014/main" id="{6E16B27B-A8FE-51C9-D131-A08312E6186A}"/>
              </a:ext>
            </a:extLst>
          </p:cNvPr>
          <p:cNvSpPr txBox="1"/>
          <p:nvPr/>
        </p:nvSpPr>
        <p:spPr>
          <a:xfrm>
            <a:off x="10712450" y="4417782"/>
            <a:ext cx="1479550" cy="369332"/>
          </a:xfrm>
          <a:prstGeom prst="rect">
            <a:avLst/>
          </a:prstGeom>
          <a:noFill/>
        </p:spPr>
        <p:txBody>
          <a:bodyPr wrap="square" rtlCol="0">
            <a:spAutoFit/>
          </a:bodyPr>
          <a:lstStyle/>
          <a:p>
            <a:r>
              <a:rPr lang="zh-CN" altLang="en-US" b="1" dirty="0">
                <a:solidFill>
                  <a:srgbClr val="C00000"/>
                </a:solidFill>
              </a:rPr>
              <a:t>是否分错</a:t>
            </a:r>
          </a:p>
        </p:txBody>
      </p:sp>
    </p:spTree>
    <p:extLst>
      <p:ext uri="{BB962C8B-B14F-4D97-AF65-F5344CB8AC3E}">
        <p14:creationId xmlns:p14="http://schemas.microsoft.com/office/powerpoint/2010/main" val="47222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23</a:t>
            </a:fld>
            <a:endParaRPr lang="zh-CN" altLang="en-US"/>
          </a:p>
        </p:txBody>
      </p:sp>
      <p:pic>
        <p:nvPicPr>
          <p:cNvPr id="5" name="图片 4">
            <a:extLst>
              <a:ext uri="{FF2B5EF4-FFF2-40B4-BE49-F238E27FC236}">
                <a16:creationId xmlns:a16="http://schemas.microsoft.com/office/drawing/2014/main" id="{53C82105-8EF6-4F8D-908B-A0B6C1E30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6972" y="2214197"/>
            <a:ext cx="2460284" cy="4271947"/>
          </a:xfrm>
          <a:prstGeom prst="rect">
            <a:avLst/>
          </a:prstGeom>
        </p:spPr>
      </p:pic>
      <p:sp>
        <p:nvSpPr>
          <p:cNvPr id="6" name="矩形 5"/>
          <p:cNvSpPr/>
          <p:nvPr/>
        </p:nvSpPr>
        <p:spPr>
          <a:xfrm>
            <a:off x="1729268" y="1567866"/>
            <a:ext cx="1962912" cy="646331"/>
          </a:xfrm>
          <a:prstGeom prst="rect">
            <a:avLst/>
          </a:prstGeom>
        </p:spPr>
        <p:txBody>
          <a:bodyPr wrap="square">
            <a:spAutoFit/>
          </a:bodyPr>
          <a:lstStyle/>
          <a:p>
            <a:pPr algn="ctr"/>
            <a:r>
              <a:rPr lang="zh-CN" altLang="en-US" b="1" dirty="0">
                <a:solidFill>
                  <a:srgbClr val="C00000"/>
                </a:solidFill>
              </a:rPr>
              <a:t>体温 </a:t>
            </a:r>
            <a:r>
              <a:rPr lang="en-US" altLang="zh-CN" b="1" dirty="0">
                <a:solidFill>
                  <a:srgbClr val="C00000"/>
                </a:solidFill>
              </a:rPr>
              <a:t>Temperature</a:t>
            </a:r>
            <a:endParaRPr lang="zh-CN" altLang="en-US" dirty="0">
              <a:solidFill>
                <a:srgbClr val="C00000"/>
              </a:solidFill>
            </a:endParaRPr>
          </a:p>
        </p:txBody>
      </p:sp>
      <p:sp>
        <p:nvSpPr>
          <p:cNvPr id="7" name="矩形 6"/>
          <p:cNvSpPr/>
          <p:nvPr/>
        </p:nvSpPr>
        <p:spPr>
          <a:xfrm>
            <a:off x="2895600" y="1567866"/>
            <a:ext cx="1962912" cy="646331"/>
          </a:xfrm>
          <a:prstGeom prst="rect">
            <a:avLst/>
          </a:prstGeom>
        </p:spPr>
        <p:txBody>
          <a:bodyPr wrap="square">
            <a:spAutoFit/>
          </a:bodyPr>
          <a:lstStyle/>
          <a:p>
            <a:pPr algn="ctr"/>
            <a:r>
              <a:rPr lang="zh-CN" altLang="en-US" b="1" dirty="0">
                <a:solidFill>
                  <a:srgbClr val="C00000"/>
                </a:solidFill>
              </a:rPr>
              <a:t>是否生病</a:t>
            </a:r>
            <a:endParaRPr lang="en-US" altLang="zh-CN" b="1" dirty="0">
              <a:solidFill>
                <a:srgbClr val="C00000"/>
              </a:solidFill>
            </a:endParaRPr>
          </a:p>
          <a:p>
            <a:pPr algn="ctr"/>
            <a:r>
              <a:rPr lang="en-US" altLang="zh-CN" b="1" dirty="0">
                <a:solidFill>
                  <a:srgbClr val="C00000"/>
                </a:solidFill>
              </a:rPr>
              <a:t>Illness</a:t>
            </a:r>
            <a:endParaRPr lang="zh-CN" altLang="en-US" b="1" dirty="0">
              <a:solidFill>
                <a:srgbClr val="C00000"/>
              </a:solidFill>
            </a:endParaRPr>
          </a:p>
        </p:txBody>
      </p:sp>
      <p:grpSp>
        <p:nvGrpSpPr>
          <p:cNvPr id="8" name="组合 7"/>
          <p:cNvGrpSpPr/>
          <p:nvPr/>
        </p:nvGrpSpPr>
        <p:grpSpPr>
          <a:xfrm>
            <a:off x="4626224" y="2239254"/>
            <a:ext cx="3752088" cy="2777354"/>
            <a:chOff x="13362912" y="688619"/>
            <a:chExt cx="10355385" cy="7028784"/>
          </a:xfrm>
        </p:grpSpPr>
        <p:grpSp>
          <p:nvGrpSpPr>
            <p:cNvPr id="9" name="组合 8">
              <a:extLst>
                <a:ext uri="{FF2B5EF4-FFF2-40B4-BE49-F238E27FC236}">
                  <a16:creationId xmlns:a16="http://schemas.microsoft.com/office/drawing/2014/main" id="{4AFFDC3F-21BA-4507-BE19-15BA1C3203C8}"/>
                </a:ext>
              </a:extLst>
            </p:cNvPr>
            <p:cNvGrpSpPr/>
            <p:nvPr/>
          </p:nvGrpSpPr>
          <p:grpSpPr>
            <a:xfrm>
              <a:off x="13362912" y="688619"/>
              <a:ext cx="10355385" cy="7028784"/>
              <a:chOff x="8872404" y="2473900"/>
              <a:chExt cx="10355385" cy="7028784"/>
            </a:xfrm>
          </p:grpSpPr>
          <p:pic>
            <p:nvPicPr>
              <p:cNvPr id="12" name="图片 11">
                <a:extLst>
                  <a:ext uri="{FF2B5EF4-FFF2-40B4-BE49-F238E27FC236}">
                    <a16:creationId xmlns:a16="http://schemas.microsoft.com/office/drawing/2014/main" id="{63585597-A80A-4F14-9F26-20069C258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404" y="2473900"/>
                <a:ext cx="10355385" cy="7028784"/>
              </a:xfrm>
              <a:prstGeom prst="rect">
                <a:avLst/>
              </a:prstGeom>
            </p:spPr>
          </p:pic>
          <p:cxnSp>
            <p:nvCxnSpPr>
              <p:cNvPr id="13" name="直接连接符 12">
                <a:extLst>
                  <a:ext uri="{FF2B5EF4-FFF2-40B4-BE49-F238E27FC236}">
                    <a16:creationId xmlns:a16="http://schemas.microsoft.com/office/drawing/2014/main" id="{AA505458-BF69-48CA-9762-81B3F6453003}"/>
                  </a:ext>
                </a:extLst>
              </p:cNvPr>
              <p:cNvCxnSpPr>
                <a:cxnSpLocks/>
              </p:cNvCxnSpPr>
              <p:nvPr/>
            </p:nvCxnSpPr>
            <p:spPr>
              <a:xfrm>
                <a:off x="12928600" y="2894234"/>
                <a:ext cx="0" cy="53307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E684BA56-9734-4040-B518-110716157968}"/>
                </a:ext>
              </a:extLst>
            </p:cNvPr>
            <p:cNvCxnSpPr>
              <a:cxnSpLocks/>
            </p:cNvCxnSpPr>
            <p:nvPr/>
          </p:nvCxnSpPr>
          <p:spPr>
            <a:xfrm>
              <a:off x="14435847" y="6439711"/>
              <a:ext cx="298326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50A684-0440-4D56-A85C-3EBAF1504B9E}"/>
                </a:ext>
              </a:extLst>
            </p:cNvPr>
            <p:cNvCxnSpPr>
              <a:cxnSpLocks/>
            </p:cNvCxnSpPr>
            <p:nvPr/>
          </p:nvCxnSpPr>
          <p:spPr>
            <a:xfrm>
              <a:off x="17419108" y="1108953"/>
              <a:ext cx="622299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5326705" y="5155048"/>
            <a:ext cx="4226870" cy="369332"/>
          </a:xfrm>
          <a:prstGeom prst="rect">
            <a:avLst/>
          </a:prstGeom>
          <a:noFill/>
        </p:spPr>
        <p:txBody>
          <a:bodyPr wrap="square" rtlCol="0">
            <a:spAutoFit/>
          </a:bodyPr>
          <a:lstStyle/>
          <a:p>
            <a:r>
              <a:rPr lang="zh-CN" altLang="en-US" b="1" dirty="0"/>
              <a:t>阶跃函数 </a:t>
            </a:r>
            <a:r>
              <a:rPr lang="en-US" altLang="zh-CN" b="1" dirty="0"/>
              <a:t>Step Function</a:t>
            </a:r>
            <a:endParaRPr lang="zh-CN" altLang="en-US" b="1" dirty="0"/>
          </a:p>
        </p:txBody>
      </p:sp>
      <p:graphicFrame>
        <p:nvGraphicFramePr>
          <p:cNvPr id="15" name="对象 14">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172575" y="2654300"/>
          <a:ext cx="1897063" cy="798513"/>
        </p:xfrm>
        <a:graphic>
          <a:graphicData uri="http://schemas.openxmlformats.org/presentationml/2006/ole">
            <mc:AlternateContent xmlns:mc="http://schemas.openxmlformats.org/markup-compatibility/2006">
              <mc:Choice xmlns:v="urn:schemas-microsoft-com:vml" Requires="v">
                <p:oleObj name="Equation" r:id="rId4" imgW="1130040" imgH="482400" progId="Equation.DSMT4">
                  <p:embed/>
                </p:oleObj>
              </mc:Choice>
              <mc:Fallback>
                <p:oleObj name="Equation" r:id="rId4" imgW="1130040" imgH="482400" progId="Equation.DSMT4">
                  <p:embed/>
                  <p:pic>
                    <p:nvPicPr>
                      <p:cNvPr id="15" name="对象 14">
                        <a:extLst>
                          <a:ext uri="{FF2B5EF4-FFF2-40B4-BE49-F238E27FC236}">
                            <a16:creationId xmlns:a16="http://schemas.microsoft.com/office/drawing/2014/main" id="{EEABB904-9AD6-41E0-AAE3-6AF2A9716949}"/>
                          </a:ext>
                        </a:extLst>
                      </p:cNvPr>
                      <p:cNvPicPr>
                        <a:picLocks noChangeAspect="1" noChangeArrowheads="1"/>
                      </p:cNvPicPr>
                      <p:nvPr/>
                    </p:nvPicPr>
                    <p:blipFill>
                      <a:blip r:embed="rId5"/>
                      <a:srcRect/>
                      <a:stretch>
                        <a:fillRect/>
                      </a:stretch>
                    </p:blipFill>
                    <p:spPr bwMode="auto">
                      <a:xfrm>
                        <a:off x="9172575" y="2654300"/>
                        <a:ext cx="1897063" cy="798513"/>
                      </a:xfrm>
                      <a:prstGeom prst="rect">
                        <a:avLst/>
                      </a:prstGeom>
                      <a:noFill/>
                    </p:spPr>
                  </p:pic>
                </p:oleObj>
              </mc:Fallback>
            </mc:AlternateContent>
          </a:graphicData>
        </a:graphic>
      </p:graphicFrame>
      <p:sp>
        <p:nvSpPr>
          <p:cNvPr id="16" name="文本框 15"/>
          <p:cNvSpPr txBox="1"/>
          <p:nvPr/>
        </p:nvSpPr>
        <p:spPr>
          <a:xfrm>
            <a:off x="8717281" y="2214197"/>
            <a:ext cx="3292768" cy="369332"/>
          </a:xfrm>
          <a:prstGeom prst="rect">
            <a:avLst/>
          </a:prstGeom>
          <a:noFill/>
        </p:spPr>
        <p:txBody>
          <a:bodyPr wrap="square" rtlCol="0">
            <a:spAutoFit/>
          </a:bodyPr>
          <a:lstStyle/>
          <a:p>
            <a:r>
              <a:rPr lang="zh-CN" altLang="en-US" dirty="0"/>
              <a:t>① 决策函数 </a:t>
            </a:r>
            <a:r>
              <a:rPr lang="en-US" altLang="zh-CN" dirty="0"/>
              <a:t>Decision Function</a:t>
            </a:r>
            <a:endParaRPr lang="zh-CN" altLang="en-US" dirty="0"/>
          </a:p>
        </p:txBody>
      </p:sp>
      <p:sp>
        <p:nvSpPr>
          <p:cNvPr id="17" name="矩形 16"/>
          <p:cNvSpPr/>
          <p:nvPr/>
        </p:nvSpPr>
        <p:spPr>
          <a:xfrm>
            <a:off x="8717281" y="3955538"/>
            <a:ext cx="3024544" cy="369332"/>
          </a:xfrm>
          <a:prstGeom prst="rect">
            <a:avLst/>
          </a:prstGeom>
        </p:spPr>
        <p:txBody>
          <a:bodyPr wrap="square">
            <a:spAutoFit/>
          </a:bodyPr>
          <a:lstStyle/>
          <a:p>
            <a:r>
              <a:rPr lang="zh-CN" altLang="en-US" dirty="0"/>
              <a:t>② 损失函数 </a:t>
            </a:r>
            <a:r>
              <a:rPr lang="en-US" altLang="zh-CN" dirty="0"/>
              <a:t>Loss Function</a:t>
            </a:r>
            <a:endParaRPr lang="zh-CN" altLang="en-US" dirty="0"/>
          </a:p>
        </p:txBody>
      </p:sp>
      <p:sp>
        <p:nvSpPr>
          <p:cNvPr id="18" name="矩形 17"/>
          <p:cNvSpPr/>
          <p:nvPr/>
        </p:nvSpPr>
        <p:spPr>
          <a:xfrm>
            <a:off x="8717281" y="4940189"/>
            <a:ext cx="2805088" cy="369332"/>
          </a:xfrm>
          <a:prstGeom prst="rect">
            <a:avLst/>
          </a:prstGeom>
        </p:spPr>
        <p:txBody>
          <a:bodyPr wrap="square">
            <a:spAutoFit/>
          </a:bodyPr>
          <a:lstStyle/>
          <a:p>
            <a:r>
              <a:rPr lang="zh-CN" altLang="en-US" dirty="0"/>
              <a:t>③ 目标 </a:t>
            </a:r>
            <a:r>
              <a:rPr lang="en-US" altLang="zh-CN" dirty="0"/>
              <a:t>Objective	</a:t>
            </a:r>
            <a:endParaRPr lang="zh-CN" altLang="en-US" dirty="0"/>
          </a:p>
        </p:txBody>
      </p:sp>
      <p:graphicFrame>
        <p:nvGraphicFramePr>
          <p:cNvPr id="19" name="对象 18">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110663" y="4392613"/>
          <a:ext cx="1601787" cy="415925"/>
        </p:xfrm>
        <a:graphic>
          <a:graphicData uri="http://schemas.openxmlformats.org/presentationml/2006/ole">
            <mc:AlternateContent xmlns:mc="http://schemas.openxmlformats.org/markup-compatibility/2006">
              <mc:Choice xmlns:v="urn:schemas-microsoft-com:vml" Requires="v">
                <p:oleObj name="Equation" r:id="rId6" imgW="965160" imgH="253800" progId="Equation.DSMT4">
                  <p:embed/>
                </p:oleObj>
              </mc:Choice>
              <mc:Fallback>
                <p:oleObj name="Equation" r:id="rId6" imgW="965160" imgH="253800" progId="Equation.DSMT4">
                  <p:embed/>
                  <p:pic>
                    <p:nvPicPr>
                      <p:cNvPr id="19" name="对象 18">
                        <a:extLst>
                          <a:ext uri="{FF2B5EF4-FFF2-40B4-BE49-F238E27FC236}">
                            <a16:creationId xmlns:a16="http://schemas.microsoft.com/office/drawing/2014/main" id="{EEABB904-9AD6-41E0-AAE3-6AF2A9716949}"/>
                          </a:ext>
                        </a:extLst>
                      </p:cNvPr>
                      <p:cNvPicPr>
                        <a:picLocks noChangeAspect="1" noChangeArrowheads="1"/>
                      </p:cNvPicPr>
                      <p:nvPr/>
                    </p:nvPicPr>
                    <p:blipFill>
                      <a:blip r:embed="rId7"/>
                      <a:srcRect/>
                      <a:stretch>
                        <a:fillRect/>
                      </a:stretch>
                    </p:blipFill>
                    <p:spPr bwMode="auto">
                      <a:xfrm>
                        <a:off x="9110663" y="4392613"/>
                        <a:ext cx="1601787" cy="415925"/>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082044" y="5334167"/>
          <a:ext cx="2075561" cy="675673"/>
        </p:xfrm>
        <a:graphic>
          <a:graphicData uri="http://schemas.openxmlformats.org/presentationml/2006/ole">
            <mc:AlternateContent xmlns:mc="http://schemas.openxmlformats.org/markup-compatibility/2006">
              <mc:Choice xmlns:v="urn:schemas-microsoft-com:vml" Requires="v">
                <p:oleObj name="Equation" r:id="rId8" imgW="1307880" imgH="431640" progId="Equation.DSMT4">
                  <p:embed/>
                </p:oleObj>
              </mc:Choice>
              <mc:Fallback>
                <p:oleObj name="Equation" r:id="rId8" imgW="1307880" imgH="431640" progId="Equation.DSMT4">
                  <p:embed/>
                  <p:pic>
                    <p:nvPicPr>
                      <p:cNvPr id="20" name="对象 19">
                        <a:extLst>
                          <a:ext uri="{FF2B5EF4-FFF2-40B4-BE49-F238E27FC236}">
                            <a16:creationId xmlns:a16="http://schemas.microsoft.com/office/drawing/2014/main" id="{EEABB904-9AD6-41E0-AAE3-6AF2A9716949}"/>
                          </a:ext>
                        </a:extLst>
                      </p:cNvPr>
                      <p:cNvPicPr>
                        <a:picLocks noChangeAspect="1" noChangeArrowheads="1"/>
                      </p:cNvPicPr>
                      <p:nvPr/>
                    </p:nvPicPr>
                    <p:blipFill>
                      <a:blip r:embed="rId9"/>
                      <a:srcRect/>
                      <a:stretch>
                        <a:fillRect/>
                      </a:stretch>
                    </p:blipFill>
                    <p:spPr bwMode="auto">
                      <a:xfrm>
                        <a:off x="9082044" y="5334167"/>
                        <a:ext cx="2075561" cy="675673"/>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9237663" y="3452813"/>
          <a:ext cx="315912" cy="433387"/>
        </p:xfrm>
        <a:graphic>
          <a:graphicData uri="http://schemas.openxmlformats.org/presentationml/2006/ole">
            <mc:AlternateContent xmlns:mc="http://schemas.openxmlformats.org/markup-compatibility/2006">
              <mc:Choice xmlns:v="urn:schemas-microsoft-com:vml" Requires="v">
                <p:oleObj name="Equation" r:id="rId10" imgW="164880" imgH="228600" progId="Equation.DSMT4">
                  <p:embed/>
                </p:oleObj>
              </mc:Choice>
              <mc:Fallback>
                <p:oleObj name="Equation" r:id="rId10" imgW="164880" imgH="228600" progId="Equation.DSMT4">
                  <p:embed/>
                  <p:pic>
                    <p:nvPicPr>
                      <p:cNvPr id="21" name="对象 20">
                        <a:extLst>
                          <a:ext uri="{FF2B5EF4-FFF2-40B4-BE49-F238E27FC236}">
                            <a16:creationId xmlns:a16="http://schemas.microsoft.com/office/drawing/2014/main" id="{EEABB904-9AD6-41E0-AAE3-6AF2A9716949}"/>
                          </a:ext>
                        </a:extLst>
                      </p:cNvPr>
                      <p:cNvPicPr>
                        <a:picLocks noChangeAspect="1" noChangeArrowheads="1"/>
                      </p:cNvPicPr>
                      <p:nvPr/>
                    </p:nvPicPr>
                    <p:blipFill>
                      <a:blip r:embed="rId11"/>
                      <a:srcRect/>
                      <a:stretch>
                        <a:fillRect/>
                      </a:stretch>
                    </p:blipFill>
                    <p:spPr bwMode="auto">
                      <a:xfrm>
                        <a:off x="9237663" y="3452813"/>
                        <a:ext cx="315912" cy="433387"/>
                      </a:xfrm>
                      <a:prstGeom prst="rect">
                        <a:avLst/>
                      </a:prstGeom>
                      <a:noFill/>
                    </p:spPr>
                  </p:pic>
                </p:oleObj>
              </mc:Fallback>
            </mc:AlternateContent>
          </a:graphicData>
        </a:graphic>
      </p:graphicFrame>
      <p:sp>
        <p:nvSpPr>
          <p:cNvPr id="22" name="矩形 21"/>
          <p:cNvSpPr/>
          <p:nvPr/>
        </p:nvSpPr>
        <p:spPr>
          <a:xfrm>
            <a:off x="9399873" y="3493294"/>
            <a:ext cx="2319866" cy="369332"/>
          </a:xfrm>
          <a:prstGeom prst="rect">
            <a:avLst/>
          </a:prstGeom>
        </p:spPr>
        <p:txBody>
          <a:bodyPr wrap="none">
            <a:spAutoFit/>
          </a:bodyPr>
          <a:lstStyle/>
          <a:p>
            <a:r>
              <a:rPr lang="zh-CN" altLang="en-US" b="1" dirty="0"/>
              <a:t>临界生病体温 </a:t>
            </a:r>
            <a:r>
              <a:rPr lang="en-US" altLang="zh-CN" b="1" dirty="0"/>
              <a:t>Bound</a:t>
            </a:r>
            <a:endParaRPr lang="zh-CN" altLang="en-US" b="1" dirty="0"/>
          </a:p>
        </p:txBody>
      </p:sp>
      <p:sp>
        <p:nvSpPr>
          <p:cNvPr id="3" name="文本框 2">
            <a:extLst>
              <a:ext uri="{FF2B5EF4-FFF2-40B4-BE49-F238E27FC236}">
                <a16:creationId xmlns:a16="http://schemas.microsoft.com/office/drawing/2014/main" id="{6E16B27B-A8FE-51C9-D131-A08312E6186A}"/>
              </a:ext>
            </a:extLst>
          </p:cNvPr>
          <p:cNvSpPr txBox="1"/>
          <p:nvPr/>
        </p:nvSpPr>
        <p:spPr>
          <a:xfrm>
            <a:off x="10712450" y="4417782"/>
            <a:ext cx="1479550" cy="369332"/>
          </a:xfrm>
          <a:prstGeom prst="rect">
            <a:avLst/>
          </a:prstGeom>
          <a:noFill/>
        </p:spPr>
        <p:txBody>
          <a:bodyPr wrap="square" rtlCol="0">
            <a:spAutoFit/>
          </a:bodyPr>
          <a:lstStyle/>
          <a:p>
            <a:r>
              <a:rPr lang="zh-CN" altLang="en-US" b="1" dirty="0">
                <a:solidFill>
                  <a:srgbClr val="C00000"/>
                </a:solidFill>
              </a:rPr>
              <a:t>是否分错</a:t>
            </a:r>
          </a:p>
        </p:txBody>
      </p:sp>
      <p:sp>
        <p:nvSpPr>
          <p:cNvPr id="23" name="箭头: 下 22">
            <a:extLst>
              <a:ext uri="{FF2B5EF4-FFF2-40B4-BE49-F238E27FC236}">
                <a16:creationId xmlns:a16="http://schemas.microsoft.com/office/drawing/2014/main" id="{3602DE99-DC5D-A9E6-51BB-C4DB8E65B01E}"/>
              </a:ext>
            </a:extLst>
          </p:cNvPr>
          <p:cNvSpPr/>
          <p:nvPr/>
        </p:nvSpPr>
        <p:spPr>
          <a:xfrm>
            <a:off x="11241889" y="4787114"/>
            <a:ext cx="196195" cy="3679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38A3692-AD1D-8DCE-578B-763A15E9ABCC}"/>
              </a:ext>
            </a:extLst>
          </p:cNvPr>
          <p:cNvSpPr txBox="1"/>
          <p:nvPr/>
        </p:nvSpPr>
        <p:spPr>
          <a:xfrm>
            <a:off x="10698309" y="5133624"/>
            <a:ext cx="1479550" cy="369332"/>
          </a:xfrm>
          <a:prstGeom prst="rect">
            <a:avLst/>
          </a:prstGeom>
          <a:noFill/>
        </p:spPr>
        <p:txBody>
          <a:bodyPr wrap="square" rtlCol="0">
            <a:spAutoFit/>
          </a:bodyPr>
          <a:lstStyle/>
          <a:p>
            <a:r>
              <a:rPr lang="zh-CN" altLang="en-US" b="1" dirty="0">
                <a:solidFill>
                  <a:srgbClr val="C00000"/>
                </a:solidFill>
              </a:rPr>
              <a:t>分错的个数</a:t>
            </a:r>
          </a:p>
        </p:txBody>
      </p:sp>
      <p:sp>
        <p:nvSpPr>
          <p:cNvPr id="25" name="文本框 24">
            <a:extLst>
              <a:ext uri="{FF2B5EF4-FFF2-40B4-BE49-F238E27FC236}">
                <a16:creationId xmlns:a16="http://schemas.microsoft.com/office/drawing/2014/main" id="{0E6D6C6A-9B36-2101-D172-03845691F00A}"/>
              </a:ext>
            </a:extLst>
          </p:cNvPr>
          <p:cNvSpPr txBox="1"/>
          <p:nvPr/>
        </p:nvSpPr>
        <p:spPr>
          <a:xfrm>
            <a:off x="10698309" y="5924840"/>
            <a:ext cx="1479550" cy="369332"/>
          </a:xfrm>
          <a:prstGeom prst="rect">
            <a:avLst/>
          </a:prstGeom>
          <a:noFill/>
        </p:spPr>
        <p:txBody>
          <a:bodyPr wrap="square" rtlCol="0">
            <a:spAutoFit/>
          </a:bodyPr>
          <a:lstStyle/>
          <a:p>
            <a:r>
              <a:rPr lang="zh-CN" altLang="en-US" b="1" dirty="0">
                <a:solidFill>
                  <a:srgbClr val="C00000"/>
                </a:solidFill>
              </a:rPr>
              <a:t>最小二乘</a:t>
            </a:r>
          </a:p>
        </p:txBody>
      </p:sp>
      <p:sp>
        <p:nvSpPr>
          <p:cNvPr id="26" name="箭头: 下 25">
            <a:extLst>
              <a:ext uri="{FF2B5EF4-FFF2-40B4-BE49-F238E27FC236}">
                <a16:creationId xmlns:a16="http://schemas.microsoft.com/office/drawing/2014/main" id="{0C48947B-A266-C525-600B-1C352E9A46CE}"/>
              </a:ext>
            </a:extLst>
          </p:cNvPr>
          <p:cNvSpPr/>
          <p:nvPr/>
        </p:nvSpPr>
        <p:spPr>
          <a:xfrm>
            <a:off x="11241888" y="5586400"/>
            <a:ext cx="196195" cy="3679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87835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24</a:t>
            </a:fld>
            <a:endParaRPr lang="zh-CN" altLang="en-US" dirty="0"/>
          </a:p>
        </p:txBody>
      </p:sp>
      <p:graphicFrame>
        <p:nvGraphicFramePr>
          <p:cNvPr id="5" name="对象 4">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1049047094"/>
              </p:ext>
            </p:extLst>
          </p:nvPr>
        </p:nvGraphicFramePr>
        <p:xfrm>
          <a:off x="1783661" y="2029803"/>
          <a:ext cx="2095500" cy="912813"/>
        </p:xfrm>
        <a:graphic>
          <a:graphicData uri="http://schemas.openxmlformats.org/presentationml/2006/ole">
            <mc:AlternateContent xmlns:mc="http://schemas.openxmlformats.org/markup-compatibility/2006">
              <mc:Choice xmlns:v="urn:schemas-microsoft-com:vml" Requires="v">
                <p:oleObj name="Equation" r:id="rId3" imgW="1091880" imgH="482400" progId="Equation.DSMT4">
                  <p:embed/>
                </p:oleObj>
              </mc:Choice>
              <mc:Fallback>
                <p:oleObj name="Equation" r:id="rId3" imgW="1091880" imgH="482400" progId="Equation.DSMT4">
                  <p:embed/>
                  <p:pic>
                    <p:nvPicPr>
                      <p:cNvPr id="3" name="对象 2">
                        <a:extLst>
                          <a:ext uri="{FF2B5EF4-FFF2-40B4-BE49-F238E27FC236}">
                            <a16:creationId xmlns:a16="http://schemas.microsoft.com/office/drawing/2014/main" id="{EEABB904-9AD6-41E0-AAE3-6AF2A9716949}"/>
                          </a:ext>
                        </a:extLst>
                      </p:cNvPr>
                      <p:cNvPicPr>
                        <a:picLocks noChangeAspect="1" noChangeArrowheads="1"/>
                      </p:cNvPicPr>
                      <p:nvPr/>
                    </p:nvPicPr>
                    <p:blipFill>
                      <a:blip r:embed="rId4"/>
                      <a:srcRect/>
                      <a:stretch>
                        <a:fillRect/>
                      </a:stretch>
                    </p:blipFill>
                    <p:spPr bwMode="auto">
                      <a:xfrm>
                        <a:off x="1783661" y="2029803"/>
                        <a:ext cx="2095500" cy="912813"/>
                      </a:xfrm>
                      <a:prstGeom prst="rect">
                        <a:avLst/>
                      </a:prstGeom>
                      <a:noFill/>
                    </p:spPr>
                  </p:pic>
                </p:oleObj>
              </mc:Fallback>
            </mc:AlternateContent>
          </a:graphicData>
        </a:graphic>
      </p:graphicFrame>
      <p:sp>
        <p:nvSpPr>
          <p:cNvPr id="6" name="矩形 5"/>
          <p:cNvSpPr/>
          <p:nvPr/>
        </p:nvSpPr>
        <p:spPr>
          <a:xfrm>
            <a:off x="838200" y="1690688"/>
            <a:ext cx="3747679" cy="369332"/>
          </a:xfrm>
          <a:prstGeom prst="rect">
            <a:avLst/>
          </a:prstGeom>
        </p:spPr>
        <p:txBody>
          <a:bodyPr wrap="square">
            <a:spAutoFit/>
          </a:bodyPr>
          <a:lstStyle/>
          <a:p>
            <a:r>
              <a:rPr lang="zh-CN" altLang="en-US" b="1" dirty="0"/>
              <a:t>① 决策函数 </a:t>
            </a:r>
            <a:r>
              <a:rPr lang="en-US" altLang="zh-CN" b="1" dirty="0"/>
              <a:t>Decision Function</a:t>
            </a:r>
            <a:endParaRPr lang="zh-CN" altLang="en-US" dirty="0"/>
          </a:p>
        </p:txBody>
      </p:sp>
      <p:sp>
        <p:nvSpPr>
          <p:cNvPr id="7" name="矩形 6"/>
          <p:cNvSpPr/>
          <p:nvPr/>
        </p:nvSpPr>
        <p:spPr>
          <a:xfrm>
            <a:off x="838199" y="5086957"/>
            <a:ext cx="5476103" cy="369332"/>
          </a:xfrm>
          <a:prstGeom prst="rect">
            <a:avLst/>
          </a:prstGeom>
        </p:spPr>
        <p:txBody>
          <a:bodyPr wrap="square">
            <a:spAutoFit/>
          </a:bodyPr>
          <a:lstStyle/>
          <a:p>
            <a:r>
              <a:rPr lang="zh-CN" altLang="en-US" dirty="0"/>
              <a:t>函数太</a:t>
            </a:r>
            <a:r>
              <a:rPr lang="zh-CN" altLang="en-US" dirty="0">
                <a:solidFill>
                  <a:srgbClr val="C00000"/>
                </a:solidFill>
              </a:rPr>
              <a:t>硬</a:t>
            </a:r>
            <a:r>
              <a:rPr lang="zh-CN" altLang="en-US" dirty="0"/>
              <a:t>了，不方便进行计算，我希望能平滑一点</a:t>
            </a:r>
            <a:endParaRPr lang="en-US" altLang="zh-CN" dirty="0"/>
          </a:p>
        </p:txBody>
      </p:sp>
      <p:grpSp>
        <p:nvGrpSpPr>
          <p:cNvPr id="8" name="组合 7"/>
          <p:cNvGrpSpPr/>
          <p:nvPr/>
        </p:nvGrpSpPr>
        <p:grpSpPr>
          <a:xfrm>
            <a:off x="1468901" y="2942616"/>
            <a:ext cx="2920219" cy="1975599"/>
            <a:chOff x="13362912" y="688619"/>
            <a:chExt cx="10355385" cy="7028784"/>
          </a:xfrm>
        </p:grpSpPr>
        <p:grpSp>
          <p:nvGrpSpPr>
            <p:cNvPr id="9" name="组合 8">
              <a:extLst>
                <a:ext uri="{FF2B5EF4-FFF2-40B4-BE49-F238E27FC236}">
                  <a16:creationId xmlns:a16="http://schemas.microsoft.com/office/drawing/2014/main" id="{4AFFDC3F-21BA-4507-BE19-15BA1C3203C8}"/>
                </a:ext>
              </a:extLst>
            </p:cNvPr>
            <p:cNvGrpSpPr/>
            <p:nvPr/>
          </p:nvGrpSpPr>
          <p:grpSpPr>
            <a:xfrm>
              <a:off x="13362912" y="688619"/>
              <a:ext cx="10355385" cy="7028784"/>
              <a:chOff x="8872404" y="2473900"/>
              <a:chExt cx="10355385" cy="7028784"/>
            </a:xfrm>
          </p:grpSpPr>
          <p:pic>
            <p:nvPicPr>
              <p:cNvPr id="12" name="图片 11">
                <a:extLst>
                  <a:ext uri="{FF2B5EF4-FFF2-40B4-BE49-F238E27FC236}">
                    <a16:creationId xmlns:a16="http://schemas.microsoft.com/office/drawing/2014/main" id="{63585597-A80A-4F14-9F26-20069C258B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72404" y="2473900"/>
                <a:ext cx="10355385" cy="7028784"/>
              </a:xfrm>
              <a:prstGeom prst="rect">
                <a:avLst/>
              </a:prstGeom>
            </p:spPr>
          </p:pic>
          <p:cxnSp>
            <p:nvCxnSpPr>
              <p:cNvPr id="13" name="直接连接符 12">
                <a:extLst>
                  <a:ext uri="{FF2B5EF4-FFF2-40B4-BE49-F238E27FC236}">
                    <a16:creationId xmlns:a16="http://schemas.microsoft.com/office/drawing/2014/main" id="{AA505458-BF69-48CA-9762-81B3F6453003}"/>
                  </a:ext>
                </a:extLst>
              </p:cNvPr>
              <p:cNvCxnSpPr>
                <a:cxnSpLocks/>
              </p:cNvCxnSpPr>
              <p:nvPr/>
            </p:nvCxnSpPr>
            <p:spPr>
              <a:xfrm>
                <a:off x="12928600" y="2894234"/>
                <a:ext cx="0" cy="533075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E684BA56-9734-4040-B518-110716157968}"/>
                </a:ext>
              </a:extLst>
            </p:cNvPr>
            <p:cNvCxnSpPr>
              <a:cxnSpLocks/>
            </p:cNvCxnSpPr>
            <p:nvPr/>
          </p:nvCxnSpPr>
          <p:spPr>
            <a:xfrm>
              <a:off x="14435847" y="6439711"/>
              <a:ext cx="298326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550A684-0440-4D56-A85C-3EBAF1504B9E}"/>
                </a:ext>
              </a:extLst>
            </p:cNvPr>
            <p:cNvCxnSpPr>
              <a:cxnSpLocks/>
            </p:cNvCxnSpPr>
            <p:nvPr/>
          </p:nvCxnSpPr>
          <p:spPr>
            <a:xfrm>
              <a:off x="17419108" y="1108953"/>
              <a:ext cx="622299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pic>
        <p:nvPicPr>
          <p:cNvPr id="14" name="图片 13">
            <a:extLst>
              <a:ext uri="{FF2B5EF4-FFF2-40B4-BE49-F238E27FC236}">
                <a16:creationId xmlns:a16="http://schemas.microsoft.com/office/drawing/2014/main" id="{55C751B8-E6E9-4A8F-A612-3187493571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74956" y="2998980"/>
            <a:ext cx="3076180" cy="2087977"/>
          </a:xfrm>
          <a:prstGeom prst="rect">
            <a:avLst/>
          </a:prstGeom>
        </p:spPr>
      </p:pic>
      <p:graphicFrame>
        <p:nvGraphicFramePr>
          <p:cNvPr id="15" name="对象 14">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224657225"/>
              </p:ext>
            </p:extLst>
          </p:nvPr>
        </p:nvGraphicFramePr>
        <p:xfrm>
          <a:off x="6944715" y="2060020"/>
          <a:ext cx="2419376" cy="787269"/>
        </p:xfrm>
        <a:graphic>
          <a:graphicData uri="http://schemas.openxmlformats.org/presentationml/2006/ole">
            <mc:AlternateContent xmlns:mc="http://schemas.openxmlformats.org/markup-compatibility/2006">
              <mc:Choice xmlns:v="urn:schemas-microsoft-com:vml" Requires="v">
                <p:oleObj name="Equation" r:id="rId7" imgW="1231560" imgH="406080" progId="Equation.DSMT4">
                  <p:embed/>
                </p:oleObj>
              </mc:Choice>
              <mc:Fallback>
                <p:oleObj name="Equation" r:id="rId7" imgW="1231560" imgH="406080" progId="Equation.DSMT4">
                  <p:embed/>
                  <p:pic>
                    <p:nvPicPr>
                      <p:cNvPr id="18" name="对象 17">
                        <a:extLst>
                          <a:ext uri="{FF2B5EF4-FFF2-40B4-BE49-F238E27FC236}">
                            <a16:creationId xmlns:a16="http://schemas.microsoft.com/office/drawing/2014/main" id="{CF796419-9983-4CB7-B436-22D6DA59EE34}"/>
                          </a:ext>
                        </a:extLst>
                      </p:cNvPr>
                      <p:cNvPicPr>
                        <a:picLocks noChangeAspect="1" noChangeArrowheads="1"/>
                      </p:cNvPicPr>
                      <p:nvPr/>
                    </p:nvPicPr>
                    <p:blipFill>
                      <a:blip r:embed="rId8"/>
                      <a:srcRect/>
                      <a:stretch>
                        <a:fillRect/>
                      </a:stretch>
                    </p:blipFill>
                    <p:spPr bwMode="auto">
                      <a:xfrm>
                        <a:off x="6944715" y="2060020"/>
                        <a:ext cx="2419376" cy="787269"/>
                      </a:xfrm>
                      <a:prstGeom prst="rect">
                        <a:avLst/>
                      </a:prstGeom>
                      <a:noFill/>
                    </p:spPr>
                  </p:pic>
                </p:oleObj>
              </mc:Fallback>
            </mc:AlternateContent>
          </a:graphicData>
        </a:graphic>
      </p:graphicFrame>
      <p:sp>
        <p:nvSpPr>
          <p:cNvPr id="16" name="矩形 15"/>
          <p:cNvSpPr/>
          <p:nvPr/>
        </p:nvSpPr>
        <p:spPr>
          <a:xfrm>
            <a:off x="6624088" y="5133123"/>
            <a:ext cx="4348712" cy="646331"/>
          </a:xfrm>
          <a:prstGeom prst="rect">
            <a:avLst/>
          </a:prstGeom>
        </p:spPr>
        <p:txBody>
          <a:bodyPr wrap="square">
            <a:spAutoFit/>
          </a:bodyPr>
          <a:lstStyle/>
          <a:p>
            <a:r>
              <a:rPr lang="zh-CN" altLang="en-US" dirty="0"/>
              <a:t>用一些</a:t>
            </a:r>
            <a:r>
              <a:rPr lang="zh-CN" altLang="en-US" dirty="0">
                <a:solidFill>
                  <a:srgbClr val="C00000"/>
                </a:solidFill>
              </a:rPr>
              <a:t>平滑函数</a:t>
            </a:r>
            <a:r>
              <a:rPr lang="zh-CN" altLang="en-US" dirty="0"/>
              <a:t>类似阶跃的函数代替，</a:t>
            </a:r>
            <a:endParaRPr lang="en-US" altLang="zh-CN" dirty="0"/>
          </a:p>
          <a:p>
            <a:r>
              <a:rPr lang="zh-CN" altLang="en-US" dirty="0"/>
              <a:t>例如：</a:t>
            </a:r>
            <a:r>
              <a:rPr lang="en-US" altLang="zh-CN" dirty="0"/>
              <a:t>sigmoid function</a:t>
            </a:r>
            <a:endParaRPr lang="zh-CN" altLang="en-US" dirty="0"/>
          </a:p>
        </p:txBody>
      </p:sp>
      <p:cxnSp>
        <p:nvCxnSpPr>
          <p:cNvPr id="17" name="直接连接符 16">
            <a:extLst>
              <a:ext uri="{FF2B5EF4-FFF2-40B4-BE49-F238E27FC236}">
                <a16:creationId xmlns:a16="http://schemas.microsoft.com/office/drawing/2014/main" id="{AA505458-BF69-48CA-9762-81B3F6453003}"/>
              </a:ext>
            </a:extLst>
          </p:cNvPr>
          <p:cNvCxnSpPr>
            <a:cxnSpLocks/>
          </p:cNvCxnSpPr>
          <p:nvPr/>
        </p:nvCxnSpPr>
        <p:spPr>
          <a:xfrm>
            <a:off x="8056476" y="3131297"/>
            <a:ext cx="0" cy="1561830"/>
          </a:xfrm>
          <a:prstGeom prst="line">
            <a:avLst/>
          </a:prstGeom>
          <a:ln w="254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684BA56-9734-4040-B518-110716157968}"/>
              </a:ext>
            </a:extLst>
          </p:cNvPr>
          <p:cNvCxnSpPr>
            <a:cxnSpLocks/>
          </p:cNvCxnSpPr>
          <p:nvPr/>
        </p:nvCxnSpPr>
        <p:spPr>
          <a:xfrm>
            <a:off x="7215197" y="4693128"/>
            <a:ext cx="841280" cy="0"/>
          </a:xfrm>
          <a:prstGeom prst="line">
            <a:avLst/>
          </a:prstGeom>
          <a:ln w="254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550A684-0440-4D56-A85C-3EBAF1504B9E}"/>
              </a:ext>
            </a:extLst>
          </p:cNvPr>
          <p:cNvCxnSpPr>
            <a:cxnSpLocks/>
          </p:cNvCxnSpPr>
          <p:nvPr/>
        </p:nvCxnSpPr>
        <p:spPr>
          <a:xfrm>
            <a:off x="8056476" y="3131297"/>
            <a:ext cx="1754883" cy="0"/>
          </a:xfrm>
          <a:prstGeom prst="line">
            <a:avLst/>
          </a:prstGeom>
          <a:ln w="254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DF67483-BD50-0C00-2528-53ADED28C34E}"/>
              </a:ext>
            </a:extLst>
          </p:cNvPr>
          <p:cNvCxnSpPr/>
          <p:nvPr/>
        </p:nvCxnSpPr>
        <p:spPr>
          <a:xfrm>
            <a:off x="4389120" y="2458994"/>
            <a:ext cx="2234968" cy="0"/>
          </a:xfrm>
          <a:prstGeom prst="straightConnector1">
            <a:avLst/>
          </a:prstGeom>
          <a:ln w="317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E5E8197B-F8F3-6514-39D6-B489A962AB70}"/>
              </a:ext>
            </a:extLst>
          </p:cNvPr>
          <p:cNvSpPr txBox="1"/>
          <p:nvPr/>
        </p:nvSpPr>
        <p:spPr>
          <a:xfrm>
            <a:off x="4230354" y="2060020"/>
            <a:ext cx="2492990" cy="369332"/>
          </a:xfrm>
          <a:prstGeom prst="rect">
            <a:avLst/>
          </a:prstGeom>
          <a:noFill/>
        </p:spPr>
        <p:txBody>
          <a:bodyPr wrap="none" rtlCol="0">
            <a:spAutoFit/>
          </a:bodyPr>
          <a:lstStyle/>
          <a:p>
            <a:r>
              <a:rPr lang="zh-CN" altLang="en-US" b="1" dirty="0">
                <a:solidFill>
                  <a:srgbClr val="0070C0"/>
                </a:solidFill>
              </a:rPr>
              <a:t>一个统一形式的解析式</a:t>
            </a:r>
          </a:p>
        </p:txBody>
      </p:sp>
    </p:spTree>
    <p:extLst>
      <p:ext uri="{BB962C8B-B14F-4D97-AF65-F5344CB8AC3E}">
        <p14:creationId xmlns:p14="http://schemas.microsoft.com/office/powerpoint/2010/main" val="1726123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25</a:t>
            </a:fld>
            <a:endParaRPr lang="zh-CN" altLang="en-US" dirty="0"/>
          </a:p>
        </p:txBody>
      </p:sp>
      <p:sp>
        <p:nvSpPr>
          <p:cNvPr id="6" name="矩形 5"/>
          <p:cNvSpPr/>
          <p:nvPr/>
        </p:nvSpPr>
        <p:spPr>
          <a:xfrm>
            <a:off x="838200" y="1690688"/>
            <a:ext cx="6637638" cy="369332"/>
          </a:xfrm>
          <a:prstGeom prst="rect">
            <a:avLst/>
          </a:prstGeom>
        </p:spPr>
        <p:txBody>
          <a:bodyPr wrap="square">
            <a:spAutoFit/>
          </a:bodyPr>
          <a:lstStyle/>
          <a:p>
            <a:r>
              <a:rPr lang="zh-CN" altLang="en-US" b="1" dirty="0"/>
              <a:t>① 决策函数：</a:t>
            </a:r>
            <a:r>
              <a:rPr lang="en-US" altLang="zh-CN" b="1" dirty="0"/>
              <a:t>Sigmoid Function </a:t>
            </a:r>
            <a:r>
              <a:rPr lang="zh-CN" altLang="en-US" b="1" dirty="0"/>
              <a:t>的参数影响</a:t>
            </a:r>
          </a:p>
        </p:txBody>
      </p:sp>
      <p:graphicFrame>
        <p:nvGraphicFramePr>
          <p:cNvPr id="15" name="对象 14">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824934713"/>
              </p:ext>
            </p:extLst>
          </p:nvPr>
        </p:nvGraphicFramePr>
        <p:xfrm>
          <a:off x="1310034" y="2211711"/>
          <a:ext cx="2419376" cy="787269"/>
        </p:xfrm>
        <a:graphic>
          <a:graphicData uri="http://schemas.openxmlformats.org/presentationml/2006/ole">
            <mc:AlternateContent xmlns:mc="http://schemas.openxmlformats.org/markup-compatibility/2006">
              <mc:Choice xmlns:v="urn:schemas-microsoft-com:vml" Requires="v">
                <p:oleObj name="Equation" r:id="rId3" imgW="1231560" imgH="406080" progId="Equation.DSMT4">
                  <p:embed/>
                </p:oleObj>
              </mc:Choice>
              <mc:Fallback>
                <p:oleObj name="Equation" r:id="rId3" imgW="1231560" imgH="406080" progId="Equation.DSMT4">
                  <p:embed/>
                  <p:pic>
                    <p:nvPicPr>
                      <p:cNvPr id="15" name="对象 14">
                        <a:extLst>
                          <a:ext uri="{FF2B5EF4-FFF2-40B4-BE49-F238E27FC236}">
                            <a16:creationId xmlns:a16="http://schemas.microsoft.com/office/drawing/2014/main" id="{CF796419-9983-4CB7-B436-22D6DA59EE34}"/>
                          </a:ext>
                        </a:extLst>
                      </p:cNvPr>
                      <p:cNvPicPr>
                        <a:picLocks noChangeAspect="1" noChangeArrowheads="1"/>
                      </p:cNvPicPr>
                      <p:nvPr/>
                    </p:nvPicPr>
                    <p:blipFill>
                      <a:blip r:embed="rId4"/>
                      <a:srcRect/>
                      <a:stretch>
                        <a:fillRect/>
                      </a:stretch>
                    </p:blipFill>
                    <p:spPr bwMode="auto">
                      <a:xfrm>
                        <a:off x="1310034" y="2211711"/>
                        <a:ext cx="2419376" cy="787269"/>
                      </a:xfrm>
                      <a:prstGeom prst="rect">
                        <a:avLst/>
                      </a:prstGeom>
                      <a:noFill/>
                    </p:spPr>
                  </p:pic>
                </p:oleObj>
              </mc:Fallback>
            </mc:AlternateContent>
          </a:graphicData>
        </a:graphic>
      </p:graphicFrame>
      <p:pic>
        <p:nvPicPr>
          <p:cNvPr id="3" name="图片 2">
            <a:extLst>
              <a:ext uri="{FF2B5EF4-FFF2-40B4-BE49-F238E27FC236}">
                <a16:creationId xmlns:a16="http://schemas.microsoft.com/office/drawing/2014/main" id="{18EBAB7C-A988-6190-E62B-3EA86496C2CB}"/>
              </a:ext>
            </a:extLst>
          </p:cNvPr>
          <p:cNvPicPr>
            <a:picLocks noChangeAspect="1"/>
          </p:cNvPicPr>
          <p:nvPr/>
        </p:nvPicPr>
        <p:blipFill>
          <a:blip r:embed="rId5"/>
          <a:stretch>
            <a:fillRect/>
          </a:stretch>
        </p:blipFill>
        <p:spPr>
          <a:xfrm>
            <a:off x="1119925" y="3148557"/>
            <a:ext cx="4009157" cy="2672771"/>
          </a:xfrm>
          <a:prstGeom prst="rect">
            <a:avLst/>
          </a:prstGeom>
        </p:spPr>
      </p:pic>
      <p:graphicFrame>
        <p:nvGraphicFramePr>
          <p:cNvPr id="20" name="对象 19">
            <a:extLst>
              <a:ext uri="{FF2B5EF4-FFF2-40B4-BE49-F238E27FC236}">
                <a16:creationId xmlns:a16="http://schemas.microsoft.com/office/drawing/2014/main" id="{F78876B7-F0B1-8B7B-AFA1-8D25E1605598}"/>
              </a:ext>
            </a:extLst>
          </p:cNvPr>
          <p:cNvGraphicFramePr>
            <a:graphicFrameLocks noChangeAspect="1"/>
          </p:cNvGraphicFramePr>
          <p:nvPr>
            <p:extLst>
              <p:ext uri="{D42A27DB-BD31-4B8C-83A1-F6EECF244321}">
                <p14:modId xmlns:p14="http://schemas.microsoft.com/office/powerpoint/2010/main" val="1233284322"/>
              </p:ext>
            </p:extLst>
          </p:nvPr>
        </p:nvGraphicFramePr>
        <p:xfrm>
          <a:off x="4152898" y="4817398"/>
          <a:ext cx="653881" cy="452687"/>
        </p:xfrm>
        <a:graphic>
          <a:graphicData uri="http://schemas.openxmlformats.org/presentationml/2006/ole">
            <mc:AlternateContent xmlns:mc="http://schemas.openxmlformats.org/markup-compatibility/2006">
              <mc:Choice xmlns:v="urn:schemas-microsoft-com:vml" Requires="v">
                <p:oleObj name="Equation" r:id="rId6" imgW="330120" imgH="228600" progId="Equation.DSMT4">
                  <p:embed/>
                </p:oleObj>
              </mc:Choice>
              <mc:Fallback>
                <p:oleObj name="Equation" r:id="rId6" imgW="330120" imgH="228600" progId="Equation.DSMT4">
                  <p:embed/>
                  <p:pic>
                    <p:nvPicPr>
                      <p:cNvPr id="0" name=""/>
                      <p:cNvPicPr/>
                      <p:nvPr/>
                    </p:nvPicPr>
                    <p:blipFill>
                      <a:blip r:embed="rId7"/>
                      <a:stretch>
                        <a:fillRect/>
                      </a:stretch>
                    </p:blipFill>
                    <p:spPr>
                      <a:xfrm>
                        <a:off x="4152898" y="4817398"/>
                        <a:ext cx="653881" cy="45268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D7628DED-3C35-7210-7255-2FB0CCACBF60}"/>
              </a:ext>
            </a:extLst>
          </p:cNvPr>
          <p:cNvGraphicFramePr>
            <a:graphicFrameLocks noChangeAspect="1"/>
          </p:cNvGraphicFramePr>
          <p:nvPr>
            <p:extLst>
              <p:ext uri="{D42A27DB-BD31-4B8C-83A1-F6EECF244321}">
                <p14:modId xmlns:p14="http://schemas.microsoft.com/office/powerpoint/2010/main" val="3421600897"/>
              </p:ext>
            </p:extLst>
          </p:nvPr>
        </p:nvGraphicFramePr>
        <p:xfrm>
          <a:off x="3387512" y="3974066"/>
          <a:ext cx="683795" cy="492332"/>
        </p:xfrm>
        <a:graphic>
          <a:graphicData uri="http://schemas.openxmlformats.org/presentationml/2006/ole">
            <mc:AlternateContent xmlns:mc="http://schemas.openxmlformats.org/markup-compatibility/2006">
              <mc:Choice xmlns:v="urn:schemas-microsoft-com:vml" Requires="v">
                <p:oleObj name="Equation" r:id="rId8" imgW="317160" imgH="228600" progId="Equation.DSMT4">
                  <p:embed/>
                </p:oleObj>
              </mc:Choice>
              <mc:Fallback>
                <p:oleObj name="Equation" r:id="rId8" imgW="317160" imgH="228600" progId="Equation.DSMT4">
                  <p:embed/>
                  <p:pic>
                    <p:nvPicPr>
                      <p:cNvPr id="0" name=""/>
                      <p:cNvPicPr/>
                      <p:nvPr/>
                    </p:nvPicPr>
                    <p:blipFill>
                      <a:blip r:embed="rId9"/>
                      <a:stretch>
                        <a:fillRect/>
                      </a:stretch>
                    </p:blipFill>
                    <p:spPr>
                      <a:xfrm>
                        <a:off x="3387512" y="3974066"/>
                        <a:ext cx="683795" cy="492332"/>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4A3C5F83-8745-0B8B-F4EE-2867E91912D9}"/>
              </a:ext>
            </a:extLst>
          </p:cNvPr>
          <p:cNvGraphicFramePr>
            <a:graphicFrameLocks noChangeAspect="1"/>
          </p:cNvGraphicFramePr>
          <p:nvPr>
            <p:extLst>
              <p:ext uri="{D42A27DB-BD31-4B8C-83A1-F6EECF244321}">
                <p14:modId xmlns:p14="http://schemas.microsoft.com/office/powerpoint/2010/main" val="2997771799"/>
              </p:ext>
            </p:extLst>
          </p:nvPr>
        </p:nvGraphicFramePr>
        <p:xfrm>
          <a:off x="1586587" y="3479293"/>
          <a:ext cx="943491" cy="485224"/>
        </p:xfrm>
        <a:graphic>
          <a:graphicData uri="http://schemas.openxmlformats.org/presentationml/2006/ole">
            <mc:AlternateContent xmlns:mc="http://schemas.openxmlformats.org/markup-compatibility/2006">
              <mc:Choice xmlns:v="urn:schemas-microsoft-com:vml" Requires="v">
                <p:oleObj name="Equation" r:id="rId10" imgW="444240" imgH="228600" progId="Equation.DSMT4">
                  <p:embed/>
                </p:oleObj>
              </mc:Choice>
              <mc:Fallback>
                <p:oleObj name="Equation" r:id="rId10" imgW="444240" imgH="228600" progId="Equation.DSMT4">
                  <p:embed/>
                  <p:pic>
                    <p:nvPicPr>
                      <p:cNvPr id="0" name=""/>
                      <p:cNvPicPr/>
                      <p:nvPr/>
                    </p:nvPicPr>
                    <p:blipFill>
                      <a:blip r:embed="rId11"/>
                      <a:stretch>
                        <a:fillRect/>
                      </a:stretch>
                    </p:blipFill>
                    <p:spPr>
                      <a:xfrm>
                        <a:off x="1586587" y="3479293"/>
                        <a:ext cx="943491" cy="485224"/>
                      </a:xfrm>
                      <a:prstGeom prst="rect">
                        <a:avLst/>
                      </a:prstGeom>
                    </p:spPr>
                  </p:pic>
                </p:oleObj>
              </mc:Fallback>
            </mc:AlternateContent>
          </a:graphicData>
        </a:graphic>
      </p:graphicFrame>
      <p:cxnSp>
        <p:nvCxnSpPr>
          <p:cNvPr id="24" name="直接箭头连接符 23">
            <a:extLst>
              <a:ext uri="{FF2B5EF4-FFF2-40B4-BE49-F238E27FC236}">
                <a16:creationId xmlns:a16="http://schemas.microsoft.com/office/drawing/2014/main" id="{13D083D9-6146-7CE4-C2A8-A2C0A2266516}"/>
              </a:ext>
            </a:extLst>
          </p:cNvPr>
          <p:cNvCxnSpPr/>
          <p:nvPr/>
        </p:nvCxnSpPr>
        <p:spPr>
          <a:xfrm>
            <a:off x="2421924" y="3756452"/>
            <a:ext cx="358346" cy="2080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0744BC7-46C6-BC4D-AC08-18F8531899A1}"/>
              </a:ext>
            </a:extLst>
          </p:cNvPr>
          <p:cNvCxnSpPr>
            <a:cxnSpLocks/>
            <a:stCxn id="21" idx="1"/>
          </p:cNvCxnSpPr>
          <p:nvPr/>
        </p:nvCxnSpPr>
        <p:spPr>
          <a:xfrm flipH="1">
            <a:off x="2899893" y="4220232"/>
            <a:ext cx="487619" cy="2647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4F3A38CC-B430-D434-AAC0-B60CBFDF269D}"/>
              </a:ext>
            </a:extLst>
          </p:cNvPr>
          <p:cNvCxnSpPr>
            <a:cxnSpLocks/>
          </p:cNvCxnSpPr>
          <p:nvPr/>
        </p:nvCxnSpPr>
        <p:spPr>
          <a:xfrm flipH="1">
            <a:off x="2958413" y="5002236"/>
            <a:ext cx="119448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2" name="对象 31">
            <a:extLst>
              <a:ext uri="{FF2B5EF4-FFF2-40B4-BE49-F238E27FC236}">
                <a16:creationId xmlns:a16="http://schemas.microsoft.com/office/drawing/2014/main" id="{DC24CE86-FC22-35F2-D52F-9CDE6064D208}"/>
              </a:ext>
            </a:extLst>
          </p:cNvPr>
          <p:cNvGraphicFramePr>
            <a:graphicFrameLocks noChangeAspect="1"/>
          </p:cNvGraphicFramePr>
          <p:nvPr>
            <p:extLst>
              <p:ext uri="{D42A27DB-BD31-4B8C-83A1-F6EECF244321}">
                <p14:modId xmlns:p14="http://schemas.microsoft.com/office/powerpoint/2010/main" val="1185742789"/>
              </p:ext>
            </p:extLst>
          </p:nvPr>
        </p:nvGraphicFramePr>
        <p:xfrm>
          <a:off x="1428107" y="5890889"/>
          <a:ext cx="610757" cy="407171"/>
        </p:xfrm>
        <a:graphic>
          <a:graphicData uri="http://schemas.openxmlformats.org/presentationml/2006/ole">
            <mc:AlternateContent xmlns:mc="http://schemas.openxmlformats.org/markup-compatibility/2006">
              <mc:Choice xmlns:v="urn:schemas-microsoft-com:vml" Requires="v">
                <p:oleObj name="Equation" r:id="rId12" imgW="342720" imgH="228600" progId="Equation.DSMT4">
                  <p:embed/>
                </p:oleObj>
              </mc:Choice>
              <mc:Fallback>
                <p:oleObj name="Equation" r:id="rId12" imgW="342720" imgH="228600" progId="Equation.DSMT4">
                  <p:embed/>
                  <p:pic>
                    <p:nvPicPr>
                      <p:cNvPr id="0" name=""/>
                      <p:cNvPicPr/>
                      <p:nvPr/>
                    </p:nvPicPr>
                    <p:blipFill>
                      <a:blip r:embed="rId13"/>
                      <a:stretch>
                        <a:fillRect/>
                      </a:stretch>
                    </p:blipFill>
                    <p:spPr>
                      <a:xfrm>
                        <a:off x="1428107" y="5890889"/>
                        <a:ext cx="610757" cy="407171"/>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567F787A-941D-7885-E79E-266D5FE98585}"/>
              </a:ext>
            </a:extLst>
          </p:cNvPr>
          <p:cNvGraphicFramePr>
            <a:graphicFrameLocks noChangeAspect="1"/>
          </p:cNvGraphicFramePr>
          <p:nvPr>
            <p:extLst>
              <p:ext uri="{D42A27DB-BD31-4B8C-83A1-F6EECF244321}">
                <p14:modId xmlns:p14="http://schemas.microsoft.com/office/powerpoint/2010/main" val="2329796223"/>
              </p:ext>
            </p:extLst>
          </p:nvPr>
        </p:nvGraphicFramePr>
        <p:xfrm>
          <a:off x="2501420" y="5890289"/>
          <a:ext cx="278850" cy="418275"/>
        </p:xfrm>
        <a:graphic>
          <a:graphicData uri="http://schemas.openxmlformats.org/presentationml/2006/ole">
            <mc:AlternateContent xmlns:mc="http://schemas.openxmlformats.org/markup-compatibility/2006">
              <mc:Choice xmlns:v="urn:schemas-microsoft-com:vml" Requires="v">
                <p:oleObj name="Equation" r:id="rId14" imgW="152280" imgH="228600" progId="Equation.DSMT4">
                  <p:embed/>
                </p:oleObj>
              </mc:Choice>
              <mc:Fallback>
                <p:oleObj name="Equation" r:id="rId14" imgW="152280" imgH="228600" progId="Equation.DSMT4">
                  <p:embed/>
                  <p:pic>
                    <p:nvPicPr>
                      <p:cNvPr id="0" name=""/>
                      <p:cNvPicPr/>
                      <p:nvPr/>
                    </p:nvPicPr>
                    <p:blipFill>
                      <a:blip r:embed="rId15"/>
                      <a:stretch>
                        <a:fillRect/>
                      </a:stretch>
                    </p:blipFill>
                    <p:spPr>
                      <a:xfrm>
                        <a:off x="2501420" y="5890289"/>
                        <a:ext cx="278850" cy="418275"/>
                      </a:xfrm>
                      <a:prstGeom prst="rect">
                        <a:avLst/>
                      </a:prstGeom>
                    </p:spPr>
                  </p:pic>
                </p:oleObj>
              </mc:Fallback>
            </mc:AlternateContent>
          </a:graphicData>
        </a:graphic>
      </p:graphicFrame>
      <p:sp>
        <p:nvSpPr>
          <p:cNvPr id="34" name="矩形 33">
            <a:extLst>
              <a:ext uri="{FF2B5EF4-FFF2-40B4-BE49-F238E27FC236}">
                <a16:creationId xmlns:a16="http://schemas.microsoft.com/office/drawing/2014/main" id="{E55DEE36-4A66-AF5D-D1E5-FF6DD11F92E8}"/>
              </a:ext>
            </a:extLst>
          </p:cNvPr>
          <p:cNvSpPr/>
          <p:nvPr/>
        </p:nvSpPr>
        <p:spPr>
          <a:xfrm>
            <a:off x="2696206" y="5904581"/>
            <a:ext cx="2110573" cy="369332"/>
          </a:xfrm>
          <a:prstGeom prst="rect">
            <a:avLst/>
          </a:prstGeom>
        </p:spPr>
        <p:txBody>
          <a:bodyPr wrap="square">
            <a:spAutoFit/>
          </a:bodyPr>
          <a:lstStyle/>
          <a:p>
            <a:r>
              <a:rPr lang="zh-CN" altLang="en-US" b="1" dirty="0"/>
              <a:t>越大“过渡带”越陡</a:t>
            </a:r>
          </a:p>
        </p:txBody>
      </p:sp>
      <p:pic>
        <p:nvPicPr>
          <p:cNvPr id="35" name="图片 34">
            <a:extLst>
              <a:ext uri="{FF2B5EF4-FFF2-40B4-BE49-F238E27FC236}">
                <a16:creationId xmlns:a16="http://schemas.microsoft.com/office/drawing/2014/main" id="{59B798B0-5326-220D-D682-C4C60FADAFB6}"/>
              </a:ext>
            </a:extLst>
          </p:cNvPr>
          <p:cNvPicPr>
            <a:picLocks noChangeAspect="1"/>
          </p:cNvPicPr>
          <p:nvPr/>
        </p:nvPicPr>
        <p:blipFill>
          <a:blip r:embed="rId16"/>
          <a:stretch>
            <a:fillRect/>
          </a:stretch>
        </p:blipFill>
        <p:spPr>
          <a:xfrm>
            <a:off x="6615418" y="3133206"/>
            <a:ext cx="3999576" cy="2666384"/>
          </a:xfrm>
          <a:prstGeom prst="rect">
            <a:avLst/>
          </a:prstGeom>
        </p:spPr>
      </p:pic>
      <p:graphicFrame>
        <p:nvGraphicFramePr>
          <p:cNvPr id="36" name="对象 35">
            <a:extLst>
              <a:ext uri="{FF2B5EF4-FFF2-40B4-BE49-F238E27FC236}">
                <a16:creationId xmlns:a16="http://schemas.microsoft.com/office/drawing/2014/main" id="{2101FCBB-76E2-B5D1-441C-A8840C35B8B6}"/>
              </a:ext>
            </a:extLst>
          </p:cNvPr>
          <p:cNvGraphicFramePr>
            <a:graphicFrameLocks noChangeAspect="1"/>
          </p:cNvGraphicFramePr>
          <p:nvPr>
            <p:extLst>
              <p:ext uri="{D42A27DB-BD31-4B8C-83A1-F6EECF244321}">
                <p14:modId xmlns:p14="http://schemas.microsoft.com/office/powerpoint/2010/main" val="1162463227"/>
              </p:ext>
            </p:extLst>
          </p:nvPr>
        </p:nvGraphicFramePr>
        <p:xfrm>
          <a:off x="6946393" y="5876687"/>
          <a:ext cx="685712" cy="493712"/>
        </p:xfrm>
        <a:graphic>
          <a:graphicData uri="http://schemas.openxmlformats.org/presentationml/2006/ole">
            <mc:AlternateContent xmlns:mc="http://schemas.openxmlformats.org/markup-compatibility/2006">
              <mc:Choice xmlns:v="urn:schemas-microsoft-com:vml" Requires="v">
                <p:oleObj name="Equation" r:id="rId17" imgW="317160" imgH="228600" progId="Equation.DSMT4">
                  <p:embed/>
                </p:oleObj>
              </mc:Choice>
              <mc:Fallback>
                <p:oleObj name="Equation" r:id="rId17" imgW="317160" imgH="228600" progId="Equation.DSMT4">
                  <p:embed/>
                  <p:pic>
                    <p:nvPicPr>
                      <p:cNvPr id="0" name=""/>
                      <p:cNvPicPr/>
                      <p:nvPr/>
                    </p:nvPicPr>
                    <p:blipFill>
                      <a:blip r:embed="rId18"/>
                      <a:stretch>
                        <a:fillRect/>
                      </a:stretch>
                    </p:blipFill>
                    <p:spPr>
                      <a:xfrm>
                        <a:off x="6946393" y="5876687"/>
                        <a:ext cx="685712" cy="493712"/>
                      </a:xfrm>
                      <a:prstGeom prst="rect">
                        <a:avLst/>
                      </a:prstGeom>
                    </p:spPr>
                  </p:pic>
                </p:oleObj>
              </mc:Fallback>
            </mc:AlternateContent>
          </a:graphicData>
        </a:graphic>
      </p:graphicFrame>
      <p:graphicFrame>
        <p:nvGraphicFramePr>
          <p:cNvPr id="37" name="对象 36">
            <a:extLst>
              <a:ext uri="{FF2B5EF4-FFF2-40B4-BE49-F238E27FC236}">
                <a16:creationId xmlns:a16="http://schemas.microsoft.com/office/drawing/2014/main" id="{63CC4EDF-2828-0440-0726-B0BE0060808F}"/>
              </a:ext>
            </a:extLst>
          </p:cNvPr>
          <p:cNvGraphicFramePr>
            <a:graphicFrameLocks noChangeAspect="1"/>
          </p:cNvGraphicFramePr>
          <p:nvPr>
            <p:extLst>
              <p:ext uri="{D42A27DB-BD31-4B8C-83A1-F6EECF244321}">
                <p14:modId xmlns:p14="http://schemas.microsoft.com/office/powerpoint/2010/main" val="98808451"/>
              </p:ext>
            </p:extLst>
          </p:nvPr>
        </p:nvGraphicFramePr>
        <p:xfrm>
          <a:off x="8610600" y="5886969"/>
          <a:ext cx="362302" cy="502046"/>
        </p:xfrm>
        <a:graphic>
          <a:graphicData uri="http://schemas.openxmlformats.org/presentationml/2006/ole">
            <mc:AlternateContent xmlns:mc="http://schemas.openxmlformats.org/markup-compatibility/2006">
              <mc:Choice xmlns:v="urn:schemas-microsoft-com:vml" Requires="v">
                <p:oleObj name="Equation" r:id="rId19" imgW="164880" imgH="228600" progId="Equation.DSMT4">
                  <p:embed/>
                </p:oleObj>
              </mc:Choice>
              <mc:Fallback>
                <p:oleObj name="Equation" r:id="rId19" imgW="164880" imgH="228600" progId="Equation.DSMT4">
                  <p:embed/>
                  <p:pic>
                    <p:nvPicPr>
                      <p:cNvPr id="0" name=""/>
                      <p:cNvPicPr/>
                      <p:nvPr/>
                    </p:nvPicPr>
                    <p:blipFill>
                      <a:blip r:embed="rId20"/>
                      <a:stretch>
                        <a:fillRect/>
                      </a:stretch>
                    </p:blipFill>
                    <p:spPr>
                      <a:xfrm>
                        <a:off x="8610600" y="5886969"/>
                        <a:ext cx="362302" cy="502046"/>
                      </a:xfrm>
                      <a:prstGeom prst="rect">
                        <a:avLst/>
                      </a:prstGeom>
                    </p:spPr>
                  </p:pic>
                </p:oleObj>
              </mc:Fallback>
            </mc:AlternateContent>
          </a:graphicData>
        </a:graphic>
      </p:graphicFrame>
      <p:sp>
        <p:nvSpPr>
          <p:cNvPr id="38" name="矩形 37">
            <a:extLst>
              <a:ext uri="{FF2B5EF4-FFF2-40B4-BE49-F238E27FC236}">
                <a16:creationId xmlns:a16="http://schemas.microsoft.com/office/drawing/2014/main" id="{F46B6B70-BE65-1011-2988-8AE68A0D7F4D}"/>
              </a:ext>
            </a:extLst>
          </p:cNvPr>
          <p:cNvSpPr/>
          <p:nvPr/>
        </p:nvSpPr>
        <p:spPr>
          <a:xfrm>
            <a:off x="8960109" y="5925975"/>
            <a:ext cx="2044181" cy="369332"/>
          </a:xfrm>
          <a:prstGeom prst="rect">
            <a:avLst/>
          </a:prstGeom>
        </p:spPr>
        <p:txBody>
          <a:bodyPr wrap="square">
            <a:spAutoFit/>
          </a:bodyPr>
          <a:lstStyle/>
          <a:p>
            <a:r>
              <a:rPr lang="zh-CN" altLang="en-US" b="1" dirty="0"/>
              <a:t>决定左右位置</a:t>
            </a:r>
          </a:p>
        </p:txBody>
      </p:sp>
      <p:graphicFrame>
        <p:nvGraphicFramePr>
          <p:cNvPr id="39" name="对象 38">
            <a:extLst>
              <a:ext uri="{FF2B5EF4-FFF2-40B4-BE49-F238E27FC236}">
                <a16:creationId xmlns:a16="http://schemas.microsoft.com/office/drawing/2014/main" id="{10A5C2CC-74B1-5FBD-F390-FD21206C17D6}"/>
              </a:ext>
            </a:extLst>
          </p:cNvPr>
          <p:cNvGraphicFramePr>
            <a:graphicFrameLocks noChangeAspect="1"/>
          </p:cNvGraphicFramePr>
          <p:nvPr>
            <p:extLst>
              <p:ext uri="{D42A27DB-BD31-4B8C-83A1-F6EECF244321}">
                <p14:modId xmlns:p14="http://schemas.microsoft.com/office/powerpoint/2010/main" val="2970948318"/>
              </p:ext>
            </p:extLst>
          </p:nvPr>
        </p:nvGraphicFramePr>
        <p:xfrm>
          <a:off x="7289249" y="3860484"/>
          <a:ext cx="582633" cy="388422"/>
        </p:xfrm>
        <a:graphic>
          <a:graphicData uri="http://schemas.openxmlformats.org/presentationml/2006/ole">
            <mc:AlternateContent xmlns:mc="http://schemas.openxmlformats.org/markup-compatibility/2006">
              <mc:Choice xmlns:v="urn:schemas-microsoft-com:vml" Requires="v">
                <p:oleObj name="Equation" r:id="rId21" imgW="342720" imgH="228600" progId="Equation.DSMT4">
                  <p:embed/>
                </p:oleObj>
              </mc:Choice>
              <mc:Fallback>
                <p:oleObj name="Equation" r:id="rId21" imgW="342720" imgH="228600" progId="Equation.DSMT4">
                  <p:embed/>
                  <p:pic>
                    <p:nvPicPr>
                      <p:cNvPr id="0" name=""/>
                      <p:cNvPicPr/>
                      <p:nvPr/>
                    </p:nvPicPr>
                    <p:blipFill>
                      <a:blip r:embed="rId22"/>
                      <a:stretch>
                        <a:fillRect/>
                      </a:stretch>
                    </p:blipFill>
                    <p:spPr>
                      <a:xfrm>
                        <a:off x="7289249" y="3860484"/>
                        <a:ext cx="582633" cy="388422"/>
                      </a:xfrm>
                      <a:prstGeom prst="rect">
                        <a:avLst/>
                      </a:prstGeom>
                    </p:spPr>
                  </p:pic>
                </p:oleObj>
              </mc:Fallback>
            </mc:AlternateContent>
          </a:graphicData>
        </a:graphic>
      </p:graphicFrame>
      <p:cxnSp>
        <p:nvCxnSpPr>
          <p:cNvPr id="41" name="直接箭头连接符 40">
            <a:extLst>
              <a:ext uri="{FF2B5EF4-FFF2-40B4-BE49-F238E27FC236}">
                <a16:creationId xmlns:a16="http://schemas.microsoft.com/office/drawing/2014/main" id="{DA86C618-6A2A-A9EE-638A-CA9350FB09E1}"/>
              </a:ext>
            </a:extLst>
          </p:cNvPr>
          <p:cNvCxnSpPr>
            <a:cxnSpLocks/>
            <a:stCxn id="39" idx="3"/>
          </p:cNvCxnSpPr>
          <p:nvPr/>
        </p:nvCxnSpPr>
        <p:spPr>
          <a:xfrm>
            <a:off x="7871882" y="4054695"/>
            <a:ext cx="444215" cy="770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5" name="对象 44">
            <a:extLst>
              <a:ext uri="{FF2B5EF4-FFF2-40B4-BE49-F238E27FC236}">
                <a16:creationId xmlns:a16="http://schemas.microsoft.com/office/drawing/2014/main" id="{8D0E8C95-24AC-8DA3-5374-E5D4D9E231C7}"/>
              </a:ext>
            </a:extLst>
          </p:cNvPr>
          <p:cNvGraphicFramePr>
            <a:graphicFrameLocks noChangeAspect="1"/>
          </p:cNvGraphicFramePr>
          <p:nvPr>
            <p:extLst>
              <p:ext uri="{D42A27DB-BD31-4B8C-83A1-F6EECF244321}">
                <p14:modId xmlns:p14="http://schemas.microsoft.com/office/powerpoint/2010/main" val="2738301483"/>
              </p:ext>
            </p:extLst>
          </p:nvPr>
        </p:nvGraphicFramePr>
        <p:xfrm>
          <a:off x="7431066" y="4521525"/>
          <a:ext cx="582634" cy="388423"/>
        </p:xfrm>
        <a:graphic>
          <a:graphicData uri="http://schemas.openxmlformats.org/presentationml/2006/ole">
            <mc:AlternateContent xmlns:mc="http://schemas.openxmlformats.org/markup-compatibility/2006">
              <mc:Choice xmlns:v="urn:schemas-microsoft-com:vml" Requires="v">
                <p:oleObj name="Equation" r:id="rId23" imgW="342720" imgH="228600" progId="Equation.DSMT4">
                  <p:embed/>
                </p:oleObj>
              </mc:Choice>
              <mc:Fallback>
                <p:oleObj name="Equation" r:id="rId23" imgW="342720" imgH="228600" progId="Equation.DSMT4">
                  <p:embed/>
                  <p:pic>
                    <p:nvPicPr>
                      <p:cNvPr id="0" name=""/>
                      <p:cNvPicPr/>
                      <p:nvPr/>
                    </p:nvPicPr>
                    <p:blipFill>
                      <a:blip r:embed="rId24"/>
                      <a:stretch>
                        <a:fillRect/>
                      </a:stretch>
                    </p:blipFill>
                    <p:spPr>
                      <a:xfrm>
                        <a:off x="7431066" y="4521525"/>
                        <a:ext cx="582634" cy="388423"/>
                      </a:xfrm>
                      <a:prstGeom prst="rect">
                        <a:avLst/>
                      </a:prstGeom>
                    </p:spPr>
                  </p:pic>
                </p:oleObj>
              </mc:Fallback>
            </mc:AlternateContent>
          </a:graphicData>
        </a:graphic>
      </p:graphicFrame>
      <p:cxnSp>
        <p:nvCxnSpPr>
          <p:cNvPr id="46" name="直接箭头连接符 45">
            <a:extLst>
              <a:ext uri="{FF2B5EF4-FFF2-40B4-BE49-F238E27FC236}">
                <a16:creationId xmlns:a16="http://schemas.microsoft.com/office/drawing/2014/main" id="{FFAC8A51-69B3-AB8F-84EF-4267FB1A1A4B}"/>
              </a:ext>
            </a:extLst>
          </p:cNvPr>
          <p:cNvCxnSpPr>
            <a:cxnSpLocks/>
          </p:cNvCxnSpPr>
          <p:nvPr/>
        </p:nvCxnSpPr>
        <p:spPr>
          <a:xfrm>
            <a:off x="8093989" y="4699000"/>
            <a:ext cx="5166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9" name="对象 48">
            <a:extLst>
              <a:ext uri="{FF2B5EF4-FFF2-40B4-BE49-F238E27FC236}">
                <a16:creationId xmlns:a16="http://schemas.microsoft.com/office/drawing/2014/main" id="{A78546F9-CE6B-D05E-A9FC-80B29864289F}"/>
              </a:ext>
            </a:extLst>
          </p:cNvPr>
          <p:cNvGraphicFramePr>
            <a:graphicFrameLocks noChangeAspect="1"/>
          </p:cNvGraphicFramePr>
          <p:nvPr>
            <p:extLst>
              <p:ext uri="{D42A27DB-BD31-4B8C-83A1-F6EECF244321}">
                <p14:modId xmlns:p14="http://schemas.microsoft.com/office/powerpoint/2010/main" val="220994810"/>
              </p:ext>
            </p:extLst>
          </p:nvPr>
        </p:nvGraphicFramePr>
        <p:xfrm>
          <a:off x="9388551" y="4504789"/>
          <a:ext cx="844392" cy="388421"/>
        </p:xfrm>
        <a:graphic>
          <a:graphicData uri="http://schemas.openxmlformats.org/presentationml/2006/ole">
            <mc:AlternateContent xmlns:mc="http://schemas.openxmlformats.org/markup-compatibility/2006">
              <mc:Choice xmlns:v="urn:schemas-microsoft-com:vml" Requires="v">
                <p:oleObj name="Equation" r:id="rId25" imgW="495000" imgH="228600" progId="Equation.DSMT4">
                  <p:embed/>
                </p:oleObj>
              </mc:Choice>
              <mc:Fallback>
                <p:oleObj name="Equation" r:id="rId25" imgW="495000" imgH="228600" progId="Equation.DSMT4">
                  <p:embed/>
                  <p:pic>
                    <p:nvPicPr>
                      <p:cNvPr id="0" name=""/>
                      <p:cNvPicPr/>
                      <p:nvPr/>
                    </p:nvPicPr>
                    <p:blipFill>
                      <a:blip r:embed="rId26"/>
                      <a:stretch>
                        <a:fillRect/>
                      </a:stretch>
                    </p:blipFill>
                    <p:spPr>
                      <a:xfrm>
                        <a:off x="9388551" y="4504789"/>
                        <a:ext cx="844392" cy="388421"/>
                      </a:xfrm>
                      <a:prstGeom prst="rect">
                        <a:avLst/>
                      </a:prstGeom>
                    </p:spPr>
                  </p:pic>
                </p:oleObj>
              </mc:Fallback>
            </mc:AlternateContent>
          </a:graphicData>
        </a:graphic>
      </p:graphicFrame>
      <p:cxnSp>
        <p:nvCxnSpPr>
          <p:cNvPr id="50" name="直接箭头连接符 49">
            <a:extLst>
              <a:ext uri="{FF2B5EF4-FFF2-40B4-BE49-F238E27FC236}">
                <a16:creationId xmlns:a16="http://schemas.microsoft.com/office/drawing/2014/main" id="{7FA6C1B1-D55B-8E67-5B00-D9525FF8BFAF}"/>
              </a:ext>
            </a:extLst>
          </p:cNvPr>
          <p:cNvCxnSpPr>
            <a:cxnSpLocks/>
          </p:cNvCxnSpPr>
          <p:nvPr/>
        </p:nvCxnSpPr>
        <p:spPr>
          <a:xfrm flipH="1">
            <a:off x="9001571" y="4715736"/>
            <a:ext cx="3869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99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26</a:t>
            </a:fld>
            <a:endParaRPr lang="zh-CN" altLang="en-US"/>
          </a:p>
        </p:txBody>
      </p:sp>
      <p:sp>
        <p:nvSpPr>
          <p:cNvPr id="6" name="矩形 5"/>
          <p:cNvSpPr/>
          <p:nvPr/>
        </p:nvSpPr>
        <p:spPr>
          <a:xfrm>
            <a:off x="776706" y="1731854"/>
            <a:ext cx="3747679" cy="369332"/>
          </a:xfrm>
          <a:prstGeom prst="rect">
            <a:avLst/>
          </a:prstGeom>
        </p:spPr>
        <p:txBody>
          <a:bodyPr wrap="square">
            <a:spAutoFit/>
          </a:bodyPr>
          <a:lstStyle/>
          <a:p>
            <a:r>
              <a:rPr lang="zh-CN" altLang="en-US" b="1" dirty="0"/>
              <a:t>② 损失函数 </a:t>
            </a:r>
            <a:r>
              <a:rPr lang="en-US" altLang="zh-CN" b="1" dirty="0"/>
              <a:t>Loss Function</a:t>
            </a:r>
            <a:endParaRPr lang="zh-CN" altLang="en-US" b="1" dirty="0"/>
          </a:p>
        </p:txBody>
      </p:sp>
      <p:graphicFrame>
        <p:nvGraphicFramePr>
          <p:cNvPr id="20" name="对象 19">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1253717" y="2324617"/>
          <a:ext cx="1693862" cy="439795"/>
        </p:xfrm>
        <a:graphic>
          <a:graphicData uri="http://schemas.openxmlformats.org/presentationml/2006/ole">
            <mc:AlternateContent xmlns:mc="http://schemas.openxmlformats.org/markup-compatibility/2006">
              <mc:Choice xmlns:v="urn:schemas-microsoft-com:vml" Requires="v">
                <p:oleObj name="Equation" r:id="rId3" imgW="965160" imgH="253800" progId="Equation.DSMT4">
                  <p:embed/>
                </p:oleObj>
              </mc:Choice>
              <mc:Fallback>
                <p:oleObj name="Equation" r:id="rId3" imgW="965160" imgH="253800" progId="Equation.DSMT4">
                  <p:embed/>
                  <p:pic>
                    <p:nvPicPr>
                      <p:cNvPr id="20" name="对象 19">
                        <a:extLst>
                          <a:ext uri="{FF2B5EF4-FFF2-40B4-BE49-F238E27FC236}">
                            <a16:creationId xmlns:a16="http://schemas.microsoft.com/office/drawing/2014/main" id="{EEABB904-9AD6-41E0-AAE3-6AF2A9716949}"/>
                          </a:ext>
                        </a:extLst>
                      </p:cNvPr>
                      <p:cNvPicPr>
                        <a:picLocks noChangeAspect="1" noChangeArrowheads="1"/>
                      </p:cNvPicPr>
                      <p:nvPr/>
                    </p:nvPicPr>
                    <p:blipFill>
                      <a:blip r:embed="rId4"/>
                      <a:srcRect/>
                      <a:stretch>
                        <a:fillRect/>
                      </a:stretch>
                    </p:blipFill>
                    <p:spPr bwMode="auto">
                      <a:xfrm>
                        <a:off x="1253717" y="2324617"/>
                        <a:ext cx="1693862" cy="439795"/>
                      </a:xfrm>
                      <a:prstGeom prst="rect">
                        <a:avLst/>
                      </a:prstGeom>
                      <a:noFill/>
                    </p:spPr>
                  </p:pic>
                </p:oleObj>
              </mc:Fallback>
            </mc:AlternateContent>
          </a:graphicData>
        </a:graphic>
      </p:graphicFrame>
      <p:pic>
        <p:nvPicPr>
          <p:cNvPr id="21" name="图片 20">
            <a:extLst>
              <a:ext uri="{FF2B5EF4-FFF2-40B4-BE49-F238E27FC236}">
                <a16:creationId xmlns:a16="http://schemas.microsoft.com/office/drawing/2014/main" id="{55C751B8-E6E9-4A8F-A612-3187493571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4370" y="1875354"/>
            <a:ext cx="3803629" cy="2581737"/>
          </a:xfrm>
          <a:prstGeom prst="rect">
            <a:avLst/>
          </a:prstGeom>
        </p:spPr>
      </p:pic>
    </p:spTree>
    <p:extLst>
      <p:ext uri="{BB962C8B-B14F-4D97-AF65-F5344CB8AC3E}">
        <p14:creationId xmlns:p14="http://schemas.microsoft.com/office/powerpoint/2010/main" val="3748298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27</a:t>
            </a:fld>
            <a:endParaRPr lang="zh-CN" altLang="en-US"/>
          </a:p>
        </p:txBody>
      </p:sp>
      <p:sp>
        <p:nvSpPr>
          <p:cNvPr id="6" name="矩形 5"/>
          <p:cNvSpPr/>
          <p:nvPr/>
        </p:nvSpPr>
        <p:spPr>
          <a:xfrm>
            <a:off x="776706" y="1731854"/>
            <a:ext cx="3747679" cy="369332"/>
          </a:xfrm>
          <a:prstGeom prst="rect">
            <a:avLst/>
          </a:prstGeom>
        </p:spPr>
        <p:txBody>
          <a:bodyPr wrap="square">
            <a:spAutoFit/>
          </a:bodyPr>
          <a:lstStyle/>
          <a:p>
            <a:r>
              <a:rPr lang="zh-CN" altLang="en-US" dirty="0"/>
              <a:t>② 损失函数 </a:t>
            </a:r>
            <a:r>
              <a:rPr lang="en-US" altLang="zh-CN" dirty="0"/>
              <a:t>Loss Function</a:t>
            </a:r>
            <a:endParaRPr lang="zh-CN" altLang="en-US" dirty="0"/>
          </a:p>
        </p:txBody>
      </p:sp>
      <p:graphicFrame>
        <p:nvGraphicFramePr>
          <p:cNvPr id="20" name="对象 19">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1253717" y="2324617"/>
          <a:ext cx="1693862" cy="439795"/>
        </p:xfrm>
        <a:graphic>
          <a:graphicData uri="http://schemas.openxmlformats.org/presentationml/2006/ole">
            <mc:AlternateContent xmlns:mc="http://schemas.openxmlformats.org/markup-compatibility/2006">
              <mc:Choice xmlns:v="urn:schemas-microsoft-com:vml" Requires="v">
                <p:oleObj name="Equation" r:id="rId3" imgW="965160" imgH="253800" progId="Equation.DSMT4">
                  <p:embed/>
                </p:oleObj>
              </mc:Choice>
              <mc:Fallback>
                <p:oleObj name="Equation" r:id="rId3" imgW="965160" imgH="253800" progId="Equation.DSMT4">
                  <p:embed/>
                  <p:pic>
                    <p:nvPicPr>
                      <p:cNvPr id="20" name="对象 19">
                        <a:extLst>
                          <a:ext uri="{FF2B5EF4-FFF2-40B4-BE49-F238E27FC236}">
                            <a16:creationId xmlns:a16="http://schemas.microsoft.com/office/drawing/2014/main" id="{EEABB904-9AD6-41E0-AAE3-6AF2A9716949}"/>
                          </a:ext>
                        </a:extLst>
                      </p:cNvPr>
                      <p:cNvPicPr>
                        <a:picLocks noChangeAspect="1" noChangeArrowheads="1"/>
                      </p:cNvPicPr>
                      <p:nvPr/>
                    </p:nvPicPr>
                    <p:blipFill>
                      <a:blip r:embed="rId4"/>
                      <a:srcRect/>
                      <a:stretch>
                        <a:fillRect/>
                      </a:stretch>
                    </p:blipFill>
                    <p:spPr bwMode="auto">
                      <a:xfrm>
                        <a:off x="1253717" y="2324617"/>
                        <a:ext cx="1693862" cy="439795"/>
                      </a:xfrm>
                      <a:prstGeom prst="rect">
                        <a:avLst/>
                      </a:prstGeom>
                      <a:noFill/>
                    </p:spPr>
                  </p:pic>
                </p:oleObj>
              </mc:Fallback>
            </mc:AlternateContent>
          </a:graphicData>
        </a:graphic>
      </p:graphicFrame>
      <p:pic>
        <p:nvPicPr>
          <p:cNvPr id="21" name="图片 20">
            <a:extLst>
              <a:ext uri="{FF2B5EF4-FFF2-40B4-BE49-F238E27FC236}">
                <a16:creationId xmlns:a16="http://schemas.microsoft.com/office/drawing/2014/main" id="{55C751B8-E6E9-4A8F-A612-3187493571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4370" y="1875354"/>
            <a:ext cx="3803629" cy="2581737"/>
          </a:xfrm>
          <a:prstGeom prst="rect">
            <a:avLst/>
          </a:prstGeom>
        </p:spPr>
      </p:pic>
      <p:sp>
        <p:nvSpPr>
          <p:cNvPr id="3" name="文本框 2"/>
          <p:cNvSpPr txBox="1"/>
          <p:nvPr/>
        </p:nvSpPr>
        <p:spPr>
          <a:xfrm>
            <a:off x="1214438" y="2902740"/>
            <a:ext cx="5478462" cy="369332"/>
          </a:xfrm>
          <a:prstGeom prst="rect">
            <a:avLst/>
          </a:prstGeom>
          <a:noFill/>
        </p:spPr>
        <p:txBody>
          <a:bodyPr wrap="square" rtlCol="0">
            <a:spAutoFit/>
          </a:bodyPr>
          <a:lstStyle/>
          <a:p>
            <a:r>
              <a:rPr lang="zh-CN" altLang="en-US" dirty="0"/>
              <a:t>沿用上一讲中的最小二乘原则：</a:t>
            </a:r>
            <a:endParaRPr lang="en-US" altLang="zh-CN" dirty="0"/>
          </a:p>
        </p:txBody>
      </p:sp>
      <p:graphicFrame>
        <p:nvGraphicFramePr>
          <p:cNvPr id="22" name="对象 21">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1253717" y="3493939"/>
          <a:ext cx="4678362" cy="754792"/>
        </p:xfrm>
        <a:graphic>
          <a:graphicData uri="http://schemas.openxmlformats.org/presentationml/2006/ole">
            <mc:AlternateContent xmlns:mc="http://schemas.openxmlformats.org/markup-compatibility/2006">
              <mc:Choice xmlns:v="urn:schemas-microsoft-com:vml" Requires="v">
                <p:oleObj name="Equation" r:id="rId6" imgW="2869920" imgH="469800" progId="Equation.DSMT4">
                  <p:embed/>
                </p:oleObj>
              </mc:Choice>
              <mc:Fallback>
                <p:oleObj name="Equation" r:id="rId6" imgW="2869920" imgH="469800" progId="Equation.DSMT4">
                  <p:embed/>
                  <p:pic>
                    <p:nvPicPr>
                      <p:cNvPr id="22" name="对象 21">
                        <a:extLst>
                          <a:ext uri="{FF2B5EF4-FFF2-40B4-BE49-F238E27FC236}">
                            <a16:creationId xmlns:a16="http://schemas.microsoft.com/office/drawing/2014/main" id="{EEABB904-9AD6-41E0-AAE3-6AF2A9716949}"/>
                          </a:ext>
                        </a:extLst>
                      </p:cNvPr>
                      <p:cNvPicPr>
                        <a:picLocks noChangeAspect="1" noChangeArrowheads="1"/>
                      </p:cNvPicPr>
                      <p:nvPr/>
                    </p:nvPicPr>
                    <p:blipFill>
                      <a:blip r:embed="rId7"/>
                      <a:srcRect/>
                      <a:stretch>
                        <a:fillRect/>
                      </a:stretch>
                    </p:blipFill>
                    <p:spPr bwMode="auto">
                      <a:xfrm>
                        <a:off x="1253717" y="3493939"/>
                        <a:ext cx="4678362" cy="754792"/>
                      </a:xfrm>
                      <a:prstGeom prst="rect">
                        <a:avLst/>
                      </a:prstGeom>
                      <a:noFill/>
                    </p:spPr>
                  </p:pic>
                </p:oleObj>
              </mc:Fallback>
            </mc:AlternateContent>
          </a:graphicData>
        </a:graphic>
      </p:graphicFrame>
      <p:cxnSp>
        <p:nvCxnSpPr>
          <p:cNvPr id="23" name="直接连接符 22">
            <a:extLst>
              <a:ext uri="{FF2B5EF4-FFF2-40B4-BE49-F238E27FC236}">
                <a16:creationId xmlns:a16="http://schemas.microsoft.com/office/drawing/2014/main" id="{AA505458-BF69-48CA-9762-81B3F6453003}"/>
              </a:ext>
            </a:extLst>
          </p:cNvPr>
          <p:cNvCxnSpPr>
            <a:cxnSpLocks/>
          </p:cNvCxnSpPr>
          <p:nvPr/>
        </p:nvCxnSpPr>
        <p:spPr>
          <a:xfrm>
            <a:off x="8516549" y="2041193"/>
            <a:ext cx="0" cy="5668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5" name="对象 24">
            <a:extLst>
              <a:ext uri="{FF2B5EF4-FFF2-40B4-BE49-F238E27FC236}">
                <a16:creationId xmlns:a16="http://schemas.microsoft.com/office/drawing/2014/main" id="{EEABB904-9AD6-41E0-AAE3-6AF2A9716949}"/>
              </a:ext>
            </a:extLst>
          </p:cNvPr>
          <p:cNvGraphicFramePr>
            <a:graphicFrameLocks noChangeAspect="1"/>
          </p:cNvGraphicFramePr>
          <p:nvPr/>
        </p:nvGraphicFramePr>
        <p:xfrm>
          <a:off x="7375127" y="2120624"/>
          <a:ext cx="1055687" cy="407987"/>
        </p:xfrm>
        <a:graphic>
          <a:graphicData uri="http://schemas.openxmlformats.org/presentationml/2006/ole">
            <mc:AlternateContent xmlns:mc="http://schemas.openxmlformats.org/markup-compatibility/2006">
              <mc:Choice xmlns:v="urn:schemas-microsoft-com:vml" Requires="v">
                <p:oleObj name="Equation" r:id="rId8" imgW="647640" imgH="253800" progId="Equation.DSMT4">
                  <p:embed/>
                </p:oleObj>
              </mc:Choice>
              <mc:Fallback>
                <p:oleObj name="Equation" r:id="rId8" imgW="647640" imgH="253800" progId="Equation.DSMT4">
                  <p:embed/>
                  <p:pic>
                    <p:nvPicPr>
                      <p:cNvPr id="25" name="对象 24">
                        <a:extLst>
                          <a:ext uri="{FF2B5EF4-FFF2-40B4-BE49-F238E27FC236}">
                            <a16:creationId xmlns:a16="http://schemas.microsoft.com/office/drawing/2014/main" id="{EEABB904-9AD6-41E0-AAE3-6AF2A9716949}"/>
                          </a:ext>
                        </a:extLst>
                      </p:cNvPr>
                      <p:cNvPicPr>
                        <a:picLocks noChangeAspect="1" noChangeArrowheads="1"/>
                      </p:cNvPicPr>
                      <p:nvPr/>
                    </p:nvPicPr>
                    <p:blipFill>
                      <a:blip r:embed="rId9"/>
                      <a:srcRect/>
                      <a:stretch>
                        <a:fillRect/>
                      </a:stretch>
                    </p:blipFill>
                    <p:spPr bwMode="auto">
                      <a:xfrm>
                        <a:off x="7375127" y="2120624"/>
                        <a:ext cx="1055687" cy="407987"/>
                      </a:xfrm>
                      <a:prstGeom prst="rect">
                        <a:avLst/>
                      </a:prstGeom>
                      <a:noFill/>
                    </p:spPr>
                  </p:pic>
                </p:oleObj>
              </mc:Fallback>
            </mc:AlternateContent>
          </a:graphicData>
        </a:graphic>
      </p:graphicFrame>
    </p:spTree>
    <p:extLst>
      <p:ext uri="{BB962C8B-B14F-4D97-AF65-F5344CB8AC3E}">
        <p14:creationId xmlns:p14="http://schemas.microsoft.com/office/powerpoint/2010/main" val="3776385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28</a:t>
            </a:fld>
            <a:endParaRPr lang="zh-CN" altLang="en-US"/>
          </a:p>
        </p:txBody>
      </p:sp>
      <p:sp>
        <p:nvSpPr>
          <p:cNvPr id="6" name="矩形 5"/>
          <p:cNvSpPr/>
          <p:nvPr/>
        </p:nvSpPr>
        <p:spPr>
          <a:xfrm>
            <a:off x="776706" y="1731854"/>
            <a:ext cx="3747679" cy="369332"/>
          </a:xfrm>
          <a:prstGeom prst="rect">
            <a:avLst/>
          </a:prstGeom>
        </p:spPr>
        <p:txBody>
          <a:bodyPr wrap="square">
            <a:spAutoFit/>
          </a:bodyPr>
          <a:lstStyle/>
          <a:p>
            <a:r>
              <a:rPr lang="zh-CN" altLang="en-US" dirty="0"/>
              <a:t>② 损失函数 </a:t>
            </a:r>
            <a:r>
              <a:rPr lang="en-US" altLang="zh-CN" dirty="0"/>
              <a:t>Loss Function</a:t>
            </a:r>
            <a:endParaRPr lang="zh-CN" altLang="en-US" dirty="0"/>
          </a:p>
        </p:txBody>
      </p:sp>
      <p:graphicFrame>
        <p:nvGraphicFramePr>
          <p:cNvPr id="20" name="对象 19">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3867868106"/>
              </p:ext>
            </p:extLst>
          </p:nvPr>
        </p:nvGraphicFramePr>
        <p:xfrm>
          <a:off x="1253717" y="2324617"/>
          <a:ext cx="1693862" cy="439795"/>
        </p:xfrm>
        <a:graphic>
          <a:graphicData uri="http://schemas.openxmlformats.org/presentationml/2006/ole">
            <mc:AlternateContent xmlns:mc="http://schemas.openxmlformats.org/markup-compatibility/2006">
              <mc:Choice xmlns:v="urn:schemas-microsoft-com:vml" Requires="v">
                <p:oleObj name="Equation" r:id="rId3" imgW="965160" imgH="253800" progId="Equation.DSMT4">
                  <p:embed/>
                </p:oleObj>
              </mc:Choice>
              <mc:Fallback>
                <p:oleObj name="Equation" r:id="rId3" imgW="965160" imgH="253800" progId="Equation.DSMT4">
                  <p:embed/>
                  <p:pic>
                    <p:nvPicPr>
                      <p:cNvPr id="6" name="对象 5">
                        <a:extLst>
                          <a:ext uri="{FF2B5EF4-FFF2-40B4-BE49-F238E27FC236}">
                            <a16:creationId xmlns:a16="http://schemas.microsoft.com/office/drawing/2014/main" id="{EEABB904-9AD6-41E0-AAE3-6AF2A9716949}"/>
                          </a:ext>
                        </a:extLst>
                      </p:cNvPr>
                      <p:cNvPicPr>
                        <a:picLocks noChangeAspect="1" noChangeArrowheads="1"/>
                      </p:cNvPicPr>
                      <p:nvPr/>
                    </p:nvPicPr>
                    <p:blipFill>
                      <a:blip r:embed="rId4"/>
                      <a:srcRect/>
                      <a:stretch>
                        <a:fillRect/>
                      </a:stretch>
                    </p:blipFill>
                    <p:spPr bwMode="auto">
                      <a:xfrm>
                        <a:off x="1253717" y="2324617"/>
                        <a:ext cx="1693862" cy="439795"/>
                      </a:xfrm>
                      <a:prstGeom prst="rect">
                        <a:avLst/>
                      </a:prstGeom>
                      <a:noFill/>
                    </p:spPr>
                  </p:pic>
                </p:oleObj>
              </mc:Fallback>
            </mc:AlternateContent>
          </a:graphicData>
        </a:graphic>
      </p:graphicFrame>
      <p:pic>
        <p:nvPicPr>
          <p:cNvPr id="21" name="图片 20">
            <a:extLst>
              <a:ext uri="{FF2B5EF4-FFF2-40B4-BE49-F238E27FC236}">
                <a16:creationId xmlns:a16="http://schemas.microsoft.com/office/drawing/2014/main" id="{55C751B8-E6E9-4A8F-A612-3187493571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4370" y="1875354"/>
            <a:ext cx="3803629" cy="2581737"/>
          </a:xfrm>
          <a:prstGeom prst="rect">
            <a:avLst/>
          </a:prstGeom>
        </p:spPr>
      </p:pic>
      <p:sp>
        <p:nvSpPr>
          <p:cNvPr id="3" name="文本框 2"/>
          <p:cNvSpPr txBox="1"/>
          <p:nvPr/>
        </p:nvSpPr>
        <p:spPr>
          <a:xfrm>
            <a:off x="1214438" y="2902740"/>
            <a:ext cx="5478462" cy="369332"/>
          </a:xfrm>
          <a:prstGeom prst="rect">
            <a:avLst/>
          </a:prstGeom>
          <a:noFill/>
        </p:spPr>
        <p:txBody>
          <a:bodyPr wrap="square" rtlCol="0">
            <a:spAutoFit/>
          </a:bodyPr>
          <a:lstStyle/>
          <a:p>
            <a:r>
              <a:rPr lang="zh-CN" altLang="en-US" dirty="0"/>
              <a:t>沿用上一讲中的最小二乘原则：</a:t>
            </a:r>
            <a:endParaRPr lang="en-US" altLang="zh-CN" dirty="0"/>
          </a:p>
        </p:txBody>
      </p:sp>
      <p:graphicFrame>
        <p:nvGraphicFramePr>
          <p:cNvPr id="22" name="对象 21">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3598581242"/>
              </p:ext>
            </p:extLst>
          </p:nvPr>
        </p:nvGraphicFramePr>
        <p:xfrm>
          <a:off x="1253717" y="3493939"/>
          <a:ext cx="4678362" cy="754792"/>
        </p:xfrm>
        <a:graphic>
          <a:graphicData uri="http://schemas.openxmlformats.org/presentationml/2006/ole">
            <mc:AlternateContent xmlns:mc="http://schemas.openxmlformats.org/markup-compatibility/2006">
              <mc:Choice xmlns:v="urn:schemas-microsoft-com:vml" Requires="v">
                <p:oleObj name="Equation" r:id="rId6" imgW="2869920" imgH="469800" progId="Equation.DSMT4">
                  <p:embed/>
                </p:oleObj>
              </mc:Choice>
              <mc:Fallback>
                <p:oleObj name="Equation" r:id="rId6" imgW="2869920" imgH="469800" progId="Equation.DSMT4">
                  <p:embed/>
                  <p:pic>
                    <p:nvPicPr>
                      <p:cNvPr id="15" name="对象 14">
                        <a:extLst>
                          <a:ext uri="{FF2B5EF4-FFF2-40B4-BE49-F238E27FC236}">
                            <a16:creationId xmlns:a16="http://schemas.microsoft.com/office/drawing/2014/main" id="{EEABB904-9AD6-41E0-AAE3-6AF2A9716949}"/>
                          </a:ext>
                        </a:extLst>
                      </p:cNvPr>
                      <p:cNvPicPr>
                        <a:picLocks noChangeAspect="1" noChangeArrowheads="1"/>
                      </p:cNvPicPr>
                      <p:nvPr/>
                    </p:nvPicPr>
                    <p:blipFill>
                      <a:blip r:embed="rId7"/>
                      <a:srcRect/>
                      <a:stretch>
                        <a:fillRect/>
                      </a:stretch>
                    </p:blipFill>
                    <p:spPr bwMode="auto">
                      <a:xfrm>
                        <a:off x="1253717" y="3493939"/>
                        <a:ext cx="4678362" cy="754792"/>
                      </a:xfrm>
                      <a:prstGeom prst="rect">
                        <a:avLst/>
                      </a:prstGeom>
                      <a:noFill/>
                    </p:spPr>
                  </p:pic>
                </p:oleObj>
              </mc:Fallback>
            </mc:AlternateContent>
          </a:graphicData>
        </a:graphic>
      </p:graphicFrame>
      <p:cxnSp>
        <p:nvCxnSpPr>
          <p:cNvPr id="23" name="直接连接符 22">
            <a:extLst>
              <a:ext uri="{FF2B5EF4-FFF2-40B4-BE49-F238E27FC236}">
                <a16:creationId xmlns:a16="http://schemas.microsoft.com/office/drawing/2014/main" id="{AA505458-BF69-48CA-9762-81B3F6453003}"/>
              </a:ext>
            </a:extLst>
          </p:cNvPr>
          <p:cNvCxnSpPr>
            <a:cxnSpLocks/>
          </p:cNvCxnSpPr>
          <p:nvPr/>
        </p:nvCxnSpPr>
        <p:spPr>
          <a:xfrm>
            <a:off x="8516549" y="2041193"/>
            <a:ext cx="0" cy="5668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5" name="对象 24">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3648871121"/>
              </p:ext>
            </p:extLst>
          </p:nvPr>
        </p:nvGraphicFramePr>
        <p:xfrm>
          <a:off x="7375127" y="2120624"/>
          <a:ext cx="1055687" cy="407987"/>
        </p:xfrm>
        <a:graphic>
          <a:graphicData uri="http://schemas.openxmlformats.org/presentationml/2006/ole">
            <mc:AlternateContent xmlns:mc="http://schemas.openxmlformats.org/markup-compatibility/2006">
              <mc:Choice xmlns:v="urn:schemas-microsoft-com:vml" Requires="v">
                <p:oleObj name="Equation" r:id="rId8" imgW="647640" imgH="253800" progId="Equation.DSMT4">
                  <p:embed/>
                </p:oleObj>
              </mc:Choice>
              <mc:Fallback>
                <p:oleObj name="Equation" r:id="rId8" imgW="647640" imgH="253800" progId="Equation.DSMT4">
                  <p:embed/>
                  <p:pic>
                    <p:nvPicPr>
                      <p:cNvPr id="22" name="对象 21">
                        <a:extLst>
                          <a:ext uri="{FF2B5EF4-FFF2-40B4-BE49-F238E27FC236}">
                            <a16:creationId xmlns:a16="http://schemas.microsoft.com/office/drawing/2014/main" id="{EEABB904-9AD6-41E0-AAE3-6AF2A9716949}"/>
                          </a:ext>
                        </a:extLst>
                      </p:cNvPr>
                      <p:cNvPicPr>
                        <a:picLocks noChangeAspect="1" noChangeArrowheads="1"/>
                      </p:cNvPicPr>
                      <p:nvPr/>
                    </p:nvPicPr>
                    <p:blipFill>
                      <a:blip r:embed="rId9"/>
                      <a:srcRect/>
                      <a:stretch>
                        <a:fillRect/>
                      </a:stretch>
                    </p:blipFill>
                    <p:spPr bwMode="auto">
                      <a:xfrm>
                        <a:off x="7375127" y="2120624"/>
                        <a:ext cx="1055687" cy="407987"/>
                      </a:xfrm>
                      <a:prstGeom prst="rect">
                        <a:avLst/>
                      </a:prstGeom>
                      <a:noFill/>
                    </p:spPr>
                  </p:pic>
                </p:oleObj>
              </mc:Fallback>
            </mc:AlternateContent>
          </a:graphicData>
        </a:graphic>
      </p:graphicFrame>
      <p:sp>
        <p:nvSpPr>
          <p:cNvPr id="26" name="矩形 25"/>
          <p:cNvSpPr/>
          <p:nvPr/>
        </p:nvSpPr>
        <p:spPr>
          <a:xfrm>
            <a:off x="838200" y="4391791"/>
            <a:ext cx="3747679" cy="369332"/>
          </a:xfrm>
          <a:prstGeom prst="rect">
            <a:avLst/>
          </a:prstGeom>
        </p:spPr>
        <p:txBody>
          <a:bodyPr wrap="square">
            <a:spAutoFit/>
          </a:bodyPr>
          <a:lstStyle/>
          <a:p>
            <a:r>
              <a:rPr lang="zh-CN" altLang="en-US" dirty="0"/>
              <a:t>③ 目标 </a:t>
            </a:r>
            <a:r>
              <a:rPr lang="en-US" altLang="zh-CN" dirty="0"/>
              <a:t>Objective</a:t>
            </a:r>
            <a:endParaRPr lang="zh-CN" altLang="en-US" dirty="0"/>
          </a:p>
        </p:txBody>
      </p:sp>
      <p:graphicFrame>
        <p:nvGraphicFramePr>
          <p:cNvPr id="27" name="对象 26">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3572301255"/>
              </p:ext>
            </p:extLst>
          </p:nvPr>
        </p:nvGraphicFramePr>
        <p:xfrm>
          <a:off x="1253717" y="4809382"/>
          <a:ext cx="5783263" cy="898525"/>
        </p:xfrm>
        <a:graphic>
          <a:graphicData uri="http://schemas.openxmlformats.org/presentationml/2006/ole">
            <mc:AlternateContent xmlns:mc="http://schemas.openxmlformats.org/markup-compatibility/2006">
              <mc:Choice xmlns:v="urn:schemas-microsoft-com:vml" Requires="v">
                <p:oleObj name="Equation" r:id="rId10" imgW="3225600" imgH="507960" progId="Equation.DSMT4">
                  <p:embed/>
                </p:oleObj>
              </mc:Choice>
              <mc:Fallback>
                <p:oleObj name="Equation" r:id="rId10" imgW="3225600" imgH="507960" progId="Equation.DSMT4">
                  <p:embed/>
                  <p:pic>
                    <p:nvPicPr>
                      <p:cNvPr id="20" name="对象 19">
                        <a:extLst>
                          <a:ext uri="{FF2B5EF4-FFF2-40B4-BE49-F238E27FC236}">
                            <a16:creationId xmlns:a16="http://schemas.microsoft.com/office/drawing/2014/main" id="{EEABB904-9AD6-41E0-AAE3-6AF2A9716949}"/>
                          </a:ext>
                        </a:extLst>
                      </p:cNvPr>
                      <p:cNvPicPr>
                        <a:picLocks noChangeAspect="1" noChangeArrowheads="1"/>
                      </p:cNvPicPr>
                      <p:nvPr/>
                    </p:nvPicPr>
                    <p:blipFill>
                      <a:blip r:embed="rId11"/>
                      <a:srcRect/>
                      <a:stretch>
                        <a:fillRect/>
                      </a:stretch>
                    </p:blipFill>
                    <p:spPr bwMode="auto">
                      <a:xfrm>
                        <a:off x="1253717" y="4809382"/>
                        <a:ext cx="5783263" cy="898525"/>
                      </a:xfrm>
                      <a:prstGeom prst="rect">
                        <a:avLst/>
                      </a:prstGeom>
                      <a:noFill/>
                    </p:spPr>
                  </p:pic>
                </p:oleObj>
              </mc:Fallback>
            </mc:AlternateContent>
          </a:graphicData>
        </a:graphic>
      </p:graphicFrame>
    </p:spTree>
    <p:extLst>
      <p:ext uri="{BB962C8B-B14F-4D97-AF65-F5344CB8AC3E}">
        <p14:creationId xmlns:p14="http://schemas.microsoft.com/office/powerpoint/2010/main" val="3141620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29</a:t>
            </a:fld>
            <a:endParaRPr lang="zh-CN" altLang="en-US"/>
          </a:p>
        </p:txBody>
      </p:sp>
      <p:sp>
        <p:nvSpPr>
          <p:cNvPr id="6" name="矩形 5"/>
          <p:cNvSpPr/>
          <p:nvPr/>
        </p:nvSpPr>
        <p:spPr>
          <a:xfrm>
            <a:off x="838200" y="1940709"/>
            <a:ext cx="7543801" cy="923330"/>
          </a:xfrm>
          <a:prstGeom prst="rect">
            <a:avLst/>
          </a:prstGeom>
        </p:spPr>
        <p:txBody>
          <a:bodyPr wrap="square">
            <a:spAutoFit/>
          </a:bodyPr>
          <a:lstStyle/>
          <a:p>
            <a:r>
              <a:rPr lang="zh-CN" altLang="en-US" b="1" dirty="0"/>
              <a:t>回顾</a:t>
            </a:r>
            <a:r>
              <a:rPr lang="en-US" altLang="zh-CN" b="1" dirty="0"/>
              <a:t>100</a:t>
            </a:r>
            <a:r>
              <a:rPr lang="zh-CN" altLang="en-US" b="1" dirty="0"/>
              <a:t>年前的分类问题建模</a:t>
            </a:r>
            <a:r>
              <a:rPr lang="en-US" altLang="zh-CN" b="1" dirty="0"/>
              <a:t>…</a:t>
            </a:r>
          </a:p>
          <a:p>
            <a:r>
              <a:rPr lang="zh-CN" altLang="en-US" b="1" dirty="0"/>
              <a:t>从概率的角度建立模型</a:t>
            </a:r>
            <a:endParaRPr lang="en-US" altLang="zh-CN" b="1" dirty="0"/>
          </a:p>
          <a:p>
            <a:endParaRPr lang="zh-CN" altLang="en-US" dirty="0"/>
          </a:p>
        </p:txBody>
      </p:sp>
      <p:grpSp>
        <p:nvGrpSpPr>
          <p:cNvPr id="8" name="组合 7"/>
          <p:cNvGrpSpPr/>
          <p:nvPr/>
        </p:nvGrpSpPr>
        <p:grpSpPr>
          <a:xfrm>
            <a:off x="7058314" y="1893888"/>
            <a:ext cx="4394852" cy="298303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838200" y="3062239"/>
            <a:ext cx="4342856" cy="646331"/>
          </a:xfrm>
          <a:prstGeom prst="rect">
            <a:avLst/>
          </a:prstGeom>
        </p:spPr>
        <p:txBody>
          <a:bodyPr wrap="none">
            <a:spAutoFit/>
          </a:bodyPr>
          <a:lstStyle/>
          <a:p>
            <a:r>
              <a:rPr lang="zh-CN" altLang="en-US" b="1" dirty="0"/>
              <a:t>决策函数 </a:t>
            </a:r>
            <a:r>
              <a:rPr lang="en-US" altLang="zh-CN" b="1" dirty="0"/>
              <a:t>Decision Function</a:t>
            </a:r>
          </a:p>
          <a:p>
            <a:r>
              <a:rPr lang="zh-CN" altLang="en-US" dirty="0"/>
              <a:t>把决策函数的值</a:t>
            </a:r>
            <a:r>
              <a:rPr lang="en-US" altLang="zh-CN" b="1" dirty="0">
                <a:solidFill>
                  <a:srgbClr val="C00000"/>
                </a:solidFill>
              </a:rPr>
              <a:t>f(x)</a:t>
            </a:r>
            <a:r>
              <a:rPr lang="zh-CN" altLang="en-US" dirty="0"/>
              <a:t>理解</a:t>
            </a:r>
            <a:r>
              <a:rPr lang="zh-CN" altLang="en-US" b="1" dirty="0"/>
              <a:t>为</a:t>
            </a:r>
            <a:r>
              <a:rPr lang="en-US" altLang="zh-CN" b="1" dirty="0">
                <a:solidFill>
                  <a:srgbClr val="C00000"/>
                </a:solidFill>
              </a:rPr>
              <a:t>x</a:t>
            </a:r>
            <a:r>
              <a:rPr lang="zh-CN" altLang="en-US" b="1" dirty="0">
                <a:solidFill>
                  <a:srgbClr val="C00000"/>
                </a:solidFill>
              </a:rPr>
              <a:t>℃得病的概率</a:t>
            </a:r>
            <a:endParaRPr lang="en-US" altLang="zh-CN" dirty="0">
              <a:solidFill>
                <a:srgbClr val="C00000"/>
              </a:solidFill>
            </a:endParaRPr>
          </a:p>
        </p:txBody>
      </p:sp>
      <p:sp>
        <p:nvSpPr>
          <p:cNvPr id="14" name="矩形 13"/>
          <p:cNvSpPr/>
          <p:nvPr/>
        </p:nvSpPr>
        <p:spPr>
          <a:xfrm>
            <a:off x="861347" y="4165155"/>
            <a:ext cx="6173820" cy="646331"/>
          </a:xfrm>
          <a:prstGeom prst="rect">
            <a:avLst/>
          </a:prstGeom>
        </p:spPr>
        <p:txBody>
          <a:bodyPr wrap="square">
            <a:spAutoFit/>
          </a:bodyPr>
          <a:lstStyle/>
          <a:p>
            <a:r>
              <a:rPr lang="zh-CN" altLang="en-US" b="1" dirty="0"/>
              <a:t>例如：当</a:t>
            </a:r>
            <a:r>
              <a:rPr lang="en-US" altLang="zh-CN" b="1" dirty="0"/>
              <a:t>x=37.5</a:t>
            </a:r>
            <a:r>
              <a:rPr lang="zh-CN" altLang="en-US" b="1" dirty="0"/>
              <a:t>时，输出</a:t>
            </a:r>
            <a:r>
              <a:rPr lang="en-US" altLang="zh-CN" b="1" dirty="0"/>
              <a:t>f(x)</a:t>
            </a:r>
            <a:r>
              <a:rPr lang="zh-CN" altLang="en-US" b="1" dirty="0"/>
              <a:t>为</a:t>
            </a:r>
            <a:r>
              <a:rPr lang="en-US" altLang="zh-CN" b="1" dirty="0"/>
              <a:t>0.8</a:t>
            </a:r>
            <a:r>
              <a:rPr lang="zh-CN" altLang="en-US" b="1" dirty="0"/>
              <a:t>，可以理解为当</a:t>
            </a:r>
            <a:r>
              <a:rPr lang="en-US" altLang="zh-CN" b="1" dirty="0" err="1"/>
              <a:t>37.5°C</a:t>
            </a:r>
            <a:r>
              <a:rPr lang="zh-CN" altLang="en-US" b="1" dirty="0"/>
              <a:t>时，生病的概率为</a:t>
            </a:r>
            <a:r>
              <a:rPr lang="en-US" altLang="zh-CN" b="1" dirty="0"/>
              <a:t>0.8</a:t>
            </a:r>
            <a:r>
              <a:rPr lang="zh-CN" altLang="en-US" b="1" dirty="0"/>
              <a:t>，不生病的概率为</a:t>
            </a:r>
            <a:r>
              <a:rPr lang="en-US" altLang="zh-CN" b="1" dirty="0"/>
              <a:t>0.2</a:t>
            </a:r>
          </a:p>
        </p:txBody>
      </p:sp>
    </p:spTree>
    <p:extLst>
      <p:ext uri="{BB962C8B-B14F-4D97-AF65-F5344CB8AC3E}">
        <p14:creationId xmlns:p14="http://schemas.microsoft.com/office/powerpoint/2010/main" val="11206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30</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414768" y="961533"/>
            <a:ext cx="4394852" cy="298303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spTree>
    <p:extLst>
      <p:ext uri="{BB962C8B-B14F-4D97-AF65-F5344CB8AC3E}">
        <p14:creationId xmlns:p14="http://schemas.microsoft.com/office/powerpoint/2010/main" val="3111143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31</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1B613423-4ABA-43F9-827F-E16FDE82B589}"/>
              </a:ext>
            </a:extLst>
          </p:cNvPr>
          <p:cNvGrpSpPr/>
          <p:nvPr/>
        </p:nvGrpSpPr>
        <p:grpSpPr>
          <a:xfrm>
            <a:off x="838200" y="2859749"/>
            <a:ext cx="10515600" cy="421162"/>
            <a:chOff x="10661205" y="8933887"/>
            <a:chExt cx="10651736" cy="460785"/>
          </a:xfrm>
        </p:grpSpPr>
        <p:sp>
          <p:nvSpPr>
            <p:cNvPr id="15" name="文本框 14">
              <a:extLst>
                <a:ext uri="{FF2B5EF4-FFF2-40B4-BE49-F238E27FC236}">
                  <a16:creationId xmlns:a16="http://schemas.microsoft.com/office/drawing/2014/main" id="{2AE84D46-5109-4F5D-B90B-C66B7BB25B5F}"/>
                </a:ext>
              </a:extLst>
            </p:cNvPr>
            <p:cNvSpPr txBox="1"/>
            <p:nvPr/>
          </p:nvSpPr>
          <p:spPr>
            <a:xfrm>
              <a:off x="10661205" y="8933887"/>
              <a:ext cx="10651736" cy="404079"/>
            </a:xfrm>
            <a:prstGeom prst="rect">
              <a:avLst/>
            </a:prstGeom>
            <a:noFill/>
          </p:spPr>
          <p:txBody>
            <a:bodyPr wrap="square">
              <a:spAutoFit/>
            </a:bodyPr>
            <a:lstStyle/>
            <a:p>
              <a:r>
                <a:rPr lang="zh-CN" altLang="en-US" dirty="0"/>
                <a:t>① 不得病的人（                 ），决策函数</a:t>
              </a:r>
              <a:r>
                <a:rPr lang="zh-CN" altLang="en-US" b="1" dirty="0"/>
                <a:t>预测不得病的概率</a:t>
              </a:r>
              <a:r>
                <a:rPr lang="zh-CN" altLang="en-US" dirty="0">
                  <a:solidFill>
                    <a:srgbClr val="C00000"/>
                  </a:solidFill>
                </a:rPr>
                <a:t>越大越好，暨输出为</a:t>
              </a:r>
              <a:r>
                <a:rPr lang="en-US" altLang="zh-CN" dirty="0">
                  <a:solidFill>
                    <a:srgbClr val="C00000"/>
                  </a:solidFill>
                </a:rPr>
                <a:t>0</a:t>
              </a:r>
              <a:r>
                <a:rPr lang="zh-CN" altLang="en-US" dirty="0">
                  <a:solidFill>
                    <a:srgbClr val="C00000"/>
                  </a:solidFill>
                </a:rPr>
                <a:t>的概率越大越好：</a:t>
              </a:r>
              <a:endParaRPr lang="en-US" altLang="zh-CN" dirty="0">
                <a:solidFill>
                  <a:srgbClr val="C00000"/>
                </a:solidFill>
              </a:endParaRPr>
            </a:p>
          </p:txBody>
        </p:sp>
        <p:graphicFrame>
          <p:nvGraphicFramePr>
            <p:cNvPr id="17" name="对象 16">
              <a:extLst>
                <a:ext uri="{FF2B5EF4-FFF2-40B4-BE49-F238E27FC236}">
                  <a16:creationId xmlns:a16="http://schemas.microsoft.com/office/drawing/2014/main" id="{B2659C80-4910-4EA7-AE9C-D54459C2C626}"/>
                </a:ext>
              </a:extLst>
            </p:cNvPr>
            <p:cNvGraphicFramePr>
              <a:graphicFrameLocks noChangeAspect="1"/>
            </p:cNvGraphicFramePr>
            <p:nvPr/>
          </p:nvGraphicFramePr>
          <p:xfrm>
            <a:off x="12606394" y="8955728"/>
            <a:ext cx="765970" cy="438944"/>
          </p:xfrm>
          <a:graphic>
            <a:graphicData uri="http://schemas.openxmlformats.org/presentationml/2006/ole">
              <mc:AlternateContent xmlns:mc="http://schemas.openxmlformats.org/markup-compatibility/2006">
                <mc:Choice xmlns:v="urn:schemas-microsoft-com:vml" Requires="v">
                  <p:oleObj name="Equation" r:id="rId3" imgW="393480" imgH="228600" progId="Equation.DSMT4">
                    <p:embed/>
                  </p:oleObj>
                </mc:Choice>
                <mc:Fallback>
                  <p:oleObj name="Equation" r:id="rId3" imgW="393480" imgH="228600" progId="Equation.DSMT4">
                    <p:embed/>
                    <p:pic>
                      <p:nvPicPr>
                        <p:cNvPr id="15" name="对象 14">
                          <a:extLst>
                            <a:ext uri="{FF2B5EF4-FFF2-40B4-BE49-F238E27FC236}">
                              <a16:creationId xmlns:a16="http://schemas.microsoft.com/office/drawing/2014/main" id="{B2659C80-4910-4EA7-AE9C-D54459C2C626}"/>
                            </a:ext>
                          </a:extLst>
                        </p:cNvPr>
                        <p:cNvPicPr>
                          <a:picLocks noChangeAspect="1" noChangeArrowheads="1"/>
                        </p:cNvPicPr>
                        <p:nvPr/>
                      </p:nvPicPr>
                      <p:blipFill>
                        <a:blip r:embed="rId4"/>
                        <a:srcRect/>
                        <a:stretch>
                          <a:fillRect/>
                        </a:stretch>
                      </p:blipFill>
                      <p:spPr bwMode="auto">
                        <a:xfrm>
                          <a:off x="12606394" y="8955728"/>
                          <a:ext cx="765970" cy="438944"/>
                        </a:xfrm>
                        <a:prstGeom prst="rect">
                          <a:avLst/>
                        </a:prstGeom>
                        <a:noFill/>
                      </p:spPr>
                    </p:pic>
                  </p:oleObj>
                </mc:Fallback>
              </mc:AlternateContent>
            </a:graphicData>
          </a:graphic>
        </p:graphicFrame>
      </p:grpSp>
      <p:graphicFrame>
        <p:nvGraphicFramePr>
          <p:cNvPr id="18" name="对象 17">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4040978065"/>
              </p:ext>
            </p:extLst>
          </p:nvPr>
        </p:nvGraphicFramePr>
        <p:xfrm>
          <a:off x="5435036" y="3207380"/>
          <a:ext cx="1120775" cy="449263"/>
        </p:xfrm>
        <a:graphic>
          <a:graphicData uri="http://schemas.openxmlformats.org/presentationml/2006/ole">
            <mc:AlternateContent xmlns:mc="http://schemas.openxmlformats.org/markup-compatibility/2006">
              <mc:Choice xmlns:v="urn:schemas-microsoft-com:vml" Requires="v">
                <p:oleObj name="Equation" r:id="rId5" imgW="622080" imgH="253800" progId="Equation.DSMT4">
                  <p:embed/>
                </p:oleObj>
              </mc:Choice>
              <mc:Fallback>
                <p:oleObj name="Equation" r:id="rId5" imgW="622080" imgH="253800" progId="Equation.DSMT4">
                  <p:embed/>
                  <p:pic>
                    <p:nvPicPr>
                      <p:cNvPr id="19" name="对象 18">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5435036" y="3207380"/>
                        <a:ext cx="1120775" cy="449263"/>
                      </a:xfrm>
                      <a:prstGeom prst="rect">
                        <a:avLst/>
                      </a:prstGeom>
                      <a:noFill/>
                    </p:spPr>
                  </p:pic>
                </p:oleObj>
              </mc:Fallback>
            </mc:AlternateContent>
          </a:graphicData>
        </a:graphic>
      </p:graphicFrame>
      <p:sp>
        <p:nvSpPr>
          <p:cNvPr id="19" name="矩形 18"/>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796110326"/>
              </p:ext>
            </p:extLst>
          </p:nvPr>
        </p:nvGraphicFramePr>
        <p:xfrm>
          <a:off x="923544" y="2288752"/>
          <a:ext cx="800100" cy="449262"/>
        </p:xfrm>
        <a:graphic>
          <a:graphicData uri="http://schemas.openxmlformats.org/presentationml/2006/ole">
            <mc:AlternateContent xmlns:mc="http://schemas.openxmlformats.org/markup-compatibility/2006">
              <mc:Choice xmlns:v="urn:schemas-microsoft-com:vml" Requires="v">
                <p:oleObj name="Equation" r:id="rId7" imgW="444240" imgH="253800" progId="Equation.DSMT4">
                  <p:embed/>
                </p:oleObj>
              </mc:Choice>
              <mc:Fallback>
                <p:oleObj name="Equation" r:id="rId7" imgW="444240" imgH="253800" progId="Equation.DSMT4">
                  <p:embed/>
                  <p:pic>
                    <p:nvPicPr>
                      <p:cNvPr id="18" name="对象 17">
                        <a:extLst>
                          <a:ext uri="{FF2B5EF4-FFF2-40B4-BE49-F238E27FC236}">
                            <a16:creationId xmlns:a16="http://schemas.microsoft.com/office/drawing/2014/main" id="{7E56E43C-2107-47ED-A78E-FA29EA22A516}"/>
                          </a:ext>
                        </a:extLst>
                      </p:cNvPr>
                      <p:cNvPicPr>
                        <a:picLocks noChangeAspect="1" noChangeArrowheads="1"/>
                      </p:cNvPicPr>
                      <p:nvPr/>
                    </p:nvPicPr>
                    <p:blipFill>
                      <a:blip r:embed="rId8"/>
                      <a:srcRect/>
                      <a:stretch>
                        <a:fillRect/>
                      </a:stretch>
                    </p:blipFill>
                    <p:spPr bwMode="auto">
                      <a:xfrm>
                        <a:off x="923544" y="2288752"/>
                        <a:ext cx="800100" cy="449262"/>
                      </a:xfrm>
                      <a:prstGeom prst="rect">
                        <a:avLst/>
                      </a:prstGeom>
                      <a:noFill/>
                    </p:spPr>
                  </p:pic>
                </p:oleObj>
              </mc:Fallback>
            </mc:AlternateContent>
          </a:graphicData>
        </a:graphic>
      </p:graphicFrame>
      <p:sp>
        <p:nvSpPr>
          <p:cNvPr id="5" name="矩形 4"/>
          <p:cNvSpPr/>
          <p:nvPr/>
        </p:nvSpPr>
        <p:spPr>
          <a:xfrm>
            <a:off x="1637753" y="2343565"/>
            <a:ext cx="2492990" cy="369332"/>
          </a:xfrm>
          <a:prstGeom prst="rect">
            <a:avLst/>
          </a:prstGeom>
        </p:spPr>
        <p:txBody>
          <a:bodyPr wrap="none">
            <a:spAutoFit/>
          </a:bodyPr>
          <a:lstStyle/>
          <a:p>
            <a:r>
              <a:rPr lang="zh-CN" altLang="en-US" b="1" dirty="0"/>
              <a:t>：模型预测的得病概率</a:t>
            </a:r>
            <a:endParaRPr lang="zh-CN" altLang="en-US" dirty="0"/>
          </a:p>
        </p:txBody>
      </p:sp>
      <p:grpSp>
        <p:nvGrpSpPr>
          <p:cNvPr id="21" name="组合 20">
            <a:extLst>
              <a:ext uri="{FF2B5EF4-FFF2-40B4-BE49-F238E27FC236}">
                <a16:creationId xmlns:a16="http://schemas.microsoft.com/office/drawing/2014/main" id="{888C320E-946D-40A3-81D0-A2754A394C7B}"/>
              </a:ext>
            </a:extLst>
          </p:cNvPr>
          <p:cNvGrpSpPr/>
          <p:nvPr/>
        </p:nvGrpSpPr>
        <p:grpSpPr>
          <a:xfrm>
            <a:off x="838200" y="3782731"/>
            <a:ext cx="10390632" cy="385893"/>
            <a:chOff x="9951647" y="9102632"/>
            <a:chExt cx="12188756" cy="385893"/>
          </a:xfrm>
        </p:grpSpPr>
        <p:sp>
          <p:nvSpPr>
            <p:cNvPr id="22" name="文本框 21">
              <a:extLst>
                <a:ext uri="{FF2B5EF4-FFF2-40B4-BE49-F238E27FC236}">
                  <a16:creationId xmlns:a16="http://schemas.microsoft.com/office/drawing/2014/main" id="{6F63D142-CB95-4243-BF5E-F57DE3C9F87A}"/>
                </a:ext>
              </a:extLst>
            </p:cNvPr>
            <p:cNvSpPr txBox="1"/>
            <p:nvPr/>
          </p:nvSpPr>
          <p:spPr>
            <a:xfrm>
              <a:off x="9951647" y="9112793"/>
              <a:ext cx="12188756" cy="369332"/>
            </a:xfrm>
            <a:prstGeom prst="rect">
              <a:avLst/>
            </a:prstGeom>
            <a:noFill/>
          </p:spPr>
          <p:txBody>
            <a:bodyPr wrap="square">
              <a:spAutoFit/>
            </a:bodyPr>
            <a:lstStyle/>
            <a:p>
              <a:r>
                <a:rPr lang="zh-CN" altLang="en-US" dirty="0"/>
                <a:t>② 得病的人（              ），决策函数</a:t>
              </a:r>
              <a:r>
                <a:rPr lang="zh-CN" altLang="en-US" b="1" dirty="0"/>
                <a:t>预测得病的概率</a:t>
              </a:r>
              <a:r>
                <a:rPr lang="zh-CN" altLang="en-US" dirty="0">
                  <a:solidFill>
                    <a:srgbClr val="C00000"/>
                  </a:solidFill>
                </a:rPr>
                <a:t>越大越好：</a:t>
              </a:r>
              <a:endParaRPr lang="en-US" altLang="zh-CN" dirty="0">
                <a:solidFill>
                  <a:srgbClr val="C00000"/>
                </a:solidFill>
              </a:endParaRPr>
            </a:p>
          </p:txBody>
        </p:sp>
        <p:graphicFrame>
          <p:nvGraphicFramePr>
            <p:cNvPr id="23" name="对象 22">
              <a:extLst>
                <a:ext uri="{FF2B5EF4-FFF2-40B4-BE49-F238E27FC236}">
                  <a16:creationId xmlns:a16="http://schemas.microsoft.com/office/drawing/2014/main" id="{48E7260C-C721-4B9D-9058-F62917FB2A84}"/>
                </a:ext>
              </a:extLst>
            </p:cNvPr>
            <p:cNvGraphicFramePr>
              <a:graphicFrameLocks noChangeAspect="1"/>
            </p:cNvGraphicFramePr>
            <p:nvPr>
              <p:extLst>
                <p:ext uri="{D42A27DB-BD31-4B8C-83A1-F6EECF244321}">
                  <p14:modId xmlns:p14="http://schemas.microsoft.com/office/powerpoint/2010/main" val="679823587"/>
                </p:ext>
              </p:extLst>
            </p:nvPr>
          </p:nvGraphicFramePr>
          <p:xfrm>
            <a:off x="11889227" y="9102632"/>
            <a:ext cx="630130" cy="385893"/>
          </p:xfrm>
          <a:graphic>
            <a:graphicData uri="http://schemas.openxmlformats.org/presentationml/2006/ole">
              <mc:AlternateContent xmlns:mc="http://schemas.openxmlformats.org/markup-compatibility/2006">
                <mc:Choice xmlns:v="urn:schemas-microsoft-com:vml" Requires="v">
                  <p:oleObj name="Equation" r:id="rId9" imgW="368280" imgH="228600" progId="Equation.DSMT4">
                    <p:embed/>
                  </p:oleObj>
                </mc:Choice>
                <mc:Fallback>
                  <p:oleObj name="Equation" r:id="rId9" imgW="368280" imgH="228600" progId="Equation.DSMT4">
                    <p:embed/>
                    <p:pic>
                      <p:nvPicPr>
                        <p:cNvPr id="23" name="对象 22">
                          <a:extLst>
                            <a:ext uri="{FF2B5EF4-FFF2-40B4-BE49-F238E27FC236}">
                              <a16:creationId xmlns:a16="http://schemas.microsoft.com/office/drawing/2014/main" id="{48E7260C-C721-4B9D-9058-F62917FB2A84}"/>
                            </a:ext>
                          </a:extLst>
                        </p:cNvPr>
                        <p:cNvPicPr>
                          <a:picLocks noChangeAspect="1" noChangeArrowheads="1"/>
                        </p:cNvPicPr>
                        <p:nvPr/>
                      </p:nvPicPr>
                      <p:blipFill>
                        <a:blip r:embed="rId10"/>
                        <a:srcRect/>
                        <a:stretch>
                          <a:fillRect/>
                        </a:stretch>
                      </p:blipFill>
                      <p:spPr bwMode="auto">
                        <a:xfrm>
                          <a:off x="11889227" y="9102632"/>
                          <a:ext cx="630130" cy="385893"/>
                        </a:xfrm>
                        <a:prstGeom prst="rect">
                          <a:avLst/>
                        </a:prstGeom>
                        <a:noFill/>
                      </p:spPr>
                    </p:pic>
                  </p:oleObj>
                </mc:Fallback>
              </mc:AlternateContent>
            </a:graphicData>
          </a:graphic>
        </p:graphicFrame>
      </p:grpSp>
      <p:graphicFrame>
        <p:nvGraphicFramePr>
          <p:cNvPr id="24" name="对象 23">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247744661"/>
              </p:ext>
            </p:extLst>
          </p:nvPr>
        </p:nvGraphicFramePr>
        <p:xfrm>
          <a:off x="5295900" y="4168624"/>
          <a:ext cx="800100" cy="449262"/>
        </p:xfrm>
        <a:graphic>
          <a:graphicData uri="http://schemas.openxmlformats.org/presentationml/2006/ole">
            <mc:AlternateContent xmlns:mc="http://schemas.openxmlformats.org/markup-compatibility/2006">
              <mc:Choice xmlns:v="urn:schemas-microsoft-com:vml" Requires="v">
                <p:oleObj name="Equation" r:id="rId11" imgW="444240" imgH="253800" progId="Equation.DSMT4">
                  <p:embed/>
                </p:oleObj>
              </mc:Choice>
              <mc:Fallback>
                <p:oleObj name="Equation" r:id="rId11" imgW="444240" imgH="253800" progId="Equation.DSMT4">
                  <p:embed/>
                  <p:pic>
                    <p:nvPicPr>
                      <p:cNvPr id="18" name="对象 17">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5295900" y="4168624"/>
                        <a:ext cx="800100" cy="449262"/>
                      </a:xfrm>
                      <a:prstGeom prst="rect">
                        <a:avLst/>
                      </a:prstGeom>
                      <a:noFill/>
                    </p:spPr>
                  </p:pic>
                </p:oleObj>
              </mc:Fallback>
            </mc:AlternateContent>
          </a:graphicData>
        </a:graphic>
      </p:graphicFrame>
      <p:cxnSp>
        <p:nvCxnSpPr>
          <p:cNvPr id="27" name="直接箭头连接符 26"/>
          <p:cNvCxnSpPr/>
          <p:nvPr/>
        </p:nvCxnSpPr>
        <p:spPr>
          <a:xfrm>
            <a:off x="6932578" y="3453712"/>
            <a:ext cx="734061" cy="2167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6932578" y="4470142"/>
            <a:ext cx="736190" cy="959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对象 33">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496128889"/>
              </p:ext>
            </p:extLst>
          </p:nvPr>
        </p:nvGraphicFramePr>
        <p:xfrm>
          <a:off x="8039091" y="4291413"/>
          <a:ext cx="663575" cy="404813"/>
        </p:xfrm>
        <a:graphic>
          <a:graphicData uri="http://schemas.openxmlformats.org/presentationml/2006/ole">
            <mc:AlternateContent xmlns:mc="http://schemas.openxmlformats.org/markup-compatibility/2006">
              <mc:Choice xmlns:v="urn:schemas-microsoft-com:vml" Requires="v">
                <p:oleObj name="Equation" r:id="rId13" imgW="368280" imgH="228600" progId="Equation.DSMT4">
                  <p:embed/>
                </p:oleObj>
              </mc:Choice>
              <mc:Fallback>
                <p:oleObj name="Equation" r:id="rId13" imgW="368280" imgH="228600" progId="Equation.DSMT4">
                  <p:embed/>
                  <p:pic>
                    <p:nvPicPr>
                      <p:cNvPr id="24" name="对象 2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8039091" y="4291413"/>
                        <a:ext cx="663575" cy="404813"/>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19299585"/>
              </p:ext>
            </p:extLst>
          </p:nvPr>
        </p:nvGraphicFramePr>
        <p:xfrm>
          <a:off x="7999633" y="3300814"/>
          <a:ext cx="709612" cy="404812"/>
        </p:xfrm>
        <a:graphic>
          <a:graphicData uri="http://schemas.openxmlformats.org/presentationml/2006/ole">
            <mc:AlternateContent xmlns:mc="http://schemas.openxmlformats.org/markup-compatibility/2006">
              <mc:Choice xmlns:v="urn:schemas-microsoft-com:vml" Requires="v">
                <p:oleObj name="Equation" r:id="rId15" imgW="393480" imgH="228600" progId="Equation.DSMT4">
                  <p:embed/>
                </p:oleObj>
              </mc:Choice>
              <mc:Fallback>
                <p:oleObj name="Equation" r:id="rId15" imgW="393480" imgH="228600" progId="Equation.DSMT4">
                  <p:embed/>
                  <p:pic>
                    <p:nvPicPr>
                      <p:cNvPr id="34" name="对象 3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7999633" y="3300814"/>
                        <a:ext cx="709612" cy="404812"/>
                      </a:xfrm>
                      <a:prstGeom prst="rect">
                        <a:avLst/>
                      </a:prstGeom>
                      <a:noFill/>
                    </p:spPr>
                  </p:pic>
                </p:oleObj>
              </mc:Fallback>
            </mc:AlternateContent>
          </a:graphicData>
        </a:graphic>
      </p:graphicFrame>
      <p:sp>
        <p:nvSpPr>
          <p:cNvPr id="36" name="文本框 35"/>
          <p:cNvSpPr txBox="1"/>
          <p:nvPr/>
        </p:nvSpPr>
        <p:spPr>
          <a:xfrm>
            <a:off x="7696163" y="4303478"/>
            <a:ext cx="256032" cy="369332"/>
          </a:xfrm>
          <a:prstGeom prst="rect">
            <a:avLst/>
          </a:prstGeom>
          <a:noFill/>
        </p:spPr>
        <p:txBody>
          <a:bodyPr wrap="square" rtlCol="0">
            <a:spAutoFit/>
          </a:bodyPr>
          <a:lstStyle/>
          <a:p>
            <a:r>
              <a:rPr lang="zh-CN" altLang="en-US" dirty="0"/>
              <a:t>当</a:t>
            </a:r>
          </a:p>
        </p:txBody>
      </p:sp>
      <p:sp>
        <p:nvSpPr>
          <p:cNvPr id="37" name="文本框 36"/>
          <p:cNvSpPr txBox="1"/>
          <p:nvPr/>
        </p:nvSpPr>
        <p:spPr>
          <a:xfrm>
            <a:off x="8619099" y="4307585"/>
            <a:ext cx="849309" cy="369332"/>
          </a:xfrm>
          <a:prstGeom prst="rect">
            <a:avLst/>
          </a:prstGeom>
          <a:noFill/>
        </p:spPr>
        <p:txBody>
          <a:bodyPr wrap="square" rtlCol="0">
            <a:spAutoFit/>
          </a:bodyPr>
          <a:lstStyle/>
          <a:p>
            <a:r>
              <a:rPr lang="zh-CN" altLang="en-US" dirty="0"/>
              <a:t>时，</a:t>
            </a:r>
          </a:p>
        </p:txBody>
      </p:sp>
      <p:sp>
        <p:nvSpPr>
          <p:cNvPr id="38" name="文本框 37"/>
          <p:cNvSpPr txBox="1"/>
          <p:nvPr/>
        </p:nvSpPr>
        <p:spPr>
          <a:xfrm>
            <a:off x="7689486" y="3288952"/>
            <a:ext cx="256032" cy="369332"/>
          </a:xfrm>
          <a:prstGeom prst="rect">
            <a:avLst/>
          </a:prstGeom>
          <a:noFill/>
        </p:spPr>
        <p:txBody>
          <a:bodyPr wrap="square" rtlCol="0">
            <a:spAutoFit/>
          </a:bodyPr>
          <a:lstStyle/>
          <a:p>
            <a:r>
              <a:rPr lang="zh-CN" altLang="en-US" dirty="0"/>
              <a:t>当</a:t>
            </a:r>
          </a:p>
        </p:txBody>
      </p:sp>
      <p:sp>
        <p:nvSpPr>
          <p:cNvPr id="39" name="文本框 38"/>
          <p:cNvSpPr txBox="1"/>
          <p:nvPr/>
        </p:nvSpPr>
        <p:spPr>
          <a:xfrm>
            <a:off x="8619099" y="3301520"/>
            <a:ext cx="453708" cy="369332"/>
          </a:xfrm>
          <a:prstGeom prst="rect">
            <a:avLst/>
          </a:prstGeom>
          <a:noFill/>
        </p:spPr>
        <p:txBody>
          <a:bodyPr wrap="square" rtlCol="0">
            <a:spAutoFit/>
          </a:bodyPr>
          <a:lstStyle/>
          <a:p>
            <a:r>
              <a:rPr lang="zh-CN" altLang="en-US" dirty="0"/>
              <a:t>时，</a:t>
            </a:r>
          </a:p>
        </p:txBody>
      </p:sp>
      <p:graphicFrame>
        <p:nvGraphicFramePr>
          <p:cNvPr id="42" name="对象 41">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312177566"/>
              </p:ext>
            </p:extLst>
          </p:nvPr>
        </p:nvGraphicFramePr>
        <p:xfrm>
          <a:off x="9079193" y="3267370"/>
          <a:ext cx="1647825" cy="515937"/>
        </p:xfrm>
        <a:graphic>
          <a:graphicData uri="http://schemas.openxmlformats.org/presentationml/2006/ole">
            <mc:AlternateContent xmlns:mc="http://schemas.openxmlformats.org/markup-compatibility/2006">
              <mc:Choice xmlns:v="urn:schemas-microsoft-com:vml" Requires="v">
                <p:oleObj name="Equation" r:id="rId17" imgW="914400" imgH="291960" progId="Equation.DSMT4">
                  <p:embed/>
                </p:oleObj>
              </mc:Choice>
              <mc:Fallback>
                <p:oleObj name="Equation" r:id="rId17" imgW="914400" imgH="291960" progId="Equation.DSMT4">
                  <p:embed/>
                  <p:pic>
                    <p:nvPicPr>
                      <p:cNvPr id="18" name="对象 17">
                        <a:extLst>
                          <a:ext uri="{FF2B5EF4-FFF2-40B4-BE49-F238E27FC236}">
                            <a16:creationId xmlns:a16="http://schemas.microsoft.com/office/drawing/2014/main" id="{7E56E43C-2107-47ED-A78E-FA29EA22A516}"/>
                          </a:ext>
                        </a:extLst>
                      </p:cNvPr>
                      <p:cNvPicPr>
                        <a:picLocks noChangeAspect="1" noChangeArrowheads="1"/>
                      </p:cNvPicPr>
                      <p:nvPr/>
                    </p:nvPicPr>
                    <p:blipFill>
                      <a:blip r:embed="rId18"/>
                      <a:srcRect/>
                      <a:stretch>
                        <a:fillRect/>
                      </a:stretch>
                    </p:blipFill>
                    <p:spPr bwMode="auto">
                      <a:xfrm>
                        <a:off x="9079193" y="3267370"/>
                        <a:ext cx="1647825" cy="515937"/>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417719764"/>
              </p:ext>
            </p:extLst>
          </p:nvPr>
        </p:nvGraphicFramePr>
        <p:xfrm>
          <a:off x="9072807" y="4276777"/>
          <a:ext cx="1304925" cy="515938"/>
        </p:xfrm>
        <a:graphic>
          <a:graphicData uri="http://schemas.openxmlformats.org/presentationml/2006/ole">
            <mc:AlternateContent xmlns:mc="http://schemas.openxmlformats.org/markup-compatibility/2006">
              <mc:Choice xmlns:v="urn:schemas-microsoft-com:vml" Requires="v">
                <p:oleObj name="Equation" r:id="rId19" imgW="723600" imgH="291960" progId="Equation.DSMT4">
                  <p:embed/>
                </p:oleObj>
              </mc:Choice>
              <mc:Fallback>
                <p:oleObj name="Equation" r:id="rId19" imgW="723600" imgH="29196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20"/>
                      <a:srcRect/>
                      <a:stretch>
                        <a:fillRect/>
                      </a:stretch>
                    </p:blipFill>
                    <p:spPr bwMode="auto">
                      <a:xfrm>
                        <a:off x="9072807" y="4276777"/>
                        <a:ext cx="1304925" cy="515938"/>
                      </a:xfrm>
                      <a:prstGeom prst="rect">
                        <a:avLst/>
                      </a:prstGeom>
                      <a:noFill/>
                    </p:spPr>
                  </p:pic>
                </p:oleObj>
              </mc:Fallback>
            </mc:AlternateContent>
          </a:graphicData>
        </a:graphic>
      </p:graphicFrame>
      <p:cxnSp>
        <p:nvCxnSpPr>
          <p:cNvPr id="45" name="直接箭头连接符 44"/>
          <p:cNvCxnSpPr/>
          <p:nvPr/>
        </p:nvCxnSpPr>
        <p:spPr>
          <a:xfrm>
            <a:off x="10485120" y="3705626"/>
            <a:ext cx="414528" cy="21228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10485120" y="4168624"/>
            <a:ext cx="414528" cy="2612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10874335" y="3634565"/>
            <a:ext cx="1338392" cy="923330"/>
          </a:xfrm>
          <a:prstGeom prst="rect">
            <a:avLst/>
          </a:prstGeom>
          <a:noFill/>
        </p:spPr>
        <p:txBody>
          <a:bodyPr wrap="square" rtlCol="0">
            <a:spAutoFit/>
          </a:bodyPr>
          <a:lstStyle/>
          <a:p>
            <a:r>
              <a:rPr lang="zh-CN" altLang="en-US" b="1" dirty="0"/>
              <a:t>对于不同类样本，形式上不一样</a:t>
            </a:r>
          </a:p>
        </p:txBody>
      </p:sp>
    </p:spTree>
    <p:extLst>
      <p:ext uri="{BB962C8B-B14F-4D97-AF65-F5344CB8AC3E}">
        <p14:creationId xmlns:p14="http://schemas.microsoft.com/office/powerpoint/2010/main" val="1611509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32</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1B613423-4ABA-43F9-827F-E16FDE82B589}"/>
              </a:ext>
            </a:extLst>
          </p:cNvPr>
          <p:cNvGrpSpPr/>
          <p:nvPr/>
        </p:nvGrpSpPr>
        <p:grpSpPr>
          <a:xfrm>
            <a:off x="838200" y="2859749"/>
            <a:ext cx="10515600" cy="421162"/>
            <a:chOff x="10661205" y="8933887"/>
            <a:chExt cx="10651736" cy="460785"/>
          </a:xfrm>
        </p:grpSpPr>
        <p:sp>
          <p:nvSpPr>
            <p:cNvPr id="15" name="文本框 14">
              <a:extLst>
                <a:ext uri="{FF2B5EF4-FFF2-40B4-BE49-F238E27FC236}">
                  <a16:creationId xmlns:a16="http://schemas.microsoft.com/office/drawing/2014/main" id="{2AE84D46-5109-4F5D-B90B-C66B7BB25B5F}"/>
                </a:ext>
              </a:extLst>
            </p:cNvPr>
            <p:cNvSpPr txBox="1"/>
            <p:nvPr/>
          </p:nvSpPr>
          <p:spPr>
            <a:xfrm>
              <a:off x="10661205" y="8933887"/>
              <a:ext cx="10651736" cy="404079"/>
            </a:xfrm>
            <a:prstGeom prst="rect">
              <a:avLst/>
            </a:prstGeom>
            <a:noFill/>
          </p:spPr>
          <p:txBody>
            <a:bodyPr wrap="square">
              <a:spAutoFit/>
            </a:bodyPr>
            <a:lstStyle/>
            <a:p>
              <a:r>
                <a:rPr lang="zh-CN" altLang="en-US" dirty="0"/>
                <a:t>① 不得病的人（                 ），决策函数</a:t>
              </a:r>
              <a:r>
                <a:rPr lang="zh-CN" altLang="en-US" b="1" dirty="0"/>
                <a:t>预测不得病的概率</a:t>
              </a:r>
              <a:r>
                <a:rPr lang="zh-CN" altLang="en-US" dirty="0">
                  <a:solidFill>
                    <a:srgbClr val="C00000"/>
                  </a:solidFill>
                </a:rPr>
                <a:t>越大越好，暨输出为</a:t>
              </a:r>
              <a:r>
                <a:rPr lang="en-US" altLang="zh-CN" dirty="0">
                  <a:solidFill>
                    <a:srgbClr val="C00000"/>
                  </a:solidFill>
                </a:rPr>
                <a:t>0</a:t>
              </a:r>
              <a:r>
                <a:rPr lang="zh-CN" altLang="en-US" dirty="0">
                  <a:solidFill>
                    <a:srgbClr val="C00000"/>
                  </a:solidFill>
                </a:rPr>
                <a:t>的概率越大越好：</a:t>
              </a:r>
              <a:endParaRPr lang="en-US" altLang="zh-CN" dirty="0">
                <a:solidFill>
                  <a:srgbClr val="C00000"/>
                </a:solidFill>
              </a:endParaRPr>
            </a:p>
          </p:txBody>
        </p:sp>
        <p:graphicFrame>
          <p:nvGraphicFramePr>
            <p:cNvPr id="17" name="对象 16">
              <a:extLst>
                <a:ext uri="{FF2B5EF4-FFF2-40B4-BE49-F238E27FC236}">
                  <a16:creationId xmlns:a16="http://schemas.microsoft.com/office/drawing/2014/main" id="{B2659C80-4910-4EA7-AE9C-D54459C2C626}"/>
                </a:ext>
              </a:extLst>
            </p:cNvPr>
            <p:cNvGraphicFramePr>
              <a:graphicFrameLocks noChangeAspect="1"/>
            </p:cNvGraphicFramePr>
            <p:nvPr/>
          </p:nvGraphicFramePr>
          <p:xfrm>
            <a:off x="12606394" y="8955728"/>
            <a:ext cx="765970" cy="438944"/>
          </p:xfrm>
          <a:graphic>
            <a:graphicData uri="http://schemas.openxmlformats.org/presentationml/2006/ole">
              <mc:AlternateContent xmlns:mc="http://schemas.openxmlformats.org/markup-compatibility/2006">
                <mc:Choice xmlns:v="urn:schemas-microsoft-com:vml" Requires="v">
                  <p:oleObj name="Equation" r:id="rId3" imgW="393480" imgH="228600" progId="Equation.DSMT4">
                    <p:embed/>
                  </p:oleObj>
                </mc:Choice>
                <mc:Fallback>
                  <p:oleObj name="Equation" r:id="rId3" imgW="393480" imgH="228600" progId="Equation.DSMT4">
                    <p:embed/>
                    <p:pic>
                      <p:nvPicPr>
                        <p:cNvPr id="17" name="对象 16">
                          <a:extLst>
                            <a:ext uri="{FF2B5EF4-FFF2-40B4-BE49-F238E27FC236}">
                              <a16:creationId xmlns:a16="http://schemas.microsoft.com/office/drawing/2014/main" id="{B2659C80-4910-4EA7-AE9C-D54459C2C626}"/>
                            </a:ext>
                          </a:extLst>
                        </p:cNvPr>
                        <p:cNvPicPr>
                          <a:picLocks noChangeAspect="1" noChangeArrowheads="1"/>
                        </p:cNvPicPr>
                        <p:nvPr/>
                      </p:nvPicPr>
                      <p:blipFill>
                        <a:blip r:embed="rId4"/>
                        <a:srcRect/>
                        <a:stretch>
                          <a:fillRect/>
                        </a:stretch>
                      </p:blipFill>
                      <p:spPr bwMode="auto">
                        <a:xfrm>
                          <a:off x="12606394" y="8955728"/>
                          <a:ext cx="765970" cy="438944"/>
                        </a:xfrm>
                        <a:prstGeom prst="rect">
                          <a:avLst/>
                        </a:prstGeom>
                        <a:noFill/>
                      </p:spPr>
                    </p:pic>
                  </p:oleObj>
                </mc:Fallback>
              </mc:AlternateContent>
            </a:graphicData>
          </a:graphic>
        </p:graphicFrame>
      </p:grpSp>
      <p:graphicFrame>
        <p:nvGraphicFramePr>
          <p:cNvPr id="18" name="对象 17">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5435036" y="3207380"/>
          <a:ext cx="1120775" cy="449263"/>
        </p:xfrm>
        <a:graphic>
          <a:graphicData uri="http://schemas.openxmlformats.org/presentationml/2006/ole">
            <mc:AlternateContent xmlns:mc="http://schemas.openxmlformats.org/markup-compatibility/2006">
              <mc:Choice xmlns:v="urn:schemas-microsoft-com:vml" Requires="v">
                <p:oleObj name="Equation" r:id="rId5" imgW="622080" imgH="253800" progId="Equation.DSMT4">
                  <p:embed/>
                </p:oleObj>
              </mc:Choice>
              <mc:Fallback>
                <p:oleObj name="Equation" r:id="rId5" imgW="622080" imgH="253800" progId="Equation.DSMT4">
                  <p:embed/>
                  <p:pic>
                    <p:nvPicPr>
                      <p:cNvPr id="18" name="对象 17">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5435036" y="3207380"/>
                        <a:ext cx="1120775" cy="449263"/>
                      </a:xfrm>
                      <a:prstGeom prst="rect">
                        <a:avLst/>
                      </a:prstGeom>
                      <a:noFill/>
                    </p:spPr>
                  </p:pic>
                </p:oleObj>
              </mc:Fallback>
            </mc:AlternateContent>
          </a:graphicData>
        </a:graphic>
      </p:graphicFrame>
      <p:sp>
        <p:nvSpPr>
          <p:cNvPr id="19" name="矩形 18"/>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23544" y="2288752"/>
          <a:ext cx="800100" cy="449262"/>
        </p:xfrm>
        <a:graphic>
          <a:graphicData uri="http://schemas.openxmlformats.org/presentationml/2006/ole">
            <mc:AlternateContent xmlns:mc="http://schemas.openxmlformats.org/markup-compatibility/2006">
              <mc:Choice xmlns:v="urn:schemas-microsoft-com:vml" Requires="v">
                <p:oleObj name="Equation" r:id="rId7" imgW="444240" imgH="253800" progId="Equation.DSMT4">
                  <p:embed/>
                </p:oleObj>
              </mc:Choice>
              <mc:Fallback>
                <p:oleObj name="Equation" r:id="rId7"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8"/>
                      <a:srcRect/>
                      <a:stretch>
                        <a:fillRect/>
                      </a:stretch>
                    </p:blipFill>
                    <p:spPr bwMode="auto">
                      <a:xfrm>
                        <a:off x="923544" y="2288752"/>
                        <a:ext cx="800100" cy="449262"/>
                      </a:xfrm>
                      <a:prstGeom prst="rect">
                        <a:avLst/>
                      </a:prstGeom>
                      <a:noFill/>
                    </p:spPr>
                  </p:pic>
                </p:oleObj>
              </mc:Fallback>
            </mc:AlternateContent>
          </a:graphicData>
        </a:graphic>
      </p:graphicFrame>
      <p:sp>
        <p:nvSpPr>
          <p:cNvPr id="5" name="矩形 4"/>
          <p:cNvSpPr/>
          <p:nvPr/>
        </p:nvSpPr>
        <p:spPr>
          <a:xfrm>
            <a:off x="1637753" y="2343565"/>
            <a:ext cx="2492990" cy="369332"/>
          </a:xfrm>
          <a:prstGeom prst="rect">
            <a:avLst/>
          </a:prstGeom>
        </p:spPr>
        <p:txBody>
          <a:bodyPr wrap="none">
            <a:spAutoFit/>
          </a:bodyPr>
          <a:lstStyle/>
          <a:p>
            <a:r>
              <a:rPr lang="zh-CN" altLang="en-US" b="1" dirty="0"/>
              <a:t>：模型预测的得病概率</a:t>
            </a:r>
            <a:endParaRPr lang="zh-CN" altLang="en-US" dirty="0"/>
          </a:p>
        </p:txBody>
      </p:sp>
      <p:grpSp>
        <p:nvGrpSpPr>
          <p:cNvPr id="21" name="组合 20">
            <a:extLst>
              <a:ext uri="{FF2B5EF4-FFF2-40B4-BE49-F238E27FC236}">
                <a16:creationId xmlns:a16="http://schemas.microsoft.com/office/drawing/2014/main" id="{888C320E-946D-40A3-81D0-A2754A394C7B}"/>
              </a:ext>
            </a:extLst>
          </p:cNvPr>
          <p:cNvGrpSpPr/>
          <p:nvPr/>
        </p:nvGrpSpPr>
        <p:grpSpPr>
          <a:xfrm>
            <a:off x="838200" y="3792892"/>
            <a:ext cx="10390632" cy="396862"/>
            <a:chOff x="9951647" y="9112793"/>
            <a:chExt cx="12188756" cy="396862"/>
          </a:xfrm>
        </p:grpSpPr>
        <p:sp>
          <p:nvSpPr>
            <p:cNvPr id="22" name="文本框 21">
              <a:extLst>
                <a:ext uri="{FF2B5EF4-FFF2-40B4-BE49-F238E27FC236}">
                  <a16:creationId xmlns:a16="http://schemas.microsoft.com/office/drawing/2014/main" id="{6F63D142-CB95-4243-BF5E-F57DE3C9F87A}"/>
                </a:ext>
              </a:extLst>
            </p:cNvPr>
            <p:cNvSpPr txBox="1"/>
            <p:nvPr/>
          </p:nvSpPr>
          <p:spPr>
            <a:xfrm>
              <a:off x="9951647" y="9112793"/>
              <a:ext cx="12188756" cy="369332"/>
            </a:xfrm>
            <a:prstGeom prst="rect">
              <a:avLst/>
            </a:prstGeom>
            <a:noFill/>
          </p:spPr>
          <p:txBody>
            <a:bodyPr wrap="square">
              <a:spAutoFit/>
            </a:bodyPr>
            <a:lstStyle/>
            <a:p>
              <a:r>
                <a:rPr lang="zh-CN" altLang="en-US" dirty="0"/>
                <a:t>② 得病的人（              ），决策函数</a:t>
              </a:r>
              <a:r>
                <a:rPr lang="zh-CN" altLang="en-US" b="1" dirty="0"/>
                <a:t>预测得病的概率</a:t>
              </a:r>
              <a:r>
                <a:rPr lang="zh-CN" altLang="en-US" dirty="0">
                  <a:solidFill>
                    <a:srgbClr val="C00000"/>
                  </a:solidFill>
                </a:rPr>
                <a:t>越大越好：</a:t>
              </a:r>
              <a:endParaRPr lang="en-US" altLang="zh-CN" dirty="0">
                <a:solidFill>
                  <a:srgbClr val="C00000"/>
                </a:solidFill>
              </a:endParaRPr>
            </a:p>
          </p:txBody>
        </p:sp>
        <p:graphicFrame>
          <p:nvGraphicFramePr>
            <p:cNvPr id="23" name="对象 22">
              <a:extLst>
                <a:ext uri="{FF2B5EF4-FFF2-40B4-BE49-F238E27FC236}">
                  <a16:creationId xmlns:a16="http://schemas.microsoft.com/office/drawing/2014/main" id="{48E7260C-C721-4B9D-9058-F62917FB2A84}"/>
                </a:ext>
              </a:extLst>
            </p:cNvPr>
            <p:cNvGraphicFramePr>
              <a:graphicFrameLocks noChangeAspect="1"/>
            </p:cNvGraphicFramePr>
            <p:nvPr>
              <p:extLst>
                <p:ext uri="{D42A27DB-BD31-4B8C-83A1-F6EECF244321}">
                  <p14:modId xmlns:p14="http://schemas.microsoft.com/office/powerpoint/2010/main" val="3296692214"/>
                </p:ext>
              </p:extLst>
            </p:nvPr>
          </p:nvGraphicFramePr>
          <p:xfrm>
            <a:off x="11889227" y="9123762"/>
            <a:ext cx="630130" cy="385893"/>
          </p:xfrm>
          <a:graphic>
            <a:graphicData uri="http://schemas.openxmlformats.org/presentationml/2006/ole">
              <mc:AlternateContent xmlns:mc="http://schemas.openxmlformats.org/markup-compatibility/2006">
                <mc:Choice xmlns:v="urn:schemas-microsoft-com:vml" Requires="v">
                  <p:oleObj name="Equation" r:id="rId9" imgW="368280" imgH="228600" progId="Equation.DSMT4">
                    <p:embed/>
                  </p:oleObj>
                </mc:Choice>
                <mc:Fallback>
                  <p:oleObj name="Equation" r:id="rId9" imgW="368280" imgH="228600" progId="Equation.DSMT4">
                    <p:embed/>
                    <p:pic>
                      <p:nvPicPr>
                        <p:cNvPr id="23" name="对象 22">
                          <a:extLst>
                            <a:ext uri="{FF2B5EF4-FFF2-40B4-BE49-F238E27FC236}">
                              <a16:creationId xmlns:a16="http://schemas.microsoft.com/office/drawing/2014/main" id="{48E7260C-C721-4B9D-9058-F62917FB2A84}"/>
                            </a:ext>
                          </a:extLst>
                        </p:cNvPr>
                        <p:cNvPicPr>
                          <a:picLocks noChangeAspect="1" noChangeArrowheads="1"/>
                        </p:cNvPicPr>
                        <p:nvPr/>
                      </p:nvPicPr>
                      <p:blipFill>
                        <a:blip r:embed="rId10"/>
                        <a:srcRect/>
                        <a:stretch>
                          <a:fillRect/>
                        </a:stretch>
                      </p:blipFill>
                      <p:spPr bwMode="auto">
                        <a:xfrm>
                          <a:off x="11889227" y="9123762"/>
                          <a:ext cx="630130" cy="385893"/>
                        </a:xfrm>
                        <a:prstGeom prst="rect">
                          <a:avLst/>
                        </a:prstGeom>
                        <a:noFill/>
                      </p:spPr>
                    </p:pic>
                  </p:oleObj>
                </mc:Fallback>
              </mc:AlternateContent>
            </a:graphicData>
          </a:graphic>
        </p:graphicFrame>
      </p:grpSp>
      <p:graphicFrame>
        <p:nvGraphicFramePr>
          <p:cNvPr id="24" name="对象 2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5295900" y="4168624"/>
          <a:ext cx="800100" cy="449262"/>
        </p:xfrm>
        <a:graphic>
          <a:graphicData uri="http://schemas.openxmlformats.org/presentationml/2006/ole">
            <mc:AlternateContent xmlns:mc="http://schemas.openxmlformats.org/markup-compatibility/2006">
              <mc:Choice xmlns:v="urn:schemas-microsoft-com:vml" Requires="v">
                <p:oleObj name="Equation" r:id="rId11" imgW="444240" imgH="253800" progId="Equation.DSMT4">
                  <p:embed/>
                </p:oleObj>
              </mc:Choice>
              <mc:Fallback>
                <p:oleObj name="Equation" r:id="rId11" imgW="444240" imgH="253800" progId="Equation.DSMT4">
                  <p:embed/>
                  <p:pic>
                    <p:nvPicPr>
                      <p:cNvPr id="24" name="对象 2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5295900" y="4168624"/>
                        <a:ext cx="800100" cy="449262"/>
                      </a:xfrm>
                      <a:prstGeom prst="rect">
                        <a:avLst/>
                      </a:prstGeom>
                      <a:noFill/>
                    </p:spPr>
                  </p:pic>
                </p:oleObj>
              </mc:Fallback>
            </mc:AlternateContent>
          </a:graphicData>
        </a:graphic>
      </p:graphicFrame>
      <p:cxnSp>
        <p:nvCxnSpPr>
          <p:cNvPr id="27" name="直接箭头连接符 26"/>
          <p:cNvCxnSpPr/>
          <p:nvPr/>
        </p:nvCxnSpPr>
        <p:spPr>
          <a:xfrm>
            <a:off x="6932578" y="3453712"/>
            <a:ext cx="734061" cy="2167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6932578" y="4470142"/>
            <a:ext cx="736190" cy="959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对象 3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8039091" y="4291413"/>
          <a:ext cx="663575" cy="404813"/>
        </p:xfrm>
        <a:graphic>
          <a:graphicData uri="http://schemas.openxmlformats.org/presentationml/2006/ole">
            <mc:AlternateContent xmlns:mc="http://schemas.openxmlformats.org/markup-compatibility/2006">
              <mc:Choice xmlns:v="urn:schemas-microsoft-com:vml" Requires="v">
                <p:oleObj name="Equation" r:id="rId13" imgW="368280" imgH="228600" progId="Equation.DSMT4">
                  <p:embed/>
                </p:oleObj>
              </mc:Choice>
              <mc:Fallback>
                <p:oleObj name="Equation" r:id="rId13" imgW="368280" imgH="228600" progId="Equation.DSMT4">
                  <p:embed/>
                  <p:pic>
                    <p:nvPicPr>
                      <p:cNvPr id="34" name="对象 3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8039091" y="4291413"/>
                        <a:ext cx="663575" cy="404813"/>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7999633" y="3300814"/>
          <a:ext cx="709612" cy="404812"/>
        </p:xfrm>
        <a:graphic>
          <a:graphicData uri="http://schemas.openxmlformats.org/presentationml/2006/ole">
            <mc:AlternateContent xmlns:mc="http://schemas.openxmlformats.org/markup-compatibility/2006">
              <mc:Choice xmlns:v="urn:schemas-microsoft-com:vml" Requires="v">
                <p:oleObj name="Equation" r:id="rId15" imgW="393480" imgH="228600" progId="Equation.DSMT4">
                  <p:embed/>
                </p:oleObj>
              </mc:Choice>
              <mc:Fallback>
                <p:oleObj name="Equation" r:id="rId15" imgW="393480" imgH="228600" progId="Equation.DSMT4">
                  <p:embed/>
                  <p:pic>
                    <p:nvPicPr>
                      <p:cNvPr id="35" name="对象 3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7999633" y="3300814"/>
                        <a:ext cx="709612" cy="404812"/>
                      </a:xfrm>
                      <a:prstGeom prst="rect">
                        <a:avLst/>
                      </a:prstGeom>
                      <a:noFill/>
                    </p:spPr>
                  </p:pic>
                </p:oleObj>
              </mc:Fallback>
            </mc:AlternateContent>
          </a:graphicData>
        </a:graphic>
      </p:graphicFrame>
      <p:sp>
        <p:nvSpPr>
          <p:cNvPr id="36" name="文本框 35"/>
          <p:cNvSpPr txBox="1"/>
          <p:nvPr/>
        </p:nvSpPr>
        <p:spPr>
          <a:xfrm>
            <a:off x="7696163" y="4303478"/>
            <a:ext cx="256032" cy="369332"/>
          </a:xfrm>
          <a:prstGeom prst="rect">
            <a:avLst/>
          </a:prstGeom>
          <a:noFill/>
        </p:spPr>
        <p:txBody>
          <a:bodyPr wrap="square" rtlCol="0">
            <a:spAutoFit/>
          </a:bodyPr>
          <a:lstStyle/>
          <a:p>
            <a:r>
              <a:rPr lang="zh-CN" altLang="en-US" dirty="0"/>
              <a:t>当</a:t>
            </a:r>
          </a:p>
        </p:txBody>
      </p:sp>
      <p:sp>
        <p:nvSpPr>
          <p:cNvPr id="37" name="文本框 36"/>
          <p:cNvSpPr txBox="1"/>
          <p:nvPr/>
        </p:nvSpPr>
        <p:spPr>
          <a:xfrm>
            <a:off x="8619099" y="4307585"/>
            <a:ext cx="849309" cy="369332"/>
          </a:xfrm>
          <a:prstGeom prst="rect">
            <a:avLst/>
          </a:prstGeom>
          <a:noFill/>
        </p:spPr>
        <p:txBody>
          <a:bodyPr wrap="square" rtlCol="0">
            <a:spAutoFit/>
          </a:bodyPr>
          <a:lstStyle/>
          <a:p>
            <a:r>
              <a:rPr lang="zh-CN" altLang="en-US" dirty="0"/>
              <a:t>时，</a:t>
            </a:r>
          </a:p>
        </p:txBody>
      </p:sp>
      <p:sp>
        <p:nvSpPr>
          <p:cNvPr id="38" name="文本框 37"/>
          <p:cNvSpPr txBox="1"/>
          <p:nvPr/>
        </p:nvSpPr>
        <p:spPr>
          <a:xfrm>
            <a:off x="7689486" y="3288952"/>
            <a:ext cx="256032" cy="369332"/>
          </a:xfrm>
          <a:prstGeom prst="rect">
            <a:avLst/>
          </a:prstGeom>
          <a:noFill/>
        </p:spPr>
        <p:txBody>
          <a:bodyPr wrap="square" rtlCol="0">
            <a:spAutoFit/>
          </a:bodyPr>
          <a:lstStyle/>
          <a:p>
            <a:r>
              <a:rPr lang="zh-CN" altLang="en-US" dirty="0"/>
              <a:t>当</a:t>
            </a:r>
          </a:p>
        </p:txBody>
      </p:sp>
      <p:sp>
        <p:nvSpPr>
          <p:cNvPr id="39" name="文本框 38"/>
          <p:cNvSpPr txBox="1"/>
          <p:nvPr/>
        </p:nvSpPr>
        <p:spPr>
          <a:xfrm>
            <a:off x="8619099" y="3301520"/>
            <a:ext cx="453708" cy="369332"/>
          </a:xfrm>
          <a:prstGeom prst="rect">
            <a:avLst/>
          </a:prstGeom>
          <a:noFill/>
        </p:spPr>
        <p:txBody>
          <a:bodyPr wrap="square" rtlCol="0">
            <a:spAutoFit/>
          </a:bodyPr>
          <a:lstStyle/>
          <a:p>
            <a:r>
              <a:rPr lang="zh-CN" altLang="en-US" dirty="0"/>
              <a:t>时，</a:t>
            </a:r>
          </a:p>
        </p:txBody>
      </p:sp>
      <p:graphicFrame>
        <p:nvGraphicFramePr>
          <p:cNvPr id="42" name="对象 41">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079193" y="3267370"/>
          <a:ext cx="1647825" cy="515937"/>
        </p:xfrm>
        <a:graphic>
          <a:graphicData uri="http://schemas.openxmlformats.org/presentationml/2006/ole">
            <mc:AlternateContent xmlns:mc="http://schemas.openxmlformats.org/markup-compatibility/2006">
              <mc:Choice xmlns:v="urn:schemas-microsoft-com:vml" Requires="v">
                <p:oleObj name="Equation" r:id="rId17" imgW="914400" imgH="291960" progId="Equation.DSMT4">
                  <p:embed/>
                </p:oleObj>
              </mc:Choice>
              <mc:Fallback>
                <p:oleObj name="Equation" r:id="rId17" imgW="914400" imgH="29196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8"/>
                      <a:srcRect/>
                      <a:stretch>
                        <a:fillRect/>
                      </a:stretch>
                    </p:blipFill>
                    <p:spPr bwMode="auto">
                      <a:xfrm>
                        <a:off x="9079193" y="3267370"/>
                        <a:ext cx="1647825" cy="515937"/>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072807" y="4276777"/>
          <a:ext cx="1304925" cy="515938"/>
        </p:xfrm>
        <a:graphic>
          <a:graphicData uri="http://schemas.openxmlformats.org/presentationml/2006/ole">
            <mc:AlternateContent xmlns:mc="http://schemas.openxmlformats.org/markup-compatibility/2006">
              <mc:Choice xmlns:v="urn:schemas-microsoft-com:vml" Requires="v">
                <p:oleObj name="Equation" r:id="rId19" imgW="723600" imgH="291960" progId="Equation.DSMT4">
                  <p:embed/>
                </p:oleObj>
              </mc:Choice>
              <mc:Fallback>
                <p:oleObj name="Equation" r:id="rId19" imgW="723600" imgH="291960" progId="Equation.DSMT4">
                  <p:embed/>
                  <p:pic>
                    <p:nvPicPr>
                      <p:cNvPr id="44" name="对象 43">
                        <a:extLst>
                          <a:ext uri="{FF2B5EF4-FFF2-40B4-BE49-F238E27FC236}">
                            <a16:creationId xmlns:a16="http://schemas.microsoft.com/office/drawing/2014/main" id="{7E56E43C-2107-47ED-A78E-FA29EA22A516}"/>
                          </a:ext>
                        </a:extLst>
                      </p:cNvPr>
                      <p:cNvPicPr>
                        <a:picLocks noChangeAspect="1" noChangeArrowheads="1"/>
                      </p:cNvPicPr>
                      <p:nvPr/>
                    </p:nvPicPr>
                    <p:blipFill>
                      <a:blip r:embed="rId20"/>
                      <a:srcRect/>
                      <a:stretch>
                        <a:fillRect/>
                      </a:stretch>
                    </p:blipFill>
                    <p:spPr bwMode="auto">
                      <a:xfrm>
                        <a:off x="9072807" y="4276777"/>
                        <a:ext cx="1304925" cy="515938"/>
                      </a:xfrm>
                      <a:prstGeom prst="rect">
                        <a:avLst/>
                      </a:prstGeom>
                      <a:noFill/>
                    </p:spPr>
                  </p:pic>
                </p:oleObj>
              </mc:Fallback>
            </mc:AlternateContent>
          </a:graphicData>
        </a:graphic>
      </p:graphicFrame>
      <p:cxnSp>
        <p:nvCxnSpPr>
          <p:cNvPr id="45" name="直接箭头连接符 44"/>
          <p:cNvCxnSpPr/>
          <p:nvPr/>
        </p:nvCxnSpPr>
        <p:spPr>
          <a:xfrm>
            <a:off x="10485120" y="3705626"/>
            <a:ext cx="414528" cy="21228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10485120" y="4168624"/>
            <a:ext cx="414528" cy="2612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10874335" y="3634565"/>
            <a:ext cx="1338392" cy="923330"/>
          </a:xfrm>
          <a:prstGeom prst="rect">
            <a:avLst/>
          </a:prstGeom>
          <a:noFill/>
        </p:spPr>
        <p:txBody>
          <a:bodyPr wrap="square" rtlCol="0">
            <a:spAutoFit/>
          </a:bodyPr>
          <a:lstStyle/>
          <a:p>
            <a:r>
              <a:rPr lang="zh-CN" altLang="en-US" b="1" dirty="0"/>
              <a:t>对于不同类样本，形式上不一样</a:t>
            </a:r>
          </a:p>
        </p:txBody>
      </p:sp>
      <p:sp>
        <p:nvSpPr>
          <p:cNvPr id="3" name="右箭头 2"/>
          <p:cNvSpPr/>
          <p:nvPr/>
        </p:nvSpPr>
        <p:spPr>
          <a:xfrm rot="5400000">
            <a:off x="11273064" y="4621127"/>
            <a:ext cx="436125" cy="3766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0" name="对象 39">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872084595"/>
              </p:ext>
            </p:extLst>
          </p:nvPr>
        </p:nvGraphicFramePr>
        <p:xfrm>
          <a:off x="11415959" y="5076252"/>
          <a:ext cx="206375" cy="292100"/>
        </p:xfrm>
        <a:graphic>
          <a:graphicData uri="http://schemas.openxmlformats.org/presentationml/2006/ole">
            <mc:AlternateContent xmlns:mc="http://schemas.openxmlformats.org/markup-compatibility/2006">
              <mc:Choice xmlns:v="urn:schemas-microsoft-com:vml" Requires="v">
                <p:oleObj name="Equation" r:id="rId21" imgW="114120" imgH="164880" progId="Equation.DSMT4">
                  <p:embed/>
                </p:oleObj>
              </mc:Choice>
              <mc:Fallback>
                <p:oleObj name="Equation" r:id="rId21" imgW="114120" imgH="164880" progId="Equation.DSMT4">
                  <p:embed/>
                  <p:pic>
                    <p:nvPicPr>
                      <p:cNvPr id="44" name="对象 43">
                        <a:extLst>
                          <a:ext uri="{FF2B5EF4-FFF2-40B4-BE49-F238E27FC236}">
                            <a16:creationId xmlns:a16="http://schemas.microsoft.com/office/drawing/2014/main" id="{7E56E43C-2107-47ED-A78E-FA29EA22A516}"/>
                          </a:ext>
                        </a:extLst>
                      </p:cNvPr>
                      <p:cNvPicPr>
                        <a:picLocks noChangeAspect="1" noChangeArrowheads="1"/>
                      </p:cNvPicPr>
                      <p:nvPr/>
                    </p:nvPicPr>
                    <p:blipFill>
                      <a:blip r:embed="rId22"/>
                      <a:srcRect/>
                      <a:stretch>
                        <a:fillRect/>
                      </a:stretch>
                    </p:blipFill>
                    <p:spPr bwMode="auto">
                      <a:xfrm>
                        <a:off x="11415959" y="5076252"/>
                        <a:ext cx="206375" cy="292100"/>
                      </a:xfrm>
                      <a:prstGeom prst="rect">
                        <a:avLst/>
                      </a:prstGeom>
                      <a:noFill/>
                    </p:spPr>
                  </p:pic>
                </p:oleObj>
              </mc:Fallback>
            </mc:AlternateContent>
          </a:graphicData>
        </a:graphic>
      </p:graphicFrame>
    </p:spTree>
    <p:extLst>
      <p:ext uri="{BB962C8B-B14F-4D97-AF65-F5344CB8AC3E}">
        <p14:creationId xmlns:p14="http://schemas.microsoft.com/office/powerpoint/2010/main" val="4102155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33</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1B613423-4ABA-43F9-827F-E16FDE82B589}"/>
              </a:ext>
            </a:extLst>
          </p:cNvPr>
          <p:cNvGrpSpPr/>
          <p:nvPr/>
        </p:nvGrpSpPr>
        <p:grpSpPr>
          <a:xfrm>
            <a:off x="838200" y="2859749"/>
            <a:ext cx="10515600" cy="421162"/>
            <a:chOff x="10661205" y="8933887"/>
            <a:chExt cx="10651736" cy="460785"/>
          </a:xfrm>
        </p:grpSpPr>
        <p:sp>
          <p:nvSpPr>
            <p:cNvPr id="15" name="文本框 14">
              <a:extLst>
                <a:ext uri="{FF2B5EF4-FFF2-40B4-BE49-F238E27FC236}">
                  <a16:creationId xmlns:a16="http://schemas.microsoft.com/office/drawing/2014/main" id="{2AE84D46-5109-4F5D-B90B-C66B7BB25B5F}"/>
                </a:ext>
              </a:extLst>
            </p:cNvPr>
            <p:cNvSpPr txBox="1"/>
            <p:nvPr/>
          </p:nvSpPr>
          <p:spPr>
            <a:xfrm>
              <a:off x="10661205" y="8933887"/>
              <a:ext cx="10651736" cy="404079"/>
            </a:xfrm>
            <a:prstGeom prst="rect">
              <a:avLst/>
            </a:prstGeom>
            <a:noFill/>
          </p:spPr>
          <p:txBody>
            <a:bodyPr wrap="square">
              <a:spAutoFit/>
            </a:bodyPr>
            <a:lstStyle/>
            <a:p>
              <a:r>
                <a:rPr lang="zh-CN" altLang="en-US" dirty="0"/>
                <a:t>① 不得病的人（                 ），决策函数</a:t>
              </a:r>
              <a:r>
                <a:rPr lang="zh-CN" altLang="en-US" b="1" dirty="0"/>
                <a:t>预测不得病的概率</a:t>
              </a:r>
              <a:r>
                <a:rPr lang="zh-CN" altLang="en-US" dirty="0">
                  <a:solidFill>
                    <a:srgbClr val="C00000"/>
                  </a:solidFill>
                </a:rPr>
                <a:t>越大越好，暨输出为</a:t>
              </a:r>
              <a:r>
                <a:rPr lang="en-US" altLang="zh-CN" dirty="0">
                  <a:solidFill>
                    <a:srgbClr val="C00000"/>
                  </a:solidFill>
                </a:rPr>
                <a:t>0</a:t>
              </a:r>
              <a:r>
                <a:rPr lang="zh-CN" altLang="en-US" dirty="0">
                  <a:solidFill>
                    <a:srgbClr val="C00000"/>
                  </a:solidFill>
                </a:rPr>
                <a:t>的概率越大越好：</a:t>
              </a:r>
              <a:endParaRPr lang="en-US" altLang="zh-CN" dirty="0">
                <a:solidFill>
                  <a:srgbClr val="C00000"/>
                </a:solidFill>
              </a:endParaRPr>
            </a:p>
          </p:txBody>
        </p:sp>
        <p:graphicFrame>
          <p:nvGraphicFramePr>
            <p:cNvPr id="17" name="对象 16">
              <a:extLst>
                <a:ext uri="{FF2B5EF4-FFF2-40B4-BE49-F238E27FC236}">
                  <a16:creationId xmlns:a16="http://schemas.microsoft.com/office/drawing/2014/main" id="{B2659C80-4910-4EA7-AE9C-D54459C2C626}"/>
                </a:ext>
              </a:extLst>
            </p:cNvPr>
            <p:cNvGraphicFramePr>
              <a:graphicFrameLocks noChangeAspect="1"/>
            </p:cNvGraphicFramePr>
            <p:nvPr/>
          </p:nvGraphicFramePr>
          <p:xfrm>
            <a:off x="12606394" y="8955728"/>
            <a:ext cx="765970" cy="438944"/>
          </p:xfrm>
          <a:graphic>
            <a:graphicData uri="http://schemas.openxmlformats.org/presentationml/2006/ole">
              <mc:AlternateContent xmlns:mc="http://schemas.openxmlformats.org/markup-compatibility/2006">
                <mc:Choice xmlns:v="urn:schemas-microsoft-com:vml" Requires="v">
                  <p:oleObj name="Equation" r:id="rId3" imgW="393480" imgH="228600" progId="Equation.DSMT4">
                    <p:embed/>
                  </p:oleObj>
                </mc:Choice>
                <mc:Fallback>
                  <p:oleObj name="Equation" r:id="rId3" imgW="393480" imgH="228600" progId="Equation.DSMT4">
                    <p:embed/>
                    <p:pic>
                      <p:nvPicPr>
                        <p:cNvPr id="17" name="对象 16">
                          <a:extLst>
                            <a:ext uri="{FF2B5EF4-FFF2-40B4-BE49-F238E27FC236}">
                              <a16:creationId xmlns:a16="http://schemas.microsoft.com/office/drawing/2014/main" id="{B2659C80-4910-4EA7-AE9C-D54459C2C626}"/>
                            </a:ext>
                          </a:extLst>
                        </p:cNvPr>
                        <p:cNvPicPr>
                          <a:picLocks noChangeAspect="1" noChangeArrowheads="1"/>
                        </p:cNvPicPr>
                        <p:nvPr/>
                      </p:nvPicPr>
                      <p:blipFill>
                        <a:blip r:embed="rId4"/>
                        <a:srcRect/>
                        <a:stretch>
                          <a:fillRect/>
                        </a:stretch>
                      </p:blipFill>
                      <p:spPr bwMode="auto">
                        <a:xfrm>
                          <a:off x="12606394" y="8955728"/>
                          <a:ext cx="765970" cy="438944"/>
                        </a:xfrm>
                        <a:prstGeom prst="rect">
                          <a:avLst/>
                        </a:prstGeom>
                        <a:noFill/>
                      </p:spPr>
                    </p:pic>
                  </p:oleObj>
                </mc:Fallback>
              </mc:AlternateContent>
            </a:graphicData>
          </a:graphic>
        </p:graphicFrame>
      </p:grpSp>
      <p:sp>
        <p:nvSpPr>
          <p:cNvPr id="19" name="矩形 18"/>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23544" y="2288752"/>
          <a:ext cx="800100" cy="449262"/>
        </p:xfrm>
        <a:graphic>
          <a:graphicData uri="http://schemas.openxmlformats.org/presentationml/2006/ole">
            <mc:AlternateContent xmlns:mc="http://schemas.openxmlformats.org/markup-compatibility/2006">
              <mc:Choice xmlns:v="urn:schemas-microsoft-com:vml" Requires="v">
                <p:oleObj name="Equation" r:id="rId5" imgW="444240" imgH="253800" progId="Equation.DSMT4">
                  <p:embed/>
                </p:oleObj>
              </mc:Choice>
              <mc:Fallback>
                <p:oleObj name="Equation" r:id="rId5"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923544" y="2288752"/>
                        <a:ext cx="800100" cy="449262"/>
                      </a:xfrm>
                      <a:prstGeom prst="rect">
                        <a:avLst/>
                      </a:prstGeom>
                      <a:noFill/>
                    </p:spPr>
                  </p:pic>
                </p:oleObj>
              </mc:Fallback>
            </mc:AlternateContent>
          </a:graphicData>
        </a:graphic>
      </p:graphicFrame>
      <p:sp>
        <p:nvSpPr>
          <p:cNvPr id="5" name="矩形 4"/>
          <p:cNvSpPr/>
          <p:nvPr/>
        </p:nvSpPr>
        <p:spPr>
          <a:xfrm>
            <a:off x="1637753" y="2343565"/>
            <a:ext cx="2492990" cy="369332"/>
          </a:xfrm>
          <a:prstGeom prst="rect">
            <a:avLst/>
          </a:prstGeom>
        </p:spPr>
        <p:txBody>
          <a:bodyPr wrap="none">
            <a:spAutoFit/>
          </a:bodyPr>
          <a:lstStyle/>
          <a:p>
            <a:r>
              <a:rPr lang="zh-CN" altLang="en-US" b="1" dirty="0"/>
              <a:t>：模型预测的得病概率</a:t>
            </a:r>
            <a:endParaRPr lang="zh-CN" altLang="en-US" dirty="0"/>
          </a:p>
        </p:txBody>
      </p:sp>
      <p:grpSp>
        <p:nvGrpSpPr>
          <p:cNvPr id="21" name="组合 20">
            <a:extLst>
              <a:ext uri="{FF2B5EF4-FFF2-40B4-BE49-F238E27FC236}">
                <a16:creationId xmlns:a16="http://schemas.microsoft.com/office/drawing/2014/main" id="{888C320E-946D-40A3-81D0-A2754A394C7B}"/>
              </a:ext>
            </a:extLst>
          </p:cNvPr>
          <p:cNvGrpSpPr/>
          <p:nvPr/>
        </p:nvGrpSpPr>
        <p:grpSpPr>
          <a:xfrm>
            <a:off x="838200" y="3280911"/>
            <a:ext cx="10390632" cy="396862"/>
            <a:chOff x="9951647" y="9112793"/>
            <a:chExt cx="12188756" cy="396862"/>
          </a:xfrm>
        </p:grpSpPr>
        <p:sp>
          <p:nvSpPr>
            <p:cNvPr id="22" name="文本框 21">
              <a:extLst>
                <a:ext uri="{FF2B5EF4-FFF2-40B4-BE49-F238E27FC236}">
                  <a16:creationId xmlns:a16="http://schemas.microsoft.com/office/drawing/2014/main" id="{6F63D142-CB95-4243-BF5E-F57DE3C9F87A}"/>
                </a:ext>
              </a:extLst>
            </p:cNvPr>
            <p:cNvSpPr txBox="1"/>
            <p:nvPr/>
          </p:nvSpPr>
          <p:spPr>
            <a:xfrm>
              <a:off x="9951647" y="9112793"/>
              <a:ext cx="12188756" cy="369332"/>
            </a:xfrm>
            <a:prstGeom prst="rect">
              <a:avLst/>
            </a:prstGeom>
            <a:noFill/>
          </p:spPr>
          <p:txBody>
            <a:bodyPr wrap="square">
              <a:spAutoFit/>
            </a:bodyPr>
            <a:lstStyle/>
            <a:p>
              <a:r>
                <a:rPr lang="zh-CN" altLang="en-US" dirty="0"/>
                <a:t>② 得病的人（              ），决策函数</a:t>
              </a:r>
              <a:r>
                <a:rPr lang="zh-CN" altLang="en-US" b="1" dirty="0"/>
                <a:t>预测得病的概率</a:t>
              </a:r>
              <a:r>
                <a:rPr lang="zh-CN" altLang="en-US" dirty="0">
                  <a:solidFill>
                    <a:srgbClr val="C00000"/>
                  </a:solidFill>
                </a:rPr>
                <a:t>越大越好：</a:t>
              </a:r>
              <a:endParaRPr lang="en-US" altLang="zh-CN" dirty="0">
                <a:solidFill>
                  <a:srgbClr val="C00000"/>
                </a:solidFill>
              </a:endParaRPr>
            </a:p>
          </p:txBody>
        </p:sp>
        <p:graphicFrame>
          <p:nvGraphicFramePr>
            <p:cNvPr id="23" name="对象 22">
              <a:extLst>
                <a:ext uri="{FF2B5EF4-FFF2-40B4-BE49-F238E27FC236}">
                  <a16:creationId xmlns:a16="http://schemas.microsoft.com/office/drawing/2014/main" id="{48E7260C-C721-4B9D-9058-F62917FB2A84}"/>
                </a:ext>
              </a:extLst>
            </p:cNvPr>
            <p:cNvGraphicFramePr>
              <a:graphicFrameLocks noChangeAspect="1"/>
            </p:cNvGraphicFramePr>
            <p:nvPr/>
          </p:nvGraphicFramePr>
          <p:xfrm>
            <a:off x="11889227" y="9123762"/>
            <a:ext cx="630130" cy="385893"/>
          </p:xfrm>
          <a:graphic>
            <a:graphicData uri="http://schemas.openxmlformats.org/presentationml/2006/ole">
              <mc:AlternateContent xmlns:mc="http://schemas.openxmlformats.org/markup-compatibility/2006">
                <mc:Choice xmlns:v="urn:schemas-microsoft-com:vml" Requires="v">
                  <p:oleObj name="Equation" r:id="rId7" imgW="368280" imgH="228600" progId="Equation.DSMT4">
                    <p:embed/>
                  </p:oleObj>
                </mc:Choice>
                <mc:Fallback>
                  <p:oleObj name="Equation" r:id="rId7" imgW="368280" imgH="228600" progId="Equation.DSMT4">
                    <p:embed/>
                    <p:pic>
                      <p:nvPicPr>
                        <p:cNvPr id="23" name="对象 22">
                          <a:extLst>
                            <a:ext uri="{FF2B5EF4-FFF2-40B4-BE49-F238E27FC236}">
                              <a16:creationId xmlns:a16="http://schemas.microsoft.com/office/drawing/2014/main" id="{48E7260C-C721-4B9D-9058-F62917FB2A84}"/>
                            </a:ext>
                          </a:extLst>
                        </p:cNvPr>
                        <p:cNvPicPr>
                          <a:picLocks noChangeAspect="1" noChangeArrowheads="1"/>
                        </p:cNvPicPr>
                        <p:nvPr/>
                      </p:nvPicPr>
                      <p:blipFill>
                        <a:blip r:embed="rId8"/>
                        <a:srcRect/>
                        <a:stretch>
                          <a:fillRect/>
                        </a:stretch>
                      </p:blipFill>
                      <p:spPr bwMode="auto">
                        <a:xfrm>
                          <a:off x="11889227" y="9123762"/>
                          <a:ext cx="630130" cy="385893"/>
                        </a:xfrm>
                        <a:prstGeom prst="rect">
                          <a:avLst/>
                        </a:prstGeom>
                        <a:noFill/>
                      </p:spPr>
                    </p:pic>
                  </p:oleObj>
                </mc:Fallback>
              </mc:AlternateContent>
            </a:graphicData>
          </a:graphic>
        </p:graphicFrame>
      </p:grpSp>
      <p:graphicFrame>
        <p:nvGraphicFramePr>
          <p:cNvPr id="34" name="对象 3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228247" y="5502766"/>
          <a:ext cx="663575" cy="404813"/>
        </p:xfrm>
        <a:graphic>
          <a:graphicData uri="http://schemas.openxmlformats.org/presentationml/2006/ole">
            <mc:AlternateContent xmlns:mc="http://schemas.openxmlformats.org/markup-compatibility/2006">
              <mc:Choice xmlns:v="urn:schemas-microsoft-com:vml" Requires="v">
                <p:oleObj name="Equation" r:id="rId9" imgW="368280" imgH="228600" progId="Equation.DSMT4">
                  <p:embed/>
                </p:oleObj>
              </mc:Choice>
              <mc:Fallback>
                <p:oleObj name="Equation" r:id="rId9" imgW="368280" imgH="228600" progId="Equation.DSMT4">
                  <p:embed/>
                  <p:pic>
                    <p:nvPicPr>
                      <p:cNvPr id="34" name="对象 3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0"/>
                      <a:srcRect/>
                      <a:stretch>
                        <a:fillRect/>
                      </a:stretch>
                    </p:blipFill>
                    <p:spPr bwMode="auto">
                      <a:xfrm>
                        <a:off x="1228247" y="5502766"/>
                        <a:ext cx="663575" cy="404813"/>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190927" y="3806041"/>
          <a:ext cx="709612" cy="404812"/>
        </p:xfrm>
        <a:graphic>
          <a:graphicData uri="http://schemas.openxmlformats.org/presentationml/2006/ole">
            <mc:AlternateContent xmlns:mc="http://schemas.openxmlformats.org/markup-compatibility/2006">
              <mc:Choice xmlns:v="urn:schemas-microsoft-com:vml" Requires="v">
                <p:oleObj name="Equation" r:id="rId11" imgW="393480" imgH="228600" progId="Equation.DSMT4">
                  <p:embed/>
                </p:oleObj>
              </mc:Choice>
              <mc:Fallback>
                <p:oleObj name="Equation" r:id="rId11" imgW="393480" imgH="228600" progId="Equation.DSMT4">
                  <p:embed/>
                  <p:pic>
                    <p:nvPicPr>
                      <p:cNvPr id="35" name="对象 3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1190927" y="3806041"/>
                        <a:ext cx="709612" cy="404812"/>
                      </a:xfrm>
                      <a:prstGeom prst="rect">
                        <a:avLst/>
                      </a:prstGeom>
                      <a:noFill/>
                    </p:spPr>
                  </p:pic>
                </p:oleObj>
              </mc:Fallback>
            </mc:AlternateContent>
          </a:graphicData>
        </a:graphic>
      </p:graphicFrame>
      <p:sp>
        <p:nvSpPr>
          <p:cNvPr id="36" name="文本框 35"/>
          <p:cNvSpPr txBox="1"/>
          <p:nvPr/>
        </p:nvSpPr>
        <p:spPr>
          <a:xfrm>
            <a:off x="885319" y="5514831"/>
            <a:ext cx="256032" cy="369332"/>
          </a:xfrm>
          <a:prstGeom prst="rect">
            <a:avLst/>
          </a:prstGeom>
          <a:noFill/>
        </p:spPr>
        <p:txBody>
          <a:bodyPr wrap="square" rtlCol="0">
            <a:spAutoFit/>
          </a:bodyPr>
          <a:lstStyle/>
          <a:p>
            <a:r>
              <a:rPr lang="zh-CN" altLang="en-US" dirty="0"/>
              <a:t>当</a:t>
            </a:r>
          </a:p>
        </p:txBody>
      </p:sp>
      <p:sp>
        <p:nvSpPr>
          <p:cNvPr id="37" name="文本框 36"/>
          <p:cNvSpPr txBox="1"/>
          <p:nvPr/>
        </p:nvSpPr>
        <p:spPr>
          <a:xfrm>
            <a:off x="1808255" y="5518938"/>
            <a:ext cx="849309" cy="369332"/>
          </a:xfrm>
          <a:prstGeom prst="rect">
            <a:avLst/>
          </a:prstGeom>
          <a:noFill/>
        </p:spPr>
        <p:txBody>
          <a:bodyPr wrap="square" rtlCol="0">
            <a:spAutoFit/>
          </a:bodyPr>
          <a:lstStyle/>
          <a:p>
            <a:r>
              <a:rPr lang="zh-CN" altLang="en-US" dirty="0"/>
              <a:t>时，</a:t>
            </a:r>
          </a:p>
        </p:txBody>
      </p:sp>
      <p:sp>
        <p:nvSpPr>
          <p:cNvPr id="38" name="文本框 37"/>
          <p:cNvSpPr txBox="1"/>
          <p:nvPr/>
        </p:nvSpPr>
        <p:spPr>
          <a:xfrm>
            <a:off x="880780" y="3794179"/>
            <a:ext cx="256032" cy="369332"/>
          </a:xfrm>
          <a:prstGeom prst="rect">
            <a:avLst/>
          </a:prstGeom>
          <a:noFill/>
        </p:spPr>
        <p:txBody>
          <a:bodyPr wrap="square" rtlCol="0">
            <a:spAutoFit/>
          </a:bodyPr>
          <a:lstStyle/>
          <a:p>
            <a:r>
              <a:rPr lang="zh-CN" altLang="en-US" dirty="0"/>
              <a:t>当</a:t>
            </a:r>
          </a:p>
        </p:txBody>
      </p:sp>
      <p:sp>
        <p:nvSpPr>
          <p:cNvPr id="39" name="文本框 38"/>
          <p:cNvSpPr txBox="1"/>
          <p:nvPr/>
        </p:nvSpPr>
        <p:spPr>
          <a:xfrm>
            <a:off x="1810393" y="3806747"/>
            <a:ext cx="453708" cy="369332"/>
          </a:xfrm>
          <a:prstGeom prst="rect">
            <a:avLst/>
          </a:prstGeom>
          <a:noFill/>
        </p:spPr>
        <p:txBody>
          <a:bodyPr wrap="square" rtlCol="0">
            <a:spAutoFit/>
          </a:bodyPr>
          <a:lstStyle/>
          <a:p>
            <a:r>
              <a:rPr lang="zh-CN" altLang="en-US" dirty="0"/>
              <a:t>时，</a:t>
            </a:r>
          </a:p>
        </p:txBody>
      </p:sp>
      <p:graphicFrame>
        <p:nvGraphicFramePr>
          <p:cNvPr id="42" name="对象 41">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2270487" y="3772597"/>
          <a:ext cx="1647825" cy="515937"/>
        </p:xfrm>
        <a:graphic>
          <a:graphicData uri="http://schemas.openxmlformats.org/presentationml/2006/ole">
            <mc:AlternateContent xmlns:mc="http://schemas.openxmlformats.org/markup-compatibility/2006">
              <mc:Choice xmlns:v="urn:schemas-microsoft-com:vml" Requires="v">
                <p:oleObj name="Equation" r:id="rId13" imgW="914400" imgH="291960" progId="Equation.DSMT4">
                  <p:embed/>
                </p:oleObj>
              </mc:Choice>
              <mc:Fallback>
                <p:oleObj name="Equation" r:id="rId13" imgW="914400" imgH="29196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2270487" y="3772597"/>
                        <a:ext cx="1647825" cy="515937"/>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2261963" y="5488130"/>
          <a:ext cx="1304925" cy="515938"/>
        </p:xfrm>
        <a:graphic>
          <a:graphicData uri="http://schemas.openxmlformats.org/presentationml/2006/ole">
            <mc:AlternateContent xmlns:mc="http://schemas.openxmlformats.org/markup-compatibility/2006">
              <mc:Choice xmlns:v="urn:schemas-microsoft-com:vml" Requires="v">
                <p:oleObj name="Equation" r:id="rId15" imgW="723600" imgH="291960" progId="Equation.DSMT4">
                  <p:embed/>
                </p:oleObj>
              </mc:Choice>
              <mc:Fallback>
                <p:oleObj name="Equation" r:id="rId15" imgW="723600" imgH="291960" progId="Equation.DSMT4">
                  <p:embed/>
                  <p:pic>
                    <p:nvPicPr>
                      <p:cNvPr id="44" name="对象 4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2261963" y="5488130"/>
                        <a:ext cx="1304925" cy="515938"/>
                      </a:xfrm>
                      <a:prstGeom prst="rect">
                        <a:avLst/>
                      </a:prstGeom>
                      <a:noFill/>
                    </p:spPr>
                  </p:pic>
                </p:oleObj>
              </mc:Fallback>
            </mc:AlternateContent>
          </a:graphicData>
        </a:graphic>
      </p:graphicFrame>
      <p:sp>
        <p:nvSpPr>
          <p:cNvPr id="7" name="右箭头 6"/>
          <p:cNvSpPr/>
          <p:nvPr/>
        </p:nvSpPr>
        <p:spPr>
          <a:xfrm>
            <a:off x="2779301" y="4932459"/>
            <a:ext cx="1707298"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518988" y="4339604"/>
            <a:ext cx="2379382" cy="646331"/>
          </a:xfrm>
          <a:prstGeom prst="rect">
            <a:avLst/>
          </a:prstGeom>
          <a:noFill/>
        </p:spPr>
        <p:txBody>
          <a:bodyPr wrap="square" rtlCol="0">
            <a:spAutoFit/>
          </a:bodyPr>
          <a:lstStyle/>
          <a:p>
            <a:r>
              <a:rPr lang="en-US" altLang="zh-CN" b="1" dirty="0" err="1">
                <a:solidFill>
                  <a:srgbClr val="C00000"/>
                </a:solidFill>
              </a:rPr>
              <a:t>Step1</a:t>
            </a:r>
            <a:r>
              <a:rPr lang="en-US" altLang="zh-CN" b="1" dirty="0">
                <a:solidFill>
                  <a:srgbClr val="C00000"/>
                </a:solidFill>
              </a:rPr>
              <a:t> </a:t>
            </a:r>
            <a:r>
              <a:rPr lang="zh-CN" altLang="en-US" b="1" dirty="0">
                <a:solidFill>
                  <a:srgbClr val="C00000"/>
                </a:solidFill>
              </a:rPr>
              <a:t>任何数的</a:t>
            </a:r>
            <a:r>
              <a:rPr lang="en-US" altLang="zh-CN" b="1" dirty="0">
                <a:solidFill>
                  <a:srgbClr val="C00000"/>
                </a:solidFill>
              </a:rPr>
              <a:t>1</a:t>
            </a:r>
            <a:r>
              <a:rPr lang="zh-CN" altLang="en-US" b="1" dirty="0">
                <a:solidFill>
                  <a:srgbClr val="C00000"/>
                </a:solidFill>
              </a:rPr>
              <a:t>次方都等于它本身</a:t>
            </a:r>
          </a:p>
        </p:txBody>
      </p:sp>
    </p:spTree>
    <p:extLst>
      <p:ext uri="{BB962C8B-B14F-4D97-AF65-F5344CB8AC3E}">
        <p14:creationId xmlns:p14="http://schemas.microsoft.com/office/powerpoint/2010/main" val="3049204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34</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1B613423-4ABA-43F9-827F-E16FDE82B589}"/>
              </a:ext>
            </a:extLst>
          </p:cNvPr>
          <p:cNvGrpSpPr/>
          <p:nvPr/>
        </p:nvGrpSpPr>
        <p:grpSpPr>
          <a:xfrm>
            <a:off x="838200" y="2859749"/>
            <a:ext cx="10515600" cy="421162"/>
            <a:chOff x="10661205" y="8933887"/>
            <a:chExt cx="10651736" cy="460785"/>
          </a:xfrm>
        </p:grpSpPr>
        <p:sp>
          <p:nvSpPr>
            <p:cNvPr id="15" name="文本框 14">
              <a:extLst>
                <a:ext uri="{FF2B5EF4-FFF2-40B4-BE49-F238E27FC236}">
                  <a16:creationId xmlns:a16="http://schemas.microsoft.com/office/drawing/2014/main" id="{2AE84D46-5109-4F5D-B90B-C66B7BB25B5F}"/>
                </a:ext>
              </a:extLst>
            </p:cNvPr>
            <p:cNvSpPr txBox="1"/>
            <p:nvPr/>
          </p:nvSpPr>
          <p:spPr>
            <a:xfrm>
              <a:off x="10661205" y="8933887"/>
              <a:ext cx="10651736" cy="404079"/>
            </a:xfrm>
            <a:prstGeom prst="rect">
              <a:avLst/>
            </a:prstGeom>
            <a:noFill/>
          </p:spPr>
          <p:txBody>
            <a:bodyPr wrap="square">
              <a:spAutoFit/>
            </a:bodyPr>
            <a:lstStyle/>
            <a:p>
              <a:r>
                <a:rPr lang="zh-CN" altLang="en-US" dirty="0"/>
                <a:t>① 不得病的人（                 ），决策函数</a:t>
              </a:r>
              <a:r>
                <a:rPr lang="zh-CN" altLang="en-US" b="1" dirty="0"/>
                <a:t>预测不得病的概率</a:t>
              </a:r>
              <a:r>
                <a:rPr lang="zh-CN" altLang="en-US" dirty="0">
                  <a:solidFill>
                    <a:srgbClr val="C00000"/>
                  </a:solidFill>
                </a:rPr>
                <a:t>越大越好，暨输出为</a:t>
              </a:r>
              <a:r>
                <a:rPr lang="en-US" altLang="zh-CN" dirty="0">
                  <a:solidFill>
                    <a:srgbClr val="C00000"/>
                  </a:solidFill>
                </a:rPr>
                <a:t>0</a:t>
              </a:r>
              <a:r>
                <a:rPr lang="zh-CN" altLang="en-US" dirty="0">
                  <a:solidFill>
                    <a:srgbClr val="C00000"/>
                  </a:solidFill>
                </a:rPr>
                <a:t>的概率越大越好：</a:t>
              </a:r>
              <a:endParaRPr lang="en-US" altLang="zh-CN" dirty="0">
                <a:solidFill>
                  <a:srgbClr val="C00000"/>
                </a:solidFill>
              </a:endParaRPr>
            </a:p>
          </p:txBody>
        </p:sp>
        <p:graphicFrame>
          <p:nvGraphicFramePr>
            <p:cNvPr id="17" name="对象 16">
              <a:extLst>
                <a:ext uri="{FF2B5EF4-FFF2-40B4-BE49-F238E27FC236}">
                  <a16:creationId xmlns:a16="http://schemas.microsoft.com/office/drawing/2014/main" id="{B2659C80-4910-4EA7-AE9C-D54459C2C626}"/>
                </a:ext>
              </a:extLst>
            </p:cNvPr>
            <p:cNvGraphicFramePr>
              <a:graphicFrameLocks noChangeAspect="1"/>
            </p:cNvGraphicFramePr>
            <p:nvPr/>
          </p:nvGraphicFramePr>
          <p:xfrm>
            <a:off x="12606394" y="8955728"/>
            <a:ext cx="765970" cy="438944"/>
          </p:xfrm>
          <a:graphic>
            <a:graphicData uri="http://schemas.openxmlformats.org/presentationml/2006/ole">
              <mc:AlternateContent xmlns:mc="http://schemas.openxmlformats.org/markup-compatibility/2006">
                <mc:Choice xmlns:v="urn:schemas-microsoft-com:vml" Requires="v">
                  <p:oleObj name="Equation" r:id="rId3" imgW="393480" imgH="228600" progId="Equation.DSMT4">
                    <p:embed/>
                  </p:oleObj>
                </mc:Choice>
                <mc:Fallback>
                  <p:oleObj name="Equation" r:id="rId3" imgW="393480" imgH="228600" progId="Equation.DSMT4">
                    <p:embed/>
                    <p:pic>
                      <p:nvPicPr>
                        <p:cNvPr id="17" name="对象 16">
                          <a:extLst>
                            <a:ext uri="{FF2B5EF4-FFF2-40B4-BE49-F238E27FC236}">
                              <a16:creationId xmlns:a16="http://schemas.microsoft.com/office/drawing/2014/main" id="{B2659C80-4910-4EA7-AE9C-D54459C2C626}"/>
                            </a:ext>
                          </a:extLst>
                        </p:cNvPr>
                        <p:cNvPicPr>
                          <a:picLocks noChangeAspect="1" noChangeArrowheads="1"/>
                        </p:cNvPicPr>
                        <p:nvPr/>
                      </p:nvPicPr>
                      <p:blipFill>
                        <a:blip r:embed="rId4"/>
                        <a:srcRect/>
                        <a:stretch>
                          <a:fillRect/>
                        </a:stretch>
                      </p:blipFill>
                      <p:spPr bwMode="auto">
                        <a:xfrm>
                          <a:off x="12606394" y="8955728"/>
                          <a:ext cx="765970" cy="438944"/>
                        </a:xfrm>
                        <a:prstGeom prst="rect">
                          <a:avLst/>
                        </a:prstGeom>
                        <a:noFill/>
                      </p:spPr>
                    </p:pic>
                  </p:oleObj>
                </mc:Fallback>
              </mc:AlternateContent>
            </a:graphicData>
          </a:graphic>
        </p:graphicFrame>
      </p:grpSp>
      <p:sp>
        <p:nvSpPr>
          <p:cNvPr id="19" name="矩形 18"/>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23544" y="2288752"/>
          <a:ext cx="800100" cy="449262"/>
        </p:xfrm>
        <a:graphic>
          <a:graphicData uri="http://schemas.openxmlformats.org/presentationml/2006/ole">
            <mc:AlternateContent xmlns:mc="http://schemas.openxmlformats.org/markup-compatibility/2006">
              <mc:Choice xmlns:v="urn:schemas-microsoft-com:vml" Requires="v">
                <p:oleObj name="Equation" r:id="rId5" imgW="444240" imgH="253800" progId="Equation.DSMT4">
                  <p:embed/>
                </p:oleObj>
              </mc:Choice>
              <mc:Fallback>
                <p:oleObj name="Equation" r:id="rId5"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923544" y="2288752"/>
                        <a:ext cx="800100" cy="449262"/>
                      </a:xfrm>
                      <a:prstGeom prst="rect">
                        <a:avLst/>
                      </a:prstGeom>
                      <a:noFill/>
                    </p:spPr>
                  </p:pic>
                </p:oleObj>
              </mc:Fallback>
            </mc:AlternateContent>
          </a:graphicData>
        </a:graphic>
      </p:graphicFrame>
      <p:sp>
        <p:nvSpPr>
          <p:cNvPr id="5" name="矩形 4"/>
          <p:cNvSpPr/>
          <p:nvPr/>
        </p:nvSpPr>
        <p:spPr>
          <a:xfrm>
            <a:off x="1637753" y="2343565"/>
            <a:ext cx="2492990" cy="369332"/>
          </a:xfrm>
          <a:prstGeom prst="rect">
            <a:avLst/>
          </a:prstGeom>
        </p:spPr>
        <p:txBody>
          <a:bodyPr wrap="none">
            <a:spAutoFit/>
          </a:bodyPr>
          <a:lstStyle/>
          <a:p>
            <a:r>
              <a:rPr lang="zh-CN" altLang="en-US" b="1" dirty="0"/>
              <a:t>：模型预测的得病概率</a:t>
            </a:r>
            <a:endParaRPr lang="zh-CN" altLang="en-US" dirty="0"/>
          </a:p>
        </p:txBody>
      </p:sp>
      <p:grpSp>
        <p:nvGrpSpPr>
          <p:cNvPr id="21" name="组合 20">
            <a:extLst>
              <a:ext uri="{FF2B5EF4-FFF2-40B4-BE49-F238E27FC236}">
                <a16:creationId xmlns:a16="http://schemas.microsoft.com/office/drawing/2014/main" id="{888C320E-946D-40A3-81D0-A2754A394C7B}"/>
              </a:ext>
            </a:extLst>
          </p:cNvPr>
          <p:cNvGrpSpPr/>
          <p:nvPr/>
        </p:nvGrpSpPr>
        <p:grpSpPr>
          <a:xfrm>
            <a:off x="838200" y="3280911"/>
            <a:ext cx="10390632" cy="396862"/>
            <a:chOff x="9951647" y="9112793"/>
            <a:chExt cx="12188756" cy="396862"/>
          </a:xfrm>
        </p:grpSpPr>
        <p:sp>
          <p:nvSpPr>
            <p:cNvPr id="22" name="文本框 21">
              <a:extLst>
                <a:ext uri="{FF2B5EF4-FFF2-40B4-BE49-F238E27FC236}">
                  <a16:creationId xmlns:a16="http://schemas.microsoft.com/office/drawing/2014/main" id="{6F63D142-CB95-4243-BF5E-F57DE3C9F87A}"/>
                </a:ext>
              </a:extLst>
            </p:cNvPr>
            <p:cNvSpPr txBox="1"/>
            <p:nvPr/>
          </p:nvSpPr>
          <p:spPr>
            <a:xfrm>
              <a:off x="9951647" y="9112793"/>
              <a:ext cx="12188756" cy="369332"/>
            </a:xfrm>
            <a:prstGeom prst="rect">
              <a:avLst/>
            </a:prstGeom>
            <a:noFill/>
          </p:spPr>
          <p:txBody>
            <a:bodyPr wrap="square">
              <a:spAutoFit/>
            </a:bodyPr>
            <a:lstStyle/>
            <a:p>
              <a:r>
                <a:rPr lang="zh-CN" altLang="en-US" dirty="0"/>
                <a:t>② 得病的人（              ），决策函数</a:t>
              </a:r>
              <a:r>
                <a:rPr lang="zh-CN" altLang="en-US" b="1" dirty="0"/>
                <a:t>预测得病的概率</a:t>
              </a:r>
              <a:r>
                <a:rPr lang="zh-CN" altLang="en-US" dirty="0">
                  <a:solidFill>
                    <a:srgbClr val="C00000"/>
                  </a:solidFill>
                </a:rPr>
                <a:t>越大越好：</a:t>
              </a:r>
              <a:endParaRPr lang="en-US" altLang="zh-CN" dirty="0">
                <a:solidFill>
                  <a:srgbClr val="C00000"/>
                </a:solidFill>
              </a:endParaRPr>
            </a:p>
          </p:txBody>
        </p:sp>
        <p:graphicFrame>
          <p:nvGraphicFramePr>
            <p:cNvPr id="23" name="对象 22">
              <a:extLst>
                <a:ext uri="{FF2B5EF4-FFF2-40B4-BE49-F238E27FC236}">
                  <a16:creationId xmlns:a16="http://schemas.microsoft.com/office/drawing/2014/main" id="{48E7260C-C721-4B9D-9058-F62917FB2A84}"/>
                </a:ext>
              </a:extLst>
            </p:cNvPr>
            <p:cNvGraphicFramePr>
              <a:graphicFrameLocks noChangeAspect="1"/>
            </p:cNvGraphicFramePr>
            <p:nvPr/>
          </p:nvGraphicFramePr>
          <p:xfrm>
            <a:off x="11889227" y="9123762"/>
            <a:ext cx="630130" cy="385893"/>
          </p:xfrm>
          <a:graphic>
            <a:graphicData uri="http://schemas.openxmlformats.org/presentationml/2006/ole">
              <mc:AlternateContent xmlns:mc="http://schemas.openxmlformats.org/markup-compatibility/2006">
                <mc:Choice xmlns:v="urn:schemas-microsoft-com:vml" Requires="v">
                  <p:oleObj name="Equation" r:id="rId7" imgW="368280" imgH="228600" progId="Equation.DSMT4">
                    <p:embed/>
                  </p:oleObj>
                </mc:Choice>
                <mc:Fallback>
                  <p:oleObj name="Equation" r:id="rId7" imgW="368280" imgH="228600" progId="Equation.DSMT4">
                    <p:embed/>
                    <p:pic>
                      <p:nvPicPr>
                        <p:cNvPr id="23" name="对象 22">
                          <a:extLst>
                            <a:ext uri="{FF2B5EF4-FFF2-40B4-BE49-F238E27FC236}">
                              <a16:creationId xmlns:a16="http://schemas.microsoft.com/office/drawing/2014/main" id="{48E7260C-C721-4B9D-9058-F62917FB2A84}"/>
                            </a:ext>
                          </a:extLst>
                        </p:cNvPr>
                        <p:cNvPicPr>
                          <a:picLocks noChangeAspect="1" noChangeArrowheads="1"/>
                        </p:cNvPicPr>
                        <p:nvPr/>
                      </p:nvPicPr>
                      <p:blipFill>
                        <a:blip r:embed="rId8"/>
                        <a:srcRect/>
                        <a:stretch>
                          <a:fillRect/>
                        </a:stretch>
                      </p:blipFill>
                      <p:spPr bwMode="auto">
                        <a:xfrm>
                          <a:off x="11889227" y="9123762"/>
                          <a:ext cx="630130" cy="385893"/>
                        </a:xfrm>
                        <a:prstGeom prst="rect">
                          <a:avLst/>
                        </a:prstGeom>
                        <a:noFill/>
                      </p:spPr>
                    </p:pic>
                  </p:oleObj>
                </mc:Fallback>
              </mc:AlternateContent>
            </a:graphicData>
          </a:graphic>
        </p:graphicFrame>
      </p:grpSp>
      <p:graphicFrame>
        <p:nvGraphicFramePr>
          <p:cNvPr id="34" name="对象 3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228247" y="5502766"/>
          <a:ext cx="663575" cy="404813"/>
        </p:xfrm>
        <a:graphic>
          <a:graphicData uri="http://schemas.openxmlformats.org/presentationml/2006/ole">
            <mc:AlternateContent xmlns:mc="http://schemas.openxmlformats.org/markup-compatibility/2006">
              <mc:Choice xmlns:v="urn:schemas-microsoft-com:vml" Requires="v">
                <p:oleObj name="Equation" r:id="rId9" imgW="368280" imgH="228600" progId="Equation.DSMT4">
                  <p:embed/>
                </p:oleObj>
              </mc:Choice>
              <mc:Fallback>
                <p:oleObj name="Equation" r:id="rId9" imgW="368280" imgH="228600" progId="Equation.DSMT4">
                  <p:embed/>
                  <p:pic>
                    <p:nvPicPr>
                      <p:cNvPr id="34" name="对象 3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0"/>
                      <a:srcRect/>
                      <a:stretch>
                        <a:fillRect/>
                      </a:stretch>
                    </p:blipFill>
                    <p:spPr bwMode="auto">
                      <a:xfrm>
                        <a:off x="1228247" y="5502766"/>
                        <a:ext cx="663575" cy="404813"/>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190927" y="3806041"/>
          <a:ext cx="709612" cy="404812"/>
        </p:xfrm>
        <a:graphic>
          <a:graphicData uri="http://schemas.openxmlformats.org/presentationml/2006/ole">
            <mc:AlternateContent xmlns:mc="http://schemas.openxmlformats.org/markup-compatibility/2006">
              <mc:Choice xmlns:v="urn:schemas-microsoft-com:vml" Requires="v">
                <p:oleObj name="Equation" r:id="rId11" imgW="393480" imgH="228600" progId="Equation.DSMT4">
                  <p:embed/>
                </p:oleObj>
              </mc:Choice>
              <mc:Fallback>
                <p:oleObj name="Equation" r:id="rId11" imgW="393480" imgH="228600" progId="Equation.DSMT4">
                  <p:embed/>
                  <p:pic>
                    <p:nvPicPr>
                      <p:cNvPr id="35" name="对象 3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1190927" y="3806041"/>
                        <a:ext cx="709612" cy="404812"/>
                      </a:xfrm>
                      <a:prstGeom prst="rect">
                        <a:avLst/>
                      </a:prstGeom>
                      <a:noFill/>
                    </p:spPr>
                  </p:pic>
                </p:oleObj>
              </mc:Fallback>
            </mc:AlternateContent>
          </a:graphicData>
        </a:graphic>
      </p:graphicFrame>
      <p:sp>
        <p:nvSpPr>
          <p:cNvPr id="36" name="文本框 35"/>
          <p:cNvSpPr txBox="1"/>
          <p:nvPr/>
        </p:nvSpPr>
        <p:spPr>
          <a:xfrm>
            <a:off x="885319" y="5514831"/>
            <a:ext cx="256032" cy="369332"/>
          </a:xfrm>
          <a:prstGeom prst="rect">
            <a:avLst/>
          </a:prstGeom>
          <a:noFill/>
        </p:spPr>
        <p:txBody>
          <a:bodyPr wrap="square" rtlCol="0">
            <a:spAutoFit/>
          </a:bodyPr>
          <a:lstStyle/>
          <a:p>
            <a:r>
              <a:rPr lang="zh-CN" altLang="en-US" dirty="0"/>
              <a:t>当</a:t>
            </a:r>
          </a:p>
        </p:txBody>
      </p:sp>
      <p:sp>
        <p:nvSpPr>
          <p:cNvPr id="37" name="文本框 36"/>
          <p:cNvSpPr txBox="1"/>
          <p:nvPr/>
        </p:nvSpPr>
        <p:spPr>
          <a:xfrm>
            <a:off x="1808255" y="5518938"/>
            <a:ext cx="849309" cy="369332"/>
          </a:xfrm>
          <a:prstGeom prst="rect">
            <a:avLst/>
          </a:prstGeom>
          <a:noFill/>
        </p:spPr>
        <p:txBody>
          <a:bodyPr wrap="square" rtlCol="0">
            <a:spAutoFit/>
          </a:bodyPr>
          <a:lstStyle/>
          <a:p>
            <a:r>
              <a:rPr lang="zh-CN" altLang="en-US" dirty="0"/>
              <a:t>时，</a:t>
            </a:r>
          </a:p>
        </p:txBody>
      </p:sp>
      <p:sp>
        <p:nvSpPr>
          <p:cNvPr id="38" name="文本框 37"/>
          <p:cNvSpPr txBox="1"/>
          <p:nvPr/>
        </p:nvSpPr>
        <p:spPr>
          <a:xfrm>
            <a:off x="880780" y="3794179"/>
            <a:ext cx="256032" cy="369332"/>
          </a:xfrm>
          <a:prstGeom prst="rect">
            <a:avLst/>
          </a:prstGeom>
          <a:noFill/>
        </p:spPr>
        <p:txBody>
          <a:bodyPr wrap="square" rtlCol="0">
            <a:spAutoFit/>
          </a:bodyPr>
          <a:lstStyle/>
          <a:p>
            <a:r>
              <a:rPr lang="zh-CN" altLang="en-US" dirty="0"/>
              <a:t>当</a:t>
            </a:r>
          </a:p>
        </p:txBody>
      </p:sp>
      <p:sp>
        <p:nvSpPr>
          <p:cNvPr id="39" name="文本框 38"/>
          <p:cNvSpPr txBox="1"/>
          <p:nvPr/>
        </p:nvSpPr>
        <p:spPr>
          <a:xfrm>
            <a:off x="1810393" y="3806747"/>
            <a:ext cx="453708" cy="369332"/>
          </a:xfrm>
          <a:prstGeom prst="rect">
            <a:avLst/>
          </a:prstGeom>
          <a:noFill/>
        </p:spPr>
        <p:txBody>
          <a:bodyPr wrap="square" rtlCol="0">
            <a:spAutoFit/>
          </a:bodyPr>
          <a:lstStyle/>
          <a:p>
            <a:r>
              <a:rPr lang="zh-CN" altLang="en-US" dirty="0"/>
              <a:t>时，</a:t>
            </a:r>
          </a:p>
        </p:txBody>
      </p:sp>
      <p:graphicFrame>
        <p:nvGraphicFramePr>
          <p:cNvPr id="42" name="对象 41">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2270487" y="3772597"/>
          <a:ext cx="1647825" cy="515937"/>
        </p:xfrm>
        <a:graphic>
          <a:graphicData uri="http://schemas.openxmlformats.org/presentationml/2006/ole">
            <mc:AlternateContent xmlns:mc="http://schemas.openxmlformats.org/markup-compatibility/2006">
              <mc:Choice xmlns:v="urn:schemas-microsoft-com:vml" Requires="v">
                <p:oleObj name="Equation" r:id="rId13" imgW="914400" imgH="291960" progId="Equation.DSMT4">
                  <p:embed/>
                </p:oleObj>
              </mc:Choice>
              <mc:Fallback>
                <p:oleObj name="Equation" r:id="rId13" imgW="914400" imgH="29196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2270487" y="3772597"/>
                        <a:ext cx="1647825" cy="515937"/>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2261963" y="5488130"/>
          <a:ext cx="1304925" cy="515938"/>
        </p:xfrm>
        <a:graphic>
          <a:graphicData uri="http://schemas.openxmlformats.org/presentationml/2006/ole">
            <mc:AlternateContent xmlns:mc="http://schemas.openxmlformats.org/markup-compatibility/2006">
              <mc:Choice xmlns:v="urn:schemas-microsoft-com:vml" Requires="v">
                <p:oleObj name="Equation" r:id="rId15" imgW="723600" imgH="291960" progId="Equation.DSMT4">
                  <p:embed/>
                </p:oleObj>
              </mc:Choice>
              <mc:Fallback>
                <p:oleObj name="Equation" r:id="rId15" imgW="723600" imgH="291960" progId="Equation.DSMT4">
                  <p:embed/>
                  <p:pic>
                    <p:nvPicPr>
                      <p:cNvPr id="44" name="对象 4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2261963" y="5488130"/>
                        <a:ext cx="1304925" cy="515938"/>
                      </a:xfrm>
                      <a:prstGeom prst="rect">
                        <a:avLst/>
                      </a:prstGeom>
                      <a:noFill/>
                    </p:spPr>
                  </p:pic>
                </p:oleObj>
              </mc:Fallback>
            </mc:AlternateContent>
          </a:graphicData>
        </a:graphic>
      </p:graphicFrame>
      <p:sp>
        <p:nvSpPr>
          <p:cNvPr id="7" name="右箭头 6"/>
          <p:cNvSpPr/>
          <p:nvPr/>
        </p:nvSpPr>
        <p:spPr>
          <a:xfrm>
            <a:off x="2779301" y="4932459"/>
            <a:ext cx="1707298"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518988" y="4339604"/>
            <a:ext cx="2379382" cy="646331"/>
          </a:xfrm>
          <a:prstGeom prst="rect">
            <a:avLst/>
          </a:prstGeom>
          <a:noFill/>
        </p:spPr>
        <p:txBody>
          <a:bodyPr wrap="square" rtlCol="0">
            <a:spAutoFit/>
          </a:bodyPr>
          <a:lstStyle/>
          <a:p>
            <a:r>
              <a:rPr lang="en-US" altLang="zh-CN" b="1" dirty="0" err="1">
                <a:solidFill>
                  <a:srgbClr val="C00000"/>
                </a:solidFill>
              </a:rPr>
              <a:t>Step1</a:t>
            </a:r>
            <a:r>
              <a:rPr lang="en-US" altLang="zh-CN" b="1" dirty="0">
                <a:solidFill>
                  <a:srgbClr val="C00000"/>
                </a:solidFill>
              </a:rPr>
              <a:t> </a:t>
            </a:r>
            <a:r>
              <a:rPr lang="zh-CN" altLang="en-US" b="1" dirty="0">
                <a:solidFill>
                  <a:srgbClr val="C00000"/>
                </a:solidFill>
              </a:rPr>
              <a:t>任何数的</a:t>
            </a:r>
            <a:r>
              <a:rPr lang="en-US" altLang="zh-CN" b="1" dirty="0">
                <a:solidFill>
                  <a:srgbClr val="C00000"/>
                </a:solidFill>
              </a:rPr>
              <a:t>1</a:t>
            </a:r>
            <a:r>
              <a:rPr lang="zh-CN" altLang="en-US" b="1" dirty="0">
                <a:solidFill>
                  <a:srgbClr val="C00000"/>
                </a:solidFill>
              </a:rPr>
              <a:t>次方都等于它本身</a:t>
            </a:r>
          </a:p>
        </p:txBody>
      </p:sp>
      <p:graphicFrame>
        <p:nvGraphicFramePr>
          <p:cNvPr id="41" name="对象 40">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763802" y="3739258"/>
          <a:ext cx="2152650" cy="582613"/>
        </p:xfrm>
        <a:graphic>
          <a:graphicData uri="http://schemas.openxmlformats.org/presentationml/2006/ole">
            <mc:AlternateContent xmlns:mc="http://schemas.openxmlformats.org/markup-compatibility/2006">
              <mc:Choice xmlns:v="urn:schemas-microsoft-com:vml" Requires="v">
                <p:oleObj name="Equation" r:id="rId17" imgW="1193760" imgH="330120" progId="Equation.DSMT4">
                  <p:embed/>
                </p:oleObj>
              </mc:Choice>
              <mc:Fallback>
                <p:oleObj name="Equation" r:id="rId17" imgW="1193760" imgH="330120" progId="Equation.DSMT4">
                  <p:embed/>
                  <p:pic>
                    <p:nvPicPr>
                      <p:cNvPr id="41" name="对象 40">
                        <a:extLst>
                          <a:ext uri="{FF2B5EF4-FFF2-40B4-BE49-F238E27FC236}">
                            <a16:creationId xmlns:a16="http://schemas.microsoft.com/office/drawing/2014/main" id="{7E56E43C-2107-47ED-A78E-FA29EA22A516}"/>
                          </a:ext>
                        </a:extLst>
                      </p:cNvPr>
                      <p:cNvPicPr>
                        <a:picLocks noChangeAspect="1" noChangeArrowheads="1"/>
                      </p:cNvPicPr>
                      <p:nvPr/>
                    </p:nvPicPr>
                    <p:blipFill>
                      <a:blip r:embed="rId18"/>
                      <a:srcRect/>
                      <a:stretch>
                        <a:fillRect/>
                      </a:stretch>
                    </p:blipFill>
                    <p:spPr bwMode="auto">
                      <a:xfrm>
                        <a:off x="4763802" y="3739258"/>
                        <a:ext cx="2152650" cy="582613"/>
                      </a:xfrm>
                      <a:prstGeom prst="rect">
                        <a:avLst/>
                      </a:prstGeom>
                      <a:noFill/>
                    </p:spPr>
                  </p:pic>
                </p:oleObj>
              </mc:Fallback>
            </mc:AlternateContent>
          </a:graphicData>
        </a:graphic>
      </p:graphicFrame>
      <p:graphicFrame>
        <p:nvGraphicFramePr>
          <p:cNvPr id="43" name="对象 42">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763802" y="5502766"/>
          <a:ext cx="1671638" cy="582612"/>
        </p:xfrm>
        <a:graphic>
          <a:graphicData uri="http://schemas.openxmlformats.org/presentationml/2006/ole">
            <mc:AlternateContent xmlns:mc="http://schemas.openxmlformats.org/markup-compatibility/2006">
              <mc:Choice xmlns:v="urn:schemas-microsoft-com:vml" Requires="v">
                <p:oleObj name="Equation" r:id="rId19" imgW="927000" imgH="330120" progId="Equation.DSMT4">
                  <p:embed/>
                </p:oleObj>
              </mc:Choice>
              <mc:Fallback>
                <p:oleObj name="Equation" r:id="rId19" imgW="927000" imgH="330120" progId="Equation.DSMT4">
                  <p:embed/>
                  <p:pic>
                    <p:nvPicPr>
                      <p:cNvPr id="43" name="对象 42">
                        <a:extLst>
                          <a:ext uri="{FF2B5EF4-FFF2-40B4-BE49-F238E27FC236}">
                            <a16:creationId xmlns:a16="http://schemas.microsoft.com/office/drawing/2014/main" id="{7E56E43C-2107-47ED-A78E-FA29EA22A516}"/>
                          </a:ext>
                        </a:extLst>
                      </p:cNvPr>
                      <p:cNvPicPr>
                        <a:picLocks noChangeAspect="1" noChangeArrowheads="1"/>
                      </p:cNvPicPr>
                      <p:nvPr/>
                    </p:nvPicPr>
                    <p:blipFill>
                      <a:blip r:embed="rId20"/>
                      <a:srcRect/>
                      <a:stretch>
                        <a:fillRect/>
                      </a:stretch>
                    </p:blipFill>
                    <p:spPr bwMode="auto">
                      <a:xfrm>
                        <a:off x="4763802" y="5502766"/>
                        <a:ext cx="1671638" cy="582612"/>
                      </a:xfrm>
                      <a:prstGeom prst="rect">
                        <a:avLst/>
                      </a:prstGeom>
                      <a:noFill/>
                    </p:spPr>
                  </p:pic>
                </p:oleObj>
              </mc:Fallback>
            </mc:AlternateContent>
          </a:graphicData>
        </a:graphic>
      </p:graphicFrame>
      <p:cxnSp>
        <p:nvCxnSpPr>
          <p:cNvPr id="16" name="直接连接符 15">
            <a:extLst>
              <a:ext uri="{FF2B5EF4-FFF2-40B4-BE49-F238E27FC236}">
                <a16:creationId xmlns:a16="http://schemas.microsoft.com/office/drawing/2014/main" id="{AE200D39-94C5-BDA4-9876-E31E84262B90}"/>
              </a:ext>
            </a:extLst>
          </p:cNvPr>
          <p:cNvCxnSpPr/>
          <p:nvPr/>
        </p:nvCxnSpPr>
        <p:spPr>
          <a:xfrm>
            <a:off x="1190927" y="4186139"/>
            <a:ext cx="709612"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813F2D0-A2A4-A54E-05AD-B49EDD12B782}"/>
              </a:ext>
            </a:extLst>
          </p:cNvPr>
          <p:cNvCxnSpPr/>
          <p:nvPr/>
        </p:nvCxnSpPr>
        <p:spPr>
          <a:xfrm>
            <a:off x="1182210" y="5884182"/>
            <a:ext cx="709612"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889C7CA9-A5E7-FA87-B146-4D1471CA11D1}"/>
              </a:ext>
            </a:extLst>
          </p:cNvPr>
          <p:cNvCxnSpPr/>
          <p:nvPr/>
        </p:nvCxnSpPr>
        <p:spPr>
          <a:xfrm>
            <a:off x="1575968" y="4186139"/>
            <a:ext cx="0" cy="153465"/>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69CB0AD-DCBF-6EB7-C24A-B3DB9ACB8468}"/>
              </a:ext>
            </a:extLst>
          </p:cNvPr>
          <p:cNvCxnSpPr>
            <a:cxnSpLocks/>
          </p:cNvCxnSpPr>
          <p:nvPr/>
        </p:nvCxnSpPr>
        <p:spPr>
          <a:xfrm flipV="1">
            <a:off x="1575968" y="4309171"/>
            <a:ext cx="5133751" cy="17733"/>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D7130CE9-9739-3FA7-6631-14BED5C1A67B}"/>
              </a:ext>
            </a:extLst>
          </p:cNvPr>
          <p:cNvCxnSpPr>
            <a:cxnSpLocks/>
          </p:cNvCxnSpPr>
          <p:nvPr/>
        </p:nvCxnSpPr>
        <p:spPr>
          <a:xfrm flipV="1">
            <a:off x="1563611" y="6035132"/>
            <a:ext cx="4763048" cy="3356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15081A8-049B-EB4C-FD01-FA674762F095}"/>
              </a:ext>
            </a:extLst>
          </p:cNvPr>
          <p:cNvCxnSpPr>
            <a:cxnSpLocks/>
            <a:stCxn id="34" idx="2"/>
          </p:cNvCxnSpPr>
          <p:nvPr/>
        </p:nvCxnSpPr>
        <p:spPr>
          <a:xfrm>
            <a:off x="1560034" y="5907579"/>
            <a:ext cx="0" cy="177799"/>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B9D5E1E7-32B9-6F8C-B2E3-D8B49B0DFE32}"/>
              </a:ext>
            </a:extLst>
          </p:cNvPr>
          <p:cNvCxnSpPr/>
          <p:nvPr/>
        </p:nvCxnSpPr>
        <p:spPr>
          <a:xfrm flipV="1">
            <a:off x="6709719" y="4015946"/>
            <a:ext cx="0" cy="305925"/>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FE9F672E-4B15-C828-ED70-ED2D0885BE52}"/>
              </a:ext>
            </a:extLst>
          </p:cNvPr>
          <p:cNvCxnSpPr/>
          <p:nvPr/>
        </p:nvCxnSpPr>
        <p:spPr>
          <a:xfrm flipV="1">
            <a:off x="6330779" y="5735214"/>
            <a:ext cx="0" cy="305925"/>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圆角 51">
            <a:extLst>
              <a:ext uri="{FF2B5EF4-FFF2-40B4-BE49-F238E27FC236}">
                <a16:creationId xmlns:a16="http://schemas.microsoft.com/office/drawing/2014/main" id="{067C0BF9-5929-5A89-678E-DD51F68DF37C}"/>
              </a:ext>
            </a:extLst>
          </p:cNvPr>
          <p:cNvSpPr/>
          <p:nvPr/>
        </p:nvSpPr>
        <p:spPr>
          <a:xfrm>
            <a:off x="6540501" y="3772596"/>
            <a:ext cx="375948" cy="212917"/>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a:extLst>
              <a:ext uri="{FF2B5EF4-FFF2-40B4-BE49-F238E27FC236}">
                <a16:creationId xmlns:a16="http://schemas.microsoft.com/office/drawing/2014/main" id="{D705B3D6-7519-6005-6DE3-52A5B4FE8EE5}"/>
              </a:ext>
            </a:extLst>
          </p:cNvPr>
          <p:cNvSpPr/>
          <p:nvPr/>
        </p:nvSpPr>
        <p:spPr>
          <a:xfrm>
            <a:off x="6197604" y="5532908"/>
            <a:ext cx="237836" cy="212917"/>
          </a:xfrm>
          <a:prstGeom prst="round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9468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35</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1B613423-4ABA-43F9-827F-E16FDE82B589}"/>
              </a:ext>
            </a:extLst>
          </p:cNvPr>
          <p:cNvGrpSpPr/>
          <p:nvPr/>
        </p:nvGrpSpPr>
        <p:grpSpPr>
          <a:xfrm>
            <a:off x="838200" y="2859749"/>
            <a:ext cx="10515600" cy="421162"/>
            <a:chOff x="10661205" y="8933887"/>
            <a:chExt cx="10651736" cy="460785"/>
          </a:xfrm>
        </p:grpSpPr>
        <p:sp>
          <p:nvSpPr>
            <p:cNvPr id="15" name="文本框 14">
              <a:extLst>
                <a:ext uri="{FF2B5EF4-FFF2-40B4-BE49-F238E27FC236}">
                  <a16:creationId xmlns:a16="http://schemas.microsoft.com/office/drawing/2014/main" id="{2AE84D46-5109-4F5D-B90B-C66B7BB25B5F}"/>
                </a:ext>
              </a:extLst>
            </p:cNvPr>
            <p:cNvSpPr txBox="1"/>
            <p:nvPr/>
          </p:nvSpPr>
          <p:spPr>
            <a:xfrm>
              <a:off x="10661205" y="8933887"/>
              <a:ext cx="10651736" cy="404079"/>
            </a:xfrm>
            <a:prstGeom prst="rect">
              <a:avLst/>
            </a:prstGeom>
            <a:noFill/>
          </p:spPr>
          <p:txBody>
            <a:bodyPr wrap="square">
              <a:spAutoFit/>
            </a:bodyPr>
            <a:lstStyle/>
            <a:p>
              <a:r>
                <a:rPr lang="zh-CN" altLang="en-US" dirty="0"/>
                <a:t>① 不得病的人（                 ），决策函数</a:t>
              </a:r>
              <a:r>
                <a:rPr lang="zh-CN" altLang="en-US" b="1" dirty="0"/>
                <a:t>预测不得病的概率</a:t>
              </a:r>
              <a:r>
                <a:rPr lang="zh-CN" altLang="en-US" dirty="0">
                  <a:solidFill>
                    <a:srgbClr val="C00000"/>
                  </a:solidFill>
                </a:rPr>
                <a:t>越大越好，暨输出为</a:t>
              </a:r>
              <a:r>
                <a:rPr lang="en-US" altLang="zh-CN" dirty="0">
                  <a:solidFill>
                    <a:srgbClr val="C00000"/>
                  </a:solidFill>
                </a:rPr>
                <a:t>0</a:t>
              </a:r>
              <a:r>
                <a:rPr lang="zh-CN" altLang="en-US" dirty="0">
                  <a:solidFill>
                    <a:srgbClr val="C00000"/>
                  </a:solidFill>
                </a:rPr>
                <a:t>的概率越大越好：</a:t>
              </a:r>
              <a:endParaRPr lang="en-US" altLang="zh-CN" dirty="0">
                <a:solidFill>
                  <a:srgbClr val="C00000"/>
                </a:solidFill>
              </a:endParaRPr>
            </a:p>
          </p:txBody>
        </p:sp>
        <p:graphicFrame>
          <p:nvGraphicFramePr>
            <p:cNvPr id="17" name="对象 16">
              <a:extLst>
                <a:ext uri="{FF2B5EF4-FFF2-40B4-BE49-F238E27FC236}">
                  <a16:creationId xmlns:a16="http://schemas.microsoft.com/office/drawing/2014/main" id="{B2659C80-4910-4EA7-AE9C-D54459C2C626}"/>
                </a:ext>
              </a:extLst>
            </p:cNvPr>
            <p:cNvGraphicFramePr>
              <a:graphicFrameLocks noChangeAspect="1"/>
            </p:cNvGraphicFramePr>
            <p:nvPr/>
          </p:nvGraphicFramePr>
          <p:xfrm>
            <a:off x="12606394" y="8955728"/>
            <a:ext cx="765970" cy="438944"/>
          </p:xfrm>
          <a:graphic>
            <a:graphicData uri="http://schemas.openxmlformats.org/presentationml/2006/ole">
              <mc:AlternateContent xmlns:mc="http://schemas.openxmlformats.org/markup-compatibility/2006">
                <mc:Choice xmlns:v="urn:schemas-microsoft-com:vml" Requires="v">
                  <p:oleObj name="Equation" r:id="rId3" imgW="393480" imgH="228600" progId="Equation.DSMT4">
                    <p:embed/>
                  </p:oleObj>
                </mc:Choice>
                <mc:Fallback>
                  <p:oleObj name="Equation" r:id="rId3" imgW="393480" imgH="228600" progId="Equation.DSMT4">
                    <p:embed/>
                    <p:pic>
                      <p:nvPicPr>
                        <p:cNvPr id="17" name="对象 16">
                          <a:extLst>
                            <a:ext uri="{FF2B5EF4-FFF2-40B4-BE49-F238E27FC236}">
                              <a16:creationId xmlns:a16="http://schemas.microsoft.com/office/drawing/2014/main" id="{B2659C80-4910-4EA7-AE9C-D54459C2C626}"/>
                            </a:ext>
                          </a:extLst>
                        </p:cNvPr>
                        <p:cNvPicPr>
                          <a:picLocks noChangeAspect="1" noChangeArrowheads="1"/>
                        </p:cNvPicPr>
                        <p:nvPr/>
                      </p:nvPicPr>
                      <p:blipFill>
                        <a:blip r:embed="rId4"/>
                        <a:srcRect/>
                        <a:stretch>
                          <a:fillRect/>
                        </a:stretch>
                      </p:blipFill>
                      <p:spPr bwMode="auto">
                        <a:xfrm>
                          <a:off x="12606394" y="8955728"/>
                          <a:ext cx="765970" cy="438944"/>
                        </a:xfrm>
                        <a:prstGeom prst="rect">
                          <a:avLst/>
                        </a:prstGeom>
                        <a:noFill/>
                      </p:spPr>
                    </p:pic>
                  </p:oleObj>
                </mc:Fallback>
              </mc:AlternateContent>
            </a:graphicData>
          </a:graphic>
        </p:graphicFrame>
      </p:grpSp>
      <p:sp>
        <p:nvSpPr>
          <p:cNvPr id="19" name="矩形 18"/>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23544" y="2288752"/>
          <a:ext cx="800100" cy="449262"/>
        </p:xfrm>
        <a:graphic>
          <a:graphicData uri="http://schemas.openxmlformats.org/presentationml/2006/ole">
            <mc:AlternateContent xmlns:mc="http://schemas.openxmlformats.org/markup-compatibility/2006">
              <mc:Choice xmlns:v="urn:schemas-microsoft-com:vml" Requires="v">
                <p:oleObj name="Equation" r:id="rId5" imgW="444240" imgH="253800" progId="Equation.DSMT4">
                  <p:embed/>
                </p:oleObj>
              </mc:Choice>
              <mc:Fallback>
                <p:oleObj name="Equation" r:id="rId5"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923544" y="2288752"/>
                        <a:ext cx="800100" cy="449262"/>
                      </a:xfrm>
                      <a:prstGeom prst="rect">
                        <a:avLst/>
                      </a:prstGeom>
                      <a:noFill/>
                    </p:spPr>
                  </p:pic>
                </p:oleObj>
              </mc:Fallback>
            </mc:AlternateContent>
          </a:graphicData>
        </a:graphic>
      </p:graphicFrame>
      <p:sp>
        <p:nvSpPr>
          <p:cNvPr id="5" name="矩形 4"/>
          <p:cNvSpPr/>
          <p:nvPr/>
        </p:nvSpPr>
        <p:spPr>
          <a:xfrm>
            <a:off x="1637753" y="2343565"/>
            <a:ext cx="2492990" cy="369332"/>
          </a:xfrm>
          <a:prstGeom prst="rect">
            <a:avLst/>
          </a:prstGeom>
        </p:spPr>
        <p:txBody>
          <a:bodyPr wrap="none">
            <a:spAutoFit/>
          </a:bodyPr>
          <a:lstStyle/>
          <a:p>
            <a:r>
              <a:rPr lang="zh-CN" altLang="en-US" b="1" dirty="0"/>
              <a:t>：模型预测的得病概率</a:t>
            </a:r>
            <a:endParaRPr lang="zh-CN" altLang="en-US" dirty="0"/>
          </a:p>
        </p:txBody>
      </p:sp>
      <p:grpSp>
        <p:nvGrpSpPr>
          <p:cNvPr id="21" name="组合 20">
            <a:extLst>
              <a:ext uri="{FF2B5EF4-FFF2-40B4-BE49-F238E27FC236}">
                <a16:creationId xmlns:a16="http://schemas.microsoft.com/office/drawing/2014/main" id="{888C320E-946D-40A3-81D0-A2754A394C7B}"/>
              </a:ext>
            </a:extLst>
          </p:cNvPr>
          <p:cNvGrpSpPr/>
          <p:nvPr/>
        </p:nvGrpSpPr>
        <p:grpSpPr>
          <a:xfrm>
            <a:off x="838200" y="3280911"/>
            <a:ext cx="10390632" cy="396862"/>
            <a:chOff x="9951647" y="9112793"/>
            <a:chExt cx="12188756" cy="396862"/>
          </a:xfrm>
        </p:grpSpPr>
        <p:sp>
          <p:nvSpPr>
            <p:cNvPr id="22" name="文本框 21">
              <a:extLst>
                <a:ext uri="{FF2B5EF4-FFF2-40B4-BE49-F238E27FC236}">
                  <a16:creationId xmlns:a16="http://schemas.microsoft.com/office/drawing/2014/main" id="{6F63D142-CB95-4243-BF5E-F57DE3C9F87A}"/>
                </a:ext>
              </a:extLst>
            </p:cNvPr>
            <p:cNvSpPr txBox="1"/>
            <p:nvPr/>
          </p:nvSpPr>
          <p:spPr>
            <a:xfrm>
              <a:off x="9951647" y="9112793"/>
              <a:ext cx="12188756" cy="369332"/>
            </a:xfrm>
            <a:prstGeom prst="rect">
              <a:avLst/>
            </a:prstGeom>
            <a:noFill/>
          </p:spPr>
          <p:txBody>
            <a:bodyPr wrap="square">
              <a:spAutoFit/>
            </a:bodyPr>
            <a:lstStyle/>
            <a:p>
              <a:r>
                <a:rPr lang="zh-CN" altLang="en-US" dirty="0"/>
                <a:t>② 得病的人（              ），决策函数</a:t>
              </a:r>
              <a:r>
                <a:rPr lang="zh-CN" altLang="en-US" b="1" dirty="0"/>
                <a:t>预测得病的概率</a:t>
              </a:r>
              <a:r>
                <a:rPr lang="zh-CN" altLang="en-US" dirty="0">
                  <a:solidFill>
                    <a:srgbClr val="C00000"/>
                  </a:solidFill>
                </a:rPr>
                <a:t>越大越好：</a:t>
              </a:r>
              <a:endParaRPr lang="en-US" altLang="zh-CN" dirty="0">
                <a:solidFill>
                  <a:srgbClr val="C00000"/>
                </a:solidFill>
              </a:endParaRPr>
            </a:p>
          </p:txBody>
        </p:sp>
        <p:graphicFrame>
          <p:nvGraphicFramePr>
            <p:cNvPr id="23" name="对象 22">
              <a:extLst>
                <a:ext uri="{FF2B5EF4-FFF2-40B4-BE49-F238E27FC236}">
                  <a16:creationId xmlns:a16="http://schemas.microsoft.com/office/drawing/2014/main" id="{48E7260C-C721-4B9D-9058-F62917FB2A84}"/>
                </a:ext>
              </a:extLst>
            </p:cNvPr>
            <p:cNvGraphicFramePr>
              <a:graphicFrameLocks noChangeAspect="1"/>
            </p:cNvGraphicFramePr>
            <p:nvPr/>
          </p:nvGraphicFramePr>
          <p:xfrm>
            <a:off x="11889227" y="9123762"/>
            <a:ext cx="630130" cy="385893"/>
          </p:xfrm>
          <a:graphic>
            <a:graphicData uri="http://schemas.openxmlformats.org/presentationml/2006/ole">
              <mc:AlternateContent xmlns:mc="http://schemas.openxmlformats.org/markup-compatibility/2006">
                <mc:Choice xmlns:v="urn:schemas-microsoft-com:vml" Requires="v">
                  <p:oleObj name="Equation" r:id="rId7" imgW="368280" imgH="228600" progId="Equation.DSMT4">
                    <p:embed/>
                  </p:oleObj>
                </mc:Choice>
                <mc:Fallback>
                  <p:oleObj name="Equation" r:id="rId7" imgW="368280" imgH="228600" progId="Equation.DSMT4">
                    <p:embed/>
                    <p:pic>
                      <p:nvPicPr>
                        <p:cNvPr id="23" name="对象 22">
                          <a:extLst>
                            <a:ext uri="{FF2B5EF4-FFF2-40B4-BE49-F238E27FC236}">
                              <a16:creationId xmlns:a16="http://schemas.microsoft.com/office/drawing/2014/main" id="{48E7260C-C721-4B9D-9058-F62917FB2A84}"/>
                            </a:ext>
                          </a:extLst>
                        </p:cNvPr>
                        <p:cNvPicPr>
                          <a:picLocks noChangeAspect="1" noChangeArrowheads="1"/>
                        </p:cNvPicPr>
                        <p:nvPr/>
                      </p:nvPicPr>
                      <p:blipFill>
                        <a:blip r:embed="rId8"/>
                        <a:srcRect/>
                        <a:stretch>
                          <a:fillRect/>
                        </a:stretch>
                      </p:blipFill>
                      <p:spPr bwMode="auto">
                        <a:xfrm>
                          <a:off x="11889227" y="9123762"/>
                          <a:ext cx="630130" cy="385893"/>
                        </a:xfrm>
                        <a:prstGeom prst="rect">
                          <a:avLst/>
                        </a:prstGeom>
                        <a:noFill/>
                      </p:spPr>
                    </p:pic>
                  </p:oleObj>
                </mc:Fallback>
              </mc:AlternateContent>
            </a:graphicData>
          </a:graphic>
        </p:graphicFrame>
      </p:grpSp>
      <p:graphicFrame>
        <p:nvGraphicFramePr>
          <p:cNvPr id="34" name="对象 3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228247" y="5502766"/>
          <a:ext cx="663575" cy="404813"/>
        </p:xfrm>
        <a:graphic>
          <a:graphicData uri="http://schemas.openxmlformats.org/presentationml/2006/ole">
            <mc:AlternateContent xmlns:mc="http://schemas.openxmlformats.org/markup-compatibility/2006">
              <mc:Choice xmlns:v="urn:schemas-microsoft-com:vml" Requires="v">
                <p:oleObj name="Equation" r:id="rId9" imgW="368280" imgH="228600" progId="Equation.DSMT4">
                  <p:embed/>
                </p:oleObj>
              </mc:Choice>
              <mc:Fallback>
                <p:oleObj name="Equation" r:id="rId9" imgW="368280" imgH="228600" progId="Equation.DSMT4">
                  <p:embed/>
                  <p:pic>
                    <p:nvPicPr>
                      <p:cNvPr id="34" name="对象 3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0"/>
                      <a:srcRect/>
                      <a:stretch>
                        <a:fillRect/>
                      </a:stretch>
                    </p:blipFill>
                    <p:spPr bwMode="auto">
                      <a:xfrm>
                        <a:off x="1228247" y="5502766"/>
                        <a:ext cx="663575" cy="404813"/>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190927" y="3806041"/>
          <a:ext cx="709612" cy="404812"/>
        </p:xfrm>
        <a:graphic>
          <a:graphicData uri="http://schemas.openxmlformats.org/presentationml/2006/ole">
            <mc:AlternateContent xmlns:mc="http://schemas.openxmlformats.org/markup-compatibility/2006">
              <mc:Choice xmlns:v="urn:schemas-microsoft-com:vml" Requires="v">
                <p:oleObj name="Equation" r:id="rId11" imgW="393480" imgH="228600" progId="Equation.DSMT4">
                  <p:embed/>
                </p:oleObj>
              </mc:Choice>
              <mc:Fallback>
                <p:oleObj name="Equation" r:id="rId11" imgW="393480" imgH="228600" progId="Equation.DSMT4">
                  <p:embed/>
                  <p:pic>
                    <p:nvPicPr>
                      <p:cNvPr id="35" name="对象 3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1190927" y="3806041"/>
                        <a:ext cx="709612" cy="404812"/>
                      </a:xfrm>
                      <a:prstGeom prst="rect">
                        <a:avLst/>
                      </a:prstGeom>
                      <a:noFill/>
                    </p:spPr>
                  </p:pic>
                </p:oleObj>
              </mc:Fallback>
            </mc:AlternateContent>
          </a:graphicData>
        </a:graphic>
      </p:graphicFrame>
      <p:sp>
        <p:nvSpPr>
          <p:cNvPr id="36" name="文本框 35"/>
          <p:cNvSpPr txBox="1"/>
          <p:nvPr/>
        </p:nvSpPr>
        <p:spPr>
          <a:xfrm>
            <a:off x="885319" y="5514831"/>
            <a:ext cx="256032" cy="369332"/>
          </a:xfrm>
          <a:prstGeom prst="rect">
            <a:avLst/>
          </a:prstGeom>
          <a:noFill/>
        </p:spPr>
        <p:txBody>
          <a:bodyPr wrap="square" rtlCol="0">
            <a:spAutoFit/>
          </a:bodyPr>
          <a:lstStyle/>
          <a:p>
            <a:r>
              <a:rPr lang="zh-CN" altLang="en-US" dirty="0"/>
              <a:t>当</a:t>
            </a:r>
          </a:p>
        </p:txBody>
      </p:sp>
      <p:sp>
        <p:nvSpPr>
          <p:cNvPr id="37" name="文本框 36"/>
          <p:cNvSpPr txBox="1"/>
          <p:nvPr/>
        </p:nvSpPr>
        <p:spPr>
          <a:xfrm>
            <a:off x="1808255" y="5518938"/>
            <a:ext cx="849309" cy="369332"/>
          </a:xfrm>
          <a:prstGeom prst="rect">
            <a:avLst/>
          </a:prstGeom>
          <a:noFill/>
        </p:spPr>
        <p:txBody>
          <a:bodyPr wrap="square" rtlCol="0">
            <a:spAutoFit/>
          </a:bodyPr>
          <a:lstStyle/>
          <a:p>
            <a:r>
              <a:rPr lang="zh-CN" altLang="en-US" dirty="0"/>
              <a:t>时，</a:t>
            </a:r>
          </a:p>
        </p:txBody>
      </p:sp>
      <p:sp>
        <p:nvSpPr>
          <p:cNvPr id="38" name="文本框 37"/>
          <p:cNvSpPr txBox="1"/>
          <p:nvPr/>
        </p:nvSpPr>
        <p:spPr>
          <a:xfrm>
            <a:off x="880780" y="3794179"/>
            <a:ext cx="256032" cy="369332"/>
          </a:xfrm>
          <a:prstGeom prst="rect">
            <a:avLst/>
          </a:prstGeom>
          <a:noFill/>
        </p:spPr>
        <p:txBody>
          <a:bodyPr wrap="square" rtlCol="0">
            <a:spAutoFit/>
          </a:bodyPr>
          <a:lstStyle/>
          <a:p>
            <a:r>
              <a:rPr lang="zh-CN" altLang="en-US" dirty="0"/>
              <a:t>当</a:t>
            </a:r>
          </a:p>
        </p:txBody>
      </p:sp>
      <p:sp>
        <p:nvSpPr>
          <p:cNvPr id="39" name="文本框 38"/>
          <p:cNvSpPr txBox="1"/>
          <p:nvPr/>
        </p:nvSpPr>
        <p:spPr>
          <a:xfrm>
            <a:off x="1810393" y="3806747"/>
            <a:ext cx="453708" cy="369332"/>
          </a:xfrm>
          <a:prstGeom prst="rect">
            <a:avLst/>
          </a:prstGeom>
          <a:noFill/>
        </p:spPr>
        <p:txBody>
          <a:bodyPr wrap="square" rtlCol="0">
            <a:spAutoFit/>
          </a:bodyPr>
          <a:lstStyle/>
          <a:p>
            <a:r>
              <a:rPr lang="zh-CN" altLang="en-US" dirty="0"/>
              <a:t>时，</a:t>
            </a:r>
          </a:p>
        </p:txBody>
      </p:sp>
      <p:graphicFrame>
        <p:nvGraphicFramePr>
          <p:cNvPr id="42" name="对象 41">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2270487" y="3772597"/>
          <a:ext cx="1647825" cy="515937"/>
        </p:xfrm>
        <a:graphic>
          <a:graphicData uri="http://schemas.openxmlformats.org/presentationml/2006/ole">
            <mc:AlternateContent xmlns:mc="http://schemas.openxmlformats.org/markup-compatibility/2006">
              <mc:Choice xmlns:v="urn:schemas-microsoft-com:vml" Requires="v">
                <p:oleObj name="Equation" r:id="rId13" imgW="914400" imgH="291960" progId="Equation.DSMT4">
                  <p:embed/>
                </p:oleObj>
              </mc:Choice>
              <mc:Fallback>
                <p:oleObj name="Equation" r:id="rId13" imgW="914400" imgH="29196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2270487" y="3772597"/>
                        <a:ext cx="1647825" cy="515937"/>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2261963" y="5488130"/>
          <a:ext cx="1304925" cy="515938"/>
        </p:xfrm>
        <a:graphic>
          <a:graphicData uri="http://schemas.openxmlformats.org/presentationml/2006/ole">
            <mc:AlternateContent xmlns:mc="http://schemas.openxmlformats.org/markup-compatibility/2006">
              <mc:Choice xmlns:v="urn:schemas-microsoft-com:vml" Requires="v">
                <p:oleObj name="Equation" r:id="rId15" imgW="723600" imgH="291960" progId="Equation.DSMT4">
                  <p:embed/>
                </p:oleObj>
              </mc:Choice>
              <mc:Fallback>
                <p:oleObj name="Equation" r:id="rId15" imgW="723600" imgH="291960" progId="Equation.DSMT4">
                  <p:embed/>
                  <p:pic>
                    <p:nvPicPr>
                      <p:cNvPr id="44" name="对象 4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2261963" y="5488130"/>
                        <a:ext cx="1304925" cy="515938"/>
                      </a:xfrm>
                      <a:prstGeom prst="rect">
                        <a:avLst/>
                      </a:prstGeom>
                      <a:noFill/>
                    </p:spPr>
                  </p:pic>
                </p:oleObj>
              </mc:Fallback>
            </mc:AlternateContent>
          </a:graphicData>
        </a:graphic>
      </p:graphicFrame>
      <p:sp>
        <p:nvSpPr>
          <p:cNvPr id="7" name="右箭头 6"/>
          <p:cNvSpPr/>
          <p:nvPr/>
        </p:nvSpPr>
        <p:spPr>
          <a:xfrm>
            <a:off x="2779301" y="4932459"/>
            <a:ext cx="1707298"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518988" y="4339604"/>
            <a:ext cx="2379382" cy="646331"/>
          </a:xfrm>
          <a:prstGeom prst="rect">
            <a:avLst/>
          </a:prstGeom>
          <a:noFill/>
        </p:spPr>
        <p:txBody>
          <a:bodyPr wrap="square" rtlCol="0">
            <a:spAutoFit/>
          </a:bodyPr>
          <a:lstStyle/>
          <a:p>
            <a:r>
              <a:rPr lang="en-US" altLang="zh-CN" b="1" dirty="0" err="1">
                <a:solidFill>
                  <a:srgbClr val="C00000"/>
                </a:solidFill>
              </a:rPr>
              <a:t>Step1</a:t>
            </a:r>
            <a:r>
              <a:rPr lang="en-US" altLang="zh-CN" b="1" dirty="0">
                <a:solidFill>
                  <a:srgbClr val="C00000"/>
                </a:solidFill>
              </a:rPr>
              <a:t> </a:t>
            </a:r>
            <a:r>
              <a:rPr lang="zh-CN" altLang="en-US" b="1" dirty="0">
                <a:solidFill>
                  <a:srgbClr val="C00000"/>
                </a:solidFill>
              </a:rPr>
              <a:t>任何数的</a:t>
            </a:r>
            <a:r>
              <a:rPr lang="en-US" altLang="zh-CN" b="1" dirty="0">
                <a:solidFill>
                  <a:srgbClr val="C00000"/>
                </a:solidFill>
              </a:rPr>
              <a:t>1</a:t>
            </a:r>
            <a:r>
              <a:rPr lang="zh-CN" altLang="en-US" b="1" dirty="0">
                <a:solidFill>
                  <a:srgbClr val="C00000"/>
                </a:solidFill>
              </a:rPr>
              <a:t>次方都等于它本身</a:t>
            </a:r>
          </a:p>
        </p:txBody>
      </p:sp>
      <p:graphicFrame>
        <p:nvGraphicFramePr>
          <p:cNvPr id="41" name="对象 40">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763802" y="3739258"/>
          <a:ext cx="2152650" cy="582613"/>
        </p:xfrm>
        <a:graphic>
          <a:graphicData uri="http://schemas.openxmlformats.org/presentationml/2006/ole">
            <mc:AlternateContent xmlns:mc="http://schemas.openxmlformats.org/markup-compatibility/2006">
              <mc:Choice xmlns:v="urn:schemas-microsoft-com:vml" Requires="v">
                <p:oleObj name="Equation" r:id="rId17" imgW="1193760" imgH="330120" progId="Equation.DSMT4">
                  <p:embed/>
                </p:oleObj>
              </mc:Choice>
              <mc:Fallback>
                <p:oleObj name="Equation" r:id="rId17" imgW="1193760" imgH="330120" progId="Equation.DSMT4">
                  <p:embed/>
                  <p:pic>
                    <p:nvPicPr>
                      <p:cNvPr id="41" name="对象 40">
                        <a:extLst>
                          <a:ext uri="{FF2B5EF4-FFF2-40B4-BE49-F238E27FC236}">
                            <a16:creationId xmlns:a16="http://schemas.microsoft.com/office/drawing/2014/main" id="{7E56E43C-2107-47ED-A78E-FA29EA22A516}"/>
                          </a:ext>
                        </a:extLst>
                      </p:cNvPr>
                      <p:cNvPicPr>
                        <a:picLocks noChangeAspect="1" noChangeArrowheads="1"/>
                      </p:cNvPicPr>
                      <p:nvPr/>
                    </p:nvPicPr>
                    <p:blipFill>
                      <a:blip r:embed="rId18"/>
                      <a:srcRect/>
                      <a:stretch>
                        <a:fillRect/>
                      </a:stretch>
                    </p:blipFill>
                    <p:spPr bwMode="auto">
                      <a:xfrm>
                        <a:off x="4763802" y="3739258"/>
                        <a:ext cx="2152650" cy="582613"/>
                      </a:xfrm>
                      <a:prstGeom prst="rect">
                        <a:avLst/>
                      </a:prstGeom>
                      <a:noFill/>
                    </p:spPr>
                  </p:pic>
                </p:oleObj>
              </mc:Fallback>
            </mc:AlternateContent>
          </a:graphicData>
        </a:graphic>
      </p:graphicFrame>
      <p:graphicFrame>
        <p:nvGraphicFramePr>
          <p:cNvPr id="43" name="对象 42">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763802" y="5502766"/>
          <a:ext cx="1671638" cy="582612"/>
        </p:xfrm>
        <a:graphic>
          <a:graphicData uri="http://schemas.openxmlformats.org/presentationml/2006/ole">
            <mc:AlternateContent xmlns:mc="http://schemas.openxmlformats.org/markup-compatibility/2006">
              <mc:Choice xmlns:v="urn:schemas-microsoft-com:vml" Requires="v">
                <p:oleObj name="Equation" r:id="rId19" imgW="927000" imgH="330120" progId="Equation.DSMT4">
                  <p:embed/>
                </p:oleObj>
              </mc:Choice>
              <mc:Fallback>
                <p:oleObj name="Equation" r:id="rId19" imgW="927000" imgH="330120" progId="Equation.DSMT4">
                  <p:embed/>
                  <p:pic>
                    <p:nvPicPr>
                      <p:cNvPr id="43" name="对象 42">
                        <a:extLst>
                          <a:ext uri="{FF2B5EF4-FFF2-40B4-BE49-F238E27FC236}">
                            <a16:creationId xmlns:a16="http://schemas.microsoft.com/office/drawing/2014/main" id="{7E56E43C-2107-47ED-A78E-FA29EA22A516}"/>
                          </a:ext>
                        </a:extLst>
                      </p:cNvPr>
                      <p:cNvPicPr>
                        <a:picLocks noChangeAspect="1" noChangeArrowheads="1"/>
                      </p:cNvPicPr>
                      <p:nvPr/>
                    </p:nvPicPr>
                    <p:blipFill>
                      <a:blip r:embed="rId20"/>
                      <a:srcRect/>
                      <a:stretch>
                        <a:fillRect/>
                      </a:stretch>
                    </p:blipFill>
                    <p:spPr bwMode="auto">
                      <a:xfrm>
                        <a:off x="4763802" y="5502766"/>
                        <a:ext cx="1671638" cy="582612"/>
                      </a:xfrm>
                      <a:prstGeom prst="rect">
                        <a:avLst/>
                      </a:prstGeom>
                      <a:noFill/>
                    </p:spPr>
                  </p:pic>
                </p:oleObj>
              </mc:Fallback>
            </mc:AlternateContent>
          </a:graphicData>
        </a:graphic>
      </p:graphicFrame>
      <p:sp>
        <p:nvSpPr>
          <p:cNvPr id="47" name="右箭头 46"/>
          <p:cNvSpPr/>
          <p:nvPr/>
        </p:nvSpPr>
        <p:spPr>
          <a:xfrm>
            <a:off x="6289136" y="4952537"/>
            <a:ext cx="1707298"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307999" y="4312805"/>
            <a:ext cx="1834739" cy="646331"/>
          </a:xfrm>
          <a:prstGeom prst="rect">
            <a:avLst/>
          </a:prstGeom>
          <a:noFill/>
        </p:spPr>
        <p:txBody>
          <a:bodyPr wrap="square" rtlCol="0">
            <a:spAutoFit/>
          </a:bodyPr>
          <a:lstStyle/>
          <a:p>
            <a:r>
              <a:rPr lang="en-US" altLang="zh-CN" b="1" dirty="0" err="1">
                <a:solidFill>
                  <a:srgbClr val="C00000"/>
                </a:solidFill>
              </a:rPr>
              <a:t>Step2</a:t>
            </a:r>
            <a:r>
              <a:rPr lang="en-US" altLang="zh-CN" b="1" dirty="0">
                <a:solidFill>
                  <a:srgbClr val="C00000"/>
                </a:solidFill>
              </a:rPr>
              <a:t> </a:t>
            </a:r>
            <a:r>
              <a:rPr lang="zh-CN" altLang="en-US" b="1" dirty="0">
                <a:solidFill>
                  <a:srgbClr val="C00000"/>
                </a:solidFill>
              </a:rPr>
              <a:t>非零数的零次方等于</a:t>
            </a:r>
            <a:r>
              <a:rPr lang="en-US" altLang="zh-CN" b="1" dirty="0">
                <a:solidFill>
                  <a:srgbClr val="C00000"/>
                </a:solidFill>
              </a:rPr>
              <a:t>1</a:t>
            </a:r>
            <a:endParaRPr lang="zh-CN" altLang="en-US" b="1" dirty="0">
              <a:solidFill>
                <a:srgbClr val="C00000"/>
              </a:solidFill>
            </a:endParaRPr>
          </a:p>
        </p:txBody>
      </p:sp>
      <p:graphicFrame>
        <p:nvGraphicFramePr>
          <p:cNvPr id="49" name="对象 48">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7952154" y="3721858"/>
          <a:ext cx="3275012" cy="582613"/>
        </p:xfrm>
        <a:graphic>
          <a:graphicData uri="http://schemas.openxmlformats.org/presentationml/2006/ole">
            <mc:AlternateContent xmlns:mc="http://schemas.openxmlformats.org/markup-compatibility/2006">
              <mc:Choice xmlns:v="urn:schemas-microsoft-com:vml" Requires="v">
                <p:oleObj name="Equation" r:id="rId21" imgW="1815840" imgH="330120" progId="Equation.DSMT4">
                  <p:embed/>
                </p:oleObj>
              </mc:Choice>
              <mc:Fallback>
                <p:oleObj name="Equation" r:id="rId21" imgW="1815840" imgH="330120" progId="Equation.DSMT4">
                  <p:embed/>
                  <p:pic>
                    <p:nvPicPr>
                      <p:cNvPr id="49" name="对象 48">
                        <a:extLst>
                          <a:ext uri="{FF2B5EF4-FFF2-40B4-BE49-F238E27FC236}">
                            <a16:creationId xmlns:a16="http://schemas.microsoft.com/office/drawing/2014/main" id="{7E56E43C-2107-47ED-A78E-FA29EA22A516}"/>
                          </a:ext>
                        </a:extLst>
                      </p:cNvPr>
                      <p:cNvPicPr>
                        <a:picLocks noChangeAspect="1" noChangeArrowheads="1"/>
                      </p:cNvPicPr>
                      <p:nvPr/>
                    </p:nvPicPr>
                    <p:blipFill>
                      <a:blip r:embed="rId22"/>
                      <a:srcRect/>
                      <a:stretch>
                        <a:fillRect/>
                      </a:stretch>
                    </p:blipFill>
                    <p:spPr bwMode="auto">
                      <a:xfrm>
                        <a:off x="7952154" y="3721858"/>
                        <a:ext cx="3275012" cy="582613"/>
                      </a:xfrm>
                      <a:prstGeom prst="rect">
                        <a:avLst/>
                      </a:prstGeom>
                      <a:noFill/>
                    </p:spPr>
                  </p:pic>
                </p:oleObj>
              </mc:Fallback>
            </mc:AlternateContent>
          </a:graphicData>
        </a:graphic>
      </p:graphicFrame>
      <p:sp>
        <p:nvSpPr>
          <p:cNvPr id="51" name="文本框 50"/>
          <p:cNvSpPr txBox="1"/>
          <p:nvPr/>
        </p:nvSpPr>
        <p:spPr>
          <a:xfrm>
            <a:off x="10458014" y="3442362"/>
            <a:ext cx="371204" cy="369332"/>
          </a:xfrm>
          <a:prstGeom prst="rect">
            <a:avLst/>
          </a:prstGeom>
          <a:noFill/>
        </p:spPr>
        <p:txBody>
          <a:bodyPr wrap="square" rtlCol="0">
            <a:spAutoFit/>
          </a:bodyPr>
          <a:lstStyle/>
          <a:p>
            <a:r>
              <a:rPr lang="en-US" altLang="zh-CN" b="1" dirty="0">
                <a:solidFill>
                  <a:srgbClr val="C00000"/>
                </a:solidFill>
              </a:rPr>
              <a:t>1</a:t>
            </a:r>
            <a:endParaRPr lang="zh-CN" altLang="en-US" b="1" dirty="0">
              <a:solidFill>
                <a:srgbClr val="C00000"/>
              </a:solidFill>
            </a:endParaRPr>
          </a:p>
        </p:txBody>
      </p:sp>
      <p:graphicFrame>
        <p:nvGraphicFramePr>
          <p:cNvPr id="53" name="对象 52">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040049817"/>
              </p:ext>
            </p:extLst>
          </p:nvPr>
        </p:nvGraphicFramePr>
        <p:xfrm>
          <a:off x="7950448" y="5476366"/>
          <a:ext cx="3275012" cy="582613"/>
        </p:xfrm>
        <a:graphic>
          <a:graphicData uri="http://schemas.openxmlformats.org/presentationml/2006/ole">
            <mc:AlternateContent xmlns:mc="http://schemas.openxmlformats.org/markup-compatibility/2006">
              <mc:Choice xmlns:v="urn:schemas-microsoft-com:vml" Requires="v">
                <p:oleObj name="Equation" r:id="rId23" imgW="1815840" imgH="330120" progId="Equation.DSMT4">
                  <p:embed/>
                </p:oleObj>
              </mc:Choice>
              <mc:Fallback>
                <p:oleObj name="Equation" r:id="rId23" imgW="1815840" imgH="330120" progId="Equation.DSMT4">
                  <p:embed/>
                  <p:pic>
                    <p:nvPicPr>
                      <p:cNvPr id="53" name="对象 52">
                        <a:extLst>
                          <a:ext uri="{FF2B5EF4-FFF2-40B4-BE49-F238E27FC236}">
                            <a16:creationId xmlns:a16="http://schemas.microsoft.com/office/drawing/2014/main" id="{7E56E43C-2107-47ED-A78E-FA29EA22A516}"/>
                          </a:ext>
                        </a:extLst>
                      </p:cNvPr>
                      <p:cNvPicPr>
                        <a:picLocks noChangeAspect="1" noChangeArrowheads="1"/>
                      </p:cNvPicPr>
                      <p:nvPr/>
                    </p:nvPicPr>
                    <p:blipFill>
                      <a:blip r:embed="rId22"/>
                      <a:srcRect/>
                      <a:stretch>
                        <a:fillRect/>
                      </a:stretch>
                    </p:blipFill>
                    <p:spPr bwMode="auto">
                      <a:xfrm>
                        <a:off x="7950448" y="5476366"/>
                        <a:ext cx="3275012" cy="582613"/>
                      </a:xfrm>
                      <a:prstGeom prst="rect">
                        <a:avLst/>
                      </a:prstGeom>
                      <a:noFill/>
                    </p:spPr>
                  </p:pic>
                </p:oleObj>
              </mc:Fallback>
            </mc:AlternateContent>
          </a:graphicData>
        </a:graphic>
      </p:graphicFrame>
      <p:sp>
        <p:nvSpPr>
          <p:cNvPr id="26" name="矩形 25"/>
          <p:cNvSpPr/>
          <p:nvPr/>
        </p:nvSpPr>
        <p:spPr>
          <a:xfrm>
            <a:off x="10070592" y="3772597"/>
            <a:ext cx="1156574" cy="438256"/>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8505824" y="5514831"/>
            <a:ext cx="1564767" cy="46451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9140238" y="5178608"/>
            <a:ext cx="371204" cy="369332"/>
          </a:xfrm>
          <a:prstGeom prst="rect">
            <a:avLst/>
          </a:prstGeom>
          <a:noFill/>
        </p:spPr>
        <p:txBody>
          <a:bodyPr wrap="square" rtlCol="0">
            <a:spAutoFit/>
          </a:bodyPr>
          <a:lstStyle/>
          <a:p>
            <a:r>
              <a:rPr lang="en-US" altLang="zh-CN" b="1" dirty="0">
                <a:solidFill>
                  <a:srgbClr val="C00000"/>
                </a:solidFill>
              </a:rPr>
              <a:t>1</a:t>
            </a:r>
            <a:endParaRPr lang="zh-CN" altLang="en-US" b="1" dirty="0">
              <a:solidFill>
                <a:srgbClr val="C00000"/>
              </a:solidFill>
            </a:endParaRPr>
          </a:p>
        </p:txBody>
      </p:sp>
      <p:cxnSp>
        <p:nvCxnSpPr>
          <p:cNvPr id="3" name="直接连接符 2">
            <a:extLst>
              <a:ext uri="{FF2B5EF4-FFF2-40B4-BE49-F238E27FC236}">
                <a16:creationId xmlns:a16="http://schemas.microsoft.com/office/drawing/2014/main" id="{D70D1F93-FE83-B266-3B8D-E315C9EB420E}"/>
              </a:ext>
            </a:extLst>
          </p:cNvPr>
          <p:cNvCxnSpPr/>
          <p:nvPr/>
        </p:nvCxnSpPr>
        <p:spPr>
          <a:xfrm>
            <a:off x="1190927" y="4186139"/>
            <a:ext cx="709612"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5490C62-EEFA-3AF0-4D1A-54F7BFF10B80}"/>
              </a:ext>
            </a:extLst>
          </p:cNvPr>
          <p:cNvCxnSpPr/>
          <p:nvPr/>
        </p:nvCxnSpPr>
        <p:spPr>
          <a:xfrm>
            <a:off x="1575968" y="4186139"/>
            <a:ext cx="0" cy="153465"/>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6684009-E99E-EDDF-1AD1-976A13A22C12}"/>
              </a:ext>
            </a:extLst>
          </p:cNvPr>
          <p:cNvCxnSpPr>
            <a:cxnSpLocks/>
          </p:cNvCxnSpPr>
          <p:nvPr/>
        </p:nvCxnSpPr>
        <p:spPr>
          <a:xfrm flipV="1">
            <a:off x="1575968" y="4321871"/>
            <a:ext cx="9553351" cy="5033"/>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452167B-C342-3A85-9185-FAC4AFC22AC2}"/>
              </a:ext>
            </a:extLst>
          </p:cNvPr>
          <p:cNvCxnSpPr>
            <a:cxnSpLocks/>
          </p:cNvCxnSpPr>
          <p:nvPr/>
        </p:nvCxnSpPr>
        <p:spPr>
          <a:xfrm flipV="1">
            <a:off x="11129319" y="3982609"/>
            <a:ext cx="0" cy="356995"/>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6E06B47-AA15-1CBB-4482-52788860D549}"/>
              </a:ext>
            </a:extLst>
          </p:cNvPr>
          <p:cNvCxnSpPr/>
          <p:nvPr/>
        </p:nvCxnSpPr>
        <p:spPr>
          <a:xfrm>
            <a:off x="1190927" y="5884163"/>
            <a:ext cx="709612" cy="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58C41AB-3825-ACC0-F4E6-DAC14BF84729}"/>
              </a:ext>
            </a:extLst>
          </p:cNvPr>
          <p:cNvCxnSpPr/>
          <p:nvPr/>
        </p:nvCxnSpPr>
        <p:spPr>
          <a:xfrm>
            <a:off x="1545733" y="5883940"/>
            <a:ext cx="0" cy="153465"/>
          </a:xfrm>
          <a:prstGeom prst="line">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2A77E5E-2616-7D30-DBBF-D509F21C3E4E}"/>
              </a:ext>
            </a:extLst>
          </p:cNvPr>
          <p:cNvCxnSpPr>
            <a:cxnSpLocks/>
          </p:cNvCxnSpPr>
          <p:nvPr/>
        </p:nvCxnSpPr>
        <p:spPr>
          <a:xfrm flipV="1">
            <a:off x="1540848" y="6029843"/>
            <a:ext cx="9553351" cy="5033"/>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76DF93E-465D-3072-BB2B-5B9B3D22B4C4}"/>
              </a:ext>
            </a:extLst>
          </p:cNvPr>
          <p:cNvCxnSpPr>
            <a:cxnSpLocks/>
          </p:cNvCxnSpPr>
          <p:nvPr/>
        </p:nvCxnSpPr>
        <p:spPr>
          <a:xfrm flipV="1">
            <a:off x="11107843" y="5689972"/>
            <a:ext cx="0" cy="356995"/>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507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36</a:t>
            </a:fld>
            <a:endParaRPr lang="zh-CN" altLang="en-US"/>
          </a:p>
        </p:txBody>
      </p:sp>
      <p:sp>
        <p:nvSpPr>
          <p:cNvPr id="6" name="矩形 5"/>
          <p:cNvSpPr/>
          <p:nvPr/>
        </p:nvSpPr>
        <p:spPr>
          <a:xfrm>
            <a:off x="838200" y="1524556"/>
            <a:ext cx="7543801" cy="369332"/>
          </a:xfrm>
          <a:prstGeom prst="rect">
            <a:avLst/>
          </a:prstGeom>
        </p:spPr>
        <p:txBody>
          <a:bodyPr wrap="square">
            <a:spAutoFit/>
          </a:bodyPr>
          <a:lstStyle/>
          <a:p>
            <a:r>
              <a:rPr lang="zh-CN" altLang="en-US" dirty="0"/>
              <a:t>回顾</a:t>
            </a:r>
            <a:r>
              <a:rPr lang="en-US" altLang="zh-CN" dirty="0"/>
              <a:t>100</a:t>
            </a:r>
            <a:r>
              <a:rPr lang="zh-CN" altLang="en-US" dirty="0"/>
              <a:t>年前的分类问题建模</a:t>
            </a:r>
            <a:r>
              <a:rPr lang="en-US" altLang="zh-CN" dirty="0"/>
              <a:t>…</a:t>
            </a:r>
            <a:endParaRPr lang="zh-CN" altLang="en-US" dirty="0"/>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1B613423-4ABA-43F9-827F-E16FDE82B589}"/>
              </a:ext>
            </a:extLst>
          </p:cNvPr>
          <p:cNvGrpSpPr/>
          <p:nvPr/>
        </p:nvGrpSpPr>
        <p:grpSpPr>
          <a:xfrm>
            <a:off x="838200" y="2859749"/>
            <a:ext cx="10515600" cy="421162"/>
            <a:chOff x="10661205" y="8933887"/>
            <a:chExt cx="10651736" cy="460785"/>
          </a:xfrm>
        </p:grpSpPr>
        <p:sp>
          <p:nvSpPr>
            <p:cNvPr id="15" name="文本框 14">
              <a:extLst>
                <a:ext uri="{FF2B5EF4-FFF2-40B4-BE49-F238E27FC236}">
                  <a16:creationId xmlns:a16="http://schemas.microsoft.com/office/drawing/2014/main" id="{2AE84D46-5109-4F5D-B90B-C66B7BB25B5F}"/>
                </a:ext>
              </a:extLst>
            </p:cNvPr>
            <p:cNvSpPr txBox="1"/>
            <p:nvPr/>
          </p:nvSpPr>
          <p:spPr>
            <a:xfrm>
              <a:off x="10661205" y="8933887"/>
              <a:ext cx="10651736" cy="404079"/>
            </a:xfrm>
            <a:prstGeom prst="rect">
              <a:avLst/>
            </a:prstGeom>
            <a:noFill/>
          </p:spPr>
          <p:txBody>
            <a:bodyPr wrap="square">
              <a:spAutoFit/>
            </a:bodyPr>
            <a:lstStyle/>
            <a:p>
              <a:r>
                <a:rPr lang="zh-CN" altLang="en-US" dirty="0"/>
                <a:t>① 不得病的人（                 ），决策函数</a:t>
              </a:r>
              <a:r>
                <a:rPr lang="zh-CN" altLang="en-US" b="1" dirty="0"/>
                <a:t>预测不得病的概率</a:t>
              </a:r>
              <a:r>
                <a:rPr lang="zh-CN" altLang="en-US" dirty="0">
                  <a:solidFill>
                    <a:srgbClr val="C00000"/>
                  </a:solidFill>
                </a:rPr>
                <a:t>越大越好，暨输出为</a:t>
              </a:r>
              <a:r>
                <a:rPr lang="en-US" altLang="zh-CN" dirty="0">
                  <a:solidFill>
                    <a:srgbClr val="C00000"/>
                  </a:solidFill>
                </a:rPr>
                <a:t>0</a:t>
              </a:r>
              <a:r>
                <a:rPr lang="zh-CN" altLang="en-US" dirty="0">
                  <a:solidFill>
                    <a:srgbClr val="C00000"/>
                  </a:solidFill>
                </a:rPr>
                <a:t>的概率越大越好：</a:t>
              </a:r>
              <a:endParaRPr lang="en-US" altLang="zh-CN" dirty="0">
                <a:solidFill>
                  <a:srgbClr val="C00000"/>
                </a:solidFill>
              </a:endParaRPr>
            </a:p>
          </p:txBody>
        </p:sp>
        <p:graphicFrame>
          <p:nvGraphicFramePr>
            <p:cNvPr id="17" name="对象 16">
              <a:extLst>
                <a:ext uri="{FF2B5EF4-FFF2-40B4-BE49-F238E27FC236}">
                  <a16:creationId xmlns:a16="http://schemas.microsoft.com/office/drawing/2014/main" id="{B2659C80-4910-4EA7-AE9C-D54459C2C626}"/>
                </a:ext>
              </a:extLst>
            </p:cNvPr>
            <p:cNvGraphicFramePr>
              <a:graphicFrameLocks noChangeAspect="1"/>
            </p:cNvGraphicFramePr>
            <p:nvPr/>
          </p:nvGraphicFramePr>
          <p:xfrm>
            <a:off x="12606394" y="8955728"/>
            <a:ext cx="765970" cy="438944"/>
          </p:xfrm>
          <a:graphic>
            <a:graphicData uri="http://schemas.openxmlformats.org/presentationml/2006/ole">
              <mc:AlternateContent xmlns:mc="http://schemas.openxmlformats.org/markup-compatibility/2006">
                <mc:Choice xmlns:v="urn:schemas-microsoft-com:vml" Requires="v">
                  <p:oleObj name="Equation" r:id="rId3" imgW="393480" imgH="228600" progId="Equation.DSMT4">
                    <p:embed/>
                  </p:oleObj>
                </mc:Choice>
                <mc:Fallback>
                  <p:oleObj name="Equation" r:id="rId3" imgW="393480" imgH="228600" progId="Equation.DSMT4">
                    <p:embed/>
                    <p:pic>
                      <p:nvPicPr>
                        <p:cNvPr id="17" name="对象 16">
                          <a:extLst>
                            <a:ext uri="{FF2B5EF4-FFF2-40B4-BE49-F238E27FC236}">
                              <a16:creationId xmlns:a16="http://schemas.microsoft.com/office/drawing/2014/main" id="{B2659C80-4910-4EA7-AE9C-D54459C2C626}"/>
                            </a:ext>
                          </a:extLst>
                        </p:cNvPr>
                        <p:cNvPicPr>
                          <a:picLocks noChangeAspect="1" noChangeArrowheads="1"/>
                        </p:cNvPicPr>
                        <p:nvPr/>
                      </p:nvPicPr>
                      <p:blipFill>
                        <a:blip r:embed="rId4"/>
                        <a:srcRect/>
                        <a:stretch>
                          <a:fillRect/>
                        </a:stretch>
                      </p:blipFill>
                      <p:spPr bwMode="auto">
                        <a:xfrm>
                          <a:off x="12606394" y="8955728"/>
                          <a:ext cx="765970" cy="438944"/>
                        </a:xfrm>
                        <a:prstGeom prst="rect">
                          <a:avLst/>
                        </a:prstGeom>
                        <a:noFill/>
                      </p:spPr>
                    </p:pic>
                  </p:oleObj>
                </mc:Fallback>
              </mc:AlternateContent>
            </a:graphicData>
          </a:graphic>
        </p:graphicFrame>
      </p:grpSp>
      <p:sp>
        <p:nvSpPr>
          <p:cNvPr id="19" name="矩形 18"/>
          <p:cNvSpPr/>
          <p:nvPr/>
        </p:nvSpPr>
        <p:spPr>
          <a:xfrm>
            <a:off x="838200" y="1899052"/>
            <a:ext cx="5965095" cy="369332"/>
          </a:xfrm>
          <a:prstGeom prst="rect">
            <a:avLst/>
          </a:prstGeom>
        </p:spPr>
        <p:txBody>
          <a:bodyPr wrap="none">
            <a:spAutoFit/>
          </a:bodyPr>
          <a:lstStyle/>
          <a:p>
            <a:r>
              <a:rPr lang="zh-CN" altLang="en-US" b="1" dirty="0"/>
              <a:t>把样本分成</a:t>
            </a:r>
            <a:r>
              <a:rPr lang="zh-CN" altLang="en-US" b="1" dirty="0">
                <a:solidFill>
                  <a:srgbClr val="FF0000"/>
                </a:solidFill>
              </a:rPr>
              <a:t>两类</a:t>
            </a:r>
            <a:r>
              <a:rPr lang="zh-CN" altLang="en-US" b="1" dirty="0"/>
              <a:t>：生病的人（</a:t>
            </a:r>
            <a:r>
              <a:rPr lang="en-US" altLang="zh-CN" b="1" dirty="0" err="1"/>
              <a:t>yi</a:t>
            </a:r>
            <a:r>
              <a:rPr lang="en-US" altLang="zh-CN" b="1" dirty="0"/>
              <a:t>=1</a:t>
            </a:r>
            <a:r>
              <a:rPr lang="zh-CN" altLang="en-US" b="1" dirty="0"/>
              <a:t>），不生病人（</a:t>
            </a:r>
            <a:r>
              <a:rPr lang="en-US" altLang="zh-CN" b="1" dirty="0" err="1"/>
              <a:t>yi</a:t>
            </a:r>
            <a:r>
              <a:rPr lang="en-US" altLang="zh-CN" b="1" dirty="0"/>
              <a:t>=0</a:t>
            </a:r>
            <a:r>
              <a:rPr lang="zh-CN" altLang="en-US" b="1" dirty="0"/>
              <a:t>）</a:t>
            </a:r>
            <a:endParaRPr lang="en-US" altLang="zh-CN" b="1" dirty="0"/>
          </a:p>
        </p:txBody>
      </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23544" y="2288752"/>
          <a:ext cx="800100" cy="449262"/>
        </p:xfrm>
        <a:graphic>
          <a:graphicData uri="http://schemas.openxmlformats.org/presentationml/2006/ole">
            <mc:AlternateContent xmlns:mc="http://schemas.openxmlformats.org/markup-compatibility/2006">
              <mc:Choice xmlns:v="urn:schemas-microsoft-com:vml" Requires="v">
                <p:oleObj name="Equation" r:id="rId5" imgW="444240" imgH="253800" progId="Equation.DSMT4">
                  <p:embed/>
                </p:oleObj>
              </mc:Choice>
              <mc:Fallback>
                <p:oleObj name="Equation" r:id="rId5"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923544" y="2288752"/>
                        <a:ext cx="800100" cy="449262"/>
                      </a:xfrm>
                      <a:prstGeom prst="rect">
                        <a:avLst/>
                      </a:prstGeom>
                      <a:noFill/>
                    </p:spPr>
                  </p:pic>
                </p:oleObj>
              </mc:Fallback>
            </mc:AlternateContent>
          </a:graphicData>
        </a:graphic>
      </p:graphicFrame>
      <p:sp>
        <p:nvSpPr>
          <p:cNvPr id="5" name="矩形 4"/>
          <p:cNvSpPr/>
          <p:nvPr/>
        </p:nvSpPr>
        <p:spPr>
          <a:xfrm>
            <a:off x="1637753" y="2343565"/>
            <a:ext cx="2492990" cy="369332"/>
          </a:xfrm>
          <a:prstGeom prst="rect">
            <a:avLst/>
          </a:prstGeom>
        </p:spPr>
        <p:txBody>
          <a:bodyPr wrap="none">
            <a:spAutoFit/>
          </a:bodyPr>
          <a:lstStyle/>
          <a:p>
            <a:r>
              <a:rPr lang="zh-CN" altLang="en-US" b="1" dirty="0"/>
              <a:t>：模型预测的得病概率</a:t>
            </a:r>
            <a:endParaRPr lang="zh-CN" altLang="en-US" dirty="0"/>
          </a:p>
        </p:txBody>
      </p:sp>
      <p:grpSp>
        <p:nvGrpSpPr>
          <p:cNvPr id="21" name="组合 20">
            <a:extLst>
              <a:ext uri="{FF2B5EF4-FFF2-40B4-BE49-F238E27FC236}">
                <a16:creationId xmlns:a16="http://schemas.microsoft.com/office/drawing/2014/main" id="{888C320E-946D-40A3-81D0-A2754A394C7B}"/>
              </a:ext>
            </a:extLst>
          </p:cNvPr>
          <p:cNvGrpSpPr/>
          <p:nvPr/>
        </p:nvGrpSpPr>
        <p:grpSpPr>
          <a:xfrm>
            <a:off x="838200" y="3280911"/>
            <a:ext cx="10390632" cy="396862"/>
            <a:chOff x="9951647" y="9112793"/>
            <a:chExt cx="12188756" cy="396862"/>
          </a:xfrm>
        </p:grpSpPr>
        <p:sp>
          <p:nvSpPr>
            <p:cNvPr id="22" name="文本框 21">
              <a:extLst>
                <a:ext uri="{FF2B5EF4-FFF2-40B4-BE49-F238E27FC236}">
                  <a16:creationId xmlns:a16="http://schemas.microsoft.com/office/drawing/2014/main" id="{6F63D142-CB95-4243-BF5E-F57DE3C9F87A}"/>
                </a:ext>
              </a:extLst>
            </p:cNvPr>
            <p:cNvSpPr txBox="1"/>
            <p:nvPr/>
          </p:nvSpPr>
          <p:spPr>
            <a:xfrm>
              <a:off x="9951647" y="9112793"/>
              <a:ext cx="12188756" cy="369332"/>
            </a:xfrm>
            <a:prstGeom prst="rect">
              <a:avLst/>
            </a:prstGeom>
            <a:noFill/>
          </p:spPr>
          <p:txBody>
            <a:bodyPr wrap="square">
              <a:spAutoFit/>
            </a:bodyPr>
            <a:lstStyle/>
            <a:p>
              <a:r>
                <a:rPr lang="zh-CN" altLang="en-US" dirty="0"/>
                <a:t>② 得病的人（              ），决策函数</a:t>
              </a:r>
              <a:r>
                <a:rPr lang="zh-CN" altLang="en-US" b="1" dirty="0"/>
                <a:t>预测得病的概率</a:t>
              </a:r>
              <a:r>
                <a:rPr lang="zh-CN" altLang="en-US" dirty="0">
                  <a:solidFill>
                    <a:srgbClr val="C00000"/>
                  </a:solidFill>
                </a:rPr>
                <a:t>越大越好：</a:t>
              </a:r>
              <a:endParaRPr lang="en-US" altLang="zh-CN" dirty="0">
                <a:solidFill>
                  <a:srgbClr val="C00000"/>
                </a:solidFill>
              </a:endParaRPr>
            </a:p>
          </p:txBody>
        </p:sp>
        <p:graphicFrame>
          <p:nvGraphicFramePr>
            <p:cNvPr id="23" name="对象 22">
              <a:extLst>
                <a:ext uri="{FF2B5EF4-FFF2-40B4-BE49-F238E27FC236}">
                  <a16:creationId xmlns:a16="http://schemas.microsoft.com/office/drawing/2014/main" id="{48E7260C-C721-4B9D-9058-F62917FB2A84}"/>
                </a:ext>
              </a:extLst>
            </p:cNvPr>
            <p:cNvGraphicFramePr>
              <a:graphicFrameLocks noChangeAspect="1"/>
            </p:cNvGraphicFramePr>
            <p:nvPr/>
          </p:nvGraphicFramePr>
          <p:xfrm>
            <a:off x="11889227" y="9123762"/>
            <a:ext cx="630130" cy="385893"/>
          </p:xfrm>
          <a:graphic>
            <a:graphicData uri="http://schemas.openxmlformats.org/presentationml/2006/ole">
              <mc:AlternateContent xmlns:mc="http://schemas.openxmlformats.org/markup-compatibility/2006">
                <mc:Choice xmlns:v="urn:schemas-microsoft-com:vml" Requires="v">
                  <p:oleObj name="Equation" r:id="rId7" imgW="368280" imgH="228600" progId="Equation.DSMT4">
                    <p:embed/>
                  </p:oleObj>
                </mc:Choice>
                <mc:Fallback>
                  <p:oleObj name="Equation" r:id="rId7" imgW="368280" imgH="228600" progId="Equation.DSMT4">
                    <p:embed/>
                    <p:pic>
                      <p:nvPicPr>
                        <p:cNvPr id="23" name="对象 22">
                          <a:extLst>
                            <a:ext uri="{FF2B5EF4-FFF2-40B4-BE49-F238E27FC236}">
                              <a16:creationId xmlns:a16="http://schemas.microsoft.com/office/drawing/2014/main" id="{48E7260C-C721-4B9D-9058-F62917FB2A84}"/>
                            </a:ext>
                          </a:extLst>
                        </p:cNvPr>
                        <p:cNvPicPr>
                          <a:picLocks noChangeAspect="1" noChangeArrowheads="1"/>
                        </p:cNvPicPr>
                        <p:nvPr/>
                      </p:nvPicPr>
                      <p:blipFill>
                        <a:blip r:embed="rId8"/>
                        <a:srcRect/>
                        <a:stretch>
                          <a:fillRect/>
                        </a:stretch>
                      </p:blipFill>
                      <p:spPr bwMode="auto">
                        <a:xfrm>
                          <a:off x="11889227" y="9123762"/>
                          <a:ext cx="630130" cy="385893"/>
                        </a:xfrm>
                        <a:prstGeom prst="rect">
                          <a:avLst/>
                        </a:prstGeom>
                        <a:noFill/>
                      </p:spPr>
                    </p:pic>
                  </p:oleObj>
                </mc:Fallback>
              </mc:AlternateContent>
            </a:graphicData>
          </a:graphic>
        </p:graphicFrame>
      </p:grpSp>
      <p:graphicFrame>
        <p:nvGraphicFramePr>
          <p:cNvPr id="34" name="对象 33">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715948982"/>
              </p:ext>
            </p:extLst>
          </p:nvPr>
        </p:nvGraphicFramePr>
        <p:xfrm>
          <a:off x="1228247" y="5502766"/>
          <a:ext cx="663575" cy="404813"/>
        </p:xfrm>
        <a:graphic>
          <a:graphicData uri="http://schemas.openxmlformats.org/presentationml/2006/ole">
            <mc:AlternateContent xmlns:mc="http://schemas.openxmlformats.org/markup-compatibility/2006">
              <mc:Choice xmlns:v="urn:schemas-microsoft-com:vml" Requires="v">
                <p:oleObj name="Equation" r:id="rId9" imgW="368280" imgH="228600" progId="Equation.DSMT4">
                  <p:embed/>
                </p:oleObj>
              </mc:Choice>
              <mc:Fallback>
                <p:oleObj name="Equation" r:id="rId9" imgW="368280" imgH="228600" progId="Equation.DSMT4">
                  <p:embed/>
                  <p:pic>
                    <p:nvPicPr>
                      <p:cNvPr id="34" name="对象 3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0"/>
                      <a:srcRect/>
                      <a:stretch>
                        <a:fillRect/>
                      </a:stretch>
                    </p:blipFill>
                    <p:spPr bwMode="auto">
                      <a:xfrm>
                        <a:off x="1228247" y="5502766"/>
                        <a:ext cx="663575" cy="404813"/>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881677163"/>
              </p:ext>
            </p:extLst>
          </p:nvPr>
        </p:nvGraphicFramePr>
        <p:xfrm>
          <a:off x="1190927" y="3806041"/>
          <a:ext cx="709612" cy="404812"/>
        </p:xfrm>
        <a:graphic>
          <a:graphicData uri="http://schemas.openxmlformats.org/presentationml/2006/ole">
            <mc:AlternateContent xmlns:mc="http://schemas.openxmlformats.org/markup-compatibility/2006">
              <mc:Choice xmlns:v="urn:schemas-microsoft-com:vml" Requires="v">
                <p:oleObj name="Equation" r:id="rId11" imgW="393480" imgH="228600" progId="Equation.DSMT4">
                  <p:embed/>
                </p:oleObj>
              </mc:Choice>
              <mc:Fallback>
                <p:oleObj name="Equation" r:id="rId11" imgW="393480" imgH="228600" progId="Equation.DSMT4">
                  <p:embed/>
                  <p:pic>
                    <p:nvPicPr>
                      <p:cNvPr id="35" name="对象 3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1190927" y="3806041"/>
                        <a:ext cx="709612" cy="404812"/>
                      </a:xfrm>
                      <a:prstGeom prst="rect">
                        <a:avLst/>
                      </a:prstGeom>
                      <a:noFill/>
                    </p:spPr>
                  </p:pic>
                </p:oleObj>
              </mc:Fallback>
            </mc:AlternateContent>
          </a:graphicData>
        </a:graphic>
      </p:graphicFrame>
      <p:sp>
        <p:nvSpPr>
          <p:cNvPr id="36" name="文本框 35"/>
          <p:cNvSpPr txBox="1"/>
          <p:nvPr/>
        </p:nvSpPr>
        <p:spPr>
          <a:xfrm>
            <a:off x="885319" y="5514831"/>
            <a:ext cx="256032" cy="369332"/>
          </a:xfrm>
          <a:prstGeom prst="rect">
            <a:avLst/>
          </a:prstGeom>
          <a:noFill/>
        </p:spPr>
        <p:txBody>
          <a:bodyPr wrap="square" rtlCol="0">
            <a:spAutoFit/>
          </a:bodyPr>
          <a:lstStyle/>
          <a:p>
            <a:r>
              <a:rPr lang="zh-CN" altLang="en-US" dirty="0"/>
              <a:t>当</a:t>
            </a:r>
          </a:p>
        </p:txBody>
      </p:sp>
      <p:sp>
        <p:nvSpPr>
          <p:cNvPr id="37" name="文本框 36"/>
          <p:cNvSpPr txBox="1"/>
          <p:nvPr/>
        </p:nvSpPr>
        <p:spPr>
          <a:xfrm>
            <a:off x="1808255" y="5518938"/>
            <a:ext cx="849309" cy="369332"/>
          </a:xfrm>
          <a:prstGeom prst="rect">
            <a:avLst/>
          </a:prstGeom>
          <a:noFill/>
        </p:spPr>
        <p:txBody>
          <a:bodyPr wrap="square" rtlCol="0">
            <a:spAutoFit/>
          </a:bodyPr>
          <a:lstStyle/>
          <a:p>
            <a:r>
              <a:rPr lang="zh-CN" altLang="en-US" dirty="0"/>
              <a:t>时，</a:t>
            </a:r>
          </a:p>
        </p:txBody>
      </p:sp>
      <p:sp>
        <p:nvSpPr>
          <p:cNvPr id="38" name="文本框 37"/>
          <p:cNvSpPr txBox="1"/>
          <p:nvPr/>
        </p:nvSpPr>
        <p:spPr>
          <a:xfrm>
            <a:off x="880780" y="3794179"/>
            <a:ext cx="256032" cy="369332"/>
          </a:xfrm>
          <a:prstGeom prst="rect">
            <a:avLst/>
          </a:prstGeom>
          <a:noFill/>
        </p:spPr>
        <p:txBody>
          <a:bodyPr wrap="square" rtlCol="0">
            <a:spAutoFit/>
          </a:bodyPr>
          <a:lstStyle/>
          <a:p>
            <a:r>
              <a:rPr lang="zh-CN" altLang="en-US" dirty="0"/>
              <a:t>当</a:t>
            </a:r>
          </a:p>
        </p:txBody>
      </p:sp>
      <p:sp>
        <p:nvSpPr>
          <p:cNvPr id="39" name="文本框 38"/>
          <p:cNvSpPr txBox="1"/>
          <p:nvPr/>
        </p:nvSpPr>
        <p:spPr>
          <a:xfrm>
            <a:off x="1810393" y="3806747"/>
            <a:ext cx="453708" cy="369332"/>
          </a:xfrm>
          <a:prstGeom prst="rect">
            <a:avLst/>
          </a:prstGeom>
          <a:noFill/>
        </p:spPr>
        <p:txBody>
          <a:bodyPr wrap="square" rtlCol="0">
            <a:spAutoFit/>
          </a:bodyPr>
          <a:lstStyle/>
          <a:p>
            <a:r>
              <a:rPr lang="zh-CN" altLang="en-US" dirty="0"/>
              <a:t>时，</a:t>
            </a:r>
          </a:p>
        </p:txBody>
      </p:sp>
      <p:graphicFrame>
        <p:nvGraphicFramePr>
          <p:cNvPr id="42" name="对象 41">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454694254"/>
              </p:ext>
            </p:extLst>
          </p:nvPr>
        </p:nvGraphicFramePr>
        <p:xfrm>
          <a:off x="2270487" y="3772597"/>
          <a:ext cx="1647825" cy="515937"/>
        </p:xfrm>
        <a:graphic>
          <a:graphicData uri="http://schemas.openxmlformats.org/presentationml/2006/ole">
            <mc:AlternateContent xmlns:mc="http://schemas.openxmlformats.org/markup-compatibility/2006">
              <mc:Choice xmlns:v="urn:schemas-microsoft-com:vml" Requires="v">
                <p:oleObj name="Equation" r:id="rId13" imgW="914400" imgH="291960" progId="Equation.DSMT4">
                  <p:embed/>
                </p:oleObj>
              </mc:Choice>
              <mc:Fallback>
                <p:oleObj name="Equation" r:id="rId13" imgW="914400" imgH="29196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2270487" y="3772597"/>
                        <a:ext cx="1647825" cy="515937"/>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156488862"/>
              </p:ext>
            </p:extLst>
          </p:nvPr>
        </p:nvGraphicFramePr>
        <p:xfrm>
          <a:off x="2261963" y="5488130"/>
          <a:ext cx="1304925" cy="515938"/>
        </p:xfrm>
        <a:graphic>
          <a:graphicData uri="http://schemas.openxmlformats.org/presentationml/2006/ole">
            <mc:AlternateContent xmlns:mc="http://schemas.openxmlformats.org/markup-compatibility/2006">
              <mc:Choice xmlns:v="urn:schemas-microsoft-com:vml" Requires="v">
                <p:oleObj name="Equation" r:id="rId15" imgW="723600" imgH="291960" progId="Equation.DSMT4">
                  <p:embed/>
                </p:oleObj>
              </mc:Choice>
              <mc:Fallback>
                <p:oleObj name="Equation" r:id="rId15" imgW="723600" imgH="291960" progId="Equation.DSMT4">
                  <p:embed/>
                  <p:pic>
                    <p:nvPicPr>
                      <p:cNvPr id="44" name="对象 4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2261963" y="5488130"/>
                        <a:ext cx="1304925" cy="515938"/>
                      </a:xfrm>
                      <a:prstGeom prst="rect">
                        <a:avLst/>
                      </a:prstGeom>
                      <a:noFill/>
                    </p:spPr>
                  </p:pic>
                </p:oleObj>
              </mc:Fallback>
            </mc:AlternateContent>
          </a:graphicData>
        </a:graphic>
      </p:graphicFrame>
      <p:sp>
        <p:nvSpPr>
          <p:cNvPr id="7" name="右箭头 6"/>
          <p:cNvSpPr/>
          <p:nvPr/>
        </p:nvSpPr>
        <p:spPr>
          <a:xfrm>
            <a:off x="2779301" y="4932459"/>
            <a:ext cx="1707298"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518988" y="4339604"/>
            <a:ext cx="2379382" cy="646331"/>
          </a:xfrm>
          <a:prstGeom prst="rect">
            <a:avLst/>
          </a:prstGeom>
          <a:noFill/>
        </p:spPr>
        <p:txBody>
          <a:bodyPr wrap="square" rtlCol="0">
            <a:spAutoFit/>
          </a:bodyPr>
          <a:lstStyle/>
          <a:p>
            <a:r>
              <a:rPr lang="en-US" altLang="zh-CN" b="1" dirty="0" err="1">
                <a:solidFill>
                  <a:srgbClr val="C00000"/>
                </a:solidFill>
              </a:rPr>
              <a:t>Step1</a:t>
            </a:r>
            <a:r>
              <a:rPr lang="en-US" altLang="zh-CN" b="1" dirty="0">
                <a:solidFill>
                  <a:srgbClr val="C00000"/>
                </a:solidFill>
              </a:rPr>
              <a:t> </a:t>
            </a:r>
            <a:r>
              <a:rPr lang="zh-CN" altLang="en-US" b="1" dirty="0">
                <a:solidFill>
                  <a:srgbClr val="C00000"/>
                </a:solidFill>
              </a:rPr>
              <a:t>任何数的</a:t>
            </a:r>
            <a:r>
              <a:rPr lang="en-US" altLang="zh-CN" b="1" dirty="0">
                <a:solidFill>
                  <a:srgbClr val="C00000"/>
                </a:solidFill>
              </a:rPr>
              <a:t>1</a:t>
            </a:r>
            <a:r>
              <a:rPr lang="zh-CN" altLang="en-US" b="1" dirty="0">
                <a:solidFill>
                  <a:srgbClr val="C00000"/>
                </a:solidFill>
              </a:rPr>
              <a:t>次方都等于它本身</a:t>
            </a:r>
          </a:p>
        </p:txBody>
      </p:sp>
      <p:graphicFrame>
        <p:nvGraphicFramePr>
          <p:cNvPr id="41" name="对象 40">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732508937"/>
              </p:ext>
            </p:extLst>
          </p:nvPr>
        </p:nvGraphicFramePr>
        <p:xfrm>
          <a:off x="4763802" y="3739258"/>
          <a:ext cx="2152650" cy="582613"/>
        </p:xfrm>
        <a:graphic>
          <a:graphicData uri="http://schemas.openxmlformats.org/presentationml/2006/ole">
            <mc:AlternateContent xmlns:mc="http://schemas.openxmlformats.org/markup-compatibility/2006">
              <mc:Choice xmlns:v="urn:schemas-microsoft-com:vml" Requires="v">
                <p:oleObj name="Equation" r:id="rId17" imgW="1193760" imgH="330120" progId="Equation.DSMT4">
                  <p:embed/>
                </p:oleObj>
              </mc:Choice>
              <mc:Fallback>
                <p:oleObj name="Equation" r:id="rId17" imgW="1193760" imgH="330120" progId="Equation.DSMT4">
                  <p:embed/>
                  <p:pic>
                    <p:nvPicPr>
                      <p:cNvPr id="42" name="对象 4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8"/>
                      <a:srcRect/>
                      <a:stretch>
                        <a:fillRect/>
                      </a:stretch>
                    </p:blipFill>
                    <p:spPr bwMode="auto">
                      <a:xfrm>
                        <a:off x="4763802" y="3739258"/>
                        <a:ext cx="2152650" cy="582613"/>
                      </a:xfrm>
                      <a:prstGeom prst="rect">
                        <a:avLst/>
                      </a:prstGeom>
                      <a:noFill/>
                    </p:spPr>
                  </p:pic>
                </p:oleObj>
              </mc:Fallback>
            </mc:AlternateContent>
          </a:graphicData>
        </a:graphic>
      </p:graphicFrame>
      <p:graphicFrame>
        <p:nvGraphicFramePr>
          <p:cNvPr id="43" name="对象 42">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434449024"/>
              </p:ext>
            </p:extLst>
          </p:nvPr>
        </p:nvGraphicFramePr>
        <p:xfrm>
          <a:off x="4763802" y="5502766"/>
          <a:ext cx="1671638" cy="582612"/>
        </p:xfrm>
        <a:graphic>
          <a:graphicData uri="http://schemas.openxmlformats.org/presentationml/2006/ole">
            <mc:AlternateContent xmlns:mc="http://schemas.openxmlformats.org/markup-compatibility/2006">
              <mc:Choice xmlns:v="urn:schemas-microsoft-com:vml" Requires="v">
                <p:oleObj name="Equation" r:id="rId19" imgW="927000" imgH="330120" progId="Equation.DSMT4">
                  <p:embed/>
                </p:oleObj>
              </mc:Choice>
              <mc:Fallback>
                <p:oleObj name="Equation" r:id="rId19" imgW="927000" imgH="330120" progId="Equation.DSMT4">
                  <p:embed/>
                  <p:pic>
                    <p:nvPicPr>
                      <p:cNvPr id="41" name="对象 40">
                        <a:extLst>
                          <a:ext uri="{FF2B5EF4-FFF2-40B4-BE49-F238E27FC236}">
                            <a16:creationId xmlns:a16="http://schemas.microsoft.com/office/drawing/2014/main" id="{7E56E43C-2107-47ED-A78E-FA29EA22A516}"/>
                          </a:ext>
                        </a:extLst>
                      </p:cNvPr>
                      <p:cNvPicPr>
                        <a:picLocks noChangeAspect="1" noChangeArrowheads="1"/>
                      </p:cNvPicPr>
                      <p:nvPr/>
                    </p:nvPicPr>
                    <p:blipFill>
                      <a:blip r:embed="rId20"/>
                      <a:srcRect/>
                      <a:stretch>
                        <a:fillRect/>
                      </a:stretch>
                    </p:blipFill>
                    <p:spPr bwMode="auto">
                      <a:xfrm>
                        <a:off x="4763802" y="5502766"/>
                        <a:ext cx="1671638" cy="582612"/>
                      </a:xfrm>
                      <a:prstGeom prst="rect">
                        <a:avLst/>
                      </a:prstGeom>
                      <a:noFill/>
                    </p:spPr>
                  </p:pic>
                </p:oleObj>
              </mc:Fallback>
            </mc:AlternateContent>
          </a:graphicData>
        </a:graphic>
      </p:graphicFrame>
      <p:sp>
        <p:nvSpPr>
          <p:cNvPr id="47" name="右箭头 46"/>
          <p:cNvSpPr/>
          <p:nvPr/>
        </p:nvSpPr>
        <p:spPr>
          <a:xfrm>
            <a:off x="6289136" y="4952537"/>
            <a:ext cx="1707298"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307999" y="4312805"/>
            <a:ext cx="1834739" cy="646331"/>
          </a:xfrm>
          <a:prstGeom prst="rect">
            <a:avLst/>
          </a:prstGeom>
          <a:noFill/>
        </p:spPr>
        <p:txBody>
          <a:bodyPr wrap="square" rtlCol="0">
            <a:spAutoFit/>
          </a:bodyPr>
          <a:lstStyle/>
          <a:p>
            <a:r>
              <a:rPr lang="en-US" altLang="zh-CN" b="1" dirty="0" err="1">
                <a:solidFill>
                  <a:srgbClr val="C00000"/>
                </a:solidFill>
              </a:rPr>
              <a:t>Step2</a:t>
            </a:r>
            <a:r>
              <a:rPr lang="en-US" altLang="zh-CN" b="1" dirty="0">
                <a:solidFill>
                  <a:srgbClr val="C00000"/>
                </a:solidFill>
              </a:rPr>
              <a:t> </a:t>
            </a:r>
            <a:r>
              <a:rPr lang="zh-CN" altLang="en-US" b="1" dirty="0">
                <a:solidFill>
                  <a:srgbClr val="C00000"/>
                </a:solidFill>
              </a:rPr>
              <a:t>非零数的零次方等于</a:t>
            </a:r>
            <a:r>
              <a:rPr lang="en-US" altLang="zh-CN" b="1" dirty="0">
                <a:solidFill>
                  <a:srgbClr val="C00000"/>
                </a:solidFill>
              </a:rPr>
              <a:t>1</a:t>
            </a:r>
            <a:endParaRPr lang="zh-CN" altLang="en-US" b="1" dirty="0">
              <a:solidFill>
                <a:srgbClr val="C00000"/>
              </a:solidFill>
            </a:endParaRPr>
          </a:p>
        </p:txBody>
      </p:sp>
      <p:graphicFrame>
        <p:nvGraphicFramePr>
          <p:cNvPr id="49" name="对象 48">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667035141"/>
              </p:ext>
            </p:extLst>
          </p:nvPr>
        </p:nvGraphicFramePr>
        <p:xfrm>
          <a:off x="7952154" y="3721858"/>
          <a:ext cx="3275012" cy="582613"/>
        </p:xfrm>
        <a:graphic>
          <a:graphicData uri="http://schemas.openxmlformats.org/presentationml/2006/ole">
            <mc:AlternateContent xmlns:mc="http://schemas.openxmlformats.org/markup-compatibility/2006">
              <mc:Choice xmlns:v="urn:schemas-microsoft-com:vml" Requires="v">
                <p:oleObj name="Equation" r:id="rId21" imgW="1815840" imgH="330120" progId="Equation.DSMT4">
                  <p:embed/>
                </p:oleObj>
              </mc:Choice>
              <mc:Fallback>
                <p:oleObj name="Equation" r:id="rId21" imgW="1815840" imgH="330120" progId="Equation.DSMT4">
                  <p:embed/>
                  <p:pic>
                    <p:nvPicPr>
                      <p:cNvPr id="41" name="对象 40">
                        <a:extLst>
                          <a:ext uri="{FF2B5EF4-FFF2-40B4-BE49-F238E27FC236}">
                            <a16:creationId xmlns:a16="http://schemas.microsoft.com/office/drawing/2014/main" id="{7E56E43C-2107-47ED-A78E-FA29EA22A516}"/>
                          </a:ext>
                        </a:extLst>
                      </p:cNvPr>
                      <p:cNvPicPr>
                        <a:picLocks noChangeAspect="1" noChangeArrowheads="1"/>
                      </p:cNvPicPr>
                      <p:nvPr/>
                    </p:nvPicPr>
                    <p:blipFill>
                      <a:blip r:embed="rId22"/>
                      <a:srcRect/>
                      <a:stretch>
                        <a:fillRect/>
                      </a:stretch>
                    </p:blipFill>
                    <p:spPr bwMode="auto">
                      <a:xfrm>
                        <a:off x="7952154" y="3721858"/>
                        <a:ext cx="3275012" cy="582613"/>
                      </a:xfrm>
                      <a:prstGeom prst="rect">
                        <a:avLst/>
                      </a:prstGeom>
                      <a:noFill/>
                    </p:spPr>
                  </p:pic>
                </p:oleObj>
              </mc:Fallback>
            </mc:AlternateContent>
          </a:graphicData>
        </a:graphic>
      </p:graphicFrame>
      <p:graphicFrame>
        <p:nvGraphicFramePr>
          <p:cNvPr id="53" name="对象 52">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2300406015"/>
              </p:ext>
            </p:extLst>
          </p:nvPr>
        </p:nvGraphicFramePr>
        <p:xfrm>
          <a:off x="7952154" y="5454792"/>
          <a:ext cx="3275012" cy="582613"/>
        </p:xfrm>
        <a:graphic>
          <a:graphicData uri="http://schemas.openxmlformats.org/presentationml/2006/ole">
            <mc:AlternateContent xmlns:mc="http://schemas.openxmlformats.org/markup-compatibility/2006">
              <mc:Choice xmlns:v="urn:schemas-microsoft-com:vml" Requires="v">
                <p:oleObj name="Equation" r:id="rId23" imgW="1815840" imgH="330120" progId="Equation.DSMT4">
                  <p:embed/>
                </p:oleObj>
              </mc:Choice>
              <mc:Fallback>
                <p:oleObj name="Equation" r:id="rId23" imgW="1815840" imgH="330120" progId="Equation.DSMT4">
                  <p:embed/>
                  <p:pic>
                    <p:nvPicPr>
                      <p:cNvPr id="49" name="对象 48">
                        <a:extLst>
                          <a:ext uri="{FF2B5EF4-FFF2-40B4-BE49-F238E27FC236}">
                            <a16:creationId xmlns:a16="http://schemas.microsoft.com/office/drawing/2014/main" id="{7E56E43C-2107-47ED-A78E-FA29EA22A516}"/>
                          </a:ext>
                        </a:extLst>
                      </p:cNvPr>
                      <p:cNvPicPr>
                        <a:picLocks noChangeAspect="1" noChangeArrowheads="1"/>
                      </p:cNvPicPr>
                      <p:nvPr/>
                    </p:nvPicPr>
                    <p:blipFill>
                      <a:blip r:embed="rId22"/>
                      <a:srcRect/>
                      <a:stretch>
                        <a:fillRect/>
                      </a:stretch>
                    </p:blipFill>
                    <p:spPr bwMode="auto">
                      <a:xfrm>
                        <a:off x="7952154" y="5454792"/>
                        <a:ext cx="3275012" cy="582613"/>
                      </a:xfrm>
                      <a:prstGeom prst="rect">
                        <a:avLst/>
                      </a:prstGeom>
                      <a:noFill/>
                    </p:spPr>
                  </p:pic>
                </p:oleObj>
              </mc:Fallback>
            </mc:AlternateContent>
          </a:graphicData>
        </a:graphic>
      </p:graphicFrame>
      <p:sp>
        <p:nvSpPr>
          <p:cNvPr id="29" name="文本框 28"/>
          <p:cNvSpPr txBox="1"/>
          <p:nvPr/>
        </p:nvSpPr>
        <p:spPr>
          <a:xfrm>
            <a:off x="9089951" y="4659023"/>
            <a:ext cx="1784498" cy="369332"/>
          </a:xfrm>
          <a:prstGeom prst="rect">
            <a:avLst/>
          </a:prstGeom>
          <a:noFill/>
        </p:spPr>
        <p:txBody>
          <a:bodyPr wrap="square" rtlCol="0">
            <a:spAutoFit/>
          </a:bodyPr>
          <a:lstStyle/>
          <a:p>
            <a:r>
              <a:rPr lang="zh-CN" altLang="en-US" b="1" dirty="0">
                <a:solidFill>
                  <a:srgbClr val="C00000"/>
                </a:solidFill>
              </a:rPr>
              <a:t>格式统一了！</a:t>
            </a:r>
          </a:p>
        </p:txBody>
      </p:sp>
    </p:spTree>
    <p:extLst>
      <p:ext uri="{BB962C8B-B14F-4D97-AF65-F5344CB8AC3E}">
        <p14:creationId xmlns:p14="http://schemas.microsoft.com/office/powerpoint/2010/main" val="1817317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37</a:t>
            </a:fld>
            <a:endParaRPr lang="zh-CN" altLang="en-US"/>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900753209"/>
              </p:ext>
            </p:extLst>
          </p:nvPr>
        </p:nvGraphicFramePr>
        <p:xfrm>
          <a:off x="960120" y="1571258"/>
          <a:ext cx="800100" cy="449262"/>
        </p:xfrm>
        <a:graphic>
          <a:graphicData uri="http://schemas.openxmlformats.org/presentationml/2006/ole">
            <mc:AlternateContent xmlns:mc="http://schemas.openxmlformats.org/markup-compatibility/2006">
              <mc:Choice xmlns:v="urn:schemas-microsoft-com:vml" Requires="v">
                <p:oleObj name="Equation" r:id="rId3" imgW="444240" imgH="253800" progId="Equation.DSMT4">
                  <p:embed/>
                </p:oleObj>
              </mc:Choice>
              <mc:Fallback>
                <p:oleObj name="Equation" r:id="rId3"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4"/>
                      <a:srcRect/>
                      <a:stretch>
                        <a:fillRect/>
                      </a:stretch>
                    </p:blipFill>
                    <p:spPr bwMode="auto">
                      <a:xfrm>
                        <a:off x="960120" y="1571258"/>
                        <a:ext cx="800100" cy="449262"/>
                      </a:xfrm>
                      <a:prstGeom prst="rect">
                        <a:avLst/>
                      </a:prstGeom>
                      <a:noFill/>
                    </p:spPr>
                  </p:pic>
                </p:oleObj>
              </mc:Fallback>
            </mc:AlternateContent>
          </a:graphicData>
        </a:graphic>
      </p:graphicFrame>
      <p:sp>
        <p:nvSpPr>
          <p:cNvPr id="5" name="矩形 4"/>
          <p:cNvSpPr/>
          <p:nvPr/>
        </p:nvSpPr>
        <p:spPr>
          <a:xfrm>
            <a:off x="1674329" y="1626071"/>
            <a:ext cx="2492990" cy="369332"/>
          </a:xfrm>
          <a:prstGeom prst="rect">
            <a:avLst/>
          </a:prstGeom>
        </p:spPr>
        <p:txBody>
          <a:bodyPr wrap="none">
            <a:spAutoFit/>
          </a:bodyPr>
          <a:lstStyle/>
          <a:p>
            <a:r>
              <a:rPr lang="zh-CN" altLang="en-US" b="1" dirty="0"/>
              <a:t>：模型预测的得病概率</a:t>
            </a:r>
            <a:endParaRPr lang="zh-CN" altLang="en-US" dirty="0"/>
          </a:p>
        </p:txBody>
      </p:sp>
      <p:sp>
        <p:nvSpPr>
          <p:cNvPr id="40" name="文本框 39">
            <a:extLst>
              <a:ext uri="{FF2B5EF4-FFF2-40B4-BE49-F238E27FC236}">
                <a16:creationId xmlns:a16="http://schemas.microsoft.com/office/drawing/2014/main" id="{70297C91-AFB3-4754-9D77-C7A0B3193931}"/>
              </a:ext>
            </a:extLst>
          </p:cNvPr>
          <p:cNvSpPr txBox="1"/>
          <p:nvPr/>
        </p:nvSpPr>
        <p:spPr>
          <a:xfrm>
            <a:off x="911473" y="2154533"/>
            <a:ext cx="3944714" cy="369332"/>
          </a:xfrm>
          <a:prstGeom prst="rect">
            <a:avLst/>
          </a:prstGeom>
          <a:noFill/>
        </p:spPr>
        <p:txBody>
          <a:bodyPr wrap="square">
            <a:spAutoFit/>
          </a:bodyPr>
          <a:lstStyle/>
          <a:p>
            <a:r>
              <a:rPr lang="zh-CN" altLang="en-US" b="1" dirty="0"/>
              <a:t>综上所述，对任何一类样本</a:t>
            </a:r>
            <a:r>
              <a:rPr lang="zh-CN" altLang="en-US" b="1" dirty="0">
                <a:solidFill>
                  <a:srgbClr val="C00000"/>
                </a:solidFill>
              </a:rPr>
              <a:t>都是</a:t>
            </a:r>
            <a:endParaRPr lang="zh-CN" altLang="en-US" sz="1100" b="1" dirty="0">
              <a:solidFill>
                <a:srgbClr val="C00000"/>
              </a:solidFill>
            </a:endParaRPr>
          </a:p>
        </p:txBody>
      </p:sp>
      <p:graphicFrame>
        <p:nvGraphicFramePr>
          <p:cNvPr id="45" name="对象 44">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272458194"/>
              </p:ext>
            </p:extLst>
          </p:nvPr>
        </p:nvGraphicFramePr>
        <p:xfrm>
          <a:off x="4318937" y="2047892"/>
          <a:ext cx="3382725" cy="601775"/>
        </p:xfrm>
        <a:graphic>
          <a:graphicData uri="http://schemas.openxmlformats.org/presentationml/2006/ole">
            <mc:AlternateContent xmlns:mc="http://schemas.openxmlformats.org/markup-compatibility/2006">
              <mc:Choice xmlns:v="urn:schemas-microsoft-com:vml" Requires="v">
                <p:oleObj name="Equation" r:id="rId5" imgW="1815840" imgH="330120" progId="Equation.DSMT4">
                  <p:embed/>
                </p:oleObj>
              </mc:Choice>
              <mc:Fallback>
                <p:oleObj name="Equation" r:id="rId5" imgW="1815840" imgH="330120" progId="Equation.DSMT4">
                  <p:embed/>
                  <p:pic>
                    <p:nvPicPr>
                      <p:cNvPr id="53" name="对象 52">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4318937" y="2047892"/>
                        <a:ext cx="3382725" cy="601775"/>
                      </a:xfrm>
                      <a:prstGeom prst="rect">
                        <a:avLst/>
                      </a:prstGeom>
                      <a:noFill/>
                    </p:spPr>
                  </p:pic>
                </p:oleObj>
              </mc:Fallback>
            </mc:AlternateContent>
          </a:graphicData>
        </a:graphic>
      </p:graphicFrame>
    </p:spTree>
    <p:extLst>
      <p:ext uri="{BB962C8B-B14F-4D97-AF65-F5344CB8AC3E}">
        <p14:creationId xmlns:p14="http://schemas.microsoft.com/office/powerpoint/2010/main" val="726371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38</a:t>
            </a:fld>
            <a:endParaRPr lang="zh-CN" altLang="en-US"/>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60120" y="1571258"/>
          <a:ext cx="800100" cy="449262"/>
        </p:xfrm>
        <a:graphic>
          <a:graphicData uri="http://schemas.openxmlformats.org/presentationml/2006/ole">
            <mc:AlternateContent xmlns:mc="http://schemas.openxmlformats.org/markup-compatibility/2006">
              <mc:Choice xmlns:v="urn:schemas-microsoft-com:vml" Requires="v">
                <p:oleObj name="Equation" r:id="rId3" imgW="444240" imgH="253800" progId="Equation.DSMT4">
                  <p:embed/>
                </p:oleObj>
              </mc:Choice>
              <mc:Fallback>
                <p:oleObj name="Equation" r:id="rId3"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4"/>
                      <a:srcRect/>
                      <a:stretch>
                        <a:fillRect/>
                      </a:stretch>
                    </p:blipFill>
                    <p:spPr bwMode="auto">
                      <a:xfrm>
                        <a:off x="960120" y="1571258"/>
                        <a:ext cx="800100" cy="449262"/>
                      </a:xfrm>
                      <a:prstGeom prst="rect">
                        <a:avLst/>
                      </a:prstGeom>
                      <a:noFill/>
                    </p:spPr>
                  </p:pic>
                </p:oleObj>
              </mc:Fallback>
            </mc:AlternateContent>
          </a:graphicData>
        </a:graphic>
      </p:graphicFrame>
      <p:sp>
        <p:nvSpPr>
          <p:cNvPr id="5" name="矩形 4"/>
          <p:cNvSpPr/>
          <p:nvPr/>
        </p:nvSpPr>
        <p:spPr>
          <a:xfrm>
            <a:off x="1674329" y="1626071"/>
            <a:ext cx="2492990" cy="369332"/>
          </a:xfrm>
          <a:prstGeom prst="rect">
            <a:avLst/>
          </a:prstGeom>
        </p:spPr>
        <p:txBody>
          <a:bodyPr wrap="none">
            <a:spAutoFit/>
          </a:bodyPr>
          <a:lstStyle/>
          <a:p>
            <a:r>
              <a:rPr lang="zh-CN" altLang="en-US" b="1" dirty="0"/>
              <a:t>：模型预测的得病概率</a:t>
            </a:r>
            <a:endParaRPr lang="zh-CN" altLang="en-US" dirty="0"/>
          </a:p>
        </p:txBody>
      </p:sp>
      <p:sp>
        <p:nvSpPr>
          <p:cNvPr id="40" name="文本框 39">
            <a:extLst>
              <a:ext uri="{FF2B5EF4-FFF2-40B4-BE49-F238E27FC236}">
                <a16:creationId xmlns:a16="http://schemas.microsoft.com/office/drawing/2014/main" id="{70297C91-AFB3-4754-9D77-C7A0B3193931}"/>
              </a:ext>
            </a:extLst>
          </p:cNvPr>
          <p:cNvSpPr txBox="1"/>
          <p:nvPr/>
        </p:nvSpPr>
        <p:spPr>
          <a:xfrm>
            <a:off x="911473" y="2154533"/>
            <a:ext cx="3944714" cy="369332"/>
          </a:xfrm>
          <a:prstGeom prst="rect">
            <a:avLst/>
          </a:prstGeom>
          <a:noFill/>
        </p:spPr>
        <p:txBody>
          <a:bodyPr wrap="square">
            <a:spAutoFit/>
          </a:bodyPr>
          <a:lstStyle/>
          <a:p>
            <a:r>
              <a:rPr lang="zh-CN" altLang="en-US" b="1" dirty="0"/>
              <a:t>综上所述，对任何一类样本</a:t>
            </a:r>
            <a:r>
              <a:rPr lang="zh-CN" altLang="en-US" b="1" dirty="0">
                <a:solidFill>
                  <a:srgbClr val="C00000"/>
                </a:solidFill>
              </a:rPr>
              <a:t>都是</a:t>
            </a:r>
            <a:endParaRPr lang="zh-CN" altLang="en-US" sz="1100" b="1" dirty="0">
              <a:solidFill>
                <a:srgbClr val="C00000"/>
              </a:solidFill>
            </a:endParaRPr>
          </a:p>
        </p:txBody>
      </p:sp>
      <p:graphicFrame>
        <p:nvGraphicFramePr>
          <p:cNvPr id="45" name="对象 4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318937" y="2047892"/>
          <a:ext cx="3382725" cy="601775"/>
        </p:xfrm>
        <a:graphic>
          <a:graphicData uri="http://schemas.openxmlformats.org/presentationml/2006/ole">
            <mc:AlternateContent xmlns:mc="http://schemas.openxmlformats.org/markup-compatibility/2006">
              <mc:Choice xmlns:v="urn:schemas-microsoft-com:vml" Requires="v">
                <p:oleObj name="Equation" r:id="rId5" imgW="1815840" imgH="330120" progId="Equation.DSMT4">
                  <p:embed/>
                </p:oleObj>
              </mc:Choice>
              <mc:Fallback>
                <p:oleObj name="Equation" r:id="rId5" imgW="1815840" imgH="330120" progId="Equation.DSMT4">
                  <p:embed/>
                  <p:pic>
                    <p:nvPicPr>
                      <p:cNvPr id="45" name="对象 44">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4318937" y="2047892"/>
                        <a:ext cx="3382725" cy="601775"/>
                      </a:xfrm>
                      <a:prstGeom prst="rect">
                        <a:avLst/>
                      </a:prstGeom>
                      <a:noFill/>
                    </p:spPr>
                  </p:pic>
                </p:oleObj>
              </mc:Fallback>
            </mc:AlternateContent>
          </a:graphicData>
        </a:graphic>
      </p:graphicFrame>
      <p:sp>
        <p:nvSpPr>
          <p:cNvPr id="3" name="文本框 2"/>
          <p:cNvSpPr txBox="1"/>
          <p:nvPr/>
        </p:nvSpPr>
        <p:spPr>
          <a:xfrm>
            <a:off x="911473" y="2847278"/>
            <a:ext cx="2292096" cy="369332"/>
          </a:xfrm>
          <a:prstGeom prst="rect">
            <a:avLst/>
          </a:prstGeom>
          <a:noFill/>
        </p:spPr>
        <p:txBody>
          <a:bodyPr wrap="square" rtlCol="0">
            <a:spAutoFit/>
          </a:bodyPr>
          <a:lstStyle/>
          <a:p>
            <a:r>
              <a:rPr lang="zh-CN" altLang="en-US" b="1" dirty="0"/>
              <a:t>联想：</a:t>
            </a:r>
          </a:p>
        </p:txBody>
      </p:sp>
      <p:graphicFrame>
        <p:nvGraphicFramePr>
          <p:cNvPr id="14" name="对象 13">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1370034891"/>
              </p:ext>
            </p:extLst>
          </p:nvPr>
        </p:nvGraphicFramePr>
        <p:xfrm>
          <a:off x="1674329" y="2630506"/>
          <a:ext cx="2341562" cy="833438"/>
        </p:xfrm>
        <a:graphic>
          <a:graphicData uri="http://schemas.openxmlformats.org/presentationml/2006/ole">
            <mc:AlternateContent xmlns:mc="http://schemas.openxmlformats.org/markup-compatibility/2006">
              <mc:Choice xmlns:v="urn:schemas-microsoft-com:vml" Requires="v">
                <p:oleObj name="Equation" r:id="rId7" imgW="1257120" imgH="457200" progId="Equation.DSMT4">
                  <p:embed/>
                </p:oleObj>
              </mc:Choice>
              <mc:Fallback>
                <p:oleObj name="Equation" r:id="rId7" imgW="1257120" imgH="457200" progId="Equation.DSMT4">
                  <p:embed/>
                  <p:pic>
                    <p:nvPicPr>
                      <p:cNvPr id="45" name="对象 44">
                        <a:extLst>
                          <a:ext uri="{FF2B5EF4-FFF2-40B4-BE49-F238E27FC236}">
                            <a16:creationId xmlns:a16="http://schemas.microsoft.com/office/drawing/2014/main" id="{7E56E43C-2107-47ED-A78E-FA29EA22A516}"/>
                          </a:ext>
                        </a:extLst>
                      </p:cNvPr>
                      <p:cNvPicPr>
                        <a:picLocks noChangeAspect="1" noChangeArrowheads="1"/>
                      </p:cNvPicPr>
                      <p:nvPr/>
                    </p:nvPicPr>
                    <p:blipFill>
                      <a:blip r:embed="rId8"/>
                      <a:srcRect/>
                      <a:stretch>
                        <a:fillRect/>
                      </a:stretch>
                    </p:blipFill>
                    <p:spPr bwMode="auto">
                      <a:xfrm>
                        <a:off x="1674329" y="2630506"/>
                        <a:ext cx="2341562" cy="833438"/>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660718316"/>
              </p:ext>
            </p:extLst>
          </p:nvPr>
        </p:nvGraphicFramePr>
        <p:xfrm>
          <a:off x="1674329" y="3680716"/>
          <a:ext cx="2813050" cy="877888"/>
        </p:xfrm>
        <a:graphic>
          <a:graphicData uri="http://schemas.openxmlformats.org/presentationml/2006/ole">
            <mc:AlternateContent xmlns:mc="http://schemas.openxmlformats.org/markup-compatibility/2006">
              <mc:Choice xmlns:v="urn:schemas-microsoft-com:vml" Requires="v">
                <p:oleObj name="Equation" r:id="rId9" imgW="1511280" imgH="482400" progId="Equation.DSMT4">
                  <p:embed/>
                </p:oleObj>
              </mc:Choice>
              <mc:Fallback>
                <p:oleObj name="Equation" r:id="rId9" imgW="1511280" imgH="482400" progId="Equation.DSMT4">
                  <p:embed/>
                  <p:pic>
                    <p:nvPicPr>
                      <p:cNvPr id="14" name="对象 1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0"/>
                      <a:srcRect/>
                      <a:stretch>
                        <a:fillRect/>
                      </a:stretch>
                    </p:blipFill>
                    <p:spPr bwMode="auto">
                      <a:xfrm>
                        <a:off x="1674329" y="3680716"/>
                        <a:ext cx="2813050" cy="877888"/>
                      </a:xfrm>
                      <a:prstGeom prst="rect">
                        <a:avLst/>
                      </a:prstGeom>
                      <a:noFill/>
                    </p:spPr>
                  </p:pic>
                </p:oleObj>
              </mc:Fallback>
            </mc:AlternateContent>
          </a:graphicData>
        </a:graphic>
      </p:graphicFrame>
      <p:sp>
        <p:nvSpPr>
          <p:cNvPr id="6" name="右箭头 5"/>
          <p:cNvSpPr/>
          <p:nvPr/>
        </p:nvSpPr>
        <p:spPr>
          <a:xfrm>
            <a:off x="4167319" y="2939611"/>
            <a:ext cx="104851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对象 17">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031141740"/>
              </p:ext>
            </p:extLst>
          </p:nvPr>
        </p:nvGraphicFramePr>
        <p:xfrm>
          <a:off x="5888101" y="2816243"/>
          <a:ext cx="1608138" cy="461963"/>
        </p:xfrm>
        <a:graphic>
          <a:graphicData uri="http://schemas.openxmlformats.org/presentationml/2006/ole">
            <mc:AlternateContent xmlns:mc="http://schemas.openxmlformats.org/markup-compatibility/2006">
              <mc:Choice xmlns:v="urn:schemas-microsoft-com:vml" Requires="v">
                <p:oleObj name="Equation" r:id="rId11" imgW="863280" imgH="253800" progId="Equation.DSMT4">
                  <p:embed/>
                </p:oleObj>
              </mc:Choice>
              <mc:Fallback>
                <p:oleObj name="Equation" r:id="rId11" imgW="863280" imgH="253800" progId="Equation.DSMT4">
                  <p:embed/>
                  <p:pic>
                    <p:nvPicPr>
                      <p:cNvPr id="14" name="对象 13">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5888101" y="2816243"/>
                        <a:ext cx="1608138" cy="461963"/>
                      </a:xfrm>
                      <a:prstGeom prst="rect">
                        <a:avLst/>
                      </a:prstGeom>
                      <a:noFill/>
                    </p:spPr>
                  </p:pic>
                </p:oleObj>
              </mc:Fallback>
            </mc:AlternateContent>
          </a:graphicData>
        </a:graphic>
      </p:graphicFrame>
      <p:sp>
        <p:nvSpPr>
          <p:cNvPr id="19" name="右箭头 18"/>
          <p:cNvSpPr/>
          <p:nvPr/>
        </p:nvSpPr>
        <p:spPr>
          <a:xfrm>
            <a:off x="4600135" y="4027327"/>
            <a:ext cx="104851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1" name="对象 20">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742407222"/>
              </p:ext>
            </p:extLst>
          </p:nvPr>
        </p:nvGraphicFramePr>
        <p:xfrm>
          <a:off x="5903913" y="3762375"/>
          <a:ext cx="1560512" cy="715963"/>
        </p:xfrm>
        <a:graphic>
          <a:graphicData uri="http://schemas.openxmlformats.org/presentationml/2006/ole">
            <mc:AlternateContent xmlns:mc="http://schemas.openxmlformats.org/markup-compatibility/2006">
              <mc:Choice xmlns:v="urn:schemas-microsoft-com:vml" Requires="v">
                <p:oleObj name="Equation" r:id="rId13" imgW="838080" imgH="393480" progId="Equation.DSMT4">
                  <p:embed/>
                </p:oleObj>
              </mc:Choice>
              <mc:Fallback>
                <p:oleObj name="Equation" r:id="rId13" imgW="838080" imgH="393480" progId="Equation.DSMT4">
                  <p:embed/>
                  <p:pic>
                    <p:nvPicPr>
                      <p:cNvPr id="18" name="对象 17">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5903913" y="3762375"/>
                        <a:ext cx="1560512" cy="715963"/>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7E56E43C-2107-47ED-A78E-FA29EA22A516}"/>
              </a:ext>
            </a:extLst>
          </p:cNvPr>
          <p:cNvGraphicFramePr>
            <a:graphicFrameLocks noChangeAspect="1"/>
          </p:cNvGraphicFramePr>
          <p:nvPr>
            <p:extLst>
              <p:ext uri="{D42A27DB-BD31-4B8C-83A1-F6EECF244321}">
                <p14:modId xmlns:p14="http://schemas.microsoft.com/office/powerpoint/2010/main" val="3011567030"/>
              </p:ext>
            </p:extLst>
          </p:nvPr>
        </p:nvGraphicFramePr>
        <p:xfrm>
          <a:off x="1760220" y="5001155"/>
          <a:ext cx="312420" cy="227775"/>
        </p:xfrm>
        <a:graphic>
          <a:graphicData uri="http://schemas.openxmlformats.org/presentationml/2006/ole">
            <mc:AlternateContent xmlns:mc="http://schemas.openxmlformats.org/markup-compatibility/2006">
              <mc:Choice xmlns:v="urn:schemas-microsoft-com:vml" Requires="v">
                <p:oleObj name="Equation" r:id="rId15" imgW="139680" imgH="75960" progId="Equation.DSMT4">
                  <p:embed/>
                </p:oleObj>
              </mc:Choice>
              <mc:Fallback>
                <p:oleObj name="Equation" r:id="rId15" imgW="139680" imgH="75960" progId="Equation.DSMT4">
                  <p:embed/>
                  <p:pic>
                    <p:nvPicPr>
                      <p:cNvPr id="15" name="对象 1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1760220" y="5001155"/>
                        <a:ext cx="312420" cy="227775"/>
                      </a:xfrm>
                      <a:prstGeom prst="rect">
                        <a:avLst/>
                      </a:prstGeom>
                      <a:noFill/>
                    </p:spPr>
                  </p:pic>
                </p:oleObj>
              </mc:Fallback>
            </mc:AlternateContent>
          </a:graphicData>
        </a:graphic>
      </p:graphicFrame>
      <p:sp>
        <p:nvSpPr>
          <p:cNvPr id="23" name="文本框 22"/>
          <p:cNvSpPr txBox="1"/>
          <p:nvPr/>
        </p:nvSpPr>
        <p:spPr>
          <a:xfrm>
            <a:off x="960120" y="5276988"/>
            <a:ext cx="8545494" cy="369332"/>
          </a:xfrm>
          <a:prstGeom prst="rect">
            <a:avLst/>
          </a:prstGeom>
          <a:noFill/>
        </p:spPr>
        <p:txBody>
          <a:bodyPr wrap="square" rtlCol="0">
            <a:spAutoFit/>
          </a:bodyPr>
          <a:lstStyle/>
          <a:p>
            <a:r>
              <a:rPr lang="zh-CN" altLang="en-US" b="1" dirty="0">
                <a:solidFill>
                  <a:srgbClr val="C00000"/>
                </a:solidFill>
              </a:rPr>
              <a:t>能根据问题的需求联想初等函数的性质，并构造解析式</a:t>
            </a:r>
          </a:p>
        </p:txBody>
      </p:sp>
      <p:sp>
        <p:nvSpPr>
          <p:cNvPr id="24" name="右箭头 23"/>
          <p:cNvSpPr/>
          <p:nvPr/>
        </p:nvSpPr>
        <p:spPr>
          <a:xfrm>
            <a:off x="6653150" y="5369321"/>
            <a:ext cx="104851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818808" y="5276988"/>
            <a:ext cx="3885512" cy="369332"/>
          </a:xfrm>
          <a:prstGeom prst="rect">
            <a:avLst/>
          </a:prstGeom>
        </p:spPr>
        <p:txBody>
          <a:bodyPr wrap="square">
            <a:spAutoFit/>
          </a:bodyPr>
          <a:lstStyle/>
          <a:p>
            <a:r>
              <a:rPr lang="zh-CN" altLang="en-US" b="1" dirty="0">
                <a:solidFill>
                  <a:srgbClr val="C00000"/>
                </a:solidFill>
              </a:rPr>
              <a:t>应该去培养却没被培养的能力</a:t>
            </a:r>
          </a:p>
        </p:txBody>
      </p:sp>
    </p:spTree>
    <p:extLst>
      <p:ext uri="{BB962C8B-B14F-4D97-AF65-F5344CB8AC3E}">
        <p14:creationId xmlns:p14="http://schemas.microsoft.com/office/powerpoint/2010/main" val="959751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39</a:t>
            </a:fld>
            <a:endParaRPr lang="zh-CN" altLang="en-US"/>
          </a:p>
        </p:txBody>
      </p:sp>
      <p:grpSp>
        <p:nvGrpSpPr>
          <p:cNvPr id="8" name="组合 7"/>
          <p:cNvGrpSpPr/>
          <p:nvPr/>
        </p:nvGrpSpPr>
        <p:grpSpPr>
          <a:xfrm>
            <a:off x="7952154" y="577191"/>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60120" y="1571258"/>
          <a:ext cx="800100" cy="449262"/>
        </p:xfrm>
        <a:graphic>
          <a:graphicData uri="http://schemas.openxmlformats.org/presentationml/2006/ole">
            <mc:AlternateContent xmlns:mc="http://schemas.openxmlformats.org/markup-compatibility/2006">
              <mc:Choice xmlns:v="urn:schemas-microsoft-com:vml" Requires="v">
                <p:oleObj name="Equation" r:id="rId3" imgW="444240" imgH="253800" progId="Equation.DSMT4">
                  <p:embed/>
                </p:oleObj>
              </mc:Choice>
              <mc:Fallback>
                <p:oleObj name="Equation" r:id="rId3"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4"/>
                      <a:srcRect/>
                      <a:stretch>
                        <a:fillRect/>
                      </a:stretch>
                    </p:blipFill>
                    <p:spPr bwMode="auto">
                      <a:xfrm>
                        <a:off x="960120" y="1571258"/>
                        <a:ext cx="800100" cy="449262"/>
                      </a:xfrm>
                      <a:prstGeom prst="rect">
                        <a:avLst/>
                      </a:prstGeom>
                      <a:noFill/>
                    </p:spPr>
                  </p:pic>
                </p:oleObj>
              </mc:Fallback>
            </mc:AlternateContent>
          </a:graphicData>
        </a:graphic>
      </p:graphicFrame>
      <p:sp>
        <p:nvSpPr>
          <p:cNvPr id="5" name="矩形 4"/>
          <p:cNvSpPr/>
          <p:nvPr/>
        </p:nvSpPr>
        <p:spPr>
          <a:xfrm>
            <a:off x="1674329" y="1626071"/>
            <a:ext cx="2492990" cy="369332"/>
          </a:xfrm>
          <a:prstGeom prst="rect">
            <a:avLst/>
          </a:prstGeom>
        </p:spPr>
        <p:txBody>
          <a:bodyPr wrap="none">
            <a:spAutoFit/>
          </a:bodyPr>
          <a:lstStyle/>
          <a:p>
            <a:r>
              <a:rPr lang="zh-CN" altLang="en-US" b="1" dirty="0"/>
              <a:t>：模型预测的得病概率</a:t>
            </a:r>
            <a:endParaRPr lang="zh-CN" altLang="en-US" dirty="0"/>
          </a:p>
        </p:txBody>
      </p:sp>
      <p:sp>
        <p:nvSpPr>
          <p:cNvPr id="40" name="文本框 39">
            <a:extLst>
              <a:ext uri="{FF2B5EF4-FFF2-40B4-BE49-F238E27FC236}">
                <a16:creationId xmlns:a16="http://schemas.microsoft.com/office/drawing/2014/main" id="{70297C91-AFB3-4754-9D77-C7A0B3193931}"/>
              </a:ext>
            </a:extLst>
          </p:cNvPr>
          <p:cNvSpPr txBox="1"/>
          <p:nvPr/>
        </p:nvSpPr>
        <p:spPr>
          <a:xfrm>
            <a:off x="911473" y="2154533"/>
            <a:ext cx="3944714" cy="369332"/>
          </a:xfrm>
          <a:prstGeom prst="rect">
            <a:avLst/>
          </a:prstGeom>
          <a:noFill/>
        </p:spPr>
        <p:txBody>
          <a:bodyPr wrap="square">
            <a:spAutoFit/>
          </a:bodyPr>
          <a:lstStyle/>
          <a:p>
            <a:r>
              <a:rPr lang="zh-CN" altLang="en-US" b="1" dirty="0"/>
              <a:t>综上所述，对任何一类样本</a:t>
            </a:r>
            <a:r>
              <a:rPr lang="zh-CN" altLang="en-US" b="1" dirty="0">
                <a:solidFill>
                  <a:srgbClr val="C00000"/>
                </a:solidFill>
              </a:rPr>
              <a:t>都是</a:t>
            </a:r>
            <a:endParaRPr lang="zh-CN" altLang="en-US" sz="1100" b="1" dirty="0">
              <a:solidFill>
                <a:srgbClr val="C00000"/>
              </a:solidFill>
            </a:endParaRPr>
          </a:p>
        </p:txBody>
      </p:sp>
      <p:graphicFrame>
        <p:nvGraphicFramePr>
          <p:cNvPr id="45" name="对象 4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318937" y="2047892"/>
          <a:ext cx="3382725" cy="601775"/>
        </p:xfrm>
        <a:graphic>
          <a:graphicData uri="http://schemas.openxmlformats.org/presentationml/2006/ole">
            <mc:AlternateContent xmlns:mc="http://schemas.openxmlformats.org/markup-compatibility/2006">
              <mc:Choice xmlns:v="urn:schemas-microsoft-com:vml" Requires="v">
                <p:oleObj name="Equation" r:id="rId5" imgW="1815840" imgH="330120" progId="Equation.DSMT4">
                  <p:embed/>
                </p:oleObj>
              </mc:Choice>
              <mc:Fallback>
                <p:oleObj name="Equation" r:id="rId5" imgW="1815840" imgH="330120" progId="Equation.DSMT4">
                  <p:embed/>
                  <p:pic>
                    <p:nvPicPr>
                      <p:cNvPr id="45" name="对象 44">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4318937" y="2047892"/>
                        <a:ext cx="3382725" cy="601775"/>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EEABB904-9AD6-41E0-AAE3-6AF2A9716949}"/>
              </a:ext>
            </a:extLst>
          </p:cNvPr>
          <p:cNvGraphicFramePr>
            <a:graphicFrameLocks noChangeAspect="1"/>
          </p:cNvGraphicFramePr>
          <p:nvPr>
            <p:extLst>
              <p:ext uri="{D42A27DB-BD31-4B8C-83A1-F6EECF244321}">
                <p14:modId xmlns:p14="http://schemas.microsoft.com/office/powerpoint/2010/main" val="2662029371"/>
              </p:ext>
            </p:extLst>
          </p:nvPr>
        </p:nvGraphicFramePr>
        <p:xfrm>
          <a:off x="4163557" y="2783680"/>
          <a:ext cx="2292350" cy="769938"/>
        </p:xfrm>
        <a:graphic>
          <a:graphicData uri="http://schemas.openxmlformats.org/presentationml/2006/ole">
            <mc:AlternateContent xmlns:mc="http://schemas.openxmlformats.org/markup-compatibility/2006">
              <mc:Choice xmlns:v="urn:schemas-microsoft-com:vml" Requires="v">
                <p:oleObj name="Equation" r:id="rId7" imgW="1193760" imgH="406080" progId="Equation.DSMT4">
                  <p:embed/>
                </p:oleObj>
              </mc:Choice>
              <mc:Fallback>
                <p:oleObj name="Equation" r:id="rId7" imgW="1193760" imgH="406080" progId="Equation.DSMT4">
                  <p:embed/>
                  <p:pic>
                    <p:nvPicPr>
                      <p:cNvPr id="11" name="对象 10">
                        <a:extLst>
                          <a:ext uri="{FF2B5EF4-FFF2-40B4-BE49-F238E27FC236}">
                            <a16:creationId xmlns:a16="http://schemas.microsoft.com/office/drawing/2014/main" id="{EEABB904-9AD6-41E0-AAE3-6AF2A9716949}"/>
                          </a:ext>
                        </a:extLst>
                      </p:cNvPr>
                      <p:cNvPicPr>
                        <a:picLocks noChangeAspect="1" noChangeArrowheads="1"/>
                      </p:cNvPicPr>
                      <p:nvPr/>
                    </p:nvPicPr>
                    <p:blipFill>
                      <a:blip r:embed="rId8"/>
                      <a:srcRect/>
                      <a:stretch>
                        <a:fillRect/>
                      </a:stretch>
                    </p:blipFill>
                    <p:spPr bwMode="auto">
                      <a:xfrm>
                        <a:off x="4163557" y="2783680"/>
                        <a:ext cx="2292350" cy="769938"/>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3381609222"/>
              </p:ext>
            </p:extLst>
          </p:nvPr>
        </p:nvGraphicFramePr>
        <p:xfrm>
          <a:off x="3901848" y="3832649"/>
          <a:ext cx="4359055" cy="555774"/>
        </p:xfrm>
        <a:graphic>
          <a:graphicData uri="http://schemas.openxmlformats.org/presentationml/2006/ole">
            <mc:AlternateContent xmlns:mc="http://schemas.openxmlformats.org/markup-compatibility/2006">
              <mc:Choice xmlns:v="urn:schemas-microsoft-com:vml" Requires="v">
                <p:oleObj name="Equation" r:id="rId9" imgW="2260440" imgH="291960" progId="Equation.DSMT4">
                  <p:embed/>
                </p:oleObj>
              </mc:Choice>
              <mc:Fallback>
                <p:oleObj name="Equation" r:id="rId9" imgW="2260440" imgH="291960" progId="Equation.DSMT4">
                  <p:embed/>
                  <p:pic>
                    <p:nvPicPr>
                      <p:cNvPr id="10" name="对象 9">
                        <a:extLst>
                          <a:ext uri="{FF2B5EF4-FFF2-40B4-BE49-F238E27FC236}">
                            <a16:creationId xmlns:a16="http://schemas.microsoft.com/office/drawing/2014/main" id="{2C6D31BB-94EA-4C74-8F99-C32B82F85EF2}"/>
                          </a:ext>
                        </a:extLst>
                      </p:cNvPr>
                      <p:cNvPicPr>
                        <a:picLocks noChangeAspect="1" noChangeArrowheads="1"/>
                      </p:cNvPicPr>
                      <p:nvPr/>
                    </p:nvPicPr>
                    <p:blipFill>
                      <a:blip r:embed="rId10"/>
                      <a:srcRect/>
                      <a:stretch>
                        <a:fillRect/>
                      </a:stretch>
                    </p:blipFill>
                    <p:spPr bwMode="auto">
                      <a:xfrm>
                        <a:off x="3901848" y="3832649"/>
                        <a:ext cx="4359055" cy="555774"/>
                      </a:xfrm>
                      <a:prstGeom prst="rect">
                        <a:avLst/>
                      </a:prstGeom>
                      <a:noFill/>
                    </p:spPr>
                  </p:pic>
                </p:oleObj>
              </mc:Fallback>
            </mc:AlternateContent>
          </a:graphicData>
        </a:graphic>
      </p:graphicFrame>
      <p:sp>
        <p:nvSpPr>
          <p:cNvPr id="15" name="文本框 14"/>
          <p:cNvSpPr txBox="1"/>
          <p:nvPr/>
        </p:nvSpPr>
        <p:spPr>
          <a:xfrm>
            <a:off x="838200" y="3925870"/>
            <a:ext cx="3063648" cy="369332"/>
          </a:xfrm>
          <a:prstGeom prst="rect">
            <a:avLst/>
          </a:prstGeom>
          <a:noFill/>
        </p:spPr>
        <p:txBody>
          <a:bodyPr wrap="square" rtlCol="0">
            <a:spAutoFit/>
          </a:bodyPr>
          <a:lstStyle/>
          <a:p>
            <a:r>
              <a:rPr lang="zh-CN" altLang="en-US" b="1" dirty="0"/>
              <a:t>相应的</a:t>
            </a:r>
            <a:r>
              <a:rPr lang="zh-CN" altLang="en-US" b="1" dirty="0">
                <a:solidFill>
                  <a:srgbClr val="C00000"/>
                </a:solidFill>
              </a:rPr>
              <a:t>损失函数</a:t>
            </a:r>
            <a:r>
              <a:rPr lang="zh-CN" altLang="en-US" b="1" dirty="0"/>
              <a:t>可以定义为：</a:t>
            </a:r>
          </a:p>
        </p:txBody>
      </p:sp>
      <p:sp>
        <p:nvSpPr>
          <p:cNvPr id="16" name="矩形 15"/>
          <p:cNvSpPr/>
          <p:nvPr/>
        </p:nvSpPr>
        <p:spPr>
          <a:xfrm>
            <a:off x="853847" y="4631092"/>
            <a:ext cx="8911771" cy="646331"/>
          </a:xfrm>
          <a:prstGeom prst="rect">
            <a:avLst/>
          </a:prstGeom>
        </p:spPr>
        <p:txBody>
          <a:bodyPr wrap="square">
            <a:spAutoFit/>
          </a:bodyPr>
          <a:lstStyle/>
          <a:p>
            <a:r>
              <a:rPr lang="zh-CN" altLang="en-US" b="1" dirty="0"/>
              <a:t>在统计学上，这种从概率角度理解的决策函数，让模型预测正确的概率越大越好的方式定义损失函数的方式，叫作</a:t>
            </a:r>
            <a:r>
              <a:rPr lang="zh-CN" altLang="en-US" b="1" dirty="0">
                <a:solidFill>
                  <a:srgbClr val="C00000"/>
                </a:solidFill>
              </a:rPr>
              <a:t>最大似然估计 </a:t>
            </a:r>
            <a:r>
              <a:rPr lang="en-US" altLang="zh-CN" b="1" dirty="0">
                <a:solidFill>
                  <a:srgbClr val="C00000"/>
                </a:solidFill>
              </a:rPr>
              <a:t>Maximum Likelihood Estimation </a:t>
            </a:r>
            <a:r>
              <a:rPr lang="zh-CN" altLang="en-US" b="1" dirty="0">
                <a:solidFill>
                  <a:srgbClr val="C00000"/>
                </a:solidFill>
              </a:rPr>
              <a:t>（</a:t>
            </a:r>
            <a:r>
              <a:rPr lang="en-US" altLang="zh-CN" b="1" dirty="0" err="1">
                <a:solidFill>
                  <a:srgbClr val="C00000"/>
                </a:solidFill>
              </a:rPr>
              <a:t>MLE</a:t>
            </a:r>
            <a:r>
              <a:rPr lang="zh-CN" altLang="en-US" b="1" dirty="0">
                <a:solidFill>
                  <a:srgbClr val="C00000"/>
                </a:solidFill>
              </a:rPr>
              <a:t>）</a:t>
            </a:r>
            <a:endParaRPr lang="zh-CN" altLang="en-US" dirty="0">
              <a:solidFill>
                <a:srgbClr val="C00000"/>
              </a:solidFill>
            </a:endParaRPr>
          </a:p>
        </p:txBody>
      </p:sp>
      <p:sp>
        <p:nvSpPr>
          <p:cNvPr id="17" name="文本框 16"/>
          <p:cNvSpPr txBox="1"/>
          <p:nvPr/>
        </p:nvSpPr>
        <p:spPr>
          <a:xfrm>
            <a:off x="853847" y="2983983"/>
            <a:ext cx="3063648" cy="369332"/>
          </a:xfrm>
          <a:prstGeom prst="rect">
            <a:avLst/>
          </a:prstGeom>
          <a:noFill/>
        </p:spPr>
        <p:txBody>
          <a:bodyPr wrap="square" rtlCol="0">
            <a:spAutoFit/>
          </a:bodyPr>
          <a:lstStyle/>
          <a:p>
            <a:r>
              <a:rPr lang="zh-CN" altLang="en-US" b="1" dirty="0"/>
              <a:t>从概率的角度理解</a:t>
            </a:r>
            <a:r>
              <a:rPr lang="zh-CN" altLang="en-US" b="1" dirty="0">
                <a:solidFill>
                  <a:srgbClr val="C00000"/>
                </a:solidFill>
              </a:rPr>
              <a:t>决策函数</a:t>
            </a:r>
            <a:r>
              <a:rPr lang="zh-CN" altLang="en-US" b="1" dirty="0"/>
              <a:t>：</a:t>
            </a:r>
          </a:p>
        </p:txBody>
      </p:sp>
    </p:spTree>
    <p:extLst>
      <p:ext uri="{BB962C8B-B14F-4D97-AF65-F5344CB8AC3E}">
        <p14:creationId xmlns:p14="http://schemas.microsoft.com/office/powerpoint/2010/main" val="30602032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40</a:t>
            </a:fld>
            <a:endParaRPr lang="zh-CN" altLang="en-US"/>
          </a:p>
        </p:txBody>
      </p:sp>
      <p:sp>
        <p:nvSpPr>
          <p:cNvPr id="18" name="矩形 17"/>
          <p:cNvSpPr/>
          <p:nvPr/>
        </p:nvSpPr>
        <p:spPr>
          <a:xfrm>
            <a:off x="841083" y="2009774"/>
            <a:ext cx="3747679" cy="369332"/>
          </a:xfrm>
          <a:prstGeom prst="rect">
            <a:avLst/>
          </a:prstGeom>
        </p:spPr>
        <p:txBody>
          <a:bodyPr wrap="square">
            <a:spAutoFit/>
          </a:bodyPr>
          <a:lstStyle/>
          <a:p>
            <a:r>
              <a:rPr lang="zh-CN" altLang="en-US" b="1" dirty="0"/>
              <a:t>① 决策函数 </a:t>
            </a:r>
            <a:r>
              <a:rPr lang="en-US" altLang="zh-CN" b="1" dirty="0"/>
              <a:t>Decision Function</a:t>
            </a:r>
            <a:endParaRPr lang="zh-CN" altLang="en-US" dirty="0"/>
          </a:p>
        </p:txBody>
      </p:sp>
      <p:sp>
        <p:nvSpPr>
          <p:cNvPr id="19" name="矩形 18"/>
          <p:cNvSpPr/>
          <p:nvPr/>
        </p:nvSpPr>
        <p:spPr>
          <a:xfrm>
            <a:off x="838200" y="2779391"/>
            <a:ext cx="3747679" cy="369332"/>
          </a:xfrm>
          <a:prstGeom prst="rect">
            <a:avLst/>
          </a:prstGeom>
        </p:spPr>
        <p:txBody>
          <a:bodyPr wrap="square">
            <a:spAutoFit/>
          </a:bodyPr>
          <a:lstStyle/>
          <a:p>
            <a:r>
              <a:rPr lang="zh-CN" altLang="en-US" b="1" dirty="0"/>
              <a:t>② 损失函数 </a:t>
            </a:r>
            <a:r>
              <a:rPr lang="en-US" altLang="zh-CN" b="1" dirty="0"/>
              <a:t>Loss Function</a:t>
            </a:r>
            <a:endParaRPr lang="zh-CN" altLang="en-US" dirty="0"/>
          </a:p>
        </p:txBody>
      </p:sp>
      <p:sp>
        <p:nvSpPr>
          <p:cNvPr id="21" name="矩形 20"/>
          <p:cNvSpPr/>
          <p:nvPr/>
        </p:nvSpPr>
        <p:spPr>
          <a:xfrm>
            <a:off x="841083" y="1506022"/>
            <a:ext cx="5724644" cy="369332"/>
          </a:xfrm>
          <a:prstGeom prst="rect">
            <a:avLst/>
          </a:prstGeom>
        </p:spPr>
        <p:txBody>
          <a:bodyPr wrap="none">
            <a:spAutoFit/>
          </a:bodyPr>
          <a:lstStyle/>
          <a:p>
            <a:r>
              <a:rPr lang="zh-CN" altLang="en-US" b="1" dirty="0">
                <a:solidFill>
                  <a:srgbClr val="C00000"/>
                </a:solidFill>
              </a:rPr>
              <a:t>如果按照标准机器学习流程，我们确定了以下几件事：</a:t>
            </a:r>
            <a:endParaRPr lang="zh-CN" altLang="en-US" dirty="0">
              <a:solidFill>
                <a:srgbClr val="C00000"/>
              </a:solidFill>
            </a:endParaRPr>
          </a:p>
        </p:txBody>
      </p:sp>
      <p:graphicFrame>
        <p:nvGraphicFramePr>
          <p:cNvPr id="22" name="对象 21">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1951295518"/>
              </p:ext>
            </p:extLst>
          </p:nvPr>
        </p:nvGraphicFramePr>
        <p:xfrm>
          <a:off x="4164966" y="1809690"/>
          <a:ext cx="2419376" cy="787269"/>
        </p:xfrm>
        <a:graphic>
          <a:graphicData uri="http://schemas.openxmlformats.org/presentationml/2006/ole">
            <mc:AlternateContent xmlns:mc="http://schemas.openxmlformats.org/markup-compatibility/2006">
              <mc:Choice xmlns:v="urn:schemas-microsoft-com:vml" Requires="v">
                <p:oleObj name="Equation" r:id="rId2" imgW="1231560" imgH="406080" progId="Equation.DSMT4">
                  <p:embed/>
                </p:oleObj>
              </mc:Choice>
              <mc:Fallback>
                <p:oleObj name="Equation" r:id="rId2" imgW="1231560" imgH="406080" progId="Equation.DSMT4">
                  <p:embed/>
                  <p:pic>
                    <p:nvPicPr>
                      <p:cNvPr id="10" name="对象 9">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4164966" y="1809690"/>
                        <a:ext cx="2419376" cy="787269"/>
                      </a:xfrm>
                      <a:prstGeom prst="rect">
                        <a:avLst/>
                      </a:prstGeom>
                      <a:noFill/>
                    </p:spPr>
                  </p:pic>
                </p:oleObj>
              </mc:Fallback>
            </mc:AlternateContent>
          </a:graphicData>
        </a:graphic>
      </p:graphicFrame>
      <p:graphicFrame>
        <p:nvGraphicFramePr>
          <p:cNvPr id="23" name="对象 22">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943000969"/>
              </p:ext>
            </p:extLst>
          </p:nvPr>
        </p:nvGraphicFramePr>
        <p:xfrm>
          <a:off x="3703405" y="2686170"/>
          <a:ext cx="4359055" cy="555774"/>
        </p:xfrm>
        <a:graphic>
          <a:graphicData uri="http://schemas.openxmlformats.org/presentationml/2006/ole">
            <mc:AlternateContent xmlns:mc="http://schemas.openxmlformats.org/markup-compatibility/2006">
              <mc:Choice xmlns:v="urn:schemas-microsoft-com:vml" Requires="v">
                <p:oleObj name="Equation" r:id="rId4" imgW="2260440" imgH="291960" progId="Equation.DSMT4">
                  <p:embed/>
                </p:oleObj>
              </mc:Choice>
              <mc:Fallback>
                <p:oleObj name="Equation" r:id="rId4" imgW="2260440" imgH="291960" progId="Equation.DSMT4">
                  <p:embed/>
                  <p:pic>
                    <p:nvPicPr>
                      <p:cNvPr id="11" name="对象 10">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3703405" y="2686170"/>
                        <a:ext cx="4359055" cy="555774"/>
                      </a:xfrm>
                      <a:prstGeom prst="rect">
                        <a:avLst/>
                      </a:prstGeom>
                      <a:noFill/>
                    </p:spPr>
                  </p:pic>
                </p:oleObj>
              </mc:Fallback>
            </mc:AlternateContent>
          </a:graphicData>
        </a:graphic>
      </p:graphicFrame>
      <p:sp>
        <p:nvSpPr>
          <p:cNvPr id="24" name="矩形 23"/>
          <p:cNvSpPr/>
          <p:nvPr/>
        </p:nvSpPr>
        <p:spPr>
          <a:xfrm>
            <a:off x="838200" y="3475164"/>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5" name="对象 24">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1713911303"/>
              </p:ext>
            </p:extLst>
          </p:nvPr>
        </p:nvGraphicFramePr>
        <p:xfrm>
          <a:off x="2887662" y="3303196"/>
          <a:ext cx="6416675" cy="723900"/>
        </p:xfrm>
        <a:graphic>
          <a:graphicData uri="http://schemas.openxmlformats.org/presentationml/2006/ole">
            <mc:AlternateContent xmlns:mc="http://schemas.openxmlformats.org/markup-compatibility/2006">
              <mc:Choice xmlns:v="urn:schemas-microsoft-com:vml" Requires="v">
                <p:oleObj name="Equation" r:id="rId6" imgW="3327120" imgH="380880" progId="Equation.DSMT4">
                  <p:embed/>
                </p:oleObj>
              </mc:Choice>
              <mc:Fallback>
                <p:oleObj name="Equation" r:id="rId6" imgW="3327120" imgH="380880" progId="Equation.DSMT4">
                  <p:embed/>
                  <p:pic>
                    <p:nvPicPr>
                      <p:cNvPr id="9" name="对象 8">
                        <a:extLst>
                          <a:ext uri="{FF2B5EF4-FFF2-40B4-BE49-F238E27FC236}">
                            <a16:creationId xmlns:a16="http://schemas.microsoft.com/office/drawing/2014/main" id="{2C6D31BB-94EA-4C74-8F99-C32B82F85EF2}"/>
                          </a:ext>
                        </a:extLst>
                      </p:cNvPr>
                      <p:cNvPicPr>
                        <a:picLocks noChangeAspect="1" noChangeArrowheads="1"/>
                      </p:cNvPicPr>
                      <p:nvPr/>
                    </p:nvPicPr>
                    <p:blipFill>
                      <a:blip r:embed="rId7"/>
                      <a:srcRect/>
                      <a:stretch>
                        <a:fillRect/>
                      </a:stretch>
                    </p:blipFill>
                    <p:spPr bwMode="auto">
                      <a:xfrm>
                        <a:off x="2887662" y="3303196"/>
                        <a:ext cx="6416675" cy="723900"/>
                      </a:xfrm>
                      <a:prstGeom prst="rect">
                        <a:avLst/>
                      </a:prstGeom>
                      <a:noFill/>
                    </p:spPr>
                  </p:pic>
                </p:oleObj>
              </mc:Fallback>
            </mc:AlternateContent>
          </a:graphicData>
        </a:graphic>
      </p:graphicFrame>
      <p:sp>
        <p:nvSpPr>
          <p:cNvPr id="6" name="文本框 5"/>
          <p:cNvSpPr txBox="1"/>
          <p:nvPr/>
        </p:nvSpPr>
        <p:spPr>
          <a:xfrm>
            <a:off x="5374654" y="4088348"/>
            <a:ext cx="3929683" cy="369332"/>
          </a:xfrm>
          <a:prstGeom prst="rect">
            <a:avLst/>
          </a:prstGeom>
          <a:noFill/>
        </p:spPr>
        <p:txBody>
          <a:bodyPr wrap="square" rtlCol="0">
            <a:spAutoFit/>
          </a:bodyPr>
          <a:lstStyle/>
          <a:p>
            <a:r>
              <a:rPr lang="zh-CN" altLang="en-US" b="1" dirty="0"/>
              <a:t>所有样本的损失函数的</a:t>
            </a:r>
            <a:r>
              <a:rPr lang="zh-CN" altLang="en-US" b="1" dirty="0">
                <a:solidFill>
                  <a:srgbClr val="C00000"/>
                </a:solidFill>
              </a:rPr>
              <a:t>乘积</a:t>
            </a:r>
            <a:r>
              <a:rPr lang="zh-CN" altLang="en-US" b="1" dirty="0"/>
              <a:t>越大越好</a:t>
            </a:r>
          </a:p>
        </p:txBody>
      </p:sp>
    </p:spTree>
    <p:extLst>
      <p:ext uri="{BB962C8B-B14F-4D97-AF65-F5344CB8AC3E}">
        <p14:creationId xmlns:p14="http://schemas.microsoft.com/office/powerpoint/2010/main" val="1504810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41</a:t>
            </a:fld>
            <a:endParaRPr lang="zh-CN" altLang="en-US"/>
          </a:p>
        </p:txBody>
      </p:sp>
      <p:sp>
        <p:nvSpPr>
          <p:cNvPr id="18" name="矩形 17"/>
          <p:cNvSpPr/>
          <p:nvPr/>
        </p:nvSpPr>
        <p:spPr>
          <a:xfrm>
            <a:off x="841083" y="2009774"/>
            <a:ext cx="3747679" cy="369332"/>
          </a:xfrm>
          <a:prstGeom prst="rect">
            <a:avLst/>
          </a:prstGeom>
        </p:spPr>
        <p:txBody>
          <a:bodyPr wrap="square">
            <a:spAutoFit/>
          </a:bodyPr>
          <a:lstStyle/>
          <a:p>
            <a:r>
              <a:rPr lang="zh-CN" altLang="en-US" b="1" dirty="0"/>
              <a:t>① 决策函数 </a:t>
            </a:r>
            <a:r>
              <a:rPr lang="en-US" altLang="zh-CN" b="1" dirty="0"/>
              <a:t>Decision Function</a:t>
            </a:r>
            <a:endParaRPr lang="zh-CN" altLang="en-US" dirty="0"/>
          </a:p>
        </p:txBody>
      </p:sp>
      <p:sp>
        <p:nvSpPr>
          <p:cNvPr id="19" name="矩形 18"/>
          <p:cNvSpPr/>
          <p:nvPr/>
        </p:nvSpPr>
        <p:spPr>
          <a:xfrm>
            <a:off x="838200" y="2779391"/>
            <a:ext cx="3747679" cy="369332"/>
          </a:xfrm>
          <a:prstGeom prst="rect">
            <a:avLst/>
          </a:prstGeom>
        </p:spPr>
        <p:txBody>
          <a:bodyPr wrap="square">
            <a:spAutoFit/>
          </a:bodyPr>
          <a:lstStyle/>
          <a:p>
            <a:r>
              <a:rPr lang="zh-CN" altLang="en-US" b="1" dirty="0"/>
              <a:t>② 损失函数 </a:t>
            </a:r>
            <a:r>
              <a:rPr lang="en-US" altLang="zh-CN" b="1" dirty="0"/>
              <a:t>Loss Function</a:t>
            </a:r>
            <a:endParaRPr lang="zh-CN" altLang="en-US" dirty="0"/>
          </a:p>
        </p:txBody>
      </p:sp>
      <p:sp>
        <p:nvSpPr>
          <p:cNvPr id="21" name="矩形 20"/>
          <p:cNvSpPr/>
          <p:nvPr/>
        </p:nvSpPr>
        <p:spPr>
          <a:xfrm>
            <a:off x="841083" y="1506022"/>
            <a:ext cx="5724644" cy="369332"/>
          </a:xfrm>
          <a:prstGeom prst="rect">
            <a:avLst/>
          </a:prstGeom>
        </p:spPr>
        <p:txBody>
          <a:bodyPr wrap="none">
            <a:spAutoFit/>
          </a:bodyPr>
          <a:lstStyle/>
          <a:p>
            <a:r>
              <a:rPr lang="zh-CN" altLang="en-US" b="1" dirty="0">
                <a:solidFill>
                  <a:srgbClr val="C00000"/>
                </a:solidFill>
              </a:rPr>
              <a:t>如果按照标准机器学习流程，我们确定了以下几件事：</a:t>
            </a:r>
            <a:endParaRPr lang="zh-CN" altLang="en-US" dirty="0">
              <a:solidFill>
                <a:srgbClr val="C00000"/>
              </a:solidFill>
            </a:endParaRPr>
          </a:p>
        </p:txBody>
      </p:sp>
      <p:graphicFrame>
        <p:nvGraphicFramePr>
          <p:cNvPr id="22" name="对象 21">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4164966" y="1809690"/>
          <a:ext cx="2419376" cy="787269"/>
        </p:xfrm>
        <a:graphic>
          <a:graphicData uri="http://schemas.openxmlformats.org/presentationml/2006/ole">
            <mc:AlternateContent xmlns:mc="http://schemas.openxmlformats.org/markup-compatibility/2006">
              <mc:Choice xmlns:v="urn:schemas-microsoft-com:vml" Requires="v">
                <p:oleObj name="Equation" r:id="rId2" imgW="1231560" imgH="406080" progId="Equation.DSMT4">
                  <p:embed/>
                </p:oleObj>
              </mc:Choice>
              <mc:Fallback>
                <p:oleObj name="Equation" r:id="rId2" imgW="1231560" imgH="406080" progId="Equation.DSMT4">
                  <p:embed/>
                  <p:pic>
                    <p:nvPicPr>
                      <p:cNvPr id="22" name="对象 21">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4164966" y="1809690"/>
                        <a:ext cx="2419376" cy="787269"/>
                      </a:xfrm>
                      <a:prstGeom prst="rect">
                        <a:avLst/>
                      </a:prstGeom>
                      <a:noFill/>
                    </p:spPr>
                  </p:pic>
                </p:oleObj>
              </mc:Fallback>
            </mc:AlternateContent>
          </a:graphicData>
        </a:graphic>
      </p:graphicFrame>
      <p:graphicFrame>
        <p:nvGraphicFramePr>
          <p:cNvPr id="23" name="对象 22">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3703405" y="2686170"/>
          <a:ext cx="4359055" cy="555774"/>
        </p:xfrm>
        <a:graphic>
          <a:graphicData uri="http://schemas.openxmlformats.org/presentationml/2006/ole">
            <mc:AlternateContent xmlns:mc="http://schemas.openxmlformats.org/markup-compatibility/2006">
              <mc:Choice xmlns:v="urn:schemas-microsoft-com:vml" Requires="v">
                <p:oleObj name="Equation" r:id="rId4" imgW="2260440" imgH="291960" progId="Equation.DSMT4">
                  <p:embed/>
                </p:oleObj>
              </mc:Choice>
              <mc:Fallback>
                <p:oleObj name="Equation" r:id="rId4" imgW="2260440" imgH="291960" progId="Equation.DSMT4">
                  <p:embed/>
                  <p:pic>
                    <p:nvPicPr>
                      <p:cNvPr id="23" name="对象 22">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3703405" y="2686170"/>
                        <a:ext cx="4359055" cy="555774"/>
                      </a:xfrm>
                      <a:prstGeom prst="rect">
                        <a:avLst/>
                      </a:prstGeom>
                      <a:noFill/>
                    </p:spPr>
                  </p:pic>
                </p:oleObj>
              </mc:Fallback>
            </mc:AlternateContent>
          </a:graphicData>
        </a:graphic>
      </p:graphicFrame>
      <p:sp>
        <p:nvSpPr>
          <p:cNvPr id="24" name="矩形 23"/>
          <p:cNvSpPr/>
          <p:nvPr/>
        </p:nvSpPr>
        <p:spPr>
          <a:xfrm>
            <a:off x="838200" y="3475164"/>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5" name="对象 24">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2887662" y="3303196"/>
          <a:ext cx="6416675" cy="723900"/>
        </p:xfrm>
        <a:graphic>
          <a:graphicData uri="http://schemas.openxmlformats.org/presentationml/2006/ole">
            <mc:AlternateContent xmlns:mc="http://schemas.openxmlformats.org/markup-compatibility/2006">
              <mc:Choice xmlns:v="urn:schemas-microsoft-com:vml" Requires="v">
                <p:oleObj name="Equation" r:id="rId6" imgW="3327120" imgH="380880" progId="Equation.DSMT4">
                  <p:embed/>
                </p:oleObj>
              </mc:Choice>
              <mc:Fallback>
                <p:oleObj name="Equation" r:id="rId6" imgW="3327120" imgH="380880" progId="Equation.DSMT4">
                  <p:embed/>
                  <p:pic>
                    <p:nvPicPr>
                      <p:cNvPr id="25" name="对象 24">
                        <a:extLst>
                          <a:ext uri="{FF2B5EF4-FFF2-40B4-BE49-F238E27FC236}">
                            <a16:creationId xmlns:a16="http://schemas.microsoft.com/office/drawing/2014/main" id="{2C6D31BB-94EA-4C74-8F99-C32B82F85EF2}"/>
                          </a:ext>
                        </a:extLst>
                      </p:cNvPr>
                      <p:cNvPicPr>
                        <a:picLocks noChangeAspect="1" noChangeArrowheads="1"/>
                      </p:cNvPicPr>
                      <p:nvPr/>
                    </p:nvPicPr>
                    <p:blipFill>
                      <a:blip r:embed="rId7"/>
                      <a:srcRect/>
                      <a:stretch>
                        <a:fillRect/>
                      </a:stretch>
                    </p:blipFill>
                    <p:spPr bwMode="auto">
                      <a:xfrm>
                        <a:off x="2887662" y="3303196"/>
                        <a:ext cx="6416675" cy="723900"/>
                      </a:xfrm>
                      <a:prstGeom prst="rect">
                        <a:avLst/>
                      </a:prstGeom>
                      <a:noFill/>
                    </p:spPr>
                  </p:pic>
                </p:oleObj>
              </mc:Fallback>
            </mc:AlternateContent>
          </a:graphicData>
        </a:graphic>
      </p:graphicFrame>
      <p:sp>
        <p:nvSpPr>
          <p:cNvPr id="6" name="文本框 5"/>
          <p:cNvSpPr txBox="1"/>
          <p:nvPr/>
        </p:nvSpPr>
        <p:spPr>
          <a:xfrm>
            <a:off x="5374654" y="4088348"/>
            <a:ext cx="3929683" cy="369332"/>
          </a:xfrm>
          <a:prstGeom prst="rect">
            <a:avLst/>
          </a:prstGeom>
          <a:noFill/>
        </p:spPr>
        <p:txBody>
          <a:bodyPr wrap="square" rtlCol="0">
            <a:spAutoFit/>
          </a:bodyPr>
          <a:lstStyle/>
          <a:p>
            <a:r>
              <a:rPr lang="zh-CN" altLang="en-US" b="1" dirty="0"/>
              <a:t>所有样本的损失函数的</a:t>
            </a:r>
            <a:r>
              <a:rPr lang="zh-CN" altLang="en-US" b="1" dirty="0">
                <a:solidFill>
                  <a:srgbClr val="C00000"/>
                </a:solidFill>
              </a:rPr>
              <a:t>乘积</a:t>
            </a:r>
            <a:r>
              <a:rPr lang="zh-CN" altLang="en-US" b="1" dirty="0"/>
              <a:t>越大越好</a:t>
            </a:r>
          </a:p>
        </p:txBody>
      </p:sp>
      <p:sp>
        <p:nvSpPr>
          <p:cNvPr id="12" name="矩形 11"/>
          <p:cNvSpPr/>
          <p:nvPr/>
        </p:nvSpPr>
        <p:spPr>
          <a:xfrm>
            <a:off x="965416" y="4401950"/>
            <a:ext cx="10261166" cy="1477328"/>
          </a:xfrm>
          <a:prstGeom prst="rect">
            <a:avLst/>
          </a:prstGeom>
        </p:spPr>
        <p:txBody>
          <a:bodyPr wrap="square">
            <a:spAutoFit/>
          </a:bodyPr>
          <a:lstStyle/>
          <a:p>
            <a:r>
              <a:rPr lang="zh-CN" altLang="en-US" b="1" dirty="0">
                <a:solidFill>
                  <a:srgbClr val="C00000"/>
                </a:solidFill>
              </a:rPr>
              <a:t>存在的问题</a:t>
            </a:r>
            <a:r>
              <a:rPr lang="zh-CN" altLang="en-US" b="1" dirty="0"/>
              <a:t>：</a:t>
            </a:r>
            <a:endParaRPr lang="en-US" altLang="zh-CN" b="1" dirty="0"/>
          </a:p>
          <a:p>
            <a:r>
              <a:rPr lang="en-US" altLang="zh-CN" b="1" dirty="0"/>
              <a:t>&lt;</a:t>
            </a:r>
            <a:r>
              <a:rPr lang="en-US" altLang="zh-CN" b="1" dirty="0" err="1"/>
              <a:t>i</a:t>
            </a:r>
            <a:r>
              <a:rPr lang="en-US" altLang="zh-CN" b="1" dirty="0"/>
              <a:t>&gt; </a:t>
            </a:r>
            <a:r>
              <a:rPr lang="zh-CN" altLang="en-US" b="1" dirty="0"/>
              <a:t>连乘是由概率的计算方法得到的：两个独立样本同时发生一件事的概率等于两个样本各自发生的概率相乘，但是对于</a:t>
            </a:r>
            <a:r>
              <a:rPr lang="zh-CN" altLang="en-US" b="1" dirty="0">
                <a:solidFill>
                  <a:srgbClr val="C00000"/>
                </a:solidFill>
              </a:rPr>
              <a:t>乘法的处理不如加法方便</a:t>
            </a:r>
            <a:r>
              <a:rPr lang="zh-CN" altLang="en-US" b="1" dirty="0"/>
              <a:t>，（乘法求导尤其不方便）</a:t>
            </a:r>
            <a:endParaRPr lang="en-US" altLang="zh-CN" b="1" dirty="0"/>
          </a:p>
          <a:p>
            <a:endParaRPr lang="en-US" altLang="zh-CN" b="1" dirty="0"/>
          </a:p>
          <a:p>
            <a:r>
              <a:rPr lang="en-US" altLang="zh-CN" b="1" dirty="0"/>
              <a:t>&lt;ii&gt; </a:t>
            </a:r>
            <a:r>
              <a:rPr lang="zh-CN" altLang="en-US" b="1" dirty="0"/>
              <a:t>损失函数越</a:t>
            </a:r>
            <a:r>
              <a:rPr lang="zh-CN" altLang="en-US" b="1" dirty="0">
                <a:solidFill>
                  <a:srgbClr val="C00000"/>
                </a:solidFill>
              </a:rPr>
              <a:t>大</a:t>
            </a:r>
            <a:r>
              <a:rPr lang="zh-CN" altLang="en-US" b="1" dirty="0"/>
              <a:t>越好，完全体现不出“损失”之意</a:t>
            </a:r>
            <a:endParaRPr lang="zh-CN" altLang="en-US" dirty="0"/>
          </a:p>
        </p:txBody>
      </p:sp>
    </p:spTree>
    <p:extLst>
      <p:ext uri="{BB962C8B-B14F-4D97-AF65-F5344CB8AC3E}">
        <p14:creationId xmlns:p14="http://schemas.microsoft.com/office/powerpoint/2010/main" val="240518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42</a:t>
            </a:fld>
            <a:endParaRPr lang="zh-CN" altLang="en-US"/>
          </a:p>
        </p:txBody>
      </p:sp>
      <p:sp>
        <p:nvSpPr>
          <p:cNvPr id="24" name="矩形 23"/>
          <p:cNvSpPr/>
          <p:nvPr/>
        </p:nvSpPr>
        <p:spPr>
          <a:xfrm>
            <a:off x="865632" y="1486561"/>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5" name="对象 24">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2915094" y="1314593"/>
          <a:ext cx="6416675" cy="723900"/>
        </p:xfrm>
        <a:graphic>
          <a:graphicData uri="http://schemas.openxmlformats.org/presentationml/2006/ole">
            <mc:AlternateContent xmlns:mc="http://schemas.openxmlformats.org/markup-compatibility/2006">
              <mc:Choice xmlns:v="urn:schemas-microsoft-com:vml" Requires="v">
                <p:oleObj name="Equation" r:id="rId2" imgW="3327120" imgH="380880" progId="Equation.DSMT4">
                  <p:embed/>
                </p:oleObj>
              </mc:Choice>
              <mc:Fallback>
                <p:oleObj name="Equation" r:id="rId2" imgW="3327120" imgH="380880" progId="Equation.DSMT4">
                  <p:embed/>
                  <p:pic>
                    <p:nvPicPr>
                      <p:cNvPr id="25" name="对象 24">
                        <a:extLst>
                          <a:ext uri="{FF2B5EF4-FFF2-40B4-BE49-F238E27FC236}">
                            <a16:creationId xmlns:a16="http://schemas.microsoft.com/office/drawing/2014/main" id="{2C6D31BB-94EA-4C74-8F99-C32B82F85EF2}"/>
                          </a:ext>
                        </a:extLst>
                      </p:cNvPr>
                      <p:cNvPicPr>
                        <a:picLocks noChangeAspect="1" noChangeArrowheads="1"/>
                      </p:cNvPicPr>
                      <p:nvPr/>
                    </p:nvPicPr>
                    <p:blipFill>
                      <a:blip r:embed="rId3"/>
                      <a:srcRect/>
                      <a:stretch>
                        <a:fillRect/>
                      </a:stretch>
                    </p:blipFill>
                    <p:spPr bwMode="auto">
                      <a:xfrm>
                        <a:off x="2915094" y="1314593"/>
                        <a:ext cx="6416675" cy="723900"/>
                      </a:xfrm>
                      <a:prstGeom prst="rect">
                        <a:avLst/>
                      </a:prstGeom>
                      <a:noFill/>
                    </p:spPr>
                  </p:pic>
                </p:oleObj>
              </mc:Fallback>
            </mc:AlternateContent>
          </a:graphicData>
        </a:graphic>
      </p:graphicFrame>
      <p:sp>
        <p:nvSpPr>
          <p:cNvPr id="6" name="文本框 5"/>
          <p:cNvSpPr txBox="1"/>
          <p:nvPr/>
        </p:nvSpPr>
        <p:spPr>
          <a:xfrm>
            <a:off x="5402086" y="2099745"/>
            <a:ext cx="3929683" cy="369332"/>
          </a:xfrm>
          <a:prstGeom prst="rect">
            <a:avLst/>
          </a:prstGeom>
          <a:noFill/>
        </p:spPr>
        <p:txBody>
          <a:bodyPr wrap="square" rtlCol="0">
            <a:spAutoFit/>
          </a:bodyPr>
          <a:lstStyle/>
          <a:p>
            <a:r>
              <a:rPr lang="zh-CN" altLang="en-US" b="1" dirty="0"/>
              <a:t>所有样本的损失函数的</a:t>
            </a:r>
            <a:r>
              <a:rPr lang="zh-CN" altLang="en-US" b="1" dirty="0">
                <a:solidFill>
                  <a:srgbClr val="C00000"/>
                </a:solidFill>
              </a:rPr>
              <a:t>乘积</a:t>
            </a:r>
            <a:r>
              <a:rPr lang="zh-CN" altLang="en-US" b="1" dirty="0"/>
              <a:t>越大越好</a:t>
            </a:r>
          </a:p>
        </p:txBody>
      </p:sp>
      <p:sp>
        <p:nvSpPr>
          <p:cNvPr id="12" name="矩形 11"/>
          <p:cNvSpPr/>
          <p:nvPr/>
        </p:nvSpPr>
        <p:spPr>
          <a:xfrm>
            <a:off x="865632" y="2546191"/>
            <a:ext cx="10261166" cy="2308324"/>
          </a:xfrm>
          <a:prstGeom prst="rect">
            <a:avLst/>
          </a:prstGeom>
        </p:spPr>
        <p:txBody>
          <a:bodyPr wrap="square">
            <a:spAutoFit/>
          </a:bodyPr>
          <a:lstStyle/>
          <a:p>
            <a:r>
              <a:rPr lang="zh-CN" altLang="en-US" b="1" dirty="0">
                <a:solidFill>
                  <a:srgbClr val="C00000"/>
                </a:solidFill>
              </a:rPr>
              <a:t>存在的问题</a:t>
            </a:r>
            <a:r>
              <a:rPr lang="zh-CN" altLang="en-US" b="1" dirty="0"/>
              <a:t>：</a:t>
            </a:r>
            <a:endParaRPr lang="en-US" altLang="zh-CN" b="1" dirty="0"/>
          </a:p>
          <a:p>
            <a:r>
              <a:rPr lang="en-US" altLang="zh-CN" b="1" dirty="0"/>
              <a:t>&lt;</a:t>
            </a:r>
            <a:r>
              <a:rPr lang="en-US" altLang="zh-CN" b="1" dirty="0" err="1"/>
              <a:t>i</a:t>
            </a:r>
            <a:r>
              <a:rPr lang="en-US" altLang="zh-CN" b="1" dirty="0"/>
              <a:t>&gt; </a:t>
            </a:r>
            <a:r>
              <a:rPr lang="zh-CN" altLang="en-US" b="1" dirty="0"/>
              <a:t>连乘是由概率的计算方法得到的：两个独立样本同时发生一件事的概率等于两个样本各自发生的概率相乘，但是对于</a:t>
            </a:r>
            <a:r>
              <a:rPr lang="zh-CN" altLang="en-US" b="1" dirty="0">
                <a:solidFill>
                  <a:srgbClr val="C00000"/>
                </a:solidFill>
              </a:rPr>
              <a:t>乘法的处理不如加法方便</a:t>
            </a:r>
            <a:r>
              <a:rPr lang="zh-CN" altLang="en-US" b="1" dirty="0"/>
              <a:t>，（乘法求导尤其不方便）</a:t>
            </a:r>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p:txBody>
      </p:sp>
      <p:sp>
        <p:nvSpPr>
          <p:cNvPr id="13" name="矩形 12"/>
          <p:cNvSpPr/>
          <p:nvPr/>
        </p:nvSpPr>
        <p:spPr>
          <a:xfrm>
            <a:off x="1313688" y="3515772"/>
            <a:ext cx="10261166" cy="369332"/>
          </a:xfrm>
          <a:prstGeom prst="rect">
            <a:avLst/>
          </a:prstGeom>
        </p:spPr>
        <p:txBody>
          <a:bodyPr wrap="square">
            <a:spAutoFit/>
          </a:bodyPr>
          <a:lstStyle/>
          <a:p>
            <a:r>
              <a:rPr lang="zh-CN" altLang="en-US" b="1" dirty="0"/>
              <a:t>处理方法：用</a:t>
            </a:r>
            <a:r>
              <a:rPr lang="zh-CN" altLang="en-US" b="1" dirty="0">
                <a:solidFill>
                  <a:srgbClr val="C00000"/>
                </a:solidFill>
              </a:rPr>
              <a:t>取对数的方法</a:t>
            </a:r>
            <a:r>
              <a:rPr lang="zh-CN" altLang="en-US" b="1" dirty="0"/>
              <a:t>把乘法变成加法，</a:t>
            </a:r>
            <a:r>
              <a:rPr lang="zh-CN" altLang="en-US" b="1" dirty="0">
                <a:solidFill>
                  <a:srgbClr val="C00000"/>
                </a:solidFill>
              </a:rPr>
              <a:t>不改变其单调性和最值点</a:t>
            </a:r>
            <a:endParaRPr lang="zh-CN" altLang="en-US" dirty="0">
              <a:solidFill>
                <a:srgbClr val="C00000"/>
              </a:solidFill>
            </a:endParaRPr>
          </a:p>
        </p:txBody>
      </p:sp>
      <p:graphicFrame>
        <p:nvGraphicFramePr>
          <p:cNvPr id="14" name="对象 13">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2559913" y="3962218"/>
          <a:ext cx="8315352" cy="787082"/>
        </p:xfrm>
        <a:graphic>
          <a:graphicData uri="http://schemas.openxmlformats.org/presentationml/2006/ole">
            <mc:AlternateContent xmlns:mc="http://schemas.openxmlformats.org/markup-compatibility/2006">
              <mc:Choice xmlns:v="urn:schemas-microsoft-com:vml" Requires="v">
                <p:oleObj name="Equation" r:id="rId4" imgW="4495680" imgH="431640" progId="Equation.DSMT4">
                  <p:embed/>
                </p:oleObj>
              </mc:Choice>
              <mc:Fallback>
                <p:oleObj name="Equation" r:id="rId4" imgW="4495680" imgH="431640" progId="Equation.DSMT4">
                  <p:embed/>
                  <p:pic>
                    <p:nvPicPr>
                      <p:cNvPr id="14" name="对象 13">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2559913" y="3962218"/>
                        <a:ext cx="8315352" cy="787082"/>
                      </a:xfrm>
                      <a:prstGeom prst="rect">
                        <a:avLst/>
                      </a:prstGeom>
                      <a:noFill/>
                    </p:spPr>
                  </p:pic>
                </p:oleObj>
              </mc:Fallback>
            </mc:AlternateContent>
          </a:graphicData>
        </a:graphic>
      </p:graphicFrame>
    </p:spTree>
    <p:extLst>
      <p:ext uri="{BB962C8B-B14F-4D97-AF65-F5344CB8AC3E}">
        <p14:creationId xmlns:p14="http://schemas.microsoft.com/office/powerpoint/2010/main" val="2497879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43</a:t>
            </a:fld>
            <a:endParaRPr lang="zh-CN" altLang="en-US"/>
          </a:p>
        </p:txBody>
      </p:sp>
      <p:sp>
        <p:nvSpPr>
          <p:cNvPr id="24" name="矩形 23"/>
          <p:cNvSpPr/>
          <p:nvPr/>
        </p:nvSpPr>
        <p:spPr>
          <a:xfrm>
            <a:off x="865632" y="1486561"/>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5" name="对象 24">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234830261"/>
              </p:ext>
            </p:extLst>
          </p:nvPr>
        </p:nvGraphicFramePr>
        <p:xfrm>
          <a:off x="2915094" y="1314593"/>
          <a:ext cx="6416675" cy="723900"/>
        </p:xfrm>
        <a:graphic>
          <a:graphicData uri="http://schemas.openxmlformats.org/presentationml/2006/ole">
            <mc:AlternateContent xmlns:mc="http://schemas.openxmlformats.org/markup-compatibility/2006">
              <mc:Choice xmlns:v="urn:schemas-microsoft-com:vml" Requires="v">
                <p:oleObj name="Equation" r:id="rId2" imgW="3327120" imgH="380880" progId="Equation.DSMT4">
                  <p:embed/>
                </p:oleObj>
              </mc:Choice>
              <mc:Fallback>
                <p:oleObj name="Equation" r:id="rId2" imgW="3327120" imgH="380880" progId="Equation.DSMT4">
                  <p:embed/>
                  <p:pic>
                    <p:nvPicPr>
                      <p:cNvPr id="25" name="对象 24">
                        <a:extLst>
                          <a:ext uri="{FF2B5EF4-FFF2-40B4-BE49-F238E27FC236}">
                            <a16:creationId xmlns:a16="http://schemas.microsoft.com/office/drawing/2014/main" id="{2C6D31BB-94EA-4C74-8F99-C32B82F85EF2}"/>
                          </a:ext>
                        </a:extLst>
                      </p:cNvPr>
                      <p:cNvPicPr>
                        <a:picLocks noChangeAspect="1" noChangeArrowheads="1"/>
                      </p:cNvPicPr>
                      <p:nvPr/>
                    </p:nvPicPr>
                    <p:blipFill>
                      <a:blip r:embed="rId3"/>
                      <a:srcRect/>
                      <a:stretch>
                        <a:fillRect/>
                      </a:stretch>
                    </p:blipFill>
                    <p:spPr bwMode="auto">
                      <a:xfrm>
                        <a:off x="2915094" y="1314593"/>
                        <a:ext cx="6416675" cy="723900"/>
                      </a:xfrm>
                      <a:prstGeom prst="rect">
                        <a:avLst/>
                      </a:prstGeom>
                      <a:noFill/>
                    </p:spPr>
                  </p:pic>
                </p:oleObj>
              </mc:Fallback>
            </mc:AlternateContent>
          </a:graphicData>
        </a:graphic>
      </p:graphicFrame>
      <p:sp>
        <p:nvSpPr>
          <p:cNvPr id="6" name="文本框 5"/>
          <p:cNvSpPr txBox="1"/>
          <p:nvPr/>
        </p:nvSpPr>
        <p:spPr>
          <a:xfrm>
            <a:off x="5402086" y="2099745"/>
            <a:ext cx="3929683" cy="369332"/>
          </a:xfrm>
          <a:prstGeom prst="rect">
            <a:avLst/>
          </a:prstGeom>
          <a:noFill/>
        </p:spPr>
        <p:txBody>
          <a:bodyPr wrap="square" rtlCol="0">
            <a:spAutoFit/>
          </a:bodyPr>
          <a:lstStyle/>
          <a:p>
            <a:r>
              <a:rPr lang="zh-CN" altLang="en-US" b="1" dirty="0"/>
              <a:t>所有样本的损失函数的</a:t>
            </a:r>
            <a:r>
              <a:rPr lang="zh-CN" altLang="en-US" b="1" dirty="0">
                <a:solidFill>
                  <a:srgbClr val="C00000"/>
                </a:solidFill>
              </a:rPr>
              <a:t>乘积</a:t>
            </a:r>
            <a:r>
              <a:rPr lang="zh-CN" altLang="en-US" b="1" dirty="0"/>
              <a:t>越大越好</a:t>
            </a:r>
          </a:p>
        </p:txBody>
      </p:sp>
      <p:sp>
        <p:nvSpPr>
          <p:cNvPr id="12" name="矩形 11"/>
          <p:cNvSpPr/>
          <p:nvPr/>
        </p:nvSpPr>
        <p:spPr>
          <a:xfrm>
            <a:off x="865632" y="2546191"/>
            <a:ext cx="10261166" cy="2862322"/>
          </a:xfrm>
          <a:prstGeom prst="rect">
            <a:avLst/>
          </a:prstGeom>
        </p:spPr>
        <p:txBody>
          <a:bodyPr wrap="square">
            <a:spAutoFit/>
          </a:bodyPr>
          <a:lstStyle/>
          <a:p>
            <a:r>
              <a:rPr lang="zh-CN" altLang="en-US" b="1" dirty="0">
                <a:solidFill>
                  <a:srgbClr val="C00000"/>
                </a:solidFill>
              </a:rPr>
              <a:t>存在的问题</a:t>
            </a:r>
            <a:r>
              <a:rPr lang="zh-CN" altLang="en-US" b="1" dirty="0"/>
              <a:t>：</a:t>
            </a:r>
            <a:endParaRPr lang="en-US" altLang="zh-CN" b="1" dirty="0"/>
          </a:p>
          <a:p>
            <a:r>
              <a:rPr lang="en-US" altLang="zh-CN" b="1" dirty="0"/>
              <a:t>&lt;</a:t>
            </a:r>
            <a:r>
              <a:rPr lang="en-US" altLang="zh-CN" b="1" dirty="0" err="1"/>
              <a:t>i</a:t>
            </a:r>
            <a:r>
              <a:rPr lang="en-US" altLang="zh-CN" b="1" dirty="0"/>
              <a:t>&gt; </a:t>
            </a:r>
            <a:r>
              <a:rPr lang="zh-CN" altLang="en-US" b="1" dirty="0"/>
              <a:t>连乘是由概率的计算方法得到的：两个独立样本同时发生一件事的概率等于两个样本各自发生的概率相乘，但是对于</a:t>
            </a:r>
            <a:r>
              <a:rPr lang="zh-CN" altLang="en-US" b="1" dirty="0">
                <a:solidFill>
                  <a:srgbClr val="C00000"/>
                </a:solidFill>
              </a:rPr>
              <a:t>乘法的处理不如加法方便</a:t>
            </a:r>
            <a:r>
              <a:rPr lang="zh-CN" altLang="en-US" b="1" dirty="0"/>
              <a:t>，（乘法求导尤其不方便）</a:t>
            </a:r>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a:p>
            <a:endParaRPr lang="en-US" altLang="zh-CN" b="1" dirty="0"/>
          </a:p>
          <a:p>
            <a:r>
              <a:rPr lang="en-US" altLang="zh-CN" b="1" dirty="0"/>
              <a:t>&lt;ii&gt; </a:t>
            </a:r>
            <a:r>
              <a:rPr lang="zh-CN" altLang="en-US" b="1" dirty="0"/>
              <a:t>损失函数越</a:t>
            </a:r>
            <a:r>
              <a:rPr lang="zh-CN" altLang="en-US" b="1" dirty="0">
                <a:solidFill>
                  <a:srgbClr val="C00000"/>
                </a:solidFill>
              </a:rPr>
              <a:t>大</a:t>
            </a:r>
            <a:r>
              <a:rPr lang="zh-CN" altLang="en-US" b="1" dirty="0"/>
              <a:t>越好，完全体现不出“损失”之意</a:t>
            </a:r>
            <a:endParaRPr lang="zh-CN" altLang="en-US" dirty="0"/>
          </a:p>
        </p:txBody>
      </p:sp>
      <p:sp>
        <p:nvSpPr>
          <p:cNvPr id="13" name="矩形 12"/>
          <p:cNvSpPr/>
          <p:nvPr/>
        </p:nvSpPr>
        <p:spPr>
          <a:xfrm>
            <a:off x="1313688" y="3515772"/>
            <a:ext cx="10261166" cy="369332"/>
          </a:xfrm>
          <a:prstGeom prst="rect">
            <a:avLst/>
          </a:prstGeom>
        </p:spPr>
        <p:txBody>
          <a:bodyPr wrap="square">
            <a:spAutoFit/>
          </a:bodyPr>
          <a:lstStyle/>
          <a:p>
            <a:r>
              <a:rPr lang="zh-CN" altLang="en-US" b="1" dirty="0"/>
              <a:t>处理方法：用</a:t>
            </a:r>
            <a:r>
              <a:rPr lang="zh-CN" altLang="en-US" b="1" dirty="0">
                <a:solidFill>
                  <a:srgbClr val="C00000"/>
                </a:solidFill>
              </a:rPr>
              <a:t>取对数的方法</a:t>
            </a:r>
            <a:r>
              <a:rPr lang="zh-CN" altLang="en-US" b="1" dirty="0"/>
              <a:t>把乘法变成加法，</a:t>
            </a:r>
            <a:r>
              <a:rPr lang="zh-CN" altLang="en-US" b="1" dirty="0">
                <a:solidFill>
                  <a:srgbClr val="C00000"/>
                </a:solidFill>
              </a:rPr>
              <a:t>不改变其单调性和最值点</a:t>
            </a:r>
            <a:endParaRPr lang="zh-CN" altLang="en-US" dirty="0">
              <a:solidFill>
                <a:srgbClr val="C00000"/>
              </a:solidFill>
            </a:endParaRPr>
          </a:p>
        </p:txBody>
      </p:sp>
      <p:graphicFrame>
        <p:nvGraphicFramePr>
          <p:cNvPr id="14" name="对象 13">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1924282335"/>
              </p:ext>
            </p:extLst>
          </p:nvPr>
        </p:nvGraphicFramePr>
        <p:xfrm>
          <a:off x="2559913" y="3962218"/>
          <a:ext cx="8315352" cy="787082"/>
        </p:xfrm>
        <a:graphic>
          <a:graphicData uri="http://schemas.openxmlformats.org/presentationml/2006/ole">
            <mc:AlternateContent xmlns:mc="http://schemas.openxmlformats.org/markup-compatibility/2006">
              <mc:Choice xmlns:v="urn:schemas-microsoft-com:vml" Requires="v">
                <p:oleObj name="Equation" r:id="rId4" imgW="4495680" imgH="431640" progId="Equation.DSMT4">
                  <p:embed/>
                </p:oleObj>
              </mc:Choice>
              <mc:Fallback>
                <p:oleObj name="Equation" r:id="rId4" imgW="4495680" imgH="431640" progId="Equation.DSMT4">
                  <p:embed/>
                  <p:pic>
                    <p:nvPicPr>
                      <p:cNvPr id="8" name="对象 7">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2559913" y="3962218"/>
                        <a:ext cx="8315352" cy="787082"/>
                      </a:xfrm>
                      <a:prstGeom prst="rect">
                        <a:avLst/>
                      </a:prstGeom>
                      <a:noFill/>
                    </p:spPr>
                  </p:pic>
                </p:oleObj>
              </mc:Fallback>
            </mc:AlternateContent>
          </a:graphicData>
        </a:graphic>
      </p:graphicFrame>
      <p:sp>
        <p:nvSpPr>
          <p:cNvPr id="15" name="矩形 14"/>
          <p:cNvSpPr/>
          <p:nvPr/>
        </p:nvSpPr>
        <p:spPr>
          <a:xfrm>
            <a:off x="1313688" y="5566338"/>
            <a:ext cx="10261166" cy="369332"/>
          </a:xfrm>
          <a:prstGeom prst="rect">
            <a:avLst/>
          </a:prstGeom>
        </p:spPr>
        <p:txBody>
          <a:bodyPr wrap="square">
            <a:spAutoFit/>
          </a:bodyPr>
          <a:lstStyle/>
          <a:p>
            <a:r>
              <a:rPr lang="zh-CN" altLang="en-US" b="1" dirty="0"/>
              <a:t>处理方法：</a:t>
            </a:r>
            <a:r>
              <a:rPr lang="zh-CN" altLang="en-US" b="1" dirty="0">
                <a:solidFill>
                  <a:srgbClr val="C00000"/>
                </a:solidFill>
              </a:rPr>
              <a:t>取相反数，</a:t>
            </a:r>
            <a:r>
              <a:rPr lang="zh-CN" altLang="en-US" dirty="0"/>
              <a:t>变成越小越好</a:t>
            </a:r>
          </a:p>
        </p:txBody>
      </p:sp>
      <p:graphicFrame>
        <p:nvGraphicFramePr>
          <p:cNvPr id="16" name="对象 15">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145676850"/>
              </p:ext>
            </p:extLst>
          </p:nvPr>
        </p:nvGraphicFramePr>
        <p:xfrm>
          <a:off x="5402086" y="5348238"/>
          <a:ext cx="4700588" cy="723900"/>
        </p:xfrm>
        <a:graphic>
          <a:graphicData uri="http://schemas.openxmlformats.org/presentationml/2006/ole">
            <mc:AlternateContent xmlns:mc="http://schemas.openxmlformats.org/markup-compatibility/2006">
              <mc:Choice xmlns:v="urn:schemas-microsoft-com:vml" Requires="v">
                <p:oleObj name="Equation" r:id="rId6" imgW="2438280" imgH="380880" progId="Equation.DSMT4">
                  <p:embed/>
                </p:oleObj>
              </mc:Choice>
              <mc:Fallback>
                <p:oleObj name="Equation" r:id="rId6" imgW="2438280" imgH="380880" progId="Equation.DSMT4">
                  <p:embed/>
                  <p:pic>
                    <p:nvPicPr>
                      <p:cNvPr id="10" name="对象 9">
                        <a:extLst>
                          <a:ext uri="{FF2B5EF4-FFF2-40B4-BE49-F238E27FC236}">
                            <a16:creationId xmlns:a16="http://schemas.microsoft.com/office/drawing/2014/main" id="{2C6D31BB-94EA-4C74-8F99-C32B82F85EF2}"/>
                          </a:ext>
                        </a:extLst>
                      </p:cNvPr>
                      <p:cNvPicPr>
                        <a:picLocks noChangeAspect="1" noChangeArrowheads="1"/>
                      </p:cNvPicPr>
                      <p:nvPr/>
                    </p:nvPicPr>
                    <p:blipFill>
                      <a:blip r:embed="rId7"/>
                      <a:srcRect/>
                      <a:stretch>
                        <a:fillRect/>
                      </a:stretch>
                    </p:blipFill>
                    <p:spPr bwMode="auto">
                      <a:xfrm>
                        <a:off x="5402086" y="5348238"/>
                        <a:ext cx="4700588" cy="723900"/>
                      </a:xfrm>
                      <a:prstGeom prst="rect">
                        <a:avLst/>
                      </a:prstGeom>
                      <a:noFill/>
                    </p:spPr>
                  </p:pic>
                </p:oleObj>
              </mc:Fallback>
            </mc:AlternateContent>
          </a:graphicData>
        </a:graphic>
      </p:graphicFrame>
      <p:sp>
        <p:nvSpPr>
          <p:cNvPr id="3" name="矩形 2"/>
          <p:cNvSpPr/>
          <p:nvPr/>
        </p:nvSpPr>
        <p:spPr>
          <a:xfrm>
            <a:off x="6266126" y="5537714"/>
            <a:ext cx="232210" cy="369332"/>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1374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44</a:t>
            </a:fld>
            <a:endParaRPr lang="zh-CN" altLang="en-US"/>
          </a:p>
        </p:txBody>
      </p:sp>
      <p:sp>
        <p:nvSpPr>
          <p:cNvPr id="17" name="矩形 16"/>
          <p:cNvSpPr/>
          <p:nvPr/>
        </p:nvSpPr>
        <p:spPr>
          <a:xfrm>
            <a:off x="841083" y="2009774"/>
            <a:ext cx="3747679" cy="369332"/>
          </a:xfrm>
          <a:prstGeom prst="rect">
            <a:avLst/>
          </a:prstGeom>
        </p:spPr>
        <p:txBody>
          <a:bodyPr wrap="square">
            <a:spAutoFit/>
          </a:bodyPr>
          <a:lstStyle/>
          <a:p>
            <a:r>
              <a:rPr lang="zh-CN" altLang="en-US" b="1" dirty="0"/>
              <a:t>① 决策函数 </a:t>
            </a:r>
            <a:r>
              <a:rPr lang="en-US" altLang="zh-CN" b="1" dirty="0"/>
              <a:t>Decision Function</a:t>
            </a:r>
            <a:endParaRPr lang="zh-CN" altLang="en-US" dirty="0"/>
          </a:p>
        </p:txBody>
      </p:sp>
      <p:sp>
        <p:nvSpPr>
          <p:cNvPr id="18" name="矩形 17"/>
          <p:cNvSpPr/>
          <p:nvPr/>
        </p:nvSpPr>
        <p:spPr>
          <a:xfrm>
            <a:off x="841083" y="2633316"/>
            <a:ext cx="3747679" cy="369332"/>
          </a:xfrm>
          <a:prstGeom prst="rect">
            <a:avLst/>
          </a:prstGeom>
        </p:spPr>
        <p:txBody>
          <a:bodyPr wrap="square">
            <a:spAutoFit/>
          </a:bodyPr>
          <a:lstStyle/>
          <a:p>
            <a:r>
              <a:rPr lang="zh-CN" altLang="en-US" b="1" dirty="0"/>
              <a:t>② 损失函数 </a:t>
            </a:r>
            <a:r>
              <a:rPr lang="en-US" altLang="zh-CN" b="1" dirty="0"/>
              <a:t>Loss Function</a:t>
            </a:r>
            <a:endParaRPr lang="zh-CN" altLang="en-US" dirty="0"/>
          </a:p>
        </p:txBody>
      </p:sp>
      <p:sp>
        <p:nvSpPr>
          <p:cNvPr id="19" name="矩形 18"/>
          <p:cNvSpPr/>
          <p:nvPr/>
        </p:nvSpPr>
        <p:spPr>
          <a:xfrm>
            <a:off x="841083" y="1506022"/>
            <a:ext cx="4570482" cy="369332"/>
          </a:xfrm>
          <a:prstGeom prst="rect">
            <a:avLst/>
          </a:prstGeom>
        </p:spPr>
        <p:txBody>
          <a:bodyPr wrap="none">
            <a:spAutoFit/>
          </a:bodyPr>
          <a:lstStyle/>
          <a:p>
            <a:r>
              <a:rPr lang="zh-CN" altLang="en-US" b="1" dirty="0">
                <a:solidFill>
                  <a:srgbClr val="C00000"/>
                </a:solidFill>
              </a:rPr>
              <a:t>按照标准机器学习流程，确定以下几件事：</a:t>
            </a:r>
            <a:endParaRPr lang="zh-CN" altLang="en-US" dirty="0">
              <a:solidFill>
                <a:srgbClr val="C00000"/>
              </a:solidFill>
            </a:endParaRPr>
          </a:p>
        </p:txBody>
      </p:sp>
      <p:graphicFrame>
        <p:nvGraphicFramePr>
          <p:cNvPr id="20" name="对象 19">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4164966" y="1809690"/>
          <a:ext cx="2419376" cy="787269"/>
        </p:xfrm>
        <a:graphic>
          <a:graphicData uri="http://schemas.openxmlformats.org/presentationml/2006/ole">
            <mc:AlternateContent xmlns:mc="http://schemas.openxmlformats.org/markup-compatibility/2006">
              <mc:Choice xmlns:v="urn:schemas-microsoft-com:vml" Requires="v">
                <p:oleObj name="Equation" r:id="rId2" imgW="1231560" imgH="406080" progId="Equation.DSMT4">
                  <p:embed/>
                </p:oleObj>
              </mc:Choice>
              <mc:Fallback>
                <p:oleObj name="Equation" r:id="rId2" imgW="1231560" imgH="406080" progId="Equation.DSMT4">
                  <p:embed/>
                  <p:pic>
                    <p:nvPicPr>
                      <p:cNvPr id="20" name="对象 19">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4164966" y="1809690"/>
                        <a:ext cx="2419376" cy="787269"/>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3646215" y="2568656"/>
          <a:ext cx="5118100" cy="555625"/>
        </p:xfrm>
        <a:graphic>
          <a:graphicData uri="http://schemas.openxmlformats.org/presentationml/2006/ole">
            <mc:AlternateContent xmlns:mc="http://schemas.openxmlformats.org/markup-compatibility/2006">
              <mc:Choice xmlns:v="urn:schemas-microsoft-com:vml" Requires="v">
                <p:oleObj name="Equation" r:id="rId4" imgW="2654280" imgH="291960" progId="Equation.DSMT4">
                  <p:embed/>
                </p:oleObj>
              </mc:Choice>
              <mc:Fallback>
                <p:oleObj name="Equation" r:id="rId4" imgW="2654280" imgH="291960" progId="Equation.DSMT4">
                  <p:embed/>
                  <p:pic>
                    <p:nvPicPr>
                      <p:cNvPr id="21" name="对象 20">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3646215" y="2568656"/>
                        <a:ext cx="5118100" cy="555625"/>
                      </a:xfrm>
                      <a:prstGeom prst="rect">
                        <a:avLst/>
                      </a:prstGeom>
                      <a:noFill/>
                    </p:spPr>
                  </p:pic>
                </p:oleObj>
              </mc:Fallback>
            </mc:AlternateContent>
          </a:graphicData>
        </a:graphic>
      </p:graphicFrame>
      <p:sp>
        <p:nvSpPr>
          <p:cNvPr id="22" name="矩形 21"/>
          <p:cNvSpPr/>
          <p:nvPr/>
        </p:nvSpPr>
        <p:spPr>
          <a:xfrm>
            <a:off x="838200" y="3256858"/>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3" name="对象 22">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2938009" y="3138670"/>
          <a:ext cx="2424112" cy="723900"/>
        </p:xfrm>
        <a:graphic>
          <a:graphicData uri="http://schemas.openxmlformats.org/presentationml/2006/ole">
            <mc:AlternateContent xmlns:mc="http://schemas.openxmlformats.org/markup-compatibility/2006">
              <mc:Choice xmlns:v="urn:schemas-microsoft-com:vml" Requires="v">
                <p:oleObj name="Equation" r:id="rId6" imgW="1257120" imgH="380880" progId="Equation.DSMT4">
                  <p:embed/>
                </p:oleObj>
              </mc:Choice>
              <mc:Fallback>
                <p:oleObj name="Equation" r:id="rId6" imgW="1257120" imgH="380880" progId="Equation.DSMT4">
                  <p:embed/>
                  <p:pic>
                    <p:nvPicPr>
                      <p:cNvPr id="23" name="对象 22">
                        <a:extLst>
                          <a:ext uri="{FF2B5EF4-FFF2-40B4-BE49-F238E27FC236}">
                            <a16:creationId xmlns:a16="http://schemas.microsoft.com/office/drawing/2014/main" id="{2C6D31BB-94EA-4C74-8F99-C32B82F85EF2}"/>
                          </a:ext>
                        </a:extLst>
                      </p:cNvPr>
                      <p:cNvPicPr>
                        <a:picLocks noChangeAspect="1" noChangeArrowheads="1"/>
                      </p:cNvPicPr>
                      <p:nvPr/>
                    </p:nvPicPr>
                    <p:blipFill>
                      <a:blip r:embed="rId7"/>
                      <a:srcRect/>
                      <a:stretch>
                        <a:fillRect/>
                      </a:stretch>
                    </p:blipFill>
                    <p:spPr bwMode="auto">
                      <a:xfrm>
                        <a:off x="2938009" y="3138670"/>
                        <a:ext cx="2424112" cy="723900"/>
                      </a:xfrm>
                      <a:prstGeom prst="rect">
                        <a:avLst/>
                      </a:prstGeom>
                      <a:noFill/>
                    </p:spPr>
                  </p:pic>
                </p:oleObj>
              </mc:Fallback>
            </mc:AlternateContent>
          </a:graphicData>
        </a:graphic>
      </p:graphicFrame>
      <p:pic>
        <p:nvPicPr>
          <p:cNvPr id="26" name="图片 25">
            <a:extLst>
              <a:ext uri="{FF2B5EF4-FFF2-40B4-BE49-F238E27FC236}">
                <a16:creationId xmlns:a16="http://schemas.microsoft.com/office/drawing/2014/main" id="{55C751B8-E6E9-4A8F-A612-31874935716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35631" y="3313830"/>
            <a:ext cx="3788963" cy="2397327"/>
          </a:xfrm>
          <a:prstGeom prst="rect">
            <a:avLst/>
          </a:prstGeom>
        </p:spPr>
      </p:pic>
    </p:spTree>
    <p:extLst>
      <p:ext uri="{BB962C8B-B14F-4D97-AF65-F5344CB8AC3E}">
        <p14:creationId xmlns:p14="http://schemas.microsoft.com/office/powerpoint/2010/main" val="20400574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45</a:t>
            </a:fld>
            <a:endParaRPr lang="zh-CN" altLang="en-US"/>
          </a:p>
        </p:txBody>
      </p:sp>
      <p:sp>
        <p:nvSpPr>
          <p:cNvPr id="17" name="矩形 16"/>
          <p:cNvSpPr/>
          <p:nvPr/>
        </p:nvSpPr>
        <p:spPr>
          <a:xfrm>
            <a:off x="841083" y="2009774"/>
            <a:ext cx="3747679" cy="369332"/>
          </a:xfrm>
          <a:prstGeom prst="rect">
            <a:avLst/>
          </a:prstGeom>
        </p:spPr>
        <p:txBody>
          <a:bodyPr wrap="square">
            <a:spAutoFit/>
          </a:bodyPr>
          <a:lstStyle/>
          <a:p>
            <a:r>
              <a:rPr lang="zh-CN" altLang="en-US" b="1" dirty="0"/>
              <a:t>① 决策函数 </a:t>
            </a:r>
            <a:r>
              <a:rPr lang="en-US" altLang="zh-CN" b="1" dirty="0"/>
              <a:t>Decision Function</a:t>
            </a:r>
            <a:endParaRPr lang="zh-CN" altLang="en-US" dirty="0"/>
          </a:p>
        </p:txBody>
      </p:sp>
      <p:sp>
        <p:nvSpPr>
          <p:cNvPr id="18" name="矩形 17"/>
          <p:cNvSpPr/>
          <p:nvPr/>
        </p:nvSpPr>
        <p:spPr>
          <a:xfrm>
            <a:off x="841083" y="2633316"/>
            <a:ext cx="3747679" cy="369332"/>
          </a:xfrm>
          <a:prstGeom prst="rect">
            <a:avLst/>
          </a:prstGeom>
        </p:spPr>
        <p:txBody>
          <a:bodyPr wrap="square">
            <a:spAutoFit/>
          </a:bodyPr>
          <a:lstStyle/>
          <a:p>
            <a:r>
              <a:rPr lang="zh-CN" altLang="en-US" b="1" dirty="0"/>
              <a:t>② 损失函数 </a:t>
            </a:r>
            <a:r>
              <a:rPr lang="en-US" altLang="zh-CN" b="1" dirty="0"/>
              <a:t>Loss Function</a:t>
            </a:r>
            <a:endParaRPr lang="zh-CN" altLang="en-US" dirty="0"/>
          </a:p>
        </p:txBody>
      </p:sp>
      <p:sp>
        <p:nvSpPr>
          <p:cNvPr id="19" name="矩形 18"/>
          <p:cNvSpPr/>
          <p:nvPr/>
        </p:nvSpPr>
        <p:spPr>
          <a:xfrm>
            <a:off x="841083" y="1506022"/>
            <a:ext cx="4570482" cy="369332"/>
          </a:xfrm>
          <a:prstGeom prst="rect">
            <a:avLst/>
          </a:prstGeom>
        </p:spPr>
        <p:txBody>
          <a:bodyPr wrap="none">
            <a:spAutoFit/>
          </a:bodyPr>
          <a:lstStyle/>
          <a:p>
            <a:r>
              <a:rPr lang="zh-CN" altLang="en-US" b="1" dirty="0">
                <a:solidFill>
                  <a:srgbClr val="C00000"/>
                </a:solidFill>
              </a:rPr>
              <a:t>按照标准机器学习流程，确定以下几件事：</a:t>
            </a:r>
            <a:endParaRPr lang="zh-CN" altLang="en-US" dirty="0">
              <a:solidFill>
                <a:srgbClr val="C00000"/>
              </a:solidFill>
            </a:endParaRPr>
          </a:p>
        </p:txBody>
      </p:sp>
      <p:graphicFrame>
        <p:nvGraphicFramePr>
          <p:cNvPr id="20" name="对象 19">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4164966" y="1809690"/>
          <a:ext cx="2419376" cy="787269"/>
        </p:xfrm>
        <a:graphic>
          <a:graphicData uri="http://schemas.openxmlformats.org/presentationml/2006/ole">
            <mc:AlternateContent xmlns:mc="http://schemas.openxmlformats.org/markup-compatibility/2006">
              <mc:Choice xmlns:v="urn:schemas-microsoft-com:vml" Requires="v">
                <p:oleObj name="Equation" r:id="rId2" imgW="1231560" imgH="406080" progId="Equation.DSMT4">
                  <p:embed/>
                </p:oleObj>
              </mc:Choice>
              <mc:Fallback>
                <p:oleObj name="Equation" r:id="rId2" imgW="1231560" imgH="406080" progId="Equation.DSMT4">
                  <p:embed/>
                  <p:pic>
                    <p:nvPicPr>
                      <p:cNvPr id="20" name="对象 19">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4164966" y="1809690"/>
                        <a:ext cx="2419376" cy="787269"/>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3646215" y="2568656"/>
          <a:ext cx="5118100" cy="555625"/>
        </p:xfrm>
        <a:graphic>
          <a:graphicData uri="http://schemas.openxmlformats.org/presentationml/2006/ole">
            <mc:AlternateContent xmlns:mc="http://schemas.openxmlformats.org/markup-compatibility/2006">
              <mc:Choice xmlns:v="urn:schemas-microsoft-com:vml" Requires="v">
                <p:oleObj name="Equation" r:id="rId4" imgW="2654280" imgH="291960" progId="Equation.DSMT4">
                  <p:embed/>
                </p:oleObj>
              </mc:Choice>
              <mc:Fallback>
                <p:oleObj name="Equation" r:id="rId4" imgW="2654280" imgH="291960" progId="Equation.DSMT4">
                  <p:embed/>
                  <p:pic>
                    <p:nvPicPr>
                      <p:cNvPr id="21" name="对象 20">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3646215" y="2568656"/>
                        <a:ext cx="5118100" cy="555625"/>
                      </a:xfrm>
                      <a:prstGeom prst="rect">
                        <a:avLst/>
                      </a:prstGeom>
                      <a:noFill/>
                    </p:spPr>
                  </p:pic>
                </p:oleObj>
              </mc:Fallback>
            </mc:AlternateContent>
          </a:graphicData>
        </a:graphic>
      </p:graphicFrame>
      <p:sp>
        <p:nvSpPr>
          <p:cNvPr id="22" name="矩形 21"/>
          <p:cNvSpPr/>
          <p:nvPr/>
        </p:nvSpPr>
        <p:spPr>
          <a:xfrm>
            <a:off x="838200" y="3256858"/>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3" name="对象 22">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2938009" y="3138670"/>
          <a:ext cx="2424112" cy="723900"/>
        </p:xfrm>
        <a:graphic>
          <a:graphicData uri="http://schemas.openxmlformats.org/presentationml/2006/ole">
            <mc:AlternateContent xmlns:mc="http://schemas.openxmlformats.org/markup-compatibility/2006">
              <mc:Choice xmlns:v="urn:schemas-microsoft-com:vml" Requires="v">
                <p:oleObj name="Equation" r:id="rId6" imgW="1257120" imgH="380880" progId="Equation.DSMT4">
                  <p:embed/>
                </p:oleObj>
              </mc:Choice>
              <mc:Fallback>
                <p:oleObj name="Equation" r:id="rId6" imgW="1257120" imgH="380880" progId="Equation.DSMT4">
                  <p:embed/>
                  <p:pic>
                    <p:nvPicPr>
                      <p:cNvPr id="23" name="对象 22">
                        <a:extLst>
                          <a:ext uri="{FF2B5EF4-FFF2-40B4-BE49-F238E27FC236}">
                            <a16:creationId xmlns:a16="http://schemas.microsoft.com/office/drawing/2014/main" id="{2C6D31BB-94EA-4C74-8F99-C32B82F85EF2}"/>
                          </a:ext>
                        </a:extLst>
                      </p:cNvPr>
                      <p:cNvPicPr>
                        <a:picLocks noChangeAspect="1" noChangeArrowheads="1"/>
                      </p:cNvPicPr>
                      <p:nvPr/>
                    </p:nvPicPr>
                    <p:blipFill>
                      <a:blip r:embed="rId7"/>
                      <a:srcRect/>
                      <a:stretch>
                        <a:fillRect/>
                      </a:stretch>
                    </p:blipFill>
                    <p:spPr bwMode="auto">
                      <a:xfrm>
                        <a:off x="2938009" y="3138670"/>
                        <a:ext cx="2424112" cy="723900"/>
                      </a:xfrm>
                      <a:prstGeom prst="rect">
                        <a:avLst/>
                      </a:prstGeom>
                      <a:noFill/>
                    </p:spPr>
                  </p:pic>
                </p:oleObj>
              </mc:Fallback>
            </mc:AlternateContent>
          </a:graphicData>
        </a:graphic>
      </p:graphicFrame>
      <p:pic>
        <p:nvPicPr>
          <p:cNvPr id="26" name="图片 25">
            <a:extLst>
              <a:ext uri="{FF2B5EF4-FFF2-40B4-BE49-F238E27FC236}">
                <a16:creationId xmlns:a16="http://schemas.microsoft.com/office/drawing/2014/main" id="{55C751B8-E6E9-4A8F-A612-31874935716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01263" y="3441524"/>
            <a:ext cx="3788963" cy="2397327"/>
          </a:xfrm>
          <a:prstGeom prst="rect">
            <a:avLst/>
          </a:prstGeom>
        </p:spPr>
      </p:pic>
      <p:sp>
        <p:nvSpPr>
          <p:cNvPr id="27" name="矩形 26"/>
          <p:cNvSpPr/>
          <p:nvPr/>
        </p:nvSpPr>
        <p:spPr>
          <a:xfrm>
            <a:off x="1200922" y="4050828"/>
            <a:ext cx="4578086" cy="923330"/>
          </a:xfrm>
          <a:prstGeom prst="rect">
            <a:avLst/>
          </a:prstGeom>
        </p:spPr>
        <p:txBody>
          <a:bodyPr wrap="square">
            <a:spAutoFit/>
          </a:bodyPr>
          <a:lstStyle/>
          <a:p>
            <a:r>
              <a:rPr lang="zh-CN" altLang="en-US" b="1" dirty="0"/>
              <a:t>根据这个目标可以求解出对应的</a:t>
            </a:r>
            <a:r>
              <a:rPr lang="en-US" altLang="zh-CN" b="1" dirty="0"/>
              <a:t>θ</a:t>
            </a:r>
            <a:r>
              <a:rPr lang="zh-CN" altLang="en-US" b="1" dirty="0"/>
              <a:t>（怎么求这里先不展开讲，默认计算机能帮忙算）：</a:t>
            </a:r>
            <a:endParaRPr lang="en-US" altLang="zh-CN" b="1" dirty="0"/>
          </a:p>
          <a:p>
            <a:endParaRPr lang="en-US" altLang="zh-CN" b="1" dirty="0"/>
          </a:p>
        </p:txBody>
      </p:sp>
      <p:graphicFrame>
        <p:nvGraphicFramePr>
          <p:cNvPr id="28" name="对象 27">
            <a:extLst>
              <a:ext uri="{FF2B5EF4-FFF2-40B4-BE49-F238E27FC236}">
                <a16:creationId xmlns:a16="http://schemas.microsoft.com/office/drawing/2014/main" id="{2C6D31BB-94EA-4C74-8F99-C32B82F85EF2}"/>
              </a:ext>
            </a:extLst>
          </p:cNvPr>
          <p:cNvGraphicFramePr>
            <a:graphicFrameLocks noChangeAspect="1"/>
          </p:cNvGraphicFramePr>
          <p:nvPr/>
        </p:nvGraphicFramePr>
        <p:xfrm>
          <a:off x="5779008" y="3956769"/>
          <a:ext cx="2034350" cy="814238"/>
        </p:xfrm>
        <a:graphic>
          <a:graphicData uri="http://schemas.openxmlformats.org/presentationml/2006/ole">
            <mc:AlternateContent xmlns:mc="http://schemas.openxmlformats.org/markup-compatibility/2006">
              <mc:Choice xmlns:v="urn:schemas-microsoft-com:vml" Requires="v">
                <p:oleObj name="Equation" r:id="rId9" imgW="1346040" imgH="545760" progId="Equation.DSMT4">
                  <p:embed/>
                </p:oleObj>
              </mc:Choice>
              <mc:Fallback>
                <p:oleObj name="Equation" r:id="rId9" imgW="1346040" imgH="545760" progId="Equation.DSMT4">
                  <p:embed/>
                  <p:pic>
                    <p:nvPicPr>
                      <p:cNvPr id="28" name="对象 27">
                        <a:extLst>
                          <a:ext uri="{FF2B5EF4-FFF2-40B4-BE49-F238E27FC236}">
                            <a16:creationId xmlns:a16="http://schemas.microsoft.com/office/drawing/2014/main" id="{2C6D31BB-94EA-4C74-8F99-C32B82F85EF2}"/>
                          </a:ext>
                        </a:extLst>
                      </p:cNvPr>
                      <p:cNvPicPr>
                        <a:picLocks noChangeAspect="1" noChangeArrowheads="1"/>
                      </p:cNvPicPr>
                      <p:nvPr/>
                    </p:nvPicPr>
                    <p:blipFill>
                      <a:blip r:embed="rId10"/>
                      <a:srcRect/>
                      <a:stretch>
                        <a:fillRect/>
                      </a:stretch>
                    </p:blipFill>
                    <p:spPr bwMode="auto">
                      <a:xfrm>
                        <a:off x="5779008" y="3956769"/>
                        <a:ext cx="2034350" cy="814238"/>
                      </a:xfrm>
                      <a:prstGeom prst="rect">
                        <a:avLst/>
                      </a:prstGeom>
                      <a:noFill/>
                    </p:spPr>
                  </p:pic>
                </p:oleObj>
              </mc:Fallback>
            </mc:AlternateContent>
          </a:graphicData>
        </a:graphic>
      </p:graphicFrame>
    </p:spTree>
    <p:extLst>
      <p:ext uri="{BB962C8B-B14F-4D97-AF65-F5344CB8AC3E}">
        <p14:creationId xmlns:p14="http://schemas.microsoft.com/office/powerpoint/2010/main" val="30004566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46</a:t>
            </a:fld>
            <a:endParaRPr lang="zh-CN" altLang="en-US"/>
          </a:p>
        </p:txBody>
      </p:sp>
      <p:sp>
        <p:nvSpPr>
          <p:cNvPr id="17" name="矩形 16"/>
          <p:cNvSpPr/>
          <p:nvPr/>
        </p:nvSpPr>
        <p:spPr>
          <a:xfrm>
            <a:off x="841083" y="2009774"/>
            <a:ext cx="3747679" cy="369332"/>
          </a:xfrm>
          <a:prstGeom prst="rect">
            <a:avLst/>
          </a:prstGeom>
        </p:spPr>
        <p:txBody>
          <a:bodyPr wrap="square">
            <a:spAutoFit/>
          </a:bodyPr>
          <a:lstStyle/>
          <a:p>
            <a:r>
              <a:rPr lang="zh-CN" altLang="en-US" b="1" dirty="0"/>
              <a:t>① 决策函数 </a:t>
            </a:r>
            <a:r>
              <a:rPr lang="en-US" altLang="zh-CN" b="1" dirty="0"/>
              <a:t>Decision Function</a:t>
            </a:r>
            <a:endParaRPr lang="zh-CN" altLang="en-US" dirty="0"/>
          </a:p>
        </p:txBody>
      </p:sp>
      <p:sp>
        <p:nvSpPr>
          <p:cNvPr id="18" name="矩形 17"/>
          <p:cNvSpPr/>
          <p:nvPr/>
        </p:nvSpPr>
        <p:spPr>
          <a:xfrm>
            <a:off x="841083" y="2633316"/>
            <a:ext cx="3747679" cy="369332"/>
          </a:xfrm>
          <a:prstGeom prst="rect">
            <a:avLst/>
          </a:prstGeom>
        </p:spPr>
        <p:txBody>
          <a:bodyPr wrap="square">
            <a:spAutoFit/>
          </a:bodyPr>
          <a:lstStyle/>
          <a:p>
            <a:r>
              <a:rPr lang="zh-CN" altLang="en-US" b="1" dirty="0"/>
              <a:t>② 损失函数 </a:t>
            </a:r>
            <a:r>
              <a:rPr lang="en-US" altLang="zh-CN" b="1" dirty="0"/>
              <a:t>Loss Function</a:t>
            </a:r>
            <a:endParaRPr lang="zh-CN" altLang="en-US" dirty="0"/>
          </a:p>
        </p:txBody>
      </p:sp>
      <p:sp>
        <p:nvSpPr>
          <p:cNvPr id="19" name="矩形 18"/>
          <p:cNvSpPr/>
          <p:nvPr/>
        </p:nvSpPr>
        <p:spPr>
          <a:xfrm>
            <a:off x="841083" y="1506022"/>
            <a:ext cx="4570482" cy="369332"/>
          </a:xfrm>
          <a:prstGeom prst="rect">
            <a:avLst/>
          </a:prstGeom>
        </p:spPr>
        <p:txBody>
          <a:bodyPr wrap="none">
            <a:spAutoFit/>
          </a:bodyPr>
          <a:lstStyle/>
          <a:p>
            <a:r>
              <a:rPr lang="zh-CN" altLang="en-US" b="1" dirty="0">
                <a:solidFill>
                  <a:srgbClr val="C00000"/>
                </a:solidFill>
              </a:rPr>
              <a:t>按照标准机器学习流程，确定以下几件事：</a:t>
            </a:r>
            <a:endParaRPr lang="zh-CN" altLang="en-US" dirty="0">
              <a:solidFill>
                <a:srgbClr val="C00000"/>
              </a:solidFill>
            </a:endParaRPr>
          </a:p>
        </p:txBody>
      </p:sp>
      <p:graphicFrame>
        <p:nvGraphicFramePr>
          <p:cNvPr id="20" name="对象 19">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1233450877"/>
              </p:ext>
            </p:extLst>
          </p:nvPr>
        </p:nvGraphicFramePr>
        <p:xfrm>
          <a:off x="4164966" y="1809690"/>
          <a:ext cx="2419376" cy="787269"/>
        </p:xfrm>
        <a:graphic>
          <a:graphicData uri="http://schemas.openxmlformats.org/presentationml/2006/ole">
            <mc:AlternateContent xmlns:mc="http://schemas.openxmlformats.org/markup-compatibility/2006">
              <mc:Choice xmlns:v="urn:schemas-microsoft-com:vml" Requires="v">
                <p:oleObj name="Equation" r:id="rId2" imgW="1231560" imgH="406080" progId="Equation.DSMT4">
                  <p:embed/>
                </p:oleObj>
              </mc:Choice>
              <mc:Fallback>
                <p:oleObj name="Equation" r:id="rId2" imgW="1231560" imgH="406080" progId="Equation.DSMT4">
                  <p:embed/>
                  <p:pic>
                    <p:nvPicPr>
                      <p:cNvPr id="10" name="对象 9">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4164966" y="1809690"/>
                        <a:ext cx="2419376" cy="787269"/>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2452982912"/>
              </p:ext>
            </p:extLst>
          </p:nvPr>
        </p:nvGraphicFramePr>
        <p:xfrm>
          <a:off x="3646215" y="2568656"/>
          <a:ext cx="5118100" cy="555625"/>
        </p:xfrm>
        <a:graphic>
          <a:graphicData uri="http://schemas.openxmlformats.org/presentationml/2006/ole">
            <mc:AlternateContent xmlns:mc="http://schemas.openxmlformats.org/markup-compatibility/2006">
              <mc:Choice xmlns:v="urn:schemas-microsoft-com:vml" Requires="v">
                <p:oleObj name="Equation" r:id="rId4" imgW="2654280" imgH="291960" progId="Equation.DSMT4">
                  <p:embed/>
                </p:oleObj>
              </mc:Choice>
              <mc:Fallback>
                <p:oleObj name="Equation" r:id="rId4" imgW="2654280" imgH="291960" progId="Equation.DSMT4">
                  <p:embed/>
                  <p:pic>
                    <p:nvPicPr>
                      <p:cNvPr id="11" name="对象 10">
                        <a:extLst>
                          <a:ext uri="{FF2B5EF4-FFF2-40B4-BE49-F238E27FC236}">
                            <a16:creationId xmlns:a16="http://schemas.microsoft.com/office/drawing/2014/main" id="{2C6D31BB-94EA-4C74-8F99-C32B82F85EF2}"/>
                          </a:ext>
                        </a:extLst>
                      </p:cNvPr>
                      <p:cNvPicPr>
                        <a:picLocks noChangeAspect="1" noChangeArrowheads="1"/>
                      </p:cNvPicPr>
                      <p:nvPr/>
                    </p:nvPicPr>
                    <p:blipFill>
                      <a:blip r:embed="rId5"/>
                      <a:srcRect/>
                      <a:stretch>
                        <a:fillRect/>
                      </a:stretch>
                    </p:blipFill>
                    <p:spPr bwMode="auto">
                      <a:xfrm>
                        <a:off x="3646215" y="2568656"/>
                        <a:ext cx="5118100" cy="555625"/>
                      </a:xfrm>
                      <a:prstGeom prst="rect">
                        <a:avLst/>
                      </a:prstGeom>
                      <a:noFill/>
                    </p:spPr>
                  </p:pic>
                </p:oleObj>
              </mc:Fallback>
            </mc:AlternateContent>
          </a:graphicData>
        </a:graphic>
      </p:graphicFrame>
      <p:sp>
        <p:nvSpPr>
          <p:cNvPr id="22" name="矩形 21"/>
          <p:cNvSpPr/>
          <p:nvPr/>
        </p:nvSpPr>
        <p:spPr>
          <a:xfrm>
            <a:off x="838200" y="3256858"/>
            <a:ext cx="3747679" cy="369332"/>
          </a:xfrm>
          <a:prstGeom prst="rect">
            <a:avLst/>
          </a:prstGeom>
        </p:spPr>
        <p:txBody>
          <a:bodyPr wrap="square">
            <a:spAutoFit/>
          </a:bodyPr>
          <a:lstStyle/>
          <a:p>
            <a:r>
              <a:rPr lang="zh-CN" altLang="en-US" b="1" dirty="0"/>
              <a:t>③ 目标 </a:t>
            </a:r>
            <a:r>
              <a:rPr lang="en-US" altLang="zh-CN" b="1" dirty="0"/>
              <a:t>Objective </a:t>
            </a:r>
            <a:endParaRPr lang="zh-CN" altLang="en-US" dirty="0"/>
          </a:p>
        </p:txBody>
      </p:sp>
      <p:graphicFrame>
        <p:nvGraphicFramePr>
          <p:cNvPr id="23" name="对象 22">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4141678035"/>
              </p:ext>
            </p:extLst>
          </p:nvPr>
        </p:nvGraphicFramePr>
        <p:xfrm>
          <a:off x="2938009" y="3138670"/>
          <a:ext cx="2424112" cy="723900"/>
        </p:xfrm>
        <a:graphic>
          <a:graphicData uri="http://schemas.openxmlformats.org/presentationml/2006/ole">
            <mc:AlternateContent xmlns:mc="http://schemas.openxmlformats.org/markup-compatibility/2006">
              <mc:Choice xmlns:v="urn:schemas-microsoft-com:vml" Requires="v">
                <p:oleObj name="Equation" r:id="rId6" imgW="1257120" imgH="380880" progId="Equation.DSMT4">
                  <p:embed/>
                </p:oleObj>
              </mc:Choice>
              <mc:Fallback>
                <p:oleObj name="Equation" r:id="rId6" imgW="1257120" imgH="380880" progId="Equation.DSMT4">
                  <p:embed/>
                  <p:pic>
                    <p:nvPicPr>
                      <p:cNvPr id="12" name="对象 11">
                        <a:extLst>
                          <a:ext uri="{FF2B5EF4-FFF2-40B4-BE49-F238E27FC236}">
                            <a16:creationId xmlns:a16="http://schemas.microsoft.com/office/drawing/2014/main" id="{2C6D31BB-94EA-4C74-8F99-C32B82F85EF2}"/>
                          </a:ext>
                        </a:extLst>
                      </p:cNvPr>
                      <p:cNvPicPr>
                        <a:picLocks noChangeAspect="1" noChangeArrowheads="1"/>
                      </p:cNvPicPr>
                      <p:nvPr/>
                    </p:nvPicPr>
                    <p:blipFill>
                      <a:blip r:embed="rId7"/>
                      <a:srcRect/>
                      <a:stretch>
                        <a:fillRect/>
                      </a:stretch>
                    </p:blipFill>
                    <p:spPr bwMode="auto">
                      <a:xfrm>
                        <a:off x="2938009" y="3138670"/>
                        <a:ext cx="2424112" cy="723900"/>
                      </a:xfrm>
                      <a:prstGeom prst="rect">
                        <a:avLst/>
                      </a:prstGeom>
                      <a:noFill/>
                    </p:spPr>
                  </p:pic>
                </p:oleObj>
              </mc:Fallback>
            </mc:AlternateContent>
          </a:graphicData>
        </a:graphic>
      </p:graphicFrame>
      <p:pic>
        <p:nvPicPr>
          <p:cNvPr id="26" name="图片 25">
            <a:extLst>
              <a:ext uri="{FF2B5EF4-FFF2-40B4-BE49-F238E27FC236}">
                <a16:creationId xmlns:a16="http://schemas.microsoft.com/office/drawing/2014/main" id="{55C751B8-E6E9-4A8F-A612-31874935716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01263" y="3441524"/>
            <a:ext cx="3788963" cy="2397327"/>
          </a:xfrm>
          <a:prstGeom prst="rect">
            <a:avLst/>
          </a:prstGeom>
        </p:spPr>
      </p:pic>
      <p:sp>
        <p:nvSpPr>
          <p:cNvPr id="27" name="矩形 26"/>
          <p:cNvSpPr/>
          <p:nvPr/>
        </p:nvSpPr>
        <p:spPr>
          <a:xfrm>
            <a:off x="1200922" y="4050828"/>
            <a:ext cx="4578086" cy="923330"/>
          </a:xfrm>
          <a:prstGeom prst="rect">
            <a:avLst/>
          </a:prstGeom>
        </p:spPr>
        <p:txBody>
          <a:bodyPr wrap="square">
            <a:spAutoFit/>
          </a:bodyPr>
          <a:lstStyle/>
          <a:p>
            <a:r>
              <a:rPr lang="zh-CN" altLang="en-US" b="1" dirty="0"/>
              <a:t>根据这个目标可以求解出对应的</a:t>
            </a:r>
            <a:r>
              <a:rPr lang="en-US" altLang="zh-CN" b="1" dirty="0"/>
              <a:t>θ</a:t>
            </a:r>
            <a:r>
              <a:rPr lang="zh-CN" altLang="en-US" b="1" dirty="0"/>
              <a:t>（怎么求这里先不展开讲，默认计算机能帮忙算）：</a:t>
            </a:r>
            <a:endParaRPr lang="en-US" altLang="zh-CN" b="1" dirty="0"/>
          </a:p>
          <a:p>
            <a:endParaRPr lang="en-US" altLang="zh-CN" b="1" dirty="0"/>
          </a:p>
        </p:txBody>
      </p:sp>
      <p:graphicFrame>
        <p:nvGraphicFramePr>
          <p:cNvPr id="28" name="对象 27">
            <a:extLst>
              <a:ext uri="{FF2B5EF4-FFF2-40B4-BE49-F238E27FC236}">
                <a16:creationId xmlns:a16="http://schemas.microsoft.com/office/drawing/2014/main" id="{2C6D31BB-94EA-4C74-8F99-C32B82F85EF2}"/>
              </a:ext>
            </a:extLst>
          </p:cNvPr>
          <p:cNvGraphicFramePr>
            <a:graphicFrameLocks noChangeAspect="1"/>
          </p:cNvGraphicFramePr>
          <p:nvPr>
            <p:extLst>
              <p:ext uri="{D42A27DB-BD31-4B8C-83A1-F6EECF244321}">
                <p14:modId xmlns:p14="http://schemas.microsoft.com/office/powerpoint/2010/main" val="3992784570"/>
              </p:ext>
            </p:extLst>
          </p:nvPr>
        </p:nvGraphicFramePr>
        <p:xfrm>
          <a:off x="5779008" y="3956769"/>
          <a:ext cx="2034350" cy="814238"/>
        </p:xfrm>
        <a:graphic>
          <a:graphicData uri="http://schemas.openxmlformats.org/presentationml/2006/ole">
            <mc:AlternateContent xmlns:mc="http://schemas.openxmlformats.org/markup-compatibility/2006">
              <mc:Choice xmlns:v="urn:schemas-microsoft-com:vml" Requires="v">
                <p:oleObj name="Equation" r:id="rId9" imgW="1346040" imgH="545760" progId="Equation.DSMT4">
                  <p:embed/>
                </p:oleObj>
              </mc:Choice>
              <mc:Fallback>
                <p:oleObj name="Equation" r:id="rId9" imgW="1346040" imgH="545760" progId="Equation.DSMT4">
                  <p:embed/>
                  <p:pic>
                    <p:nvPicPr>
                      <p:cNvPr id="20" name="对象 19">
                        <a:extLst>
                          <a:ext uri="{FF2B5EF4-FFF2-40B4-BE49-F238E27FC236}">
                            <a16:creationId xmlns:a16="http://schemas.microsoft.com/office/drawing/2014/main" id="{2C6D31BB-94EA-4C74-8F99-C32B82F85EF2}"/>
                          </a:ext>
                        </a:extLst>
                      </p:cNvPr>
                      <p:cNvPicPr>
                        <a:picLocks noChangeAspect="1" noChangeArrowheads="1"/>
                      </p:cNvPicPr>
                      <p:nvPr/>
                    </p:nvPicPr>
                    <p:blipFill>
                      <a:blip r:embed="rId10"/>
                      <a:srcRect/>
                      <a:stretch>
                        <a:fillRect/>
                      </a:stretch>
                    </p:blipFill>
                    <p:spPr bwMode="auto">
                      <a:xfrm>
                        <a:off x="5779008" y="3956769"/>
                        <a:ext cx="2034350" cy="814238"/>
                      </a:xfrm>
                      <a:prstGeom prst="rect">
                        <a:avLst/>
                      </a:prstGeom>
                      <a:noFill/>
                    </p:spPr>
                  </p:pic>
                </p:oleObj>
              </mc:Fallback>
            </mc:AlternateContent>
          </a:graphicData>
        </a:graphic>
      </p:graphicFrame>
      <p:sp>
        <p:nvSpPr>
          <p:cNvPr id="29" name="矩形 28"/>
          <p:cNvSpPr/>
          <p:nvPr/>
        </p:nvSpPr>
        <p:spPr>
          <a:xfrm>
            <a:off x="1200922" y="4865066"/>
            <a:ext cx="5955782" cy="923330"/>
          </a:xfrm>
          <a:prstGeom prst="rect">
            <a:avLst/>
          </a:prstGeom>
        </p:spPr>
        <p:txBody>
          <a:bodyPr wrap="square">
            <a:spAutoFit/>
          </a:bodyPr>
          <a:lstStyle/>
          <a:p>
            <a:r>
              <a:rPr lang="zh-CN" altLang="en-US" b="1" dirty="0"/>
              <a:t>统计学上，这种</a:t>
            </a:r>
            <a:r>
              <a:rPr lang="zh-CN" altLang="en-US" b="1" dirty="0">
                <a:solidFill>
                  <a:srgbClr val="C00000"/>
                </a:solidFill>
              </a:rPr>
              <a:t>为解决分类问题</a:t>
            </a:r>
            <a:r>
              <a:rPr lang="zh-CN" altLang="en-US" b="1" dirty="0"/>
              <a:t>，以</a:t>
            </a:r>
            <a:r>
              <a:rPr lang="zh-CN" altLang="en-US" b="1" dirty="0">
                <a:solidFill>
                  <a:srgbClr val="C00000"/>
                </a:solidFill>
              </a:rPr>
              <a:t>最大似然估计</a:t>
            </a:r>
            <a:r>
              <a:rPr lang="zh-CN" altLang="en-US" b="1" dirty="0"/>
              <a:t>为</a:t>
            </a:r>
            <a:r>
              <a:rPr lang="zh-CN" altLang="en-US" b="1" dirty="0">
                <a:solidFill>
                  <a:srgbClr val="C00000"/>
                </a:solidFill>
              </a:rPr>
              <a:t>目标</a:t>
            </a:r>
            <a:r>
              <a:rPr lang="zh-CN" altLang="en-US" b="1" dirty="0"/>
              <a:t>，使用</a:t>
            </a:r>
            <a:r>
              <a:rPr lang="en-US" altLang="zh-CN" b="1" dirty="0">
                <a:solidFill>
                  <a:srgbClr val="C00000"/>
                </a:solidFill>
              </a:rPr>
              <a:t>sigmoid function</a:t>
            </a:r>
            <a:r>
              <a:rPr lang="zh-CN" altLang="en-US" b="1" dirty="0">
                <a:solidFill>
                  <a:srgbClr val="C00000"/>
                </a:solidFill>
              </a:rPr>
              <a:t>作为决策函数</a:t>
            </a:r>
            <a:r>
              <a:rPr lang="zh-CN" altLang="en-US" b="1" dirty="0"/>
              <a:t>的模型建立过程，叫作</a:t>
            </a:r>
            <a:r>
              <a:rPr lang="zh-CN" altLang="en-US" b="1" dirty="0">
                <a:solidFill>
                  <a:srgbClr val="C00000"/>
                </a:solidFill>
              </a:rPr>
              <a:t>逻辑斯蒂回归（</a:t>
            </a:r>
            <a:r>
              <a:rPr lang="en-US" altLang="zh-CN" b="1" dirty="0">
                <a:solidFill>
                  <a:srgbClr val="C00000"/>
                </a:solidFill>
              </a:rPr>
              <a:t>Logistic Regression</a:t>
            </a:r>
            <a:r>
              <a:rPr lang="zh-CN" altLang="en-US" b="1" dirty="0">
                <a:solidFill>
                  <a:srgbClr val="C00000"/>
                </a:solidFill>
              </a:rPr>
              <a:t>）</a:t>
            </a:r>
            <a:endParaRPr lang="en-US" altLang="zh-CN" b="1" dirty="0">
              <a:solidFill>
                <a:srgbClr val="C00000"/>
              </a:solidFill>
            </a:endParaRPr>
          </a:p>
        </p:txBody>
      </p:sp>
    </p:spTree>
    <p:extLst>
      <p:ext uri="{BB962C8B-B14F-4D97-AF65-F5344CB8AC3E}">
        <p14:creationId xmlns:p14="http://schemas.microsoft.com/office/powerpoint/2010/main" val="39999617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回归与分类 </a:t>
            </a:r>
            <a:r>
              <a:rPr lang="en-US" altLang="zh-CN" dirty="0"/>
              <a:t>Regression &amp; Classification</a:t>
            </a:r>
            <a:endParaRPr lang="zh-CN" altLang="en-US"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47</a:t>
            </a:fld>
            <a:endParaRPr lang="zh-CN" altLang="en-US"/>
          </a:p>
        </p:txBody>
      </p:sp>
      <p:grpSp>
        <p:nvGrpSpPr>
          <p:cNvPr id="5" name="组合 4"/>
          <p:cNvGrpSpPr/>
          <p:nvPr/>
        </p:nvGrpSpPr>
        <p:grpSpPr>
          <a:xfrm>
            <a:off x="9144358" y="2090798"/>
            <a:ext cx="2159635" cy="2304610"/>
            <a:chOff x="4449907" y="3191494"/>
            <a:chExt cx="2159635" cy="2304610"/>
          </a:xfrm>
        </p:grpSpPr>
        <p:grpSp>
          <p:nvGrpSpPr>
            <p:cNvPr id="6" name="组合 5"/>
            <p:cNvGrpSpPr/>
            <p:nvPr/>
          </p:nvGrpSpPr>
          <p:grpSpPr>
            <a:xfrm>
              <a:off x="4449907" y="3191494"/>
              <a:ext cx="2159635" cy="1905240"/>
              <a:chOff x="7411085" y="4840845"/>
              <a:chExt cx="2159635" cy="1905240"/>
            </a:xfrm>
          </p:grpSpPr>
          <p:sp>
            <p:nvSpPr>
              <p:cNvPr id="8" name="椭圆 7"/>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a:endCxn id="8"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8"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endCxn id="9"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endCxn id="9"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10"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endCxn id="8"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endCxn id="10"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8" idx="6"/>
                <a:endCxn id="11"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8" idx="6"/>
                <a:endCxn id="12"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8" idx="6"/>
                <a:endCxn id="13"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8" idx="6"/>
                <a:endCxn id="14"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9" idx="6"/>
                <a:endCxn id="11"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9" idx="6"/>
                <a:endCxn id="12"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9" idx="6"/>
                <a:endCxn id="13"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9" idx="6"/>
                <a:endCxn id="14"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0" idx="6"/>
                <a:endCxn id="11"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0" idx="6"/>
                <a:endCxn id="12"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0" idx="6"/>
                <a:endCxn id="13"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14"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4" idx="6"/>
                <a:endCxn id="15"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3" idx="6"/>
                <a:endCxn id="15"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12" idx="6"/>
                <a:endCxn id="15"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1" idx="6"/>
                <a:endCxn id="15"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5"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7" name="矩形 6"/>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sp>
        <p:nvSpPr>
          <p:cNvPr id="43" name="矩形 42"/>
          <p:cNvSpPr/>
          <p:nvPr/>
        </p:nvSpPr>
        <p:spPr>
          <a:xfrm>
            <a:off x="452717" y="1690688"/>
            <a:ext cx="8455302" cy="400110"/>
          </a:xfrm>
          <a:prstGeom prst="rect">
            <a:avLst/>
          </a:prstGeom>
        </p:spPr>
        <p:txBody>
          <a:bodyPr wrap="square">
            <a:spAutoFit/>
          </a:bodyPr>
          <a:lstStyle/>
          <a:p>
            <a:pPr marL="914400" lvl="1" indent="-457200">
              <a:buFont typeface="Arial" panose="020B0604020202020204" pitchFamily="34" charset="0"/>
              <a:buChar char="•"/>
            </a:pPr>
            <a:r>
              <a:rPr lang="zh-CN" altLang="en-US" sz="2000" b="1" dirty="0">
                <a:solidFill>
                  <a:srgbClr val="C00000"/>
                </a:solidFill>
              </a:rPr>
              <a:t>回归（</a:t>
            </a:r>
            <a:r>
              <a:rPr lang="en-US" altLang="zh-CN" sz="2000" b="1" dirty="0">
                <a:solidFill>
                  <a:srgbClr val="C00000"/>
                </a:solidFill>
              </a:rPr>
              <a:t>Regression</a:t>
            </a:r>
            <a:r>
              <a:rPr lang="zh-CN" altLang="en-US" sz="2000" b="1" dirty="0">
                <a:solidFill>
                  <a:srgbClr val="C00000"/>
                </a:solidFill>
              </a:rPr>
              <a:t>）</a:t>
            </a:r>
            <a:r>
              <a:rPr lang="zh-CN" altLang="en-US" sz="2000" b="1" dirty="0"/>
              <a:t>：模型的输出</a:t>
            </a:r>
            <a:r>
              <a:rPr lang="en-US" altLang="zh-CN" sz="2000" b="1" dirty="0"/>
              <a:t>Label</a:t>
            </a:r>
            <a:r>
              <a:rPr lang="zh-CN" altLang="en-US" sz="2000" b="1" dirty="0"/>
              <a:t>是连续值，即</a:t>
            </a:r>
            <a:r>
              <a:rPr lang="en-US" altLang="zh-CN" sz="2000" b="1" i="1" dirty="0">
                <a:latin typeface="Times New Roman" panose="02020603050405020304" pitchFamily="18" charset="0"/>
                <a:cs typeface="Times New Roman" panose="02020603050405020304" pitchFamily="18" charset="0"/>
              </a:rPr>
              <a:t>y</a:t>
            </a:r>
            <a:r>
              <a:rPr lang="zh-CN" altLang="en-US" sz="2000" b="1" dirty="0"/>
              <a:t>是连续的</a:t>
            </a:r>
            <a:endParaRPr lang="en-US" altLang="zh-CN" sz="2000" b="1" dirty="0"/>
          </a:p>
        </p:txBody>
      </p:sp>
      <p:sp>
        <p:nvSpPr>
          <p:cNvPr id="44" name="矩形 43"/>
          <p:cNvSpPr/>
          <p:nvPr/>
        </p:nvSpPr>
        <p:spPr>
          <a:xfrm>
            <a:off x="452717" y="2557318"/>
            <a:ext cx="8265714" cy="707886"/>
          </a:xfrm>
          <a:prstGeom prst="rect">
            <a:avLst/>
          </a:prstGeom>
        </p:spPr>
        <p:txBody>
          <a:bodyPr wrap="square">
            <a:spAutoFit/>
          </a:bodyPr>
          <a:lstStyle/>
          <a:p>
            <a:pPr marL="914400" lvl="1" indent="-457200">
              <a:buFont typeface="Arial" panose="020B0604020202020204" pitchFamily="34" charset="0"/>
              <a:buChar char="•"/>
            </a:pPr>
            <a:r>
              <a:rPr lang="zh-CN" altLang="en-US" sz="2000" b="1" dirty="0">
                <a:solidFill>
                  <a:srgbClr val="C00000"/>
                </a:solidFill>
              </a:rPr>
              <a:t>分类（</a:t>
            </a:r>
            <a:r>
              <a:rPr lang="en-US" altLang="zh-CN" sz="2000" b="1" dirty="0">
                <a:solidFill>
                  <a:srgbClr val="C00000"/>
                </a:solidFill>
              </a:rPr>
              <a:t>Classification</a:t>
            </a:r>
            <a:r>
              <a:rPr lang="zh-CN" altLang="en-US" sz="2000" b="1" dirty="0">
                <a:solidFill>
                  <a:srgbClr val="C00000"/>
                </a:solidFill>
              </a:rPr>
              <a:t>）</a:t>
            </a:r>
            <a:r>
              <a:rPr lang="zh-CN" altLang="en-US" sz="2000" b="1" dirty="0"/>
              <a:t>：模型的输出</a:t>
            </a:r>
            <a:r>
              <a:rPr lang="en-US" altLang="zh-CN" sz="2000" b="1" dirty="0"/>
              <a:t>Label</a:t>
            </a:r>
            <a:r>
              <a:rPr lang="zh-CN" altLang="en-US" sz="2000" b="1" dirty="0"/>
              <a:t>是类别值，例如</a:t>
            </a:r>
            <a:r>
              <a:rPr lang="en-US" altLang="zh-CN" sz="2000" b="1" dirty="0"/>
              <a:t>y</a:t>
            </a:r>
            <a:r>
              <a:rPr lang="zh-CN" altLang="en-US" sz="2000" b="1" dirty="0"/>
              <a:t>只能取</a:t>
            </a:r>
            <a:r>
              <a:rPr lang="en-US" altLang="zh-CN" sz="2000" b="1" dirty="0"/>
              <a:t>0</a:t>
            </a:r>
            <a:r>
              <a:rPr lang="zh-CN" altLang="en-US" sz="2000" b="1" dirty="0"/>
              <a:t>或</a:t>
            </a:r>
            <a:r>
              <a:rPr lang="en-US" altLang="zh-CN" sz="2000" b="1" dirty="0"/>
              <a:t>1</a:t>
            </a:r>
            <a:r>
              <a:rPr lang="zh-CN" altLang="en-US" sz="2000" b="1" dirty="0"/>
              <a:t>，来表明两类最后根据不同的</a:t>
            </a:r>
            <a:r>
              <a:rPr lang="en-US" altLang="zh-CN" sz="2000" b="1" dirty="0"/>
              <a:t>x</a:t>
            </a:r>
            <a:r>
              <a:rPr lang="zh-CN" altLang="en-US" sz="2000" b="1" dirty="0"/>
              <a:t>应该归到哪一类中</a:t>
            </a:r>
            <a:endParaRPr lang="en-US" altLang="zh-CN" sz="2000" b="1" dirty="0"/>
          </a:p>
        </p:txBody>
      </p:sp>
      <p:graphicFrame>
        <p:nvGraphicFramePr>
          <p:cNvPr id="45" name="对象 44"/>
          <p:cNvGraphicFramePr>
            <a:graphicFrameLocks noChangeAspect="1"/>
          </p:cNvGraphicFramePr>
          <p:nvPr/>
        </p:nvGraphicFramePr>
        <p:xfrm>
          <a:off x="8718431" y="2811504"/>
          <a:ext cx="227013" cy="271463"/>
        </p:xfrm>
        <a:graphic>
          <a:graphicData uri="http://schemas.openxmlformats.org/presentationml/2006/ole">
            <mc:AlternateContent xmlns:mc="http://schemas.openxmlformats.org/markup-compatibility/2006">
              <mc:Choice xmlns:v="urn:schemas-microsoft-com:vml" Requires="v">
                <p:oleObj name="Equation" r:id="rId2" imgW="126720" imgH="139680" progId="Equation.DSMT4">
                  <p:embed/>
                </p:oleObj>
              </mc:Choice>
              <mc:Fallback>
                <p:oleObj name="Equation" r:id="rId2" imgW="126720" imgH="139680" progId="Equation.DSMT4">
                  <p:embed/>
                  <p:pic>
                    <p:nvPicPr>
                      <p:cNvPr id="45" name="对象 44"/>
                      <p:cNvPicPr/>
                      <p:nvPr/>
                    </p:nvPicPr>
                    <p:blipFill>
                      <a:blip r:embed="rId3"/>
                      <a:stretch>
                        <a:fillRect/>
                      </a:stretch>
                    </p:blipFill>
                    <p:spPr>
                      <a:xfrm>
                        <a:off x="8718431" y="2811504"/>
                        <a:ext cx="227013" cy="271463"/>
                      </a:xfrm>
                      <a:prstGeom prst="rect">
                        <a:avLst/>
                      </a:prstGeom>
                    </p:spPr>
                  </p:pic>
                </p:oleObj>
              </mc:Fallback>
            </mc:AlternateContent>
          </a:graphicData>
        </a:graphic>
      </p:graphicFrame>
      <p:graphicFrame>
        <p:nvGraphicFramePr>
          <p:cNvPr id="46" name="对象 45"/>
          <p:cNvGraphicFramePr>
            <a:graphicFrameLocks noChangeAspect="1"/>
          </p:cNvGraphicFramePr>
          <p:nvPr/>
        </p:nvGraphicFramePr>
        <p:xfrm>
          <a:off x="11294151" y="2754641"/>
          <a:ext cx="249238" cy="320675"/>
        </p:xfrm>
        <a:graphic>
          <a:graphicData uri="http://schemas.openxmlformats.org/presentationml/2006/ole">
            <mc:AlternateContent xmlns:mc="http://schemas.openxmlformats.org/markup-compatibility/2006">
              <mc:Choice xmlns:v="urn:schemas-microsoft-com:vml" Requires="v">
                <p:oleObj name="Equation" r:id="rId4" imgW="139680" imgH="164880" progId="Equation.DSMT4">
                  <p:embed/>
                </p:oleObj>
              </mc:Choice>
              <mc:Fallback>
                <p:oleObj name="Equation" r:id="rId4" imgW="139680" imgH="164880" progId="Equation.DSMT4">
                  <p:embed/>
                  <p:pic>
                    <p:nvPicPr>
                      <p:cNvPr id="46" name="对象 45"/>
                      <p:cNvPicPr/>
                      <p:nvPr/>
                    </p:nvPicPr>
                    <p:blipFill>
                      <a:blip r:embed="rId5"/>
                      <a:stretch>
                        <a:fillRect/>
                      </a:stretch>
                    </p:blipFill>
                    <p:spPr>
                      <a:xfrm>
                        <a:off x="11294151" y="2754641"/>
                        <a:ext cx="249238" cy="320675"/>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9536065" y="4370775"/>
          <a:ext cx="1087437" cy="493712"/>
        </p:xfrm>
        <a:graphic>
          <a:graphicData uri="http://schemas.openxmlformats.org/presentationml/2006/ole">
            <mc:AlternateContent xmlns:mc="http://schemas.openxmlformats.org/markup-compatibility/2006">
              <mc:Choice xmlns:v="urn:schemas-microsoft-com:vml" Requires="v">
                <p:oleObj name="Equation" r:id="rId6" imgW="609480" imgH="253800" progId="Equation.DSMT4">
                  <p:embed/>
                </p:oleObj>
              </mc:Choice>
              <mc:Fallback>
                <p:oleObj name="Equation" r:id="rId6" imgW="609480" imgH="253800" progId="Equation.DSMT4">
                  <p:embed/>
                  <p:pic>
                    <p:nvPicPr>
                      <p:cNvPr id="48" name="对象 47"/>
                      <p:cNvPicPr/>
                      <p:nvPr/>
                    </p:nvPicPr>
                    <p:blipFill>
                      <a:blip r:embed="rId7"/>
                      <a:stretch>
                        <a:fillRect/>
                      </a:stretch>
                    </p:blipFill>
                    <p:spPr>
                      <a:xfrm>
                        <a:off x="9536065" y="4370775"/>
                        <a:ext cx="1087437" cy="493712"/>
                      </a:xfrm>
                      <a:prstGeom prst="rect">
                        <a:avLst/>
                      </a:prstGeom>
                    </p:spPr>
                  </p:pic>
                </p:oleObj>
              </mc:Fallback>
            </mc:AlternateContent>
          </a:graphicData>
        </a:graphic>
      </p:graphicFrame>
    </p:spTree>
    <p:extLst>
      <p:ext uri="{BB962C8B-B14F-4D97-AF65-F5344CB8AC3E}">
        <p14:creationId xmlns:p14="http://schemas.microsoft.com/office/powerpoint/2010/main" val="465978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回归与分类 </a:t>
            </a:r>
            <a:r>
              <a:rPr lang="en-US" altLang="zh-CN" dirty="0"/>
              <a:t>Regression &amp; Classification</a:t>
            </a:r>
            <a:endParaRPr lang="zh-CN" altLang="en-US"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48</a:t>
            </a:fld>
            <a:endParaRPr lang="zh-CN" altLang="en-US"/>
          </a:p>
        </p:txBody>
      </p:sp>
      <p:sp>
        <p:nvSpPr>
          <p:cNvPr id="47" name="矩形 46"/>
          <p:cNvSpPr/>
          <p:nvPr/>
        </p:nvSpPr>
        <p:spPr>
          <a:xfrm>
            <a:off x="416141" y="1690688"/>
            <a:ext cx="5241753" cy="707886"/>
          </a:xfrm>
          <a:prstGeom prst="rect">
            <a:avLst/>
          </a:prstGeom>
        </p:spPr>
        <p:txBody>
          <a:bodyPr wrap="square">
            <a:spAutoFit/>
          </a:bodyPr>
          <a:lstStyle/>
          <a:p>
            <a:pPr lvl="1"/>
            <a:r>
              <a:rPr lang="zh-CN" altLang="en-US" sz="2000" b="1" dirty="0">
                <a:solidFill>
                  <a:srgbClr val="C00000"/>
                </a:solidFill>
              </a:rPr>
              <a:t>回归（</a:t>
            </a:r>
            <a:r>
              <a:rPr lang="en-US" altLang="zh-CN" sz="2000" b="1" dirty="0">
                <a:solidFill>
                  <a:srgbClr val="C00000"/>
                </a:solidFill>
              </a:rPr>
              <a:t>Regression</a:t>
            </a:r>
            <a:r>
              <a:rPr lang="zh-CN" altLang="en-US" sz="2000" b="1" dirty="0">
                <a:solidFill>
                  <a:srgbClr val="C00000"/>
                </a:solidFill>
              </a:rPr>
              <a:t>）</a:t>
            </a:r>
            <a:r>
              <a:rPr lang="zh-CN" altLang="en-US" sz="2000" b="1" dirty="0"/>
              <a:t>：模型的输出</a:t>
            </a:r>
            <a:r>
              <a:rPr lang="en-US" altLang="zh-CN" sz="2000" b="1" dirty="0"/>
              <a:t>Label</a:t>
            </a:r>
            <a:r>
              <a:rPr lang="zh-CN" altLang="en-US" sz="2000" b="1" dirty="0"/>
              <a:t>是连续值，即</a:t>
            </a:r>
            <a:r>
              <a:rPr lang="en-US" altLang="zh-CN" sz="2000" b="1" i="1" dirty="0">
                <a:latin typeface="Times New Roman" panose="02020603050405020304" pitchFamily="18" charset="0"/>
                <a:cs typeface="Times New Roman" panose="02020603050405020304" pitchFamily="18" charset="0"/>
              </a:rPr>
              <a:t>y</a:t>
            </a:r>
            <a:r>
              <a:rPr lang="zh-CN" altLang="en-US" sz="2000" b="1" dirty="0"/>
              <a:t>是连续的</a:t>
            </a:r>
            <a:endParaRPr lang="en-US" altLang="zh-CN" sz="2000" b="1" dirty="0"/>
          </a:p>
        </p:txBody>
      </p:sp>
      <p:sp>
        <p:nvSpPr>
          <p:cNvPr id="49" name="矩形 48"/>
          <p:cNvSpPr/>
          <p:nvPr/>
        </p:nvSpPr>
        <p:spPr>
          <a:xfrm>
            <a:off x="5657894" y="1690688"/>
            <a:ext cx="5896268" cy="1015663"/>
          </a:xfrm>
          <a:prstGeom prst="rect">
            <a:avLst/>
          </a:prstGeom>
        </p:spPr>
        <p:txBody>
          <a:bodyPr wrap="square">
            <a:spAutoFit/>
          </a:bodyPr>
          <a:lstStyle/>
          <a:p>
            <a:pPr lvl="1"/>
            <a:r>
              <a:rPr lang="zh-CN" altLang="en-US" sz="2000" b="1" dirty="0">
                <a:solidFill>
                  <a:srgbClr val="C00000"/>
                </a:solidFill>
              </a:rPr>
              <a:t>分类（</a:t>
            </a:r>
            <a:r>
              <a:rPr lang="en-US" altLang="zh-CN" sz="2000" b="1" dirty="0">
                <a:solidFill>
                  <a:srgbClr val="C00000"/>
                </a:solidFill>
              </a:rPr>
              <a:t>Classification</a:t>
            </a:r>
            <a:r>
              <a:rPr lang="zh-CN" altLang="en-US" sz="2000" b="1" dirty="0">
                <a:solidFill>
                  <a:srgbClr val="C00000"/>
                </a:solidFill>
              </a:rPr>
              <a:t>）</a:t>
            </a:r>
            <a:r>
              <a:rPr lang="zh-CN" altLang="en-US" sz="2000" b="1" dirty="0"/>
              <a:t>：模型的输出</a:t>
            </a:r>
            <a:r>
              <a:rPr lang="en-US" altLang="zh-CN" sz="2000" b="1" dirty="0"/>
              <a:t>Label</a:t>
            </a:r>
            <a:r>
              <a:rPr lang="zh-CN" altLang="en-US" sz="2000" b="1" dirty="0"/>
              <a:t>是类别值，例如</a:t>
            </a:r>
            <a:r>
              <a:rPr lang="en-US" altLang="zh-CN" sz="2000" b="1" dirty="0"/>
              <a:t>y</a:t>
            </a:r>
            <a:r>
              <a:rPr lang="zh-CN" altLang="en-US" sz="2000" b="1" dirty="0"/>
              <a:t>只能取</a:t>
            </a:r>
            <a:r>
              <a:rPr lang="en-US" altLang="zh-CN" sz="2000" b="1" dirty="0"/>
              <a:t>0</a:t>
            </a:r>
            <a:r>
              <a:rPr lang="zh-CN" altLang="en-US" sz="2000" b="1" dirty="0"/>
              <a:t>或</a:t>
            </a:r>
            <a:r>
              <a:rPr lang="en-US" altLang="zh-CN" sz="2000" b="1" dirty="0"/>
              <a:t>1</a:t>
            </a:r>
            <a:r>
              <a:rPr lang="zh-CN" altLang="en-US" sz="2000" b="1" dirty="0"/>
              <a:t>，来表明两类最后根据不同的</a:t>
            </a:r>
            <a:r>
              <a:rPr lang="en-US" altLang="zh-CN" sz="2000" b="1" dirty="0"/>
              <a:t>x</a:t>
            </a:r>
            <a:r>
              <a:rPr lang="zh-CN" altLang="en-US" sz="2000" b="1" dirty="0"/>
              <a:t>应该归到哪一类中</a:t>
            </a:r>
            <a:endParaRPr lang="en-US" altLang="zh-CN" sz="2000" b="1" dirty="0"/>
          </a:p>
        </p:txBody>
      </p:sp>
      <p:pic>
        <p:nvPicPr>
          <p:cNvPr id="50" name="图片 49">
            <a:extLst>
              <a:ext uri="{FF2B5EF4-FFF2-40B4-BE49-F238E27FC236}">
                <a16:creationId xmlns:a16="http://schemas.microsoft.com/office/drawing/2014/main" id="{0C3CF6FB-7DFE-4F10-A6E2-8E4F4355F1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407" y="3199131"/>
            <a:ext cx="4047219" cy="2605334"/>
          </a:xfrm>
          <a:prstGeom prst="rect">
            <a:avLst/>
          </a:prstGeom>
        </p:spPr>
      </p:pic>
      <p:sp>
        <p:nvSpPr>
          <p:cNvPr id="3" name="文本框 2"/>
          <p:cNvSpPr txBox="1"/>
          <p:nvPr/>
        </p:nvSpPr>
        <p:spPr>
          <a:xfrm>
            <a:off x="1013407" y="2784330"/>
            <a:ext cx="2596896" cy="369332"/>
          </a:xfrm>
          <a:prstGeom prst="rect">
            <a:avLst/>
          </a:prstGeom>
          <a:noFill/>
        </p:spPr>
        <p:txBody>
          <a:bodyPr wrap="square" rtlCol="0">
            <a:spAutoFit/>
          </a:bodyPr>
          <a:lstStyle/>
          <a:p>
            <a:r>
              <a:rPr lang="zh-CN" altLang="en-US" b="1" dirty="0"/>
              <a:t>例：新冠疫情预测</a:t>
            </a:r>
          </a:p>
        </p:txBody>
      </p:sp>
      <p:sp>
        <p:nvSpPr>
          <p:cNvPr id="51" name="文本框 50"/>
          <p:cNvSpPr txBox="1"/>
          <p:nvPr/>
        </p:nvSpPr>
        <p:spPr>
          <a:xfrm>
            <a:off x="6096000" y="2784330"/>
            <a:ext cx="2596896" cy="369332"/>
          </a:xfrm>
          <a:prstGeom prst="rect">
            <a:avLst/>
          </a:prstGeom>
          <a:noFill/>
        </p:spPr>
        <p:txBody>
          <a:bodyPr wrap="square" rtlCol="0">
            <a:spAutoFit/>
          </a:bodyPr>
          <a:lstStyle/>
          <a:p>
            <a:r>
              <a:rPr lang="zh-CN" altLang="en-US" b="1" dirty="0"/>
              <a:t>例：体温检测</a:t>
            </a:r>
          </a:p>
        </p:txBody>
      </p:sp>
      <p:pic>
        <p:nvPicPr>
          <p:cNvPr id="52" name="图片 51">
            <a:extLst>
              <a:ext uri="{FF2B5EF4-FFF2-40B4-BE49-F238E27FC236}">
                <a16:creationId xmlns:a16="http://schemas.microsoft.com/office/drawing/2014/main" id="{55C751B8-E6E9-4A8F-A612-318749357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182441"/>
            <a:ext cx="4263889" cy="2697819"/>
          </a:xfrm>
          <a:prstGeom prst="rect">
            <a:avLst/>
          </a:prstGeom>
        </p:spPr>
      </p:pic>
    </p:spTree>
    <p:extLst>
      <p:ext uri="{BB962C8B-B14F-4D97-AF65-F5344CB8AC3E}">
        <p14:creationId xmlns:p14="http://schemas.microsoft.com/office/powerpoint/2010/main" val="1144559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C4BFDB-F49B-4365-9A07-79E760987583}"/>
              </a:ext>
            </a:extLst>
          </p:cNvPr>
          <p:cNvSpPr>
            <a:spLocks noGrp="1"/>
          </p:cNvSpPr>
          <p:nvPr>
            <p:ph type="title"/>
          </p:nvPr>
        </p:nvSpPr>
        <p:spPr/>
        <p:txBody>
          <a:bodyPr/>
          <a:lstStyle/>
          <a:p>
            <a:r>
              <a:rPr lang="zh-CN" altLang="en-US" b="1" dirty="0"/>
              <a:t>目录 </a:t>
            </a:r>
            <a:r>
              <a:rPr lang="en-US" altLang="zh-CN" b="1" dirty="0"/>
              <a:t>Content</a:t>
            </a:r>
            <a:endParaRPr lang="zh-CN" altLang="en-US" b="1" dirty="0"/>
          </a:p>
        </p:txBody>
      </p:sp>
      <p:sp>
        <p:nvSpPr>
          <p:cNvPr id="3" name="内容占位符 2">
            <a:extLst>
              <a:ext uri="{FF2B5EF4-FFF2-40B4-BE49-F238E27FC236}">
                <a16:creationId xmlns:a16="http://schemas.microsoft.com/office/drawing/2014/main" id="{487464C1-6AAD-4A92-A8D8-4F78DBC837B2}"/>
              </a:ext>
            </a:extLst>
          </p:cNvPr>
          <p:cNvSpPr>
            <a:spLocks noGrp="1"/>
          </p:cNvSpPr>
          <p:nvPr>
            <p:ph idx="1"/>
          </p:nvPr>
        </p:nvSpPr>
        <p:spPr/>
        <p:txBody>
          <a:bodyPr>
            <a:normAutofit/>
          </a:bodyPr>
          <a:lstStyle/>
          <a:p>
            <a:r>
              <a:rPr lang="zh-CN" altLang="en-US" sz="3200" b="1" dirty="0"/>
              <a:t>分类问题案例：体温检测 </a:t>
            </a:r>
            <a:r>
              <a:rPr lang="en-US" altLang="zh-CN" sz="3200" b="1" dirty="0"/>
              <a:t>Temperature Detection</a:t>
            </a:r>
          </a:p>
          <a:p>
            <a:endParaRPr lang="en-US" altLang="zh-CN" sz="3200" b="1" dirty="0"/>
          </a:p>
          <a:p>
            <a:r>
              <a:rPr lang="zh-CN" altLang="en-US" sz="3200" b="1" dirty="0">
                <a:solidFill>
                  <a:srgbClr val="C00000"/>
                </a:solidFill>
              </a:rPr>
              <a:t>分类问题的讨论 </a:t>
            </a:r>
            <a:r>
              <a:rPr lang="en-US" altLang="zh-CN" sz="3200" b="1" dirty="0">
                <a:solidFill>
                  <a:srgbClr val="C00000"/>
                </a:solidFill>
              </a:rPr>
              <a:t>Discussions on Classification</a:t>
            </a:r>
            <a:endParaRPr lang="zh-CN" altLang="en-US" sz="3200" b="1" dirty="0">
              <a:solidFill>
                <a:srgbClr val="C00000"/>
              </a:solidFill>
            </a:endParaRPr>
          </a:p>
        </p:txBody>
      </p:sp>
      <p:sp>
        <p:nvSpPr>
          <p:cNvPr id="4" name="灯片编号占位符 3">
            <a:extLst>
              <a:ext uri="{FF2B5EF4-FFF2-40B4-BE49-F238E27FC236}">
                <a16:creationId xmlns:a16="http://schemas.microsoft.com/office/drawing/2014/main" id="{56612429-2D6E-483A-8ACA-96CA876CF2CB}"/>
              </a:ext>
            </a:extLst>
          </p:cNvPr>
          <p:cNvSpPr>
            <a:spLocks noGrp="1"/>
          </p:cNvSpPr>
          <p:nvPr>
            <p:ph type="sldNum" sz="quarter" idx="12"/>
          </p:nvPr>
        </p:nvSpPr>
        <p:spPr/>
        <p:txBody>
          <a:bodyPr/>
          <a:lstStyle/>
          <a:p>
            <a:fld id="{C04D5434-05AA-4028-98DA-4ABF0C3BEA2A}" type="slidenum">
              <a:rPr lang="zh-CN" altLang="en-US" smtClean="0"/>
              <a:t>49</a:t>
            </a:fld>
            <a:endParaRPr lang="zh-CN" altLang="en-US"/>
          </a:p>
        </p:txBody>
      </p:sp>
    </p:spTree>
    <p:extLst>
      <p:ext uri="{BB962C8B-B14F-4D97-AF65-F5344CB8AC3E}">
        <p14:creationId xmlns:p14="http://schemas.microsoft.com/office/powerpoint/2010/main" val="20620129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关于分类问题的讨论</a:t>
            </a:r>
            <a:r>
              <a:rPr lang="en-US" altLang="zh-CN" sz="3600" b="1" dirty="0"/>
              <a:t> Discussions on Classification</a:t>
            </a:r>
            <a:endParaRPr lang="zh-CN" altLang="en-US" sz="3600" b="1"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50</a:t>
            </a:fld>
            <a:endParaRPr lang="zh-CN" altLang="en-US"/>
          </a:p>
        </p:txBody>
      </p:sp>
      <p:sp>
        <p:nvSpPr>
          <p:cNvPr id="5" name="矩形 4"/>
          <p:cNvSpPr/>
          <p:nvPr/>
        </p:nvSpPr>
        <p:spPr>
          <a:xfrm>
            <a:off x="426720" y="1532912"/>
            <a:ext cx="10546080" cy="646331"/>
          </a:xfrm>
          <a:prstGeom prst="rect">
            <a:avLst/>
          </a:prstGeom>
        </p:spPr>
        <p:txBody>
          <a:bodyPr wrap="square">
            <a:spAutoFit/>
          </a:bodyPr>
          <a:lstStyle/>
          <a:p>
            <a:pPr lvl="1"/>
            <a:r>
              <a:rPr lang="zh-CN" altLang="en-US" b="1" dirty="0"/>
              <a:t>问题一：衡量模型进行分类好坏的指标是什么？</a:t>
            </a:r>
            <a:endParaRPr lang="en-US" altLang="zh-CN" b="1" dirty="0"/>
          </a:p>
          <a:p>
            <a:pPr lvl="1"/>
            <a:endParaRPr lang="en-US" altLang="zh-CN" b="1" dirty="0"/>
          </a:p>
        </p:txBody>
      </p:sp>
      <p:pic>
        <p:nvPicPr>
          <p:cNvPr id="75" name="图片 7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2264" y="2037015"/>
            <a:ext cx="7147471" cy="3973008"/>
          </a:xfrm>
          <a:prstGeom prst="rect">
            <a:avLst/>
          </a:prstGeom>
        </p:spPr>
      </p:pic>
      <p:sp>
        <p:nvSpPr>
          <p:cNvPr id="77" name="矩形 76"/>
          <p:cNvSpPr/>
          <p:nvPr/>
        </p:nvSpPr>
        <p:spPr>
          <a:xfrm>
            <a:off x="6095999" y="5488087"/>
            <a:ext cx="4413504" cy="646331"/>
          </a:xfrm>
          <a:prstGeom prst="rect">
            <a:avLst/>
          </a:prstGeom>
        </p:spPr>
        <p:txBody>
          <a:bodyPr wrap="square">
            <a:spAutoFit/>
          </a:bodyPr>
          <a:lstStyle/>
          <a:p>
            <a:pPr lvl="1"/>
            <a:r>
              <a:rPr lang="zh-CN" altLang="en-US" b="1" dirty="0"/>
              <a:t>① </a:t>
            </a:r>
            <a:r>
              <a:rPr lang="en-US" altLang="zh-CN" b="1" dirty="0"/>
              <a:t>Training Set</a:t>
            </a:r>
            <a:r>
              <a:rPr lang="zh-CN" altLang="en-US" b="1" dirty="0"/>
              <a:t>数据的</a:t>
            </a:r>
            <a:r>
              <a:rPr lang="zh-CN" altLang="en-US" b="1" dirty="0">
                <a:solidFill>
                  <a:srgbClr val="C00000"/>
                </a:solidFill>
              </a:rPr>
              <a:t>分类准确率 </a:t>
            </a:r>
            <a:r>
              <a:rPr lang="en-US" altLang="zh-CN" b="1" dirty="0">
                <a:solidFill>
                  <a:srgbClr val="C00000"/>
                </a:solidFill>
              </a:rPr>
              <a:t>Accuracy</a:t>
            </a:r>
            <a:r>
              <a:rPr lang="zh-CN" altLang="en-US" b="1" dirty="0"/>
              <a:t>（假指标）</a:t>
            </a:r>
            <a:endParaRPr lang="en-US" altLang="zh-CN" b="1" dirty="0"/>
          </a:p>
        </p:txBody>
      </p:sp>
    </p:spTree>
    <p:extLst>
      <p:ext uri="{BB962C8B-B14F-4D97-AF65-F5344CB8AC3E}">
        <p14:creationId xmlns:p14="http://schemas.microsoft.com/office/powerpoint/2010/main" val="25971555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关于分类问题的讨论</a:t>
            </a:r>
            <a:r>
              <a:rPr lang="en-US" altLang="zh-CN" sz="3600" b="1" dirty="0"/>
              <a:t> Discussions on Classification</a:t>
            </a:r>
            <a:endParaRPr lang="zh-CN" altLang="en-US" sz="3600" b="1"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51</a:t>
            </a:fld>
            <a:endParaRPr lang="zh-CN" altLang="en-US"/>
          </a:p>
        </p:txBody>
      </p:sp>
      <p:sp>
        <p:nvSpPr>
          <p:cNvPr id="5" name="矩形 4"/>
          <p:cNvSpPr/>
          <p:nvPr/>
        </p:nvSpPr>
        <p:spPr>
          <a:xfrm>
            <a:off x="426720" y="1532912"/>
            <a:ext cx="10546080" cy="646331"/>
          </a:xfrm>
          <a:prstGeom prst="rect">
            <a:avLst/>
          </a:prstGeom>
        </p:spPr>
        <p:txBody>
          <a:bodyPr wrap="square">
            <a:spAutoFit/>
          </a:bodyPr>
          <a:lstStyle/>
          <a:p>
            <a:pPr lvl="1"/>
            <a:r>
              <a:rPr lang="zh-CN" altLang="en-US" b="1" dirty="0"/>
              <a:t>问题一：衡量模型进行分类好坏的指标是什么？</a:t>
            </a:r>
            <a:endParaRPr lang="en-US" altLang="zh-CN" b="1" dirty="0"/>
          </a:p>
          <a:p>
            <a:pPr lvl="1"/>
            <a:endParaRPr lang="en-US" altLang="zh-CN" b="1" dirty="0"/>
          </a:p>
        </p:txBody>
      </p:sp>
      <p:pic>
        <p:nvPicPr>
          <p:cNvPr id="75" name="图片 7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2264" y="2037015"/>
            <a:ext cx="7147471" cy="3973008"/>
          </a:xfrm>
          <a:prstGeom prst="rect">
            <a:avLst/>
          </a:prstGeom>
        </p:spPr>
      </p:pic>
      <p:sp>
        <p:nvSpPr>
          <p:cNvPr id="76" name="矩形 75"/>
          <p:cNvSpPr/>
          <p:nvPr/>
        </p:nvSpPr>
        <p:spPr>
          <a:xfrm>
            <a:off x="5837289" y="1589454"/>
            <a:ext cx="4930924" cy="646331"/>
          </a:xfrm>
          <a:prstGeom prst="rect">
            <a:avLst/>
          </a:prstGeom>
        </p:spPr>
        <p:txBody>
          <a:bodyPr wrap="square">
            <a:spAutoFit/>
          </a:bodyPr>
          <a:lstStyle/>
          <a:p>
            <a:pPr lvl="1"/>
            <a:r>
              <a:rPr lang="zh-CN" altLang="en-US" b="1" dirty="0"/>
              <a:t>② </a:t>
            </a:r>
            <a:r>
              <a:rPr lang="en-US" altLang="zh-CN" b="1" dirty="0"/>
              <a:t>Testing Set</a:t>
            </a:r>
            <a:r>
              <a:rPr lang="zh-CN" altLang="en-US" b="1" dirty="0"/>
              <a:t>数据的</a:t>
            </a:r>
            <a:r>
              <a:rPr lang="zh-CN" altLang="en-US" b="1" dirty="0">
                <a:solidFill>
                  <a:srgbClr val="C00000"/>
                </a:solidFill>
              </a:rPr>
              <a:t>分类准确率 </a:t>
            </a:r>
            <a:r>
              <a:rPr lang="en-US" altLang="zh-CN" b="1" dirty="0">
                <a:solidFill>
                  <a:srgbClr val="C00000"/>
                </a:solidFill>
              </a:rPr>
              <a:t>Accuracy</a:t>
            </a:r>
          </a:p>
          <a:p>
            <a:pPr lvl="1"/>
            <a:r>
              <a:rPr lang="zh-CN" altLang="en-US" b="1" dirty="0"/>
              <a:t>（假装的真指标）</a:t>
            </a:r>
            <a:endParaRPr lang="en-US" altLang="zh-CN" b="1" dirty="0"/>
          </a:p>
        </p:txBody>
      </p:sp>
      <p:sp>
        <p:nvSpPr>
          <p:cNvPr id="77" name="矩形 76"/>
          <p:cNvSpPr/>
          <p:nvPr/>
        </p:nvSpPr>
        <p:spPr>
          <a:xfrm>
            <a:off x="6095999" y="5488087"/>
            <a:ext cx="4413504" cy="646331"/>
          </a:xfrm>
          <a:prstGeom prst="rect">
            <a:avLst/>
          </a:prstGeom>
        </p:spPr>
        <p:txBody>
          <a:bodyPr wrap="square">
            <a:spAutoFit/>
          </a:bodyPr>
          <a:lstStyle/>
          <a:p>
            <a:pPr lvl="1"/>
            <a:r>
              <a:rPr lang="zh-CN" altLang="en-US" b="1" dirty="0"/>
              <a:t>① </a:t>
            </a:r>
            <a:r>
              <a:rPr lang="en-US" altLang="zh-CN" b="1" dirty="0"/>
              <a:t>Training Set</a:t>
            </a:r>
            <a:r>
              <a:rPr lang="zh-CN" altLang="en-US" b="1" dirty="0"/>
              <a:t>数据的</a:t>
            </a:r>
            <a:r>
              <a:rPr lang="zh-CN" altLang="en-US" b="1" dirty="0">
                <a:solidFill>
                  <a:srgbClr val="C00000"/>
                </a:solidFill>
              </a:rPr>
              <a:t>分类准确率 </a:t>
            </a:r>
            <a:r>
              <a:rPr lang="en-US" altLang="zh-CN" b="1" dirty="0">
                <a:solidFill>
                  <a:srgbClr val="C00000"/>
                </a:solidFill>
              </a:rPr>
              <a:t>Accuracy</a:t>
            </a:r>
            <a:r>
              <a:rPr lang="zh-CN" altLang="en-US" b="1" dirty="0"/>
              <a:t>（假指标）</a:t>
            </a:r>
            <a:endParaRPr lang="en-US" altLang="zh-CN" b="1" dirty="0"/>
          </a:p>
        </p:txBody>
      </p:sp>
    </p:spTree>
    <p:extLst>
      <p:ext uri="{BB962C8B-B14F-4D97-AF65-F5344CB8AC3E}">
        <p14:creationId xmlns:p14="http://schemas.microsoft.com/office/powerpoint/2010/main" val="2625704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关于分类问题的讨论</a:t>
            </a:r>
            <a:r>
              <a:rPr lang="en-US" altLang="zh-CN" sz="3600" b="1" dirty="0"/>
              <a:t> Discussions on Classification</a:t>
            </a:r>
            <a:endParaRPr lang="zh-CN" altLang="en-US" sz="3600" b="1"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52</a:t>
            </a:fld>
            <a:endParaRPr lang="zh-CN" altLang="en-US"/>
          </a:p>
        </p:txBody>
      </p:sp>
      <p:sp>
        <p:nvSpPr>
          <p:cNvPr id="5" name="矩形 4"/>
          <p:cNvSpPr/>
          <p:nvPr/>
        </p:nvSpPr>
        <p:spPr>
          <a:xfrm>
            <a:off x="426720" y="1532912"/>
            <a:ext cx="10546080" cy="646331"/>
          </a:xfrm>
          <a:prstGeom prst="rect">
            <a:avLst/>
          </a:prstGeom>
        </p:spPr>
        <p:txBody>
          <a:bodyPr wrap="square">
            <a:spAutoFit/>
          </a:bodyPr>
          <a:lstStyle/>
          <a:p>
            <a:pPr lvl="1"/>
            <a:r>
              <a:rPr lang="zh-CN" altLang="en-US" b="1" dirty="0"/>
              <a:t>问题一：衡量模型进行分类好坏的指标是什么？</a:t>
            </a:r>
            <a:endParaRPr lang="en-US" altLang="zh-CN" b="1" dirty="0"/>
          </a:p>
          <a:p>
            <a:pPr lvl="1"/>
            <a:endParaRPr lang="en-US" altLang="zh-CN" b="1" dirty="0"/>
          </a:p>
        </p:txBody>
      </p:sp>
      <p:pic>
        <p:nvPicPr>
          <p:cNvPr id="75" name="图片 7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2264" y="2037015"/>
            <a:ext cx="7147471" cy="3973008"/>
          </a:xfrm>
          <a:prstGeom prst="rect">
            <a:avLst/>
          </a:prstGeom>
        </p:spPr>
      </p:pic>
      <p:sp>
        <p:nvSpPr>
          <p:cNvPr id="76" name="矩形 75"/>
          <p:cNvSpPr/>
          <p:nvPr/>
        </p:nvSpPr>
        <p:spPr>
          <a:xfrm>
            <a:off x="5837289" y="1589454"/>
            <a:ext cx="4930924" cy="646331"/>
          </a:xfrm>
          <a:prstGeom prst="rect">
            <a:avLst/>
          </a:prstGeom>
        </p:spPr>
        <p:txBody>
          <a:bodyPr wrap="square">
            <a:spAutoFit/>
          </a:bodyPr>
          <a:lstStyle/>
          <a:p>
            <a:pPr lvl="1"/>
            <a:r>
              <a:rPr lang="zh-CN" altLang="en-US" b="1" dirty="0"/>
              <a:t>② </a:t>
            </a:r>
            <a:r>
              <a:rPr lang="en-US" altLang="zh-CN" b="1" dirty="0"/>
              <a:t>Testing Set</a:t>
            </a:r>
            <a:r>
              <a:rPr lang="zh-CN" altLang="en-US" b="1" dirty="0"/>
              <a:t>数据的</a:t>
            </a:r>
            <a:r>
              <a:rPr lang="zh-CN" altLang="en-US" b="1" dirty="0">
                <a:solidFill>
                  <a:srgbClr val="C00000"/>
                </a:solidFill>
              </a:rPr>
              <a:t>分类准确率 </a:t>
            </a:r>
            <a:r>
              <a:rPr lang="en-US" altLang="zh-CN" b="1" dirty="0">
                <a:solidFill>
                  <a:srgbClr val="C00000"/>
                </a:solidFill>
              </a:rPr>
              <a:t>Accuracy</a:t>
            </a:r>
          </a:p>
          <a:p>
            <a:pPr lvl="1"/>
            <a:r>
              <a:rPr lang="zh-CN" altLang="en-US" b="1" dirty="0"/>
              <a:t>（假装的真指标）</a:t>
            </a:r>
            <a:endParaRPr lang="en-US" altLang="zh-CN" b="1" dirty="0"/>
          </a:p>
        </p:txBody>
      </p:sp>
      <p:sp>
        <p:nvSpPr>
          <p:cNvPr id="77" name="矩形 76"/>
          <p:cNvSpPr/>
          <p:nvPr/>
        </p:nvSpPr>
        <p:spPr>
          <a:xfrm>
            <a:off x="6095999" y="5488087"/>
            <a:ext cx="4413504" cy="646331"/>
          </a:xfrm>
          <a:prstGeom prst="rect">
            <a:avLst/>
          </a:prstGeom>
        </p:spPr>
        <p:txBody>
          <a:bodyPr wrap="square">
            <a:spAutoFit/>
          </a:bodyPr>
          <a:lstStyle/>
          <a:p>
            <a:pPr lvl="1"/>
            <a:r>
              <a:rPr lang="zh-CN" altLang="en-US" b="1" dirty="0"/>
              <a:t>① </a:t>
            </a:r>
            <a:r>
              <a:rPr lang="en-US" altLang="zh-CN" b="1" dirty="0"/>
              <a:t>Training Set</a:t>
            </a:r>
            <a:r>
              <a:rPr lang="zh-CN" altLang="en-US" b="1" dirty="0"/>
              <a:t>数据的</a:t>
            </a:r>
            <a:r>
              <a:rPr lang="zh-CN" altLang="en-US" b="1" dirty="0">
                <a:solidFill>
                  <a:srgbClr val="C00000"/>
                </a:solidFill>
              </a:rPr>
              <a:t>分类准确率 </a:t>
            </a:r>
            <a:r>
              <a:rPr lang="en-US" altLang="zh-CN" b="1" dirty="0">
                <a:solidFill>
                  <a:srgbClr val="C00000"/>
                </a:solidFill>
              </a:rPr>
              <a:t>Accuracy</a:t>
            </a:r>
            <a:r>
              <a:rPr lang="zh-CN" altLang="en-US" b="1" dirty="0"/>
              <a:t>（假指标）</a:t>
            </a:r>
            <a:endParaRPr lang="en-US" altLang="zh-CN" b="1" dirty="0"/>
          </a:p>
        </p:txBody>
      </p:sp>
      <p:sp>
        <p:nvSpPr>
          <p:cNvPr id="78" name="矩形 77"/>
          <p:cNvSpPr/>
          <p:nvPr/>
        </p:nvSpPr>
        <p:spPr>
          <a:xfrm>
            <a:off x="8208633" y="2458308"/>
            <a:ext cx="4361319" cy="646331"/>
          </a:xfrm>
          <a:prstGeom prst="rect">
            <a:avLst/>
          </a:prstGeom>
        </p:spPr>
        <p:txBody>
          <a:bodyPr wrap="square">
            <a:spAutoFit/>
          </a:bodyPr>
          <a:lstStyle/>
          <a:p>
            <a:pPr lvl="1"/>
            <a:r>
              <a:rPr lang="zh-CN" altLang="en-US" b="1" dirty="0"/>
              <a:t>③ 新数据的</a:t>
            </a:r>
            <a:r>
              <a:rPr lang="zh-CN" altLang="en-US" b="1" dirty="0">
                <a:solidFill>
                  <a:srgbClr val="C00000"/>
                </a:solidFill>
              </a:rPr>
              <a:t>分类准确率 </a:t>
            </a:r>
            <a:r>
              <a:rPr lang="en-US" altLang="zh-CN" b="1" dirty="0">
                <a:solidFill>
                  <a:srgbClr val="C00000"/>
                </a:solidFill>
              </a:rPr>
              <a:t>Accuracy</a:t>
            </a:r>
          </a:p>
          <a:p>
            <a:pPr lvl="1"/>
            <a:r>
              <a:rPr lang="zh-CN" altLang="en-US" b="1" dirty="0"/>
              <a:t>（真指标，但是拿不到）</a:t>
            </a:r>
            <a:endParaRPr lang="en-US" altLang="zh-CN" b="1" dirty="0"/>
          </a:p>
        </p:txBody>
      </p:sp>
    </p:spTree>
    <p:extLst>
      <p:ext uri="{BB962C8B-B14F-4D97-AF65-F5344CB8AC3E}">
        <p14:creationId xmlns:p14="http://schemas.microsoft.com/office/powerpoint/2010/main" val="7950386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关于分类问题的讨论</a:t>
            </a:r>
            <a:r>
              <a:rPr lang="en-US" altLang="zh-CN" sz="3600" b="1" dirty="0"/>
              <a:t> Discussions on Classification</a:t>
            </a:r>
            <a:endParaRPr lang="zh-CN" altLang="en-US" sz="3600" b="1"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53</a:t>
            </a:fld>
            <a:endParaRPr lang="zh-CN" altLang="en-US"/>
          </a:p>
        </p:txBody>
      </p:sp>
      <p:sp>
        <p:nvSpPr>
          <p:cNvPr id="5" name="矩形 4"/>
          <p:cNvSpPr/>
          <p:nvPr/>
        </p:nvSpPr>
        <p:spPr>
          <a:xfrm>
            <a:off x="426720" y="1532912"/>
            <a:ext cx="10546080" cy="646331"/>
          </a:xfrm>
          <a:prstGeom prst="rect">
            <a:avLst/>
          </a:prstGeom>
        </p:spPr>
        <p:txBody>
          <a:bodyPr wrap="square">
            <a:spAutoFit/>
          </a:bodyPr>
          <a:lstStyle/>
          <a:p>
            <a:pPr lvl="1"/>
            <a:r>
              <a:rPr lang="zh-CN" altLang="en-US" b="1" dirty="0"/>
              <a:t>问题一：衡量模型进行分类好坏的指标是什么？</a:t>
            </a:r>
            <a:endParaRPr lang="en-US" altLang="zh-CN" b="1" dirty="0"/>
          </a:p>
          <a:p>
            <a:pPr lvl="1"/>
            <a:endParaRPr lang="en-US" altLang="zh-CN" b="1" dirty="0"/>
          </a:p>
        </p:txBody>
      </p:sp>
      <p:sp>
        <p:nvSpPr>
          <p:cNvPr id="76" name="矩形 75"/>
          <p:cNvSpPr/>
          <p:nvPr/>
        </p:nvSpPr>
        <p:spPr>
          <a:xfrm>
            <a:off x="1045832" y="2102966"/>
            <a:ext cx="9000375" cy="2031325"/>
          </a:xfrm>
          <a:prstGeom prst="rect">
            <a:avLst/>
          </a:prstGeom>
        </p:spPr>
        <p:txBody>
          <a:bodyPr wrap="square">
            <a:spAutoFit/>
          </a:bodyPr>
          <a:lstStyle/>
          <a:p>
            <a:pPr lvl="1"/>
            <a:r>
              <a:rPr lang="en-US" altLang="zh-CN" b="1" dirty="0"/>
              <a:t>&lt;</a:t>
            </a:r>
            <a:r>
              <a:rPr lang="en-US" altLang="zh-CN" b="1" dirty="0" err="1"/>
              <a:t>i</a:t>
            </a:r>
            <a:r>
              <a:rPr lang="en-US" altLang="zh-CN" b="1" dirty="0"/>
              <a:t>&gt; </a:t>
            </a:r>
            <a:r>
              <a:rPr lang="zh-CN" altLang="en-US" b="1" dirty="0"/>
              <a:t>分类准确率 </a:t>
            </a:r>
            <a:r>
              <a:rPr lang="en-US" altLang="zh-CN" b="1" dirty="0"/>
              <a:t>Accuracy</a:t>
            </a:r>
          </a:p>
          <a:p>
            <a:pPr lvl="1"/>
            <a:endParaRPr lang="en-US" altLang="zh-CN" b="1" dirty="0"/>
          </a:p>
          <a:p>
            <a:pPr lvl="1"/>
            <a:r>
              <a:rPr lang="en-US" altLang="zh-CN" b="1" dirty="0"/>
              <a:t>&lt;ii&gt;</a:t>
            </a:r>
            <a:r>
              <a:rPr lang="zh-CN" altLang="en-US" b="1" dirty="0"/>
              <a:t>除了准确率，还有其他的，例如</a:t>
            </a:r>
            <a:r>
              <a:rPr lang="en-US" altLang="zh-CN" b="1" dirty="0"/>
              <a:t>ROC curve</a:t>
            </a:r>
            <a:r>
              <a:rPr lang="zh-CN" altLang="en-US" b="1" dirty="0"/>
              <a:t>，</a:t>
            </a:r>
            <a:r>
              <a:rPr lang="en-US" altLang="zh-CN" b="1" dirty="0" err="1"/>
              <a:t>AUC</a:t>
            </a:r>
            <a:r>
              <a:rPr lang="zh-CN" altLang="en-US" b="1" dirty="0"/>
              <a:t>值等</a:t>
            </a:r>
            <a:r>
              <a:rPr lang="en-US" altLang="zh-CN" b="1" dirty="0"/>
              <a:t>…</a:t>
            </a:r>
          </a:p>
          <a:p>
            <a:pPr lvl="1"/>
            <a:endParaRPr lang="en-US" altLang="zh-CN" b="1" dirty="0"/>
          </a:p>
          <a:p>
            <a:pPr lvl="1"/>
            <a:r>
              <a:rPr lang="zh-CN" altLang="en-US" b="1" dirty="0"/>
              <a:t>具体指标要根据实际问题定量化分析，不要太死板，以上只是比较常用而已，也可以根据实际问题定义别的</a:t>
            </a:r>
            <a:endParaRPr lang="en-US" altLang="zh-CN" b="1" dirty="0"/>
          </a:p>
          <a:p>
            <a:pPr lvl="1"/>
            <a:endParaRPr lang="en-US" altLang="zh-CN" b="1" dirty="0"/>
          </a:p>
        </p:txBody>
      </p:sp>
    </p:spTree>
    <p:extLst>
      <p:ext uri="{BB962C8B-B14F-4D97-AF65-F5344CB8AC3E}">
        <p14:creationId xmlns:p14="http://schemas.microsoft.com/office/powerpoint/2010/main" val="1202726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关于分类问题的讨论</a:t>
            </a:r>
            <a:r>
              <a:rPr lang="en-US" altLang="zh-CN" sz="3600" b="1" dirty="0"/>
              <a:t> Discussions on Classification</a:t>
            </a:r>
            <a:endParaRPr lang="zh-CN" altLang="en-US" sz="3600" b="1"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54</a:t>
            </a:fld>
            <a:endParaRPr lang="zh-CN" altLang="en-US"/>
          </a:p>
        </p:txBody>
      </p:sp>
      <p:sp>
        <p:nvSpPr>
          <p:cNvPr id="3" name="矩形 2"/>
          <p:cNvSpPr/>
          <p:nvPr/>
        </p:nvSpPr>
        <p:spPr>
          <a:xfrm>
            <a:off x="402336" y="1481329"/>
            <a:ext cx="10838688" cy="369332"/>
          </a:xfrm>
          <a:prstGeom prst="rect">
            <a:avLst/>
          </a:prstGeom>
        </p:spPr>
        <p:txBody>
          <a:bodyPr wrap="square">
            <a:spAutoFit/>
          </a:bodyPr>
          <a:lstStyle/>
          <a:p>
            <a:pPr lvl="1"/>
            <a:r>
              <a:rPr lang="zh-CN" altLang="en-US" b="1" dirty="0"/>
              <a:t>问题二：每个样本特征（</a:t>
            </a:r>
            <a:r>
              <a:rPr lang="en-US" altLang="zh-CN" b="1" dirty="0"/>
              <a:t>Feature</a:t>
            </a:r>
            <a:r>
              <a:rPr lang="zh-CN" altLang="en-US" b="1" dirty="0"/>
              <a:t>），也就是模型中的</a:t>
            </a:r>
            <a:r>
              <a:rPr lang="en-US" altLang="zh-CN" b="1" dirty="0"/>
              <a:t>x</a:t>
            </a:r>
            <a:r>
              <a:rPr lang="zh-CN" altLang="en-US" b="1" dirty="0"/>
              <a:t>，必须是一个数么？</a:t>
            </a:r>
            <a:endParaRPr lang="en-US" altLang="zh-CN" b="1" dirty="0"/>
          </a:p>
        </p:txBody>
      </p:sp>
      <p:pic>
        <p:nvPicPr>
          <p:cNvPr id="7" name="图片 6">
            <a:extLst>
              <a:ext uri="{FF2B5EF4-FFF2-40B4-BE49-F238E27FC236}">
                <a16:creationId xmlns:a16="http://schemas.microsoft.com/office/drawing/2014/main" id="{0C3CF6FB-7DFE-4F10-A6E2-8E4F4355F1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848" y="2175002"/>
            <a:ext cx="4047219" cy="2605334"/>
          </a:xfrm>
          <a:prstGeom prst="rect">
            <a:avLst/>
          </a:prstGeom>
        </p:spPr>
      </p:pic>
      <p:pic>
        <p:nvPicPr>
          <p:cNvPr id="10" name="图片 9">
            <a:extLst>
              <a:ext uri="{FF2B5EF4-FFF2-40B4-BE49-F238E27FC236}">
                <a16:creationId xmlns:a16="http://schemas.microsoft.com/office/drawing/2014/main" id="{55C751B8-E6E9-4A8F-A612-3187493571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28760"/>
            <a:ext cx="4263889" cy="2697819"/>
          </a:xfrm>
          <a:prstGeom prst="rect">
            <a:avLst/>
          </a:prstGeom>
        </p:spPr>
      </p:pic>
      <p:graphicFrame>
        <p:nvGraphicFramePr>
          <p:cNvPr id="11" name="对象 10"/>
          <p:cNvGraphicFramePr>
            <a:graphicFrameLocks noChangeAspect="1"/>
          </p:cNvGraphicFramePr>
          <p:nvPr>
            <p:extLst>
              <p:ext uri="{D42A27DB-BD31-4B8C-83A1-F6EECF244321}">
                <p14:modId xmlns:p14="http://schemas.microsoft.com/office/powerpoint/2010/main" val="3741034385"/>
              </p:ext>
            </p:extLst>
          </p:nvPr>
        </p:nvGraphicFramePr>
        <p:xfrm>
          <a:off x="2432876" y="5113098"/>
          <a:ext cx="1778720" cy="474909"/>
        </p:xfrm>
        <a:graphic>
          <a:graphicData uri="http://schemas.openxmlformats.org/presentationml/2006/ole">
            <mc:AlternateContent xmlns:mc="http://schemas.openxmlformats.org/markup-compatibility/2006">
              <mc:Choice xmlns:v="urn:schemas-microsoft-com:vml" Requires="v">
                <p:oleObj name="Equation" r:id="rId4" imgW="1015920" imgH="253800" progId="Equation.DSMT4">
                  <p:embed/>
                </p:oleObj>
              </mc:Choice>
              <mc:Fallback>
                <p:oleObj name="Equation" r:id="rId4" imgW="1015920" imgH="253800" progId="Equation.DSMT4">
                  <p:embed/>
                  <p:pic>
                    <p:nvPicPr>
                      <p:cNvPr id="15" name="对象 14"/>
                      <p:cNvPicPr/>
                      <p:nvPr/>
                    </p:nvPicPr>
                    <p:blipFill>
                      <a:blip r:embed="rId5"/>
                      <a:stretch>
                        <a:fillRect/>
                      </a:stretch>
                    </p:blipFill>
                    <p:spPr>
                      <a:xfrm>
                        <a:off x="2432876" y="5113098"/>
                        <a:ext cx="1778720" cy="47490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2144685853"/>
              </p:ext>
            </p:extLst>
          </p:nvPr>
        </p:nvGraphicFramePr>
        <p:xfrm>
          <a:off x="7018256" y="4926148"/>
          <a:ext cx="2419376" cy="787269"/>
        </p:xfrm>
        <a:graphic>
          <a:graphicData uri="http://schemas.openxmlformats.org/presentationml/2006/ole">
            <mc:AlternateContent xmlns:mc="http://schemas.openxmlformats.org/markup-compatibility/2006">
              <mc:Choice xmlns:v="urn:schemas-microsoft-com:vml" Requires="v">
                <p:oleObj name="Equation" r:id="rId6" imgW="1231560" imgH="406080" progId="Equation.DSMT4">
                  <p:embed/>
                </p:oleObj>
              </mc:Choice>
              <mc:Fallback>
                <p:oleObj name="Equation" r:id="rId6" imgW="1231560" imgH="406080" progId="Equation.DSMT4">
                  <p:embed/>
                  <p:pic>
                    <p:nvPicPr>
                      <p:cNvPr id="15" name="对象 14">
                        <a:extLst>
                          <a:ext uri="{FF2B5EF4-FFF2-40B4-BE49-F238E27FC236}">
                            <a16:creationId xmlns:a16="http://schemas.microsoft.com/office/drawing/2014/main" id="{CF796419-9983-4CB7-B436-22D6DA59EE34}"/>
                          </a:ext>
                        </a:extLst>
                      </p:cNvPr>
                      <p:cNvPicPr>
                        <a:picLocks noChangeAspect="1" noChangeArrowheads="1"/>
                      </p:cNvPicPr>
                      <p:nvPr/>
                    </p:nvPicPr>
                    <p:blipFill>
                      <a:blip r:embed="rId7"/>
                      <a:srcRect/>
                      <a:stretch>
                        <a:fillRect/>
                      </a:stretch>
                    </p:blipFill>
                    <p:spPr bwMode="auto">
                      <a:xfrm>
                        <a:off x="7018256" y="4926148"/>
                        <a:ext cx="2419376" cy="787269"/>
                      </a:xfrm>
                      <a:prstGeom prst="rect">
                        <a:avLst/>
                      </a:prstGeom>
                      <a:noFill/>
                    </p:spPr>
                  </p:pic>
                </p:oleObj>
              </mc:Fallback>
            </mc:AlternateContent>
          </a:graphicData>
        </a:graphic>
      </p:graphicFrame>
      <p:sp>
        <p:nvSpPr>
          <p:cNvPr id="6" name="矩形 5"/>
          <p:cNvSpPr/>
          <p:nvPr/>
        </p:nvSpPr>
        <p:spPr>
          <a:xfrm>
            <a:off x="4011168" y="5169408"/>
            <a:ext cx="200428" cy="38202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162288" y="5323274"/>
            <a:ext cx="115824" cy="289118"/>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837364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关于分类问题的讨论</a:t>
            </a:r>
            <a:r>
              <a:rPr lang="en-US" altLang="zh-CN" sz="3600" b="1" dirty="0"/>
              <a:t> Discussions on Classification</a:t>
            </a:r>
            <a:endParaRPr lang="zh-CN" altLang="en-US" sz="3600" b="1"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55</a:t>
            </a:fld>
            <a:endParaRPr lang="zh-CN" altLang="en-US"/>
          </a:p>
        </p:txBody>
      </p:sp>
      <p:sp>
        <p:nvSpPr>
          <p:cNvPr id="3" name="矩形 2"/>
          <p:cNvSpPr/>
          <p:nvPr/>
        </p:nvSpPr>
        <p:spPr>
          <a:xfrm>
            <a:off x="402336" y="1481329"/>
            <a:ext cx="10838688" cy="369332"/>
          </a:xfrm>
          <a:prstGeom prst="rect">
            <a:avLst/>
          </a:prstGeom>
        </p:spPr>
        <p:txBody>
          <a:bodyPr wrap="square">
            <a:spAutoFit/>
          </a:bodyPr>
          <a:lstStyle/>
          <a:p>
            <a:pPr lvl="1"/>
            <a:r>
              <a:rPr lang="zh-CN" altLang="en-US" b="1" dirty="0"/>
              <a:t>问题二：每个样本特征（</a:t>
            </a:r>
            <a:r>
              <a:rPr lang="en-US" altLang="zh-CN" b="1" dirty="0"/>
              <a:t>Feature</a:t>
            </a:r>
            <a:r>
              <a:rPr lang="zh-CN" altLang="en-US" b="1" dirty="0"/>
              <a:t>），也就是模型中的</a:t>
            </a:r>
            <a:r>
              <a:rPr lang="en-US" altLang="zh-CN" b="1" dirty="0"/>
              <a:t>x</a:t>
            </a:r>
            <a:r>
              <a:rPr lang="zh-CN" altLang="en-US" b="1" dirty="0"/>
              <a:t>，必须是一个数么？</a:t>
            </a:r>
            <a:endParaRPr lang="en-US" altLang="zh-CN" b="1" dirty="0"/>
          </a:p>
        </p:txBody>
      </p:sp>
      <p:sp>
        <p:nvSpPr>
          <p:cNvPr id="9" name="椭圆 8"/>
          <p:cNvSpPr/>
          <p:nvPr/>
        </p:nvSpPr>
        <p:spPr>
          <a:xfrm>
            <a:off x="2877313" y="2875115"/>
            <a:ext cx="1392382" cy="26392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7705622" y="2875115"/>
            <a:ext cx="1392382" cy="2639291"/>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38200" y="1923614"/>
            <a:ext cx="10946753" cy="646331"/>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t>对于函数定义</a:t>
            </a:r>
            <a:r>
              <a:rPr lang="zh-CN" altLang="en-US" b="1" dirty="0">
                <a:solidFill>
                  <a:srgbClr val="C00000"/>
                </a:solidFill>
              </a:rPr>
              <a:t>不局限于</a:t>
            </a:r>
            <a:r>
              <a:rPr lang="zh-CN" altLang="en-US" dirty="0"/>
              <a:t>“</a:t>
            </a:r>
            <a:r>
              <a:rPr lang="zh-CN" altLang="en-US" dirty="0">
                <a:solidFill>
                  <a:srgbClr val="C00000"/>
                </a:solidFill>
              </a:rPr>
              <a:t>数</a:t>
            </a:r>
            <a:r>
              <a:rPr lang="en-US" altLang="zh-CN" dirty="0">
                <a:solidFill>
                  <a:srgbClr val="C00000"/>
                </a:solidFill>
              </a:rPr>
              <a:t>-</a:t>
            </a:r>
            <a:r>
              <a:rPr lang="zh-CN" altLang="en-US" dirty="0">
                <a:solidFill>
                  <a:srgbClr val="C00000"/>
                </a:solidFill>
              </a:rPr>
              <a:t>数”的对应关系（与中学数学课本需要区分，</a:t>
            </a:r>
            <a:r>
              <a:rPr lang="zh-CN" altLang="en-US" dirty="0"/>
              <a:t>而是两个集合间</a:t>
            </a:r>
            <a:r>
              <a:rPr lang="zh-CN" altLang="en-US" b="1" dirty="0">
                <a:solidFill>
                  <a:srgbClr val="C00000"/>
                </a:solidFill>
              </a:rPr>
              <a:t>元素</a:t>
            </a:r>
            <a:r>
              <a:rPr lang="zh-CN" altLang="en-US" dirty="0"/>
              <a:t>的对应关系。</a:t>
            </a:r>
            <a:endParaRPr lang="en-US" altLang="zh-CN" dirty="0"/>
          </a:p>
          <a:p>
            <a:pPr marL="342900" indent="-342900">
              <a:buFont typeface="Arial" panose="020B0604020202020204" pitchFamily="34" charset="0"/>
              <a:buChar char="•"/>
            </a:pPr>
            <a:r>
              <a:rPr lang="zh-CN" altLang="en-US" dirty="0"/>
              <a:t>这个元素是什么都行，所以机器学习（决策函数）一样，样本特征</a:t>
            </a:r>
            <a:r>
              <a:rPr lang="en-US" altLang="zh-CN" dirty="0"/>
              <a:t>x</a:t>
            </a:r>
            <a:r>
              <a:rPr lang="zh-CN" altLang="en-US" dirty="0"/>
              <a:t>未必是一个数。</a:t>
            </a:r>
          </a:p>
        </p:txBody>
      </p:sp>
      <p:sp>
        <p:nvSpPr>
          <p:cNvPr id="15" name="矩形 14"/>
          <p:cNvSpPr/>
          <p:nvPr/>
        </p:nvSpPr>
        <p:spPr>
          <a:xfrm>
            <a:off x="3396212" y="5589514"/>
            <a:ext cx="354584" cy="461665"/>
          </a:xfrm>
          <a:prstGeom prst="rect">
            <a:avLst/>
          </a:prstGeom>
        </p:spPr>
        <p:txBody>
          <a:bodyPr wrap="square">
            <a:spAutoFit/>
          </a:bodyPr>
          <a:lstStyle/>
          <a:p>
            <a:r>
              <a:rPr lang="en-US" altLang="zh-CN" sz="2400" b="1" dirty="0"/>
              <a:t>X</a:t>
            </a:r>
            <a:endParaRPr lang="zh-CN" altLang="en-US" sz="2400" dirty="0"/>
          </a:p>
        </p:txBody>
      </p:sp>
      <p:sp>
        <p:nvSpPr>
          <p:cNvPr id="16" name="矩形 15"/>
          <p:cNvSpPr/>
          <p:nvPr/>
        </p:nvSpPr>
        <p:spPr>
          <a:xfrm>
            <a:off x="8297257" y="5589514"/>
            <a:ext cx="354584" cy="461665"/>
          </a:xfrm>
          <a:prstGeom prst="rect">
            <a:avLst/>
          </a:prstGeom>
        </p:spPr>
        <p:txBody>
          <a:bodyPr wrap="square">
            <a:spAutoFit/>
          </a:bodyPr>
          <a:lstStyle/>
          <a:p>
            <a:r>
              <a:rPr lang="en-US" altLang="zh-CN" sz="2400" dirty="0"/>
              <a:t>Y</a:t>
            </a:r>
            <a:endParaRPr lang="zh-CN" altLang="en-US" sz="2400" dirty="0"/>
          </a:p>
        </p:txBody>
      </p:sp>
      <p:cxnSp>
        <p:nvCxnSpPr>
          <p:cNvPr id="17" name="直接箭头连接符 16"/>
          <p:cNvCxnSpPr>
            <a:stCxn id="9" idx="6"/>
            <a:endCxn id="13" idx="2"/>
          </p:cNvCxnSpPr>
          <p:nvPr/>
        </p:nvCxnSpPr>
        <p:spPr>
          <a:xfrm>
            <a:off x="4269695" y="4194761"/>
            <a:ext cx="343592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对象 17">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985951851"/>
              </p:ext>
            </p:extLst>
          </p:nvPr>
        </p:nvGraphicFramePr>
        <p:xfrm>
          <a:off x="5664532" y="3190815"/>
          <a:ext cx="772896" cy="476337"/>
        </p:xfrm>
        <a:graphic>
          <a:graphicData uri="http://schemas.openxmlformats.org/presentationml/2006/ole">
            <mc:AlternateContent xmlns:mc="http://schemas.openxmlformats.org/markup-compatibility/2006">
              <mc:Choice xmlns:v="urn:schemas-microsoft-com:vml" Requires="v">
                <p:oleObj name="Equation" r:id="rId2" imgW="406080" imgH="253800" progId="Equation.DSMT4">
                  <p:embed/>
                </p:oleObj>
              </mc:Choice>
              <mc:Fallback>
                <p:oleObj name="Equation" r:id="rId2" imgW="406080" imgH="253800" progId="Equation.DSMT4">
                  <p:embed/>
                  <p:pic>
                    <p:nvPicPr>
                      <p:cNvPr id="11" name="对象 10">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5664532" y="3190815"/>
                        <a:ext cx="772896" cy="476337"/>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433318308"/>
              </p:ext>
            </p:extLst>
          </p:nvPr>
        </p:nvGraphicFramePr>
        <p:xfrm>
          <a:off x="3448885" y="3395689"/>
          <a:ext cx="249238" cy="271463"/>
        </p:xfrm>
        <a:graphic>
          <a:graphicData uri="http://schemas.openxmlformats.org/presentationml/2006/ole">
            <mc:AlternateContent xmlns:mc="http://schemas.openxmlformats.org/markup-compatibility/2006">
              <mc:Choice xmlns:v="urn:schemas-microsoft-com:vml" Requires="v">
                <p:oleObj name="Equation" r:id="rId4" imgW="126720" imgH="139680" progId="Equation.DSMT4">
                  <p:embed/>
                </p:oleObj>
              </mc:Choice>
              <mc:Fallback>
                <p:oleObj name="Equation" r:id="rId4" imgW="126720" imgH="139680" progId="Equation.DSMT4">
                  <p:embed/>
                  <p:pic>
                    <p:nvPicPr>
                      <p:cNvPr id="12" name="对象 11">
                        <a:extLst>
                          <a:ext uri="{FF2B5EF4-FFF2-40B4-BE49-F238E27FC236}">
                            <a16:creationId xmlns:a16="http://schemas.microsoft.com/office/drawing/2014/main" id="{CF796419-9983-4CB7-B436-22D6DA59EE34}"/>
                          </a:ext>
                        </a:extLst>
                      </p:cNvPr>
                      <p:cNvPicPr>
                        <a:picLocks noChangeAspect="1" noChangeArrowheads="1"/>
                      </p:cNvPicPr>
                      <p:nvPr/>
                    </p:nvPicPr>
                    <p:blipFill>
                      <a:blip r:embed="rId5"/>
                      <a:srcRect/>
                      <a:stretch>
                        <a:fillRect/>
                      </a:stretch>
                    </p:blipFill>
                    <p:spPr bwMode="auto">
                      <a:xfrm>
                        <a:off x="3448885" y="3395689"/>
                        <a:ext cx="249238" cy="271463"/>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2863713193"/>
              </p:ext>
            </p:extLst>
          </p:nvPr>
        </p:nvGraphicFramePr>
        <p:xfrm>
          <a:off x="8265287" y="3473601"/>
          <a:ext cx="274638" cy="320675"/>
        </p:xfrm>
        <a:graphic>
          <a:graphicData uri="http://schemas.openxmlformats.org/presentationml/2006/ole">
            <mc:AlternateContent xmlns:mc="http://schemas.openxmlformats.org/markup-compatibility/2006">
              <mc:Choice xmlns:v="urn:schemas-microsoft-com:vml" Requires="v">
                <p:oleObj name="Equation" r:id="rId6" imgW="139680" imgH="164880" progId="Equation.DSMT4">
                  <p:embed/>
                </p:oleObj>
              </mc:Choice>
              <mc:Fallback>
                <p:oleObj name="Equation" r:id="rId6" imgW="139680" imgH="164880" progId="Equation.DSMT4">
                  <p:embed/>
                  <p:pic>
                    <p:nvPicPr>
                      <p:cNvPr id="13" name="对象 12">
                        <a:extLst>
                          <a:ext uri="{FF2B5EF4-FFF2-40B4-BE49-F238E27FC236}">
                            <a16:creationId xmlns:a16="http://schemas.microsoft.com/office/drawing/2014/main" id="{CF796419-9983-4CB7-B436-22D6DA59EE34}"/>
                          </a:ext>
                        </a:extLst>
                      </p:cNvPr>
                      <p:cNvPicPr>
                        <a:picLocks noChangeAspect="1" noChangeArrowheads="1"/>
                      </p:cNvPicPr>
                      <p:nvPr/>
                    </p:nvPicPr>
                    <p:blipFill>
                      <a:blip r:embed="rId7"/>
                      <a:srcRect/>
                      <a:stretch>
                        <a:fillRect/>
                      </a:stretch>
                    </p:blipFill>
                    <p:spPr bwMode="auto">
                      <a:xfrm>
                        <a:off x="8265287" y="3473601"/>
                        <a:ext cx="274638" cy="320675"/>
                      </a:xfrm>
                      <a:prstGeom prst="rect">
                        <a:avLst/>
                      </a:prstGeom>
                      <a:noFill/>
                    </p:spPr>
                  </p:pic>
                </p:oleObj>
              </mc:Fallback>
            </mc:AlternateContent>
          </a:graphicData>
        </a:graphic>
      </p:graphicFrame>
      <p:cxnSp>
        <p:nvCxnSpPr>
          <p:cNvPr id="21" name="直接箭头连接符 20"/>
          <p:cNvCxnSpPr/>
          <p:nvPr/>
        </p:nvCxnSpPr>
        <p:spPr>
          <a:xfrm flipV="1">
            <a:off x="3632387" y="3450164"/>
            <a:ext cx="1848643" cy="57819"/>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6753122" y="3459579"/>
            <a:ext cx="1512165" cy="160336"/>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对象 22">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648507100"/>
              </p:ext>
            </p:extLst>
          </p:nvPr>
        </p:nvGraphicFramePr>
        <p:xfrm>
          <a:off x="2877313" y="3836249"/>
          <a:ext cx="1420813" cy="493712"/>
        </p:xfrm>
        <a:graphic>
          <a:graphicData uri="http://schemas.openxmlformats.org/presentationml/2006/ole">
            <mc:AlternateContent xmlns:mc="http://schemas.openxmlformats.org/markup-compatibility/2006">
              <mc:Choice xmlns:v="urn:schemas-microsoft-com:vml" Requires="v">
                <p:oleObj name="Equation" r:id="rId8" imgW="723600" imgH="253800" progId="Equation.DSMT4">
                  <p:embed/>
                </p:oleObj>
              </mc:Choice>
              <mc:Fallback>
                <p:oleObj name="Equation" r:id="rId8" imgW="723600" imgH="253800" progId="Equation.DSMT4">
                  <p:embed/>
                  <p:pic>
                    <p:nvPicPr>
                      <p:cNvPr id="19" name="对象 18">
                        <a:extLst>
                          <a:ext uri="{FF2B5EF4-FFF2-40B4-BE49-F238E27FC236}">
                            <a16:creationId xmlns:a16="http://schemas.microsoft.com/office/drawing/2014/main" id="{CF796419-9983-4CB7-B436-22D6DA59EE34}"/>
                          </a:ext>
                        </a:extLst>
                      </p:cNvPr>
                      <p:cNvPicPr>
                        <a:picLocks noChangeAspect="1" noChangeArrowheads="1"/>
                      </p:cNvPicPr>
                      <p:nvPr/>
                    </p:nvPicPr>
                    <p:blipFill>
                      <a:blip r:embed="rId9"/>
                      <a:srcRect/>
                      <a:stretch>
                        <a:fillRect/>
                      </a:stretch>
                    </p:blipFill>
                    <p:spPr bwMode="auto">
                      <a:xfrm>
                        <a:off x="2877313" y="3836249"/>
                        <a:ext cx="1420813" cy="493712"/>
                      </a:xfrm>
                      <a:prstGeom prst="rect">
                        <a:avLst/>
                      </a:prstGeom>
                      <a:noFill/>
                    </p:spPr>
                  </p:pic>
                </p:oleObj>
              </mc:Fallback>
            </mc:AlternateContent>
          </a:graphicData>
        </a:graphic>
      </p:graphicFrame>
      <p:pic>
        <p:nvPicPr>
          <p:cNvPr id="24" name="图片 23">
            <a:extLst>
              <a:ext uri="{FF2B5EF4-FFF2-40B4-BE49-F238E27FC236}">
                <a16:creationId xmlns:a16="http://schemas.microsoft.com/office/drawing/2014/main" id="{3BB69D57-CD69-48B9-BAE7-496A5176E667}"/>
              </a:ext>
            </a:extLst>
          </p:cNvPr>
          <p:cNvPicPr>
            <a:picLocks noChangeAspect="1"/>
          </p:cNvPicPr>
          <p:nvPr/>
        </p:nvPicPr>
        <p:blipFill>
          <a:blip r:embed="rId10"/>
          <a:stretch>
            <a:fillRect/>
          </a:stretch>
        </p:blipFill>
        <p:spPr>
          <a:xfrm>
            <a:off x="3313966" y="4405069"/>
            <a:ext cx="636841" cy="636841"/>
          </a:xfrm>
          <a:prstGeom prst="rect">
            <a:avLst/>
          </a:prstGeom>
          <a:effectLst>
            <a:softEdge rad="63500"/>
          </a:effectLst>
        </p:spPr>
      </p:pic>
    </p:spTree>
    <p:extLst>
      <p:ext uri="{BB962C8B-B14F-4D97-AF65-F5344CB8AC3E}">
        <p14:creationId xmlns:p14="http://schemas.microsoft.com/office/powerpoint/2010/main" val="9919058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56</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pic>
        <p:nvPicPr>
          <p:cNvPr id="6"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1866" y="2748151"/>
            <a:ext cx="1304261" cy="9189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5920" y="5150691"/>
            <a:ext cx="1240281" cy="94503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69783" y="5190677"/>
            <a:ext cx="1368474" cy="9363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58418" y="3973748"/>
            <a:ext cx="1495287" cy="870257"/>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67601" y="2514096"/>
            <a:ext cx="1172838" cy="1172838"/>
          </a:xfrm>
          <a:prstGeom prst="rect">
            <a:avLst/>
          </a:prstGeom>
        </p:spPr>
      </p:pic>
      <p:pic>
        <p:nvPicPr>
          <p:cNvPr id="11"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88194" y="3843050"/>
            <a:ext cx="1131652" cy="1131652"/>
          </a:xfrm>
          <a:prstGeom prst="rect">
            <a:avLst/>
          </a:prstGeom>
          <a:noFill/>
          <a:extLst>
            <a:ext uri="{909E8E84-426E-40DD-AFC4-6F175D3DCCD1}">
              <a14:hiddenFill xmlns:a14="http://schemas.microsoft.com/office/drawing/2010/main">
                <a:solidFill>
                  <a:srgbClr val="FFFFFF"/>
                </a:solidFill>
              </a14:hiddenFill>
            </a:ext>
          </a:extLst>
        </p:spPr>
      </p:pic>
      <p:pic>
        <p:nvPicPr>
          <p:cNvPr id="12" name="图片 11">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6041083" y="2536755"/>
            <a:ext cx="1172838" cy="1172838"/>
          </a:xfrm>
          <a:prstGeom prst="rect">
            <a:avLst/>
          </a:prstGeom>
        </p:spPr>
      </p:pic>
      <p:sp>
        <p:nvSpPr>
          <p:cNvPr id="13" name="矩形 12"/>
          <p:cNvSpPr/>
          <p:nvPr/>
        </p:nvSpPr>
        <p:spPr>
          <a:xfrm>
            <a:off x="1767804" y="1991421"/>
            <a:ext cx="3459601" cy="369332"/>
          </a:xfrm>
          <a:prstGeom prst="rect">
            <a:avLst/>
          </a:prstGeom>
        </p:spPr>
        <p:txBody>
          <a:bodyPr wrap="none">
            <a:spAutoFit/>
          </a:bodyPr>
          <a:lstStyle/>
          <a:p>
            <a:r>
              <a:rPr lang="zh-CN" altLang="en-US" b="1" dirty="0"/>
              <a:t>对“猫”，“狗”进行分类的模型：</a:t>
            </a:r>
          </a:p>
        </p:txBody>
      </p:sp>
      <p:graphicFrame>
        <p:nvGraphicFramePr>
          <p:cNvPr id="14" name="对象 13">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182379069"/>
              </p:ext>
            </p:extLst>
          </p:nvPr>
        </p:nvGraphicFramePr>
        <p:xfrm>
          <a:off x="8010952" y="2838691"/>
          <a:ext cx="923193" cy="568965"/>
        </p:xfrm>
        <a:graphic>
          <a:graphicData uri="http://schemas.openxmlformats.org/presentationml/2006/ole">
            <mc:AlternateContent xmlns:mc="http://schemas.openxmlformats.org/markup-compatibility/2006">
              <mc:Choice xmlns:v="urn:schemas-microsoft-com:vml" Requires="v">
                <p:oleObj name="Equation" r:id="rId8" imgW="406080" imgH="253800" progId="Equation.DSMT4">
                  <p:embed/>
                </p:oleObj>
              </mc:Choice>
              <mc:Fallback>
                <p:oleObj name="Equation" r:id="rId8" imgW="406080" imgH="253800" progId="Equation.DSMT4">
                  <p:embed/>
                  <p:pic>
                    <p:nvPicPr>
                      <p:cNvPr id="24" name="对象 23">
                        <a:extLst>
                          <a:ext uri="{FF2B5EF4-FFF2-40B4-BE49-F238E27FC236}">
                            <a16:creationId xmlns:a16="http://schemas.microsoft.com/office/drawing/2014/main" id="{CF796419-9983-4CB7-B436-22D6DA59EE34}"/>
                          </a:ext>
                        </a:extLst>
                      </p:cNvPr>
                      <p:cNvPicPr>
                        <a:picLocks noChangeAspect="1" noChangeArrowheads="1"/>
                      </p:cNvPicPr>
                      <p:nvPr/>
                    </p:nvPicPr>
                    <p:blipFill>
                      <a:blip r:embed="rId9"/>
                      <a:srcRect/>
                      <a:stretch>
                        <a:fillRect/>
                      </a:stretch>
                    </p:blipFill>
                    <p:spPr bwMode="auto">
                      <a:xfrm>
                        <a:off x="8010952" y="2838691"/>
                        <a:ext cx="923193" cy="568965"/>
                      </a:xfrm>
                      <a:prstGeom prst="rect">
                        <a:avLst/>
                      </a:prstGeom>
                      <a:noFill/>
                    </p:spPr>
                  </p:pic>
                </p:oleObj>
              </mc:Fallback>
            </mc:AlternateContent>
          </a:graphicData>
        </a:graphic>
      </p:graphicFrame>
      <p:cxnSp>
        <p:nvCxnSpPr>
          <p:cNvPr id="15" name="直接箭头连接符 14"/>
          <p:cNvCxnSpPr>
            <a:stCxn id="12" idx="3"/>
            <a:endCxn id="14" idx="1"/>
          </p:cNvCxnSpPr>
          <p:nvPr/>
        </p:nvCxnSpPr>
        <p:spPr>
          <a:xfrm flipV="1">
            <a:off x="7213921" y="3123173"/>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V="1">
            <a:off x="8934145" y="3123173"/>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对象 16">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035925354"/>
              </p:ext>
            </p:extLst>
          </p:nvPr>
        </p:nvGraphicFramePr>
        <p:xfrm>
          <a:off x="9857338" y="2925745"/>
          <a:ext cx="701658" cy="394855"/>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28" name="对象 27">
                        <a:extLst>
                          <a:ext uri="{FF2B5EF4-FFF2-40B4-BE49-F238E27FC236}">
                            <a16:creationId xmlns:a16="http://schemas.microsoft.com/office/drawing/2014/main" id="{CF796419-9983-4CB7-B436-22D6DA59EE34}"/>
                          </a:ext>
                        </a:extLst>
                      </p:cNvPr>
                      <p:cNvPicPr>
                        <a:picLocks noChangeAspect="1" noChangeArrowheads="1"/>
                      </p:cNvPicPr>
                      <p:nvPr/>
                    </p:nvPicPr>
                    <p:blipFill>
                      <a:blip r:embed="rId11"/>
                      <a:srcRect/>
                      <a:stretch>
                        <a:fillRect/>
                      </a:stretch>
                    </p:blipFill>
                    <p:spPr bwMode="auto">
                      <a:xfrm>
                        <a:off x="9857338" y="2925745"/>
                        <a:ext cx="701658" cy="394855"/>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2081538718"/>
              </p:ext>
            </p:extLst>
          </p:nvPr>
        </p:nvGraphicFramePr>
        <p:xfrm>
          <a:off x="5981245" y="3827057"/>
          <a:ext cx="1292513" cy="826182"/>
        </p:xfrm>
        <a:graphic>
          <a:graphicData uri="http://schemas.openxmlformats.org/presentationml/2006/ole">
            <mc:AlternateContent xmlns:mc="http://schemas.openxmlformats.org/markup-compatibility/2006">
              <mc:Choice xmlns:v="urn:schemas-microsoft-com:vml" Requires="v">
                <p:oleObj name="Equation" r:id="rId12" imgW="1409400" imgH="914400" progId="Equation.DSMT4">
                  <p:embed/>
                </p:oleObj>
              </mc:Choice>
              <mc:Fallback>
                <p:oleObj name="Equation" r:id="rId12" imgW="1409400" imgH="914400" progId="Equation.DSMT4">
                  <p:embed/>
                  <p:pic>
                    <p:nvPicPr>
                      <p:cNvPr id="30" name="对象 29">
                        <a:extLst>
                          <a:ext uri="{FF2B5EF4-FFF2-40B4-BE49-F238E27FC236}">
                            <a16:creationId xmlns:a16="http://schemas.microsoft.com/office/drawing/2014/main" id="{CF796419-9983-4CB7-B436-22D6DA59EE34}"/>
                          </a:ext>
                        </a:extLst>
                      </p:cNvPr>
                      <p:cNvPicPr>
                        <a:picLocks noChangeAspect="1" noChangeArrowheads="1"/>
                      </p:cNvPicPr>
                      <p:nvPr/>
                    </p:nvPicPr>
                    <p:blipFill>
                      <a:blip r:embed="rId13"/>
                      <a:srcRect/>
                      <a:stretch>
                        <a:fillRect/>
                      </a:stretch>
                    </p:blipFill>
                    <p:spPr bwMode="auto">
                      <a:xfrm>
                        <a:off x="5981245" y="3827057"/>
                        <a:ext cx="1292513" cy="826182"/>
                      </a:xfrm>
                      <a:prstGeom prst="rect">
                        <a:avLst/>
                      </a:prstGeom>
                      <a:noFill/>
                    </p:spPr>
                  </p:pic>
                </p:oleObj>
              </mc:Fallback>
            </mc:AlternateContent>
          </a:graphicData>
        </a:graphic>
      </p:graphicFrame>
      <p:sp>
        <p:nvSpPr>
          <p:cNvPr id="19" name="矩形 18"/>
          <p:cNvSpPr/>
          <p:nvPr/>
        </p:nvSpPr>
        <p:spPr>
          <a:xfrm>
            <a:off x="7393667" y="3916982"/>
            <a:ext cx="3877985" cy="646331"/>
          </a:xfrm>
          <a:prstGeom prst="rect">
            <a:avLst/>
          </a:prstGeom>
        </p:spPr>
        <p:txBody>
          <a:bodyPr wrap="none">
            <a:spAutoFit/>
          </a:bodyPr>
          <a:lstStyle/>
          <a:p>
            <a:r>
              <a:rPr lang="zh-CN" altLang="en-US" b="1" dirty="0"/>
              <a:t>决策函数的输入的</a:t>
            </a:r>
            <a:r>
              <a:rPr lang="en-US" altLang="zh-CN" b="1" dirty="0"/>
              <a:t>feature</a:t>
            </a:r>
            <a:r>
              <a:rPr lang="zh-CN" altLang="en-US" b="1" dirty="0"/>
              <a:t>，</a:t>
            </a:r>
            <a:r>
              <a:rPr lang="en-US" altLang="zh-CN" b="1" dirty="0"/>
              <a:t>x</a:t>
            </a:r>
          </a:p>
          <a:p>
            <a:r>
              <a:rPr lang="zh-CN" altLang="en-US" b="1" dirty="0"/>
              <a:t>是一张图，图片一般可以用矩阵表示</a:t>
            </a:r>
            <a:endParaRPr lang="zh-CN" altLang="en-US" dirty="0"/>
          </a:p>
        </p:txBody>
      </p:sp>
      <p:pic>
        <p:nvPicPr>
          <p:cNvPr id="20"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72642" y="5085872"/>
            <a:ext cx="1240281" cy="94503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1" name="对象 20">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595901855"/>
              </p:ext>
            </p:extLst>
          </p:nvPr>
        </p:nvGraphicFramePr>
        <p:xfrm>
          <a:off x="8109954" y="5314883"/>
          <a:ext cx="923193" cy="568965"/>
        </p:xfrm>
        <a:graphic>
          <a:graphicData uri="http://schemas.openxmlformats.org/presentationml/2006/ole">
            <mc:AlternateContent xmlns:mc="http://schemas.openxmlformats.org/markup-compatibility/2006">
              <mc:Choice xmlns:v="urn:schemas-microsoft-com:vml" Requires="v">
                <p:oleObj name="Equation" r:id="rId14" imgW="406080" imgH="253800" progId="Equation.DSMT4">
                  <p:embed/>
                </p:oleObj>
              </mc:Choice>
              <mc:Fallback>
                <p:oleObj name="Equation" r:id="rId14" imgW="406080" imgH="253800" progId="Equation.DSMT4">
                  <p:embed/>
                  <p:pic>
                    <p:nvPicPr>
                      <p:cNvPr id="33" name="对象 32">
                        <a:extLst>
                          <a:ext uri="{FF2B5EF4-FFF2-40B4-BE49-F238E27FC236}">
                            <a16:creationId xmlns:a16="http://schemas.microsoft.com/office/drawing/2014/main" id="{CF796419-9983-4CB7-B436-22D6DA59EE34}"/>
                          </a:ext>
                        </a:extLst>
                      </p:cNvPr>
                      <p:cNvPicPr>
                        <a:picLocks noChangeAspect="1" noChangeArrowheads="1"/>
                      </p:cNvPicPr>
                      <p:nvPr/>
                    </p:nvPicPr>
                    <p:blipFill>
                      <a:blip r:embed="rId9"/>
                      <a:srcRect/>
                      <a:stretch>
                        <a:fillRect/>
                      </a:stretch>
                    </p:blipFill>
                    <p:spPr bwMode="auto">
                      <a:xfrm>
                        <a:off x="8109954" y="5314883"/>
                        <a:ext cx="923193" cy="568965"/>
                      </a:xfrm>
                      <a:prstGeom prst="rect">
                        <a:avLst/>
                      </a:prstGeom>
                      <a:noFill/>
                    </p:spPr>
                  </p:pic>
                </p:oleObj>
              </mc:Fallback>
            </mc:AlternateContent>
          </a:graphicData>
        </a:graphic>
      </p:graphicFrame>
      <p:cxnSp>
        <p:nvCxnSpPr>
          <p:cNvPr id="22" name="直接箭头连接符 21"/>
          <p:cNvCxnSpPr>
            <a:endCxn id="21" idx="1"/>
          </p:cNvCxnSpPr>
          <p:nvPr/>
        </p:nvCxnSpPr>
        <p:spPr>
          <a:xfrm flipV="1">
            <a:off x="7312923" y="5599365"/>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9033147" y="5599365"/>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对象 23">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254788914"/>
              </p:ext>
            </p:extLst>
          </p:nvPr>
        </p:nvGraphicFramePr>
        <p:xfrm>
          <a:off x="9981380" y="5402233"/>
          <a:ext cx="650875" cy="395287"/>
        </p:xfrm>
        <a:graphic>
          <a:graphicData uri="http://schemas.openxmlformats.org/presentationml/2006/ole">
            <mc:AlternateContent xmlns:mc="http://schemas.openxmlformats.org/markup-compatibility/2006">
              <mc:Choice xmlns:v="urn:schemas-microsoft-com:vml" Requires="v">
                <p:oleObj name="Equation" r:id="rId15" imgW="330120" imgH="203040" progId="Equation.DSMT4">
                  <p:embed/>
                </p:oleObj>
              </mc:Choice>
              <mc:Fallback>
                <p:oleObj name="Equation" r:id="rId15" imgW="330120" imgH="203040" progId="Equation.DSMT4">
                  <p:embed/>
                  <p:pic>
                    <p:nvPicPr>
                      <p:cNvPr id="36" name="对象 35">
                        <a:extLst>
                          <a:ext uri="{FF2B5EF4-FFF2-40B4-BE49-F238E27FC236}">
                            <a16:creationId xmlns:a16="http://schemas.microsoft.com/office/drawing/2014/main" id="{CF796419-9983-4CB7-B436-22D6DA59EE34}"/>
                          </a:ext>
                        </a:extLst>
                      </p:cNvPr>
                      <p:cNvPicPr>
                        <a:picLocks noChangeAspect="1" noChangeArrowheads="1"/>
                      </p:cNvPicPr>
                      <p:nvPr/>
                    </p:nvPicPr>
                    <p:blipFill>
                      <a:blip r:embed="rId16"/>
                      <a:srcRect/>
                      <a:stretch>
                        <a:fillRect/>
                      </a:stretch>
                    </p:blipFill>
                    <p:spPr bwMode="auto">
                      <a:xfrm>
                        <a:off x="9981380" y="5402233"/>
                        <a:ext cx="650875" cy="395287"/>
                      </a:xfrm>
                      <a:prstGeom prst="rect">
                        <a:avLst/>
                      </a:prstGeom>
                      <a:noFill/>
                    </p:spPr>
                  </p:pic>
                </p:oleObj>
              </mc:Fallback>
            </mc:AlternateContent>
          </a:graphicData>
        </a:graphic>
      </p:graphicFrame>
      <p:sp>
        <p:nvSpPr>
          <p:cNvPr id="25" name="矩形 24"/>
          <p:cNvSpPr/>
          <p:nvPr/>
        </p:nvSpPr>
        <p:spPr>
          <a:xfrm>
            <a:off x="402336" y="1552880"/>
            <a:ext cx="10838688" cy="369332"/>
          </a:xfrm>
          <a:prstGeom prst="rect">
            <a:avLst/>
          </a:prstGeom>
        </p:spPr>
        <p:txBody>
          <a:bodyPr wrap="square">
            <a:spAutoFit/>
          </a:bodyPr>
          <a:lstStyle/>
          <a:p>
            <a:pPr lvl="1"/>
            <a:r>
              <a:rPr lang="zh-CN" altLang="en-US" b="1" dirty="0"/>
              <a:t>问题二：每个样本特征（</a:t>
            </a:r>
            <a:r>
              <a:rPr lang="en-US" altLang="zh-CN" b="1" dirty="0"/>
              <a:t>Feature</a:t>
            </a:r>
            <a:r>
              <a:rPr lang="zh-CN" altLang="en-US" b="1" dirty="0"/>
              <a:t>），也就是模型中的</a:t>
            </a:r>
            <a:r>
              <a:rPr lang="en-US" altLang="zh-CN" b="1" dirty="0"/>
              <a:t>x</a:t>
            </a:r>
            <a:r>
              <a:rPr lang="zh-CN" altLang="en-US" b="1" dirty="0"/>
              <a:t>，必须是一个数么？</a:t>
            </a:r>
            <a:endParaRPr lang="en-US" altLang="zh-CN" b="1" dirty="0"/>
          </a:p>
        </p:txBody>
      </p:sp>
    </p:spTree>
    <p:extLst>
      <p:ext uri="{BB962C8B-B14F-4D97-AF65-F5344CB8AC3E}">
        <p14:creationId xmlns:p14="http://schemas.microsoft.com/office/powerpoint/2010/main" val="1552115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57</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35">
            <a:extLst>
              <a:ext uri="{FF2B5EF4-FFF2-40B4-BE49-F238E27FC236}">
                <a16:creationId xmlns:a16="http://schemas.microsoft.com/office/drawing/2014/main" id="{55C751B8-E6E9-4A8F-A612-31874935716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799313" y="3588280"/>
            <a:ext cx="2881582" cy="1823215"/>
          </a:xfrm>
          <a:prstGeom prst="rect">
            <a:avLst/>
          </a:prstGeom>
        </p:spPr>
      </p:pic>
      <p:sp>
        <p:nvSpPr>
          <p:cNvPr id="37" name="矩形 36"/>
          <p:cNvSpPr/>
          <p:nvPr/>
        </p:nvSpPr>
        <p:spPr>
          <a:xfrm>
            <a:off x="6799313" y="2450129"/>
            <a:ext cx="1338828" cy="369332"/>
          </a:xfrm>
          <a:prstGeom prst="rect">
            <a:avLst/>
          </a:prstGeom>
        </p:spPr>
        <p:txBody>
          <a:bodyPr wrap="none">
            <a:spAutoFit/>
          </a:bodyPr>
          <a:lstStyle/>
          <a:p>
            <a:r>
              <a:rPr lang="zh-CN" altLang="en-US" b="1" dirty="0"/>
              <a:t>猫、狗、鼠</a:t>
            </a:r>
            <a:endParaRPr lang="zh-CN" altLang="en-US" dirty="0"/>
          </a:p>
        </p:txBody>
      </p:sp>
      <p:sp>
        <p:nvSpPr>
          <p:cNvPr id="38" name="矩形 37"/>
          <p:cNvSpPr/>
          <p:nvPr/>
        </p:nvSpPr>
        <p:spPr>
          <a:xfrm>
            <a:off x="6799313" y="2828091"/>
            <a:ext cx="3850399" cy="646331"/>
          </a:xfrm>
          <a:prstGeom prst="rect">
            <a:avLst/>
          </a:prstGeom>
        </p:spPr>
        <p:txBody>
          <a:bodyPr wrap="square">
            <a:spAutoFit/>
          </a:bodyPr>
          <a:lstStyle/>
          <a:p>
            <a:r>
              <a:rPr lang="zh-CN" altLang="en-US" b="1" dirty="0"/>
              <a:t>标签取值只用</a:t>
            </a:r>
            <a:r>
              <a:rPr lang="en-US" altLang="zh-CN" b="1" dirty="0"/>
              <a:t>0</a:t>
            </a:r>
            <a:r>
              <a:rPr lang="zh-CN" altLang="en-US" b="1" dirty="0"/>
              <a:t>、</a:t>
            </a:r>
            <a:r>
              <a:rPr lang="en-US" altLang="zh-CN" b="1" dirty="0"/>
              <a:t>1 </a:t>
            </a:r>
            <a:r>
              <a:rPr lang="zh-CN" altLang="en-US" b="1" dirty="0"/>
              <a:t>就不够了，三类至少得用</a:t>
            </a:r>
            <a:r>
              <a:rPr lang="en-US" altLang="zh-CN" b="1" dirty="0"/>
              <a:t>0</a:t>
            </a:r>
            <a:r>
              <a:rPr lang="zh-CN" altLang="en-US" b="1" dirty="0"/>
              <a:t>、</a:t>
            </a:r>
            <a:r>
              <a:rPr lang="en-US" altLang="zh-CN" b="1" dirty="0"/>
              <a:t>1</a:t>
            </a:r>
            <a:r>
              <a:rPr lang="zh-CN" altLang="en-US" b="1" dirty="0"/>
              <a:t>、</a:t>
            </a:r>
            <a:r>
              <a:rPr lang="en-US" altLang="zh-CN" b="1" dirty="0"/>
              <a:t>2</a:t>
            </a:r>
            <a:r>
              <a:rPr lang="zh-CN" altLang="en-US" b="1" dirty="0"/>
              <a:t>代表不同的类</a:t>
            </a:r>
            <a:endParaRPr lang="zh-CN" altLang="en-US" dirty="0"/>
          </a:p>
        </p:txBody>
      </p:sp>
      <p:sp>
        <p:nvSpPr>
          <p:cNvPr id="39" name="乘号 38"/>
          <p:cNvSpPr/>
          <p:nvPr/>
        </p:nvSpPr>
        <p:spPr>
          <a:xfrm>
            <a:off x="8816342" y="5351486"/>
            <a:ext cx="754743" cy="82019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511726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58</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434328" y="2486797"/>
            <a:ext cx="4352544" cy="338554"/>
          </a:xfrm>
          <a:prstGeom prst="rect">
            <a:avLst/>
          </a:prstGeom>
          <a:noFill/>
        </p:spPr>
        <p:txBody>
          <a:bodyPr wrap="square" rtlCol="0">
            <a:spAutoFit/>
          </a:bodyPr>
          <a:lstStyle/>
          <a:p>
            <a:r>
              <a:rPr lang="zh-CN" altLang="en-US" sz="1600" b="1" dirty="0"/>
              <a:t>① 处理方法</a:t>
            </a:r>
            <a:r>
              <a:rPr lang="en-US" altLang="zh-CN" sz="1600" b="1" dirty="0"/>
              <a:t>1</a:t>
            </a:r>
            <a:r>
              <a:rPr lang="zh-CN" altLang="en-US" sz="1600" b="1" dirty="0"/>
              <a:t>：概率的角度</a:t>
            </a:r>
          </a:p>
        </p:txBody>
      </p:sp>
      <p:graphicFrame>
        <p:nvGraphicFramePr>
          <p:cNvPr id="19" name="对象 18">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85379645"/>
              </p:ext>
            </p:extLst>
          </p:nvPr>
        </p:nvGraphicFramePr>
        <p:xfrm>
          <a:off x="8170039" y="3134658"/>
          <a:ext cx="1966149" cy="639788"/>
        </p:xfrm>
        <a:graphic>
          <a:graphicData uri="http://schemas.openxmlformats.org/presentationml/2006/ole">
            <mc:AlternateContent xmlns:mc="http://schemas.openxmlformats.org/markup-compatibility/2006">
              <mc:Choice xmlns:v="urn:schemas-microsoft-com:vml" Requires="v">
                <p:oleObj name="Equation" r:id="rId11" imgW="1231560" imgH="406080" progId="Equation.DSMT4">
                  <p:embed/>
                </p:oleObj>
              </mc:Choice>
              <mc:Fallback>
                <p:oleObj name="Equation" r:id="rId11" imgW="1231560" imgH="406080" progId="Equation.DSMT4">
                  <p:embed/>
                  <p:pic>
                    <p:nvPicPr>
                      <p:cNvPr id="20" name="对象 19">
                        <a:extLst>
                          <a:ext uri="{FF2B5EF4-FFF2-40B4-BE49-F238E27FC236}">
                            <a16:creationId xmlns:a16="http://schemas.microsoft.com/office/drawing/2014/main" id="{CF796419-9983-4CB7-B436-22D6DA59EE34}"/>
                          </a:ext>
                        </a:extLst>
                      </p:cNvPr>
                      <p:cNvPicPr>
                        <a:picLocks noChangeAspect="1" noChangeArrowheads="1"/>
                      </p:cNvPicPr>
                      <p:nvPr/>
                    </p:nvPicPr>
                    <p:blipFill>
                      <a:blip r:embed="rId12"/>
                      <a:srcRect/>
                      <a:stretch>
                        <a:fillRect/>
                      </a:stretch>
                    </p:blipFill>
                    <p:spPr bwMode="auto">
                      <a:xfrm>
                        <a:off x="8170039" y="3134658"/>
                        <a:ext cx="1966149" cy="639788"/>
                      </a:xfrm>
                      <a:prstGeom prst="rect">
                        <a:avLst/>
                      </a:prstGeom>
                      <a:noFill/>
                    </p:spPr>
                  </p:pic>
                </p:oleObj>
              </mc:Fallback>
            </mc:AlternateContent>
          </a:graphicData>
        </a:graphic>
      </p:graphicFrame>
      <p:pic>
        <p:nvPicPr>
          <p:cNvPr id="20" name="图片 19">
            <a:extLst>
              <a:ext uri="{FF2B5EF4-FFF2-40B4-BE49-F238E27FC236}">
                <a16:creationId xmlns:a16="http://schemas.microsoft.com/office/drawing/2014/main" id="{55C751B8-E6E9-4A8F-A612-31874935716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15110" y="1825625"/>
            <a:ext cx="1959472" cy="1239784"/>
          </a:xfrm>
          <a:prstGeom prst="rect">
            <a:avLst/>
          </a:prstGeom>
        </p:spPr>
      </p:pic>
      <p:graphicFrame>
        <p:nvGraphicFramePr>
          <p:cNvPr id="21" name="对象 20">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973440721"/>
              </p:ext>
            </p:extLst>
          </p:nvPr>
        </p:nvGraphicFramePr>
        <p:xfrm>
          <a:off x="8143771" y="3872943"/>
          <a:ext cx="2251075" cy="698500"/>
        </p:xfrm>
        <a:graphic>
          <a:graphicData uri="http://schemas.openxmlformats.org/presentationml/2006/ole">
            <mc:AlternateContent xmlns:mc="http://schemas.openxmlformats.org/markup-compatibility/2006">
              <mc:Choice xmlns:v="urn:schemas-microsoft-com:vml" Requires="v">
                <p:oleObj name="Equation" r:id="rId14" imgW="1409400" imgH="444240" progId="Equation.DSMT4">
                  <p:embed/>
                </p:oleObj>
              </mc:Choice>
              <mc:Fallback>
                <p:oleObj name="Equation" r:id="rId14" imgW="1409400" imgH="444240" progId="Equation.DSMT4">
                  <p:embed/>
                  <p:pic>
                    <p:nvPicPr>
                      <p:cNvPr id="19" name="对象 18">
                        <a:extLst>
                          <a:ext uri="{FF2B5EF4-FFF2-40B4-BE49-F238E27FC236}">
                            <a16:creationId xmlns:a16="http://schemas.microsoft.com/office/drawing/2014/main" id="{CF796419-9983-4CB7-B436-22D6DA59EE34}"/>
                          </a:ext>
                        </a:extLst>
                      </p:cNvPr>
                      <p:cNvPicPr>
                        <a:picLocks noChangeAspect="1" noChangeArrowheads="1"/>
                      </p:cNvPicPr>
                      <p:nvPr/>
                    </p:nvPicPr>
                    <p:blipFill>
                      <a:blip r:embed="rId15"/>
                      <a:srcRect/>
                      <a:stretch>
                        <a:fillRect/>
                      </a:stretch>
                    </p:blipFill>
                    <p:spPr bwMode="auto">
                      <a:xfrm>
                        <a:off x="8143771" y="3872943"/>
                        <a:ext cx="2251075" cy="698500"/>
                      </a:xfrm>
                      <a:prstGeom prst="rect">
                        <a:avLst/>
                      </a:prstGeom>
                      <a:noFill/>
                    </p:spPr>
                  </p:pic>
                </p:oleObj>
              </mc:Fallback>
            </mc:AlternateContent>
          </a:graphicData>
        </a:graphic>
      </p:graphicFrame>
      <p:sp>
        <p:nvSpPr>
          <p:cNvPr id="22" name="文本框 21"/>
          <p:cNvSpPr txBox="1"/>
          <p:nvPr/>
        </p:nvSpPr>
        <p:spPr>
          <a:xfrm>
            <a:off x="6511399" y="3299899"/>
            <a:ext cx="4352544" cy="338554"/>
          </a:xfrm>
          <a:prstGeom prst="rect">
            <a:avLst/>
          </a:prstGeom>
          <a:noFill/>
        </p:spPr>
        <p:txBody>
          <a:bodyPr wrap="square" rtlCol="0">
            <a:spAutoFit/>
          </a:bodyPr>
          <a:lstStyle/>
          <a:p>
            <a:r>
              <a:rPr lang="zh-CN" altLang="en-US" sz="1600" b="1" dirty="0"/>
              <a:t>输出为</a:t>
            </a:r>
            <a:r>
              <a:rPr lang="en-US" altLang="zh-CN" sz="1600" b="1" dirty="0"/>
              <a:t>1</a:t>
            </a:r>
            <a:r>
              <a:rPr lang="zh-CN" altLang="en-US" sz="1600" b="1" dirty="0"/>
              <a:t>的概率：</a:t>
            </a:r>
          </a:p>
        </p:txBody>
      </p:sp>
      <p:sp>
        <p:nvSpPr>
          <p:cNvPr id="23" name="文本框 22"/>
          <p:cNvSpPr txBox="1"/>
          <p:nvPr/>
        </p:nvSpPr>
        <p:spPr>
          <a:xfrm>
            <a:off x="6511399" y="4059556"/>
            <a:ext cx="4352544" cy="338554"/>
          </a:xfrm>
          <a:prstGeom prst="rect">
            <a:avLst/>
          </a:prstGeom>
          <a:noFill/>
        </p:spPr>
        <p:txBody>
          <a:bodyPr wrap="square" rtlCol="0">
            <a:spAutoFit/>
          </a:bodyPr>
          <a:lstStyle/>
          <a:p>
            <a:r>
              <a:rPr lang="zh-CN" altLang="en-US" sz="1600" b="1" dirty="0"/>
              <a:t>输出为</a:t>
            </a:r>
            <a:r>
              <a:rPr lang="en-US" altLang="zh-CN" sz="1600" b="1" dirty="0"/>
              <a:t>0</a:t>
            </a:r>
            <a:r>
              <a:rPr lang="zh-CN" altLang="en-US" sz="1600" b="1" dirty="0"/>
              <a:t>的概率：</a:t>
            </a:r>
          </a:p>
        </p:txBody>
      </p:sp>
    </p:spTree>
    <p:extLst>
      <p:ext uri="{BB962C8B-B14F-4D97-AF65-F5344CB8AC3E}">
        <p14:creationId xmlns:p14="http://schemas.microsoft.com/office/powerpoint/2010/main" val="30006249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59</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434328" y="2096653"/>
            <a:ext cx="4352544" cy="338554"/>
          </a:xfrm>
          <a:prstGeom prst="rect">
            <a:avLst/>
          </a:prstGeom>
          <a:noFill/>
        </p:spPr>
        <p:txBody>
          <a:bodyPr wrap="square" rtlCol="0">
            <a:spAutoFit/>
          </a:bodyPr>
          <a:lstStyle/>
          <a:p>
            <a:r>
              <a:rPr lang="zh-CN" altLang="en-US" sz="1600" b="1" dirty="0"/>
              <a:t>① 处理方法</a:t>
            </a:r>
            <a:r>
              <a:rPr lang="en-US" altLang="zh-CN" sz="1600" b="1" dirty="0"/>
              <a:t>1</a:t>
            </a:r>
            <a:r>
              <a:rPr lang="zh-CN" altLang="en-US" sz="1600" b="1" dirty="0"/>
              <a:t>：概率的角度</a:t>
            </a:r>
          </a:p>
        </p:txBody>
      </p:sp>
      <p:sp>
        <p:nvSpPr>
          <p:cNvPr id="23" name="文本框 22"/>
          <p:cNvSpPr txBox="1"/>
          <p:nvPr/>
        </p:nvSpPr>
        <p:spPr>
          <a:xfrm>
            <a:off x="6510914" y="3226491"/>
            <a:ext cx="4352544" cy="338554"/>
          </a:xfrm>
          <a:prstGeom prst="rect">
            <a:avLst/>
          </a:prstGeom>
          <a:noFill/>
        </p:spPr>
        <p:txBody>
          <a:bodyPr wrap="square" rtlCol="0">
            <a:spAutoFit/>
          </a:bodyPr>
          <a:lstStyle/>
          <a:p>
            <a:r>
              <a:rPr lang="zh-CN" altLang="en-US" sz="1600" b="1" dirty="0"/>
              <a:t>输出为</a:t>
            </a:r>
            <a:r>
              <a:rPr lang="en-US" altLang="zh-CN" sz="1600" b="1" dirty="0"/>
              <a:t>0</a:t>
            </a:r>
            <a:r>
              <a:rPr lang="zh-CN" altLang="en-US" sz="1600" b="1" dirty="0"/>
              <a:t>的概率：</a:t>
            </a:r>
          </a:p>
        </p:txBody>
      </p:sp>
      <p:sp>
        <p:nvSpPr>
          <p:cNvPr id="25" name="文本框 24"/>
          <p:cNvSpPr txBox="1"/>
          <p:nvPr/>
        </p:nvSpPr>
        <p:spPr>
          <a:xfrm>
            <a:off x="6510914" y="2503204"/>
            <a:ext cx="4352544" cy="338554"/>
          </a:xfrm>
          <a:prstGeom prst="rect">
            <a:avLst/>
          </a:prstGeom>
          <a:noFill/>
        </p:spPr>
        <p:txBody>
          <a:bodyPr wrap="square" rtlCol="0">
            <a:spAutoFit/>
          </a:bodyPr>
          <a:lstStyle/>
          <a:p>
            <a:r>
              <a:rPr lang="zh-CN" altLang="en-US" sz="1600" b="1" dirty="0"/>
              <a:t>如果是</a:t>
            </a:r>
            <a:r>
              <a:rPr lang="en-US" altLang="zh-CN" sz="1600" b="1" dirty="0"/>
              <a:t>3</a:t>
            </a:r>
            <a:r>
              <a:rPr lang="zh-CN" altLang="en-US" sz="1600" b="1" dirty="0"/>
              <a:t>类，仿照两类的形式</a:t>
            </a:r>
          </a:p>
        </p:txBody>
      </p:sp>
      <p:graphicFrame>
        <p:nvGraphicFramePr>
          <p:cNvPr id="37" name="对象 36">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2257745692"/>
              </p:ext>
            </p:extLst>
          </p:nvPr>
        </p:nvGraphicFramePr>
        <p:xfrm>
          <a:off x="8137525" y="2899156"/>
          <a:ext cx="3687763" cy="938213"/>
        </p:xfrm>
        <a:graphic>
          <a:graphicData uri="http://schemas.openxmlformats.org/presentationml/2006/ole">
            <mc:AlternateContent xmlns:mc="http://schemas.openxmlformats.org/markup-compatibility/2006">
              <mc:Choice xmlns:v="urn:schemas-microsoft-com:vml" Requires="v">
                <p:oleObj name="Equation" r:id="rId11" imgW="2019240" imgH="520560" progId="Equation.DSMT4">
                  <p:embed/>
                </p:oleObj>
              </mc:Choice>
              <mc:Fallback>
                <p:oleObj name="Equation" r:id="rId11" imgW="2019240" imgH="520560" progId="Equation.DSMT4">
                  <p:embed/>
                  <p:pic>
                    <p:nvPicPr>
                      <p:cNvPr id="36" name="对象 35">
                        <a:extLst>
                          <a:ext uri="{FF2B5EF4-FFF2-40B4-BE49-F238E27FC236}">
                            <a16:creationId xmlns:a16="http://schemas.microsoft.com/office/drawing/2014/main" id="{CF796419-9983-4CB7-B436-22D6DA59EE34}"/>
                          </a:ext>
                        </a:extLst>
                      </p:cNvPr>
                      <p:cNvPicPr>
                        <a:picLocks noChangeAspect="1" noChangeArrowheads="1"/>
                      </p:cNvPicPr>
                      <p:nvPr/>
                    </p:nvPicPr>
                    <p:blipFill>
                      <a:blip r:embed="rId12"/>
                      <a:srcRect/>
                      <a:stretch>
                        <a:fillRect/>
                      </a:stretch>
                    </p:blipFill>
                    <p:spPr bwMode="auto">
                      <a:xfrm>
                        <a:off x="8137525" y="2899156"/>
                        <a:ext cx="3687763" cy="938213"/>
                      </a:xfrm>
                      <a:prstGeom prst="rect">
                        <a:avLst/>
                      </a:prstGeom>
                      <a:noFill/>
                    </p:spPr>
                  </p:pic>
                </p:oleObj>
              </mc:Fallback>
            </mc:AlternateContent>
          </a:graphicData>
        </a:graphic>
      </p:graphicFrame>
      <p:sp>
        <p:nvSpPr>
          <p:cNvPr id="38" name="文本框 37"/>
          <p:cNvSpPr txBox="1"/>
          <p:nvPr/>
        </p:nvSpPr>
        <p:spPr>
          <a:xfrm>
            <a:off x="6510914" y="4223500"/>
            <a:ext cx="1680443" cy="338554"/>
          </a:xfrm>
          <a:prstGeom prst="rect">
            <a:avLst/>
          </a:prstGeom>
          <a:noFill/>
        </p:spPr>
        <p:txBody>
          <a:bodyPr wrap="square" rtlCol="0">
            <a:spAutoFit/>
          </a:bodyPr>
          <a:lstStyle/>
          <a:p>
            <a:r>
              <a:rPr lang="zh-CN" altLang="en-US" sz="1600" b="1" dirty="0"/>
              <a:t>输出为</a:t>
            </a:r>
            <a:r>
              <a:rPr lang="en-US" altLang="zh-CN" sz="1600" b="1" dirty="0"/>
              <a:t>1</a:t>
            </a:r>
            <a:r>
              <a:rPr lang="zh-CN" altLang="en-US" sz="1600" b="1" dirty="0"/>
              <a:t>的概率：</a:t>
            </a:r>
          </a:p>
        </p:txBody>
      </p:sp>
      <p:sp>
        <p:nvSpPr>
          <p:cNvPr id="39" name="文本框 38"/>
          <p:cNvSpPr txBox="1"/>
          <p:nvPr/>
        </p:nvSpPr>
        <p:spPr>
          <a:xfrm>
            <a:off x="6934003" y="3537762"/>
            <a:ext cx="868468" cy="338554"/>
          </a:xfrm>
          <a:prstGeom prst="rect">
            <a:avLst/>
          </a:prstGeom>
          <a:noFill/>
        </p:spPr>
        <p:txBody>
          <a:bodyPr wrap="square" rtlCol="0">
            <a:spAutoFit/>
          </a:bodyPr>
          <a:lstStyle/>
          <a:p>
            <a:r>
              <a:rPr lang="en-US" altLang="zh-CN" sz="1600" b="1" dirty="0"/>
              <a:t>P(</a:t>
            </a:r>
            <a:r>
              <a:rPr lang="en-US" altLang="zh-CN" sz="1600" b="1" dirty="0" err="1"/>
              <a:t>0|x</a:t>
            </a:r>
            <a:r>
              <a:rPr lang="en-US" altLang="zh-CN" sz="1600" b="1" dirty="0"/>
              <a:t>)</a:t>
            </a:r>
            <a:endParaRPr lang="zh-CN" altLang="en-US" sz="1600" b="1" dirty="0"/>
          </a:p>
        </p:txBody>
      </p:sp>
      <p:sp>
        <p:nvSpPr>
          <p:cNvPr id="40" name="文本框 39"/>
          <p:cNvSpPr txBox="1"/>
          <p:nvPr/>
        </p:nvSpPr>
        <p:spPr>
          <a:xfrm>
            <a:off x="6934003" y="4590486"/>
            <a:ext cx="868468" cy="338554"/>
          </a:xfrm>
          <a:prstGeom prst="rect">
            <a:avLst/>
          </a:prstGeom>
          <a:noFill/>
        </p:spPr>
        <p:txBody>
          <a:bodyPr wrap="square" rtlCol="0">
            <a:spAutoFit/>
          </a:bodyPr>
          <a:lstStyle/>
          <a:p>
            <a:r>
              <a:rPr lang="en-US" altLang="zh-CN" sz="1600" b="1" dirty="0"/>
              <a:t>P(</a:t>
            </a:r>
            <a:r>
              <a:rPr lang="en-US" altLang="zh-CN" sz="1600" b="1" dirty="0" err="1"/>
              <a:t>1|x</a:t>
            </a:r>
            <a:r>
              <a:rPr lang="en-US" altLang="zh-CN" sz="1600" b="1" dirty="0"/>
              <a:t>)</a:t>
            </a:r>
            <a:endParaRPr lang="zh-CN" altLang="en-US" sz="1600" b="1" dirty="0"/>
          </a:p>
        </p:txBody>
      </p:sp>
      <p:sp>
        <p:nvSpPr>
          <p:cNvPr id="41" name="文本框 40"/>
          <p:cNvSpPr txBox="1"/>
          <p:nvPr/>
        </p:nvSpPr>
        <p:spPr>
          <a:xfrm>
            <a:off x="6522697" y="5239272"/>
            <a:ext cx="1693044" cy="338554"/>
          </a:xfrm>
          <a:prstGeom prst="rect">
            <a:avLst/>
          </a:prstGeom>
          <a:noFill/>
        </p:spPr>
        <p:txBody>
          <a:bodyPr wrap="square" rtlCol="0">
            <a:spAutoFit/>
          </a:bodyPr>
          <a:lstStyle/>
          <a:p>
            <a:r>
              <a:rPr lang="zh-CN" altLang="en-US" sz="1600" b="1" dirty="0"/>
              <a:t>输出为</a:t>
            </a:r>
            <a:r>
              <a:rPr lang="en-US" altLang="zh-CN" sz="1600" b="1" dirty="0"/>
              <a:t>2</a:t>
            </a:r>
            <a:r>
              <a:rPr lang="zh-CN" altLang="en-US" sz="1600" b="1" dirty="0"/>
              <a:t>的概率：</a:t>
            </a:r>
          </a:p>
        </p:txBody>
      </p:sp>
      <p:sp>
        <p:nvSpPr>
          <p:cNvPr id="42" name="文本框 41"/>
          <p:cNvSpPr txBox="1"/>
          <p:nvPr/>
        </p:nvSpPr>
        <p:spPr>
          <a:xfrm>
            <a:off x="6922793" y="5538666"/>
            <a:ext cx="868468" cy="338554"/>
          </a:xfrm>
          <a:prstGeom prst="rect">
            <a:avLst/>
          </a:prstGeom>
          <a:noFill/>
        </p:spPr>
        <p:txBody>
          <a:bodyPr wrap="square" rtlCol="0">
            <a:spAutoFit/>
          </a:bodyPr>
          <a:lstStyle/>
          <a:p>
            <a:r>
              <a:rPr lang="en-US" altLang="zh-CN" sz="1600" b="1" dirty="0"/>
              <a:t>P(</a:t>
            </a:r>
            <a:r>
              <a:rPr lang="en-US" altLang="zh-CN" sz="1600" b="1" dirty="0" err="1"/>
              <a:t>2|x</a:t>
            </a:r>
            <a:r>
              <a:rPr lang="en-US" altLang="zh-CN" sz="1600" b="1" dirty="0"/>
              <a:t>)</a:t>
            </a:r>
            <a:endParaRPr lang="zh-CN" altLang="en-US" sz="1600" b="1" dirty="0"/>
          </a:p>
        </p:txBody>
      </p:sp>
      <p:graphicFrame>
        <p:nvGraphicFramePr>
          <p:cNvPr id="43" name="对象 42">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746899527"/>
              </p:ext>
            </p:extLst>
          </p:nvPr>
        </p:nvGraphicFramePr>
        <p:xfrm>
          <a:off x="8137524" y="3927506"/>
          <a:ext cx="3687763" cy="938213"/>
        </p:xfrm>
        <a:graphic>
          <a:graphicData uri="http://schemas.openxmlformats.org/presentationml/2006/ole">
            <mc:AlternateContent xmlns:mc="http://schemas.openxmlformats.org/markup-compatibility/2006">
              <mc:Choice xmlns:v="urn:schemas-microsoft-com:vml" Requires="v">
                <p:oleObj name="Equation" r:id="rId13" imgW="2019240" imgH="520560" progId="Equation.DSMT4">
                  <p:embed/>
                </p:oleObj>
              </mc:Choice>
              <mc:Fallback>
                <p:oleObj name="Equation" r:id="rId13" imgW="2019240" imgH="520560" progId="Equation.DSMT4">
                  <p:embed/>
                  <p:pic>
                    <p:nvPicPr>
                      <p:cNvPr id="37" name="对象 36">
                        <a:extLst>
                          <a:ext uri="{FF2B5EF4-FFF2-40B4-BE49-F238E27FC236}">
                            <a16:creationId xmlns:a16="http://schemas.microsoft.com/office/drawing/2014/main" id="{CF796419-9983-4CB7-B436-22D6DA59EE34}"/>
                          </a:ext>
                        </a:extLst>
                      </p:cNvPr>
                      <p:cNvPicPr>
                        <a:picLocks noChangeAspect="1" noChangeArrowheads="1"/>
                      </p:cNvPicPr>
                      <p:nvPr/>
                    </p:nvPicPr>
                    <p:blipFill>
                      <a:blip r:embed="rId14"/>
                      <a:srcRect/>
                      <a:stretch>
                        <a:fillRect/>
                      </a:stretch>
                    </p:blipFill>
                    <p:spPr bwMode="auto">
                      <a:xfrm>
                        <a:off x="8137524" y="3927506"/>
                        <a:ext cx="3687763" cy="938213"/>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3964995402"/>
              </p:ext>
            </p:extLst>
          </p:nvPr>
        </p:nvGraphicFramePr>
        <p:xfrm>
          <a:off x="8191357" y="4958623"/>
          <a:ext cx="3687763" cy="938213"/>
        </p:xfrm>
        <a:graphic>
          <a:graphicData uri="http://schemas.openxmlformats.org/presentationml/2006/ole">
            <mc:AlternateContent xmlns:mc="http://schemas.openxmlformats.org/markup-compatibility/2006">
              <mc:Choice xmlns:v="urn:schemas-microsoft-com:vml" Requires="v">
                <p:oleObj name="Equation" r:id="rId15" imgW="2019240" imgH="520560" progId="Equation.DSMT4">
                  <p:embed/>
                </p:oleObj>
              </mc:Choice>
              <mc:Fallback>
                <p:oleObj name="Equation" r:id="rId15" imgW="2019240" imgH="520560" progId="Equation.DSMT4">
                  <p:embed/>
                  <p:pic>
                    <p:nvPicPr>
                      <p:cNvPr id="43" name="对象 42">
                        <a:extLst>
                          <a:ext uri="{FF2B5EF4-FFF2-40B4-BE49-F238E27FC236}">
                            <a16:creationId xmlns:a16="http://schemas.microsoft.com/office/drawing/2014/main" id="{CF796419-9983-4CB7-B436-22D6DA59EE34}"/>
                          </a:ext>
                        </a:extLst>
                      </p:cNvPr>
                      <p:cNvPicPr>
                        <a:picLocks noChangeAspect="1" noChangeArrowheads="1"/>
                      </p:cNvPicPr>
                      <p:nvPr/>
                    </p:nvPicPr>
                    <p:blipFill>
                      <a:blip r:embed="rId16"/>
                      <a:srcRect/>
                      <a:stretch>
                        <a:fillRect/>
                      </a:stretch>
                    </p:blipFill>
                    <p:spPr bwMode="auto">
                      <a:xfrm>
                        <a:off x="8191357" y="4958623"/>
                        <a:ext cx="3687763" cy="938213"/>
                      </a:xfrm>
                      <a:prstGeom prst="rect">
                        <a:avLst/>
                      </a:prstGeom>
                      <a:noFill/>
                    </p:spPr>
                  </p:pic>
                </p:oleObj>
              </mc:Fallback>
            </mc:AlternateContent>
          </a:graphicData>
        </a:graphic>
      </p:graphicFrame>
    </p:spTree>
    <p:extLst>
      <p:ext uri="{BB962C8B-B14F-4D97-AF65-F5344CB8AC3E}">
        <p14:creationId xmlns:p14="http://schemas.microsoft.com/office/powerpoint/2010/main" val="18984517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60</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434328" y="2096653"/>
            <a:ext cx="4352544" cy="338554"/>
          </a:xfrm>
          <a:prstGeom prst="rect">
            <a:avLst/>
          </a:prstGeom>
          <a:noFill/>
        </p:spPr>
        <p:txBody>
          <a:bodyPr wrap="square" rtlCol="0">
            <a:spAutoFit/>
          </a:bodyPr>
          <a:lstStyle/>
          <a:p>
            <a:r>
              <a:rPr lang="zh-CN" altLang="en-US" sz="1600" b="1" dirty="0"/>
              <a:t>① 处理方法</a:t>
            </a:r>
            <a:r>
              <a:rPr lang="en-US" altLang="zh-CN" sz="1600" b="1" dirty="0"/>
              <a:t>1</a:t>
            </a:r>
            <a:r>
              <a:rPr lang="zh-CN" altLang="en-US" sz="1600" b="1" dirty="0"/>
              <a:t>：概率的角度</a:t>
            </a:r>
          </a:p>
        </p:txBody>
      </p:sp>
      <p:sp>
        <p:nvSpPr>
          <p:cNvPr id="23" name="文本框 22"/>
          <p:cNvSpPr txBox="1"/>
          <p:nvPr/>
        </p:nvSpPr>
        <p:spPr>
          <a:xfrm>
            <a:off x="6510914" y="3226491"/>
            <a:ext cx="4352544" cy="338554"/>
          </a:xfrm>
          <a:prstGeom prst="rect">
            <a:avLst/>
          </a:prstGeom>
          <a:noFill/>
        </p:spPr>
        <p:txBody>
          <a:bodyPr wrap="square" rtlCol="0">
            <a:spAutoFit/>
          </a:bodyPr>
          <a:lstStyle/>
          <a:p>
            <a:r>
              <a:rPr lang="zh-CN" altLang="en-US" sz="1600" b="1" dirty="0"/>
              <a:t>输出为</a:t>
            </a:r>
            <a:r>
              <a:rPr lang="en-US" altLang="zh-CN" sz="1600" b="1" dirty="0"/>
              <a:t>0</a:t>
            </a:r>
            <a:r>
              <a:rPr lang="zh-CN" altLang="en-US" sz="1600" b="1" dirty="0"/>
              <a:t>的概率：</a:t>
            </a:r>
          </a:p>
        </p:txBody>
      </p:sp>
      <p:sp>
        <p:nvSpPr>
          <p:cNvPr id="25" name="文本框 24"/>
          <p:cNvSpPr txBox="1"/>
          <p:nvPr/>
        </p:nvSpPr>
        <p:spPr>
          <a:xfrm>
            <a:off x="6510914" y="2503204"/>
            <a:ext cx="4352544" cy="338554"/>
          </a:xfrm>
          <a:prstGeom prst="rect">
            <a:avLst/>
          </a:prstGeom>
          <a:noFill/>
        </p:spPr>
        <p:txBody>
          <a:bodyPr wrap="square" rtlCol="0">
            <a:spAutoFit/>
          </a:bodyPr>
          <a:lstStyle/>
          <a:p>
            <a:r>
              <a:rPr lang="zh-CN" altLang="en-US" sz="1600" b="1" dirty="0"/>
              <a:t>如果是</a:t>
            </a:r>
            <a:r>
              <a:rPr lang="en-US" altLang="zh-CN" sz="1600" b="1" dirty="0"/>
              <a:t>3</a:t>
            </a:r>
            <a:r>
              <a:rPr lang="zh-CN" altLang="en-US" sz="1600" b="1" dirty="0"/>
              <a:t>类，仿照两类的形式</a:t>
            </a:r>
          </a:p>
        </p:txBody>
      </p:sp>
      <p:graphicFrame>
        <p:nvGraphicFramePr>
          <p:cNvPr id="37" name="对象 36">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8137525" y="2899156"/>
          <a:ext cx="3687763" cy="938213"/>
        </p:xfrm>
        <a:graphic>
          <a:graphicData uri="http://schemas.openxmlformats.org/presentationml/2006/ole">
            <mc:AlternateContent xmlns:mc="http://schemas.openxmlformats.org/markup-compatibility/2006">
              <mc:Choice xmlns:v="urn:schemas-microsoft-com:vml" Requires="v">
                <p:oleObj name="Equation" r:id="rId11" imgW="2019240" imgH="520560" progId="Equation.DSMT4">
                  <p:embed/>
                </p:oleObj>
              </mc:Choice>
              <mc:Fallback>
                <p:oleObj name="Equation" r:id="rId11" imgW="2019240" imgH="520560" progId="Equation.DSMT4">
                  <p:embed/>
                  <p:pic>
                    <p:nvPicPr>
                      <p:cNvPr id="37" name="对象 36">
                        <a:extLst>
                          <a:ext uri="{FF2B5EF4-FFF2-40B4-BE49-F238E27FC236}">
                            <a16:creationId xmlns:a16="http://schemas.microsoft.com/office/drawing/2014/main" id="{CF796419-9983-4CB7-B436-22D6DA59EE34}"/>
                          </a:ext>
                        </a:extLst>
                      </p:cNvPr>
                      <p:cNvPicPr>
                        <a:picLocks noChangeAspect="1" noChangeArrowheads="1"/>
                      </p:cNvPicPr>
                      <p:nvPr/>
                    </p:nvPicPr>
                    <p:blipFill>
                      <a:blip r:embed="rId12"/>
                      <a:srcRect/>
                      <a:stretch>
                        <a:fillRect/>
                      </a:stretch>
                    </p:blipFill>
                    <p:spPr bwMode="auto">
                      <a:xfrm>
                        <a:off x="8137525" y="2899156"/>
                        <a:ext cx="3687763" cy="938213"/>
                      </a:xfrm>
                      <a:prstGeom prst="rect">
                        <a:avLst/>
                      </a:prstGeom>
                      <a:noFill/>
                    </p:spPr>
                  </p:pic>
                </p:oleObj>
              </mc:Fallback>
            </mc:AlternateContent>
          </a:graphicData>
        </a:graphic>
      </p:graphicFrame>
      <p:sp>
        <p:nvSpPr>
          <p:cNvPr id="38" name="文本框 37"/>
          <p:cNvSpPr txBox="1"/>
          <p:nvPr/>
        </p:nvSpPr>
        <p:spPr>
          <a:xfrm>
            <a:off x="6510914" y="4223500"/>
            <a:ext cx="1680443" cy="338554"/>
          </a:xfrm>
          <a:prstGeom prst="rect">
            <a:avLst/>
          </a:prstGeom>
          <a:noFill/>
        </p:spPr>
        <p:txBody>
          <a:bodyPr wrap="square" rtlCol="0">
            <a:spAutoFit/>
          </a:bodyPr>
          <a:lstStyle/>
          <a:p>
            <a:r>
              <a:rPr lang="zh-CN" altLang="en-US" sz="1600" b="1" dirty="0"/>
              <a:t>输出为</a:t>
            </a:r>
            <a:r>
              <a:rPr lang="en-US" altLang="zh-CN" sz="1600" b="1" dirty="0"/>
              <a:t>1</a:t>
            </a:r>
            <a:r>
              <a:rPr lang="zh-CN" altLang="en-US" sz="1600" b="1" dirty="0"/>
              <a:t>的概率：</a:t>
            </a:r>
          </a:p>
        </p:txBody>
      </p:sp>
      <p:sp>
        <p:nvSpPr>
          <p:cNvPr id="39" name="文本框 38"/>
          <p:cNvSpPr txBox="1"/>
          <p:nvPr/>
        </p:nvSpPr>
        <p:spPr>
          <a:xfrm>
            <a:off x="6934003" y="3537762"/>
            <a:ext cx="868468" cy="338554"/>
          </a:xfrm>
          <a:prstGeom prst="rect">
            <a:avLst/>
          </a:prstGeom>
          <a:noFill/>
        </p:spPr>
        <p:txBody>
          <a:bodyPr wrap="square" rtlCol="0">
            <a:spAutoFit/>
          </a:bodyPr>
          <a:lstStyle/>
          <a:p>
            <a:r>
              <a:rPr lang="en-US" altLang="zh-CN" sz="1600" b="1" dirty="0"/>
              <a:t>P(</a:t>
            </a:r>
            <a:r>
              <a:rPr lang="en-US" altLang="zh-CN" sz="1600" b="1" dirty="0" err="1"/>
              <a:t>0|x</a:t>
            </a:r>
            <a:r>
              <a:rPr lang="en-US" altLang="zh-CN" sz="1600" b="1" dirty="0"/>
              <a:t>)</a:t>
            </a:r>
            <a:endParaRPr lang="zh-CN" altLang="en-US" sz="1600" b="1" dirty="0"/>
          </a:p>
        </p:txBody>
      </p:sp>
      <p:sp>
        <p:nvSpPr>
          <p:cNvPr id="40" name="文本框 39"/>
          <p:cNvSpPr txBox="1"/>
          <p:nvPr/>
        </p:nvSpPr>
        <p:spPr>
          <a:xfrm>
            <a:off x="6934003" y="4590486"/>
            <a:ext cx="868468" cy="338554"/>
          </a:xfrm>
          <a:prstGeom prst="rect">
            <a:avLst/>
          </a:prstGeom>
          <a:noFill/>
        </p:spPr>
        <p:txBody>
          <a:bodyPr wrap="square" rtlCol="0">
            <a:spAutoFit/>
          </a:bodyPr>
          <a:lstStyle/>
          <a:p>
            <a:r>
              <a:rPr lang="en-US" altLang="zh-CN" sz="1600" b="1" dirty="0"/>
              <a:t>P(</a:t>
            </a:r>
            <a:r>
              <a:rPr lang="en-US" altLang="zh-CN" sz="1600" b="1" dirty="0" err="1"/>
              <a:t>1|x</a:t>
            </a:r>
            <a:r>
              <a:rPr lang="en-US" altLang="zh-CN" sz="1600" b="1" dirty="0"/>
              <a:t>)</a:t>
            </a:r>
            <a:endParaRPr lang="zh-CN" altLang="en-US" sz="1600" b="1" dirty="0"/>
          </a:p>
        </p:txBody>
      </p:sp>
      <p:sp>
        <p:nvSpPr>
          <p:cNvPr id="41" name="文本框 40"/>
          <p:cNvSpPr txBox="1"/>
          <p:nvPr/>
        </p:nvSpPr>
        <p:spPr>
          <a:xfrm>
            <a:off x="6522697" y="5239272"/>
            <a:ext cx="1693044" cy="338554"/>
          </a:xfrm>
          <a:prstGeom prst="rect">
            <a:avLst/>
          </a:prstGeom>
          <a:noFill/>
        </p:spPr>
        <p:txBody>
          <a:bodyPr wrap="square" rtlCol="0">
            <a:spAutoFit/>
          </a:bodyPr>
          <a:lstStyle/>
          <a:p>
            <a:r>
              <a:rPr lang="zh-CN" altLang="en-US" sz="1600" b="1" dirty="0"/>
              <a:t>输出为</a:t>
            </a:r>
            <a:r>
              <a:rPr lang="en-US" altLang="zh-CN" sz="1600" b="1" dirty="0"/>
              <a:t>2</a:t>
            </a:r>
            <a:r>
              <a:rPr lang="zh-CN" altLang="en-US" sz="1600" b="1" dirty="0"/>
              <a:t>的概率：</a:t>
            </a:r>
          </a:p>
        </p:txBody>
      </p:sp>
      <p:sp>
        <p:nvSpPr>
          <p:cNvPr id="42" name="文本框 41"/>
          <p:cNvSpPr txBox="1"/>
          <p:nvPr/>
        </p:nvSpPr>
        <p:spPr>
          <a:xfrm>
            <a:off x="6922793" y="5538666"/>
            <a:ext cx="868468" cy="338554"/>
          </a:xfrm>
          <a:prstGeom prst="rect">
            <a:avLst/>
          </a:prstGeom>
          <a:noFill/>
        </p:spPr>
        <p:txBody>
          <a:bodyPr wrap="square" rtlCol="0">
            <a:spAutoFit/>
          </a:bodyPr>
          <a:lstStyle/>
          <a:p>
            <a:r>
              <a:rPr lang="en-US" altLang="zh-CN" sz="1600" b="1" dirty="0"/>
              <a:t>P(</a:t>
            </a:r>
            <a:r>
              <a:rPr lang="en-US" altLang="zh-CN" sz="1600" b="1" dirty="0" err="1"/>
              <a:t>2|x</a:t>
            </a:r>
            <a:r>
              <a:rPr lang="en-US" altLang="zh-CN" sz="1600" b="1" dirty="0"/>
              <a:t>)</a:t>
            </a:r>
            <a:endParaRPr lang="zh-CN" altLang="en-US" sz="1600" b="1" dirty="0"/>
          </a:p>
        </p:txBody>
      </p:sp>
      <p:graphicFrame>
        <p:nvGraphicFramePr>
          <p:cNvPr id="43" name="对象 42">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8137524" y="3927506"/>
          <a:ext cx="3687763" cy="938213"/>
        </p:xfrm>
        <a:graphic>
          <a:graphicData uri="http://schemas.openxmlformats.org/presentationml/2006/ole">
            <mc:AlternateContent xmlns:mc="http://schemas.openxmlformats.org/markup-compatibility/2006">
              <mc:Choice xmlns:v="urn:schemas-microsoft-com:vml" Requires="v">
                <p:oleObj name="Equation" r:id="rId13" imgW="2019240" imgH="520560" progId="Equation.DSMT4">
                  <p:embed/>
                </p:oleObj>
              </mc:Choice>
              <mc:Fallback>
                <p:oleObj name="Equation" r:id="rId13" imgW="2019240" imgH="520560" progId="Equation.DSMT4">
                  <p:embed/>
                  <p:pic>
                    <p:nvPicPr>
                      <p:cNvPr id="43" name="对象 42">
                        <a:extLst>
                          <a:ext uri="{FF2B5EF4-FFF2-40B4-BE49-F238E27FC236}">
                            <a16:creationId xmlns:a16="http://schemas.microsoft.com/office/drawing/2014/main" id="{CF796419-9983-4CB7-B436-22D6DA59EE34}"/>
                          </a:ext>
                        </a:extLst>
                      </p:cNvPr>
                      <p:cNvPicPr>
                        <a:picLocks noChangeAspect="1" noChangeArrowheads="1"/>
                      </p:cNvPicPr>
                      <p:nvPr/>
                    </p:nvPicPr>
                    <p:blipFill>
                      <a:blip r:embed="rId14"/>
                      <a:srcRect/>
                      <a:stretch>
                        <a:fillRect/>
                      </a:stretch>
                    </p:blipFill>
                    <p:spPr bwMode="auto">
                      <a:xfrm>
                        <a:off x="8137524" y="3927506"/>
                        <a:ext cx="3687763" cy="938213"/>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8191357" y="4958623"/>
          <a:ext cx="3687763" cy="938213"/>
        </p:xfrm>
        <a:graphic>
          <a:graphicData uri="http://schemas.openxmlformats.org/presentationml/2006/ole">
            <mc:AlternateContent xmlns:mc="http://schemas.openxmlformats.org/markup-compatibility/2006">
              <mc:Choice xmlns:v="urn:schemas-microsoft-com:vml" Requires="v">
                <p:oleObj name="Equation" r:id="rId15" imgW="2019240" imgH="520560" progId="Equation.DSMT4">
                  <p:embed/>
                </p:oleObj>
              </mc:Choice>
              <mc:Fallback>
                <p:oleObj name="Equation" r:id="rId15" imgW="2019240" imgH="520560" progId="Equation.DSMT4">
                  <p:embed/>
                  <p:pic>
                    <p:nvPicPr>
                      <p:cNvPr id="44" name="对象 43">
                        <a:extLst>
                          <a:ext uri="{FF2B5EF4-FFF2-40B4-BE49-F238E27FC236}">
                            <a16:creationId xmlns:a16="http://schemas.microsoft.com/office/drawing/2014/main" id="{CF796419-9983-4CB7-B436-22D6DA59EE34}"/>
                          </a:ext>
                        </a:extLst>
                      </p:cNvPr>
                      <p:cNvPicPr>
                        <a:picLocks noChangeAspect="1" noChangeArrowheads="1"/>
                      </p:cNvPicPr>
                      <p:nvPr/>
                    </p:nvPicPr>
                    <p:blipFill>
                      <a:blip r:embed="rId16"/>
                      <a:srcRect/>
                      <a:stretch>
                        <a:fillRect/>
                      </a:stretch>
                    </p:blipFill>
                    <p:spPr bwMode="auto">
                      <a:xfrm>
                        <a:off x="8191357" y="4958623"/>
                        <a:ext cx="3687763" cy="938213"/>
                      </a:xfrm>
                      <a:prstGeom prst="rect">
                        <a:avLst/>
                      </a:prstGeom>
                      <a:noFill/>
                    </p:spPr>
                  </p:pic>
                </p:oleObj>
              </mc:Fallback>
            </mc:AlternateContent>
          </a:graphicData>
        </a:graphic>
      </p:graphicFrame>
      <p:sp>
        <p:nvSpPr>
          <p:cNvPr id="45" name="文本框 44"/>
          <p:cNvSpPr txBox="1"/>
          <p:nvPr/>
        </p:nvSpPr>
        <p:spPr>
          <a:xfrm>
            <a:off x="6922793" y="6200358"/>
            <a:ext cx="3221933" cy="338554"/>
          </a:xfrm>
          <a:prstGeom prst="rect">
            <a:avLst/>
          </a:prstGeom>
          <a:noFill/>
        </p:spPr>
        <p:txBody>
          <a:bodyPr wrap="square" rtlCol="0">
            <a:spAutoFit/>
          </a:bodyPr>
          <a:lstStyle/>
          <a:p>
            <a:r>
              <a:rPr lang="en-US" altLang="zh-CN" sz="1600" b="1" dirty="0"/>
              <a:t>P(</a:t>
            </a:r>
            <a:r>
              <a:rPr lang="en-US" altLang="zh-CN" sz="1600" b="1" dirty="0" err="1"/>
              <a:t>0|x</a:t>
            </a:r>
            <a:r>
              <a:rPr lang="en-US" altLang="zh-CN" sz="1600" b="1" dirty="0"/>
              <a:t>)+P(</a:t>
            </a:r>
            <a:r>
              <a:rPr lang="en-US" altLang="zh-CN" sz="1600" b="1" dirty="0" err="1"/>
              <a:t>1|x</a:t>
            </a:r>
            <a:r>
              <a:rPr lang="en-US" altLang="zh-CN" sz="1600" b="1" dirty="0"/>
              <a:t>)+P(</a:t>
            </a:r>
            <a:r>
              <a:rPr lang="en-US" altLang="zh-CN" sz="1600" b="1" dirty="0" err="1"/>
              <a:t>2|x</a:t>
            </a:r>
            <a:r>
              <a:rPr lang="en-US" altLang="zh-CN" sz="1600" b="1" dirty="0"/>
              <a:t>)=1</a:t>
            </a:r>
            <a:endParaRPr lang="zh-CN" altLang="en-US" sz="1600" b="1" dirty="0"/>
          </a:p>
        </p:txBody>
      </p:sp>
    </p:spTree>
    <p:extLst>
      <p:ext uri="{BB962C8B-B14F-4D97-AF65-F5344CB8AC3E}">
        <p14:creationId xmlns:p14="http://schemas.microsoft.com/office/powerpoint/2010/main" val="41580162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61</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434328" y="2096653"/>
            <a:ext cx="4352544" cy="338554"/>
          </a:xfrm>
          <a:prstGeom prst="rect">
            <a:avLst/>
          </a:prstGeom>
          <a:noFill/>
        </p:spPr>
        <p:txBody>
          <a:bodyPr wrap="square" rtlCol="0">
            <a:spAutoFit/>
          </a:bodyPr>
          <a:lstStyle/>
          <a:p>
            <a:r>
              <a:rPr lang="zh-CN" altLang="en-US" sz="1600" b="1" dirty="0"/>
              <a:t>① 处理方法</a:t>
            </a:r>
            <a:r>
              <a:rPr lang="en-US" altLang="zh-CN" sz="1600" b="1" dirty="0"/>
              <a:t>1</a:t>
            </a:r>
            <a:r>
              <a:rPr lang="zh-CN" altLang="en-US" sz="1600" b="1" dirty="0"/>
              <a:t>：概率的角度</a:t>
            </a:r>
          </a:p>
        </p:txBody>
      </p:sp>
      <p:sp>
        <p:nvSpPr>
          <p:cNvPr id="23" name="文本框 22"/>
          <p:cNvSpPr txBox="1"/>
          <p:nvPr/>
        </p:nvSpPr>
        <p:spPr>
          <a:xfrm>
            <a:off x="6510914" y="3226491"/>
            <a:ext cx="4352544" cy="338554"/>
          </a:xfrm>
          <a:prstGeom prst="rect">
            <a:avLst/>
          </a:prstGeom>
          <a:noFill/>
        </p:spPr>
        <p:txBody>
          <a:bodyPr wrap="square" rtlCol="0">
            <a:spAutoFit/>
          </a:bodyPr>
          <a:lstStyle/>
          <a:p>
            <a:r>
              <a:rPr lang="zh-CN" altLang="en-US" sz="1600" b="1" dirty="0"/>
              <a:t>输出为</a:t>
            </a:r>
            <a:r>
              <a:rPr lang="en-US" altLang="zh-CN" sz="1600" b="1" dirty="0"/>
              <a:t>0</a:t>
            </a:r>
            <a:r>
              <a:rPr lang="zh-CN" altLang="en-US" sz="1600" b="1" dirty="0"/>
              <a:t>的概率：</a:t>
            </a:r>
          </a:p>
        </p:txBody>
      </p:sp>
      <p:sp>
        <p:nvSpPr>
          <p:cNvPr id="25" name="文本框 24"/>
          <p:cNvSpPr txBox="1"/>
          <p:nvPr/>
        </p:nvSpPr>
        <p:spPr>
          <a:xfrm>
            <a:off x="6510914" y="2503204"/>
            <a:ext cx="4352544" cy="338554"/>
          </a:xfrm>
          <a:prstGeom prst="rect">
            <a:avLst/>
          </a:prstGeom>
          <a:noFill/>
        </p:spPr>
        <p:txBody>
          <a:bodyPr wrap="square" rtlCol="0">
            <a:spAutoFit/>
          </a:bodyPr>
          <a:lstStyle/>
          <a:p>
            <a:r>
              <a:rPr lang="zh-CN" altLang="en-US" sz="1600" b="1" dirty="0"/>
              <a:t>如果是</a:t>
            </a:r>
            <a:r>
              <a:rPr lang="en-US" altLang="zh-CN" sz="1600" b="1" dirty="0"/>
              <a:t>3</a:t>
            </a:r>
            <a:r>
              <a:rPr lang="zh-CN" altLang="en-US" sz="1600" b="1" dirty="0"/>
              <a:t>类，仿照两类的形式</a:t>
            </a:r>
          </a:p>
        </p:txBody>
      </p:sp>
      <p:sp>
        <p:nvSpPr>
          <p:cNvPr id="38" name="文本框 37"/>
          <p:cNvSpPr txBox="1"/>
          <p:nvPr/>
        </p:nvSpPr>
        <p:spPr>
          <a:xfrm>
            <a:off x="6510914" y="4223500"/>
            <a:ext cx="1680443" cy="338554"/>
          </a:xfrm>
          <a:prstGeom prst="rect">
            <a:avLst/>
          </a:prstGeom>
          <a:noFill/>
        </p:spPr>
        <p:txBody>
          <a:bodyPr wrap="square" rtlCol="0">
            <a:spAutoFit/>
          </a:bodyPr>
          <a:lstStyle/>
          <a:p>
            <a:r>
              <a:rPr lang="zh-CN" altLang="en-US" sz="1600" b="1" dirty="0"/>
              <a:t>输出为</a:t>
            </a:r>
            <a:r>
              <a:rPr lang="en-US" altLang="zh-CN" sz="1600" b="1" dirty="0"/>
              <a:t>1</a:t>
            </a:r>
            <a:r>
              <a:rPr lang="zh-CN" altLang="en-US" sz="1600" b="1" dirty="0"/>
              <a:t>的概率：</a:t>
            </a:r>
          </a:p>
        </p:txBody>
      </p:sp>
      <p:sp>
        <p:nvSpPr>
          <p:cNvPr id="39" name="文本框 38"/>
          <p:cNvSpPr txBox="1"/>
          <p:nvPr/>
        </p:nvSpPr>
        <p:spPr>
          <a:xfrm>
            <a:off x="6934003" y="3537762"/>
            <a:ext cx="868468" cy="338554"/>
          </a:xfrm>
          <a:prstGeom prst="rect">
            <a:avLst/>
          </a:prstGeom>
          <a:noFill/>
        </p:spPr>
        <p:txBody>
          <a:bodyPr wrap="square" rtlCol="0">
            <a:spAutoFit/>
          </a:bodyPr>
          <a:lstStyle/>
          <a:p>
            <a:r>
              <a:rPr lang="en-US" altLang="zh-CN" sz="1600" b="1" dirty="0"/>
              <a:t>P(</a:t>
            </a:r>
            <a:r>
              <a:rPr lang="en-US" altLang="zh-CN" sz="1600" b="1" dirty="0" err="1"/>
              <a:t>0|x</a:t>
            </a:r>
            <a:r>
              <a:rPr lang="en-US" altLang="zh-CN" sz="1600" b="1" dirty="0"/>
              <a:t>)</a:t>
            </a:r>
            <a:endParaRPr lang="zh-CN" altLang="en-US" sz="1600" b="1" dirty="0"/>
          </a:p>
        </p:txBody>
      </p:sp>
      <p:sp>
        <p:nvSpPr>
          <p:cNvPr id="40" name="文本框 39"/>
          <p:cNvSpPr txBox="1"/>
          <p:nvPr/>
        </p:nvSpPr>
        <p:spPr>
          <a:xfrm>
            <a:off x="6934003" y="4590486"/>
            <a:ext cx="868468" cy="338554"/>
          </a:xfrm>
          <a:prstGeom prst="rect">
            <a:avLst/>
          </a:prstGeom>
          <a:noFill/>
        </p:spPr>
        <p:txBody>
          <a:bodyPr wrap="square" rtlCol="0">
            <a:spAutoFit/>
          </a:bodyPr>
          <a:lstStyle/>
          <a:p>
            <a:r>
              <a:rPr lang="en-US" altLang="zh-CN" sz="1600" b="1" dirty="0"/>
              <a:t>P(</a:t>
            </a:r>
            <a:r>
              <a:rPr lang="en-US" altLang="zh-CN" sz="1600" b="1" dirty="0" err="1"/>
              <a:t>1|x</a:t>
            </a:r>
            <a:r>
              <a:rPr lang="en-US" altLang="zh-CN" sz="1600" b="1" dirty="0"/>
              <a:t>)</a:t>
            </a:r>
            <a:endParaRPr lang="zh-CN" altLang="en-US" sz="1600" b="1" dirty="0"/>
          </a:p>
        </p:txBody>
      </p:sp>
      <p:sp>
        <p:nvSpPr>
          <p:cNvPr id="41" name="文本框 40"/>
          <p:cNvSpPr txBox="1"/>
          <p:nvPr/>
        </p:nvSpPr>
        <p:spPr>
          <a:xfrm>
            <a:off x="6522697" y="5239272"/>
            <a:ext cx="1693044" cy="338554"/>
          </a:xfrm>
          <a:prstGeom prst="rect">
            <a:avLst/>
          </a:prstGeom>
          <a:noFill/>
        </p:spPr>
        <p:txBody>
          <a:bodyPr wrap="square" rtlCol="0">
            <a:spAutoFit/>
          </a:bodyPr>
          <a:lstStyle/>
          <a:p>
            <a:r>
              <a:rPr lang="zh-CN" altLang="en-US" sz="1600" b="1" dirty="0"/>
              <a:t>输出为</a:t>
            </a:r>
            <a:r>
              <a:rPr lang="en-US" altLang="zh-CN" sz="1600" b="1" dirty="0"/>
              <a:t>2</a:t>
            </a:r>
            <a:r>
              <a:rPr lang="zh-CN" altLang="en-US" sz="1600" b="1" dirty="0"/>
              <a:t>的概率：</a:t>
            </a:r>
          </a:p>
        </p:txBody>
      </p:sp>
      <p:sp>
        <p:nvSpPr>
          <p:cNvPr id="42" name="文本框 41"/>
          <p:cNvSpPr txBox="1"/>
          <p:nvPr/>
        </p:nvSpPr>
        <p:spPr>
          <a:xfrm>
            <a:off x="6922793" y="5538666"/>
            <a:ext cx="868468" cy="338554"/>
          </a:xfrm>
          <a:prstGeom prst="rect">
            <a:avLst/>
          </a:prstGeom>
          <a:noFill/>
        </p:spPr>
        <p:txBody>
          <a:bodyPr wrap="square" rtlCol="0">
            <a:spAutoFit/>
          </a:bodyPr>
          <a:lstStyle/>
          <a:p>
            <a:r>
              <a:rPr lang="en-US" altLang="zh-CN" sz="1600" b="1" dirty="0"/>
              <a:t>P(</a:t>
            </a:r>
            <a:r>
              <a:rPr lang="en-US" altLang="zh-CN" sz="1600" b="1" dirty="0" err="1"/>
              <a:t>2|x</a:t>
            </a:r>
            <a:r>
              <a:rPr lang="en-US" altLang="zh-CN" sz="1600" b="1" dirty="0"/>
              <a:t>)</a:t>
            </a:r>
            <a:endParaRPr lang="zh-CN" altLang="en-US" sz="1600" b="1" dirty="0"/>
          </a:p>
        </p:txBody>
      </p:sp>
      <p:sp>
        <p:nvSpPr>
          <p:cNvPr id="3" name="文本框 2"/>
          <p:cNvSpPr txBox="1"/>
          <p:nvPr/>
        </p:nvSpPr>
        <p:spPr>
          <a:xfrm>
            <a:off x="8242178" y="4559708"/>
            <a:ext cx="890016" cy="369332"/>
          </a:xfrm>
          <a:prstGeom prst="rect">
            <a:avLst/>
          </a:prstGeom>
          <a:noFill/>
        </p:spPr>
        <p:txBody>
          <a:bodyPr wrap="square" rtlCol="0">
            <a:spAutoFit/>
          </a:bodyPr>
          <a:lstStyle/>
          <a:p>
            <a:r>
              <a:rPr lang="zh-CN" altLang="en-US" b="1" dirty="0"/>
              <a:t>输入</a:t>
            </a:r>
            <a:r>
              <a:rPr lang="en-US" altLang="zh-CN" b="1" dirty="0"/>
              <a:t>x</a:t>
            </a:r>
            <a:endParaRPr lang="zh-CN" altLang="en-US" b="1" dirty="0"/>
          </a:p>
        </p:txBody>
      </p:sp>
      <p:cxnSp>
        <p:nvCxnSpPr>
          <p:cNvPr id="7" name="直接箭头连接符 6"/>
          <p:cNvCxnSpPr/>
          <p:nvPr/>
        </p:nvCxnSpPr>
        <p:spPr>
          <a:xfrm>
            <a:off x="8936736" y="4759763"/>
            <a:ext cx="329184"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9259437" y="4187577"/>
            <a:ext cx="885289" cy="12894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9283821" y="4270588"/>
            <a:ext cx="780983" cy="369332"/>
          </a:xfrm>
          <a:prstGeom prst="rect">
            <a:avLst/>
          </a:prstGeom>
        </p:spPr>
        <p:txBody>
          <a:bodyPr wrap="none">
            <a:spAutoFit/>
          </a:bodyPr>
          <a:lstStyle/>
          <a:p>
            <a:r>
              <a:rPr lang="en-US" altLang="zh-CN" b="1" dirty="0"/>
              <a:t>P(</a:t>
            </a:r>
            <a:r>
              <a:rPr lang="en-US" altLang="zh-CN" b="1" dirty="0" err="1"/>
              <a:t>0|x</a:t>
            </a:r>
            <a:r>
              <a:rPr lang="en-US" altLang="zh-CN" b="1" dirty="0"/>
              <a:t>)</a:t>
            </a:r>
            <a:endParaRPr lang="zh-CN" altLang="en-US" dirty="0"/>
          </a:p>
        </p:txBody>
      </p:sp>
      <p:sp>
        <p:nvSpPr>
          <p:cNvPr id="36" name="矩形 35"/>
          <p:cNvSpPr/>
          <p:nvPr/>
        </p:nvSpPr>
        <p:spPr>
          <a:xfrm>
            <a:off x="9295627" y="4606842"/>
            <a:ext cx="780983" cy="369332"/>
          </a:xfrm>
          <a:prstGeom prst="rect">
            <a:avLst/>
          </a:prstGeom>
        </p:spPr>
        <p:txBody>
          <a:bodyPr wrap="none">
            <a:spAutoFit/>
          </a:bodyPr>
          <a:lstStyle/>
          <a:p>
            <a:r>
              <a:rPr lang="en-US" altLang="zh-CN" b="1" dirty="0"/>
              <a:t>P(</a:t>
            </a:r>
            <a:r>
              <a:rPr lang="en-US" altLang="zh-CN" b="1" dirty="0" err="1"/>
              <a:t>1|x</a:t>
            </a:r>
            <a:r>
              <a:rPr lang="en-US" altLang="zh-CN" b="1" dirty="0"/>
              <a:t>)</a:t>
            </a:r>
            <a:endParaRPr lang="zh-CN" altLang="en-US" dirty="0"/>
          </a:p>
        </p:txBody>
      </p:sp>
      <p:sp>
        <p:nvSpPr>
          <p:cNvPr id="46" name="矩形 45"/>
          <p:cNvSpPr/>
          <p:nvPr/>
        </p:nvSpPr>
        <p:spPr>
          <a:xfrm>
            <a:off x="9311589" y="4968485"/>
            <a:ext cx="780983" cy="369332"/>
          </a:xfrm>
          <a:prstGeom prst="rect">
            <a:avLst/>
          </a:prstGeom>
        </p:spPr>
        <p:txBody>
          <a:bodyPr wrap="none">
            <a:spAutoFit/>
          </a:bodyPr>
          <a:lstStyle/>
          <a:p>
            <a:r>
              <a:rPr lang="en-US" altLang="zh-CN" b="1" dirty="0"/>
              <a:t>P(</a:t>
            </a:r>
            <a:r>
              <a:rPr lang="en-US" altLang="zh-CN" b="1" dirty="0" err="1"/>
              <a:t>2|x</a:t>
            </a:r>
            <a:r>
              <a:rPr lang="en-US" altLang="zh-CN" b="1" dirty="0"/>
              <a:t>)</a:t>
            </a:r>
            <a:endParaRPr lang="zh-CN" altLang="en-US" dirty="0"/>
          </a:p>
        </p:txBody>
      </p:sp>
      <p:cxnSp>
        <p:nvCxnSpPr>
          <p:cNvPr id="47" name="直接箭头连接符 46"/>
          <p:cNvCxnSpPr/>
          <p:nvPr/>
        </p:nvCxnSpPr>
        <p:spPr>
          <a:xfrm>
            <a:off x="10144726" y="4744374"/>
            <a:ext cx="329184"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0512257" y="4306680"/>
            <a:ext cx="1401098" cy="923330"/>
          </a:xfrm>
          <a:prstGeom prst="rect">
            <a:avLst/>
          </a:prstGeom>
        </p:spPr>
        <p:txBody>
          <a:bodyPr wrap="square">
            <a:spAutoFit/>
          </a:bodyPr>
          <a:lstStyle/>
          <a:p>
            <a:r>
              <a:rPr lang="zh-CN" altLang="en-US" b="1" dirty="0"/>
              <a:t>输出</a:t>
            </a:r>
            <a:r>
              <a:rPr lang="en-US" altLang="zh-CN" b="1" dirty="0"/>
              <a:t>y</a:t>
            </a:r>
          </a:p>
          <a:p>
            <a:r>
              <a:rPr lang="zh-CN" altLang="en-US" b="1" dirty="0"/>
              <a:t>最大的</a:t>
            </a:r>
            <a:r>
              <a:rPr lang="en-US" altLang="zh-CN" b="1" dirty="0"/>
              <a:t>P(</a:t>
            </a:r>
            <a:r>
              <a:rPr lang="en-US" altLang="zh-CN" b="1" dirty="0" err="1"/>
              <a:t>i|x</a:t>
            </a:r>
            <a:r>
              <a:rPr lang="en-US" altLang="zh-CN" b="1" dirty="0"/>
              <a:t>)</a:t>
            </a:r>
            <a:r>
              <a:rPr lang="zh-CN" altLang="en-US" b="1" dirty="0"/>
              <a:t>对应的</a:t>
            </a:r>
            <a:r>
              <a:rPr lang="en-US" altLang="zh-CN" b="1" dirty="0" err="1"/>
              <a:t>i</a:t>
            </a:r>
            <a:endParaRPr lang="zh-CN" altLang="en-US" b="1" dirty="0"/>
          </a:p>
        </p:txBody>
      </p:sp>
    </p:spTree>
    <p:extLst>
      <p:ext uri="{BB962C8B-B14F-4D97-AF65-F5344CB8AC3E}">
        <p14:creationId xmlns:p14="http://schemas.microsoft.com/office/powerpoint/2010/main" val="40227063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62</a:t>
            </a:fld>
            <a:endParaRPr lang="zh-CN" altLang="en-US" dirty="0"/>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sp>
        <p:nvSpPr>
          <p:cNvPr id="2" name="文本框 1"/>
          <p:cNvSpPr txBox="1"/>
          <p:nvPr/>
        </p:nvSpPr>
        <p:spPr>
          <a:xfrm>
            <a:off x="996696" y="2087470"/>
            <a:ext cx="4352544" cy="369332"/>
          </a:xfrm>
          <a:prstGeom prst="rect">
            <a:avLst/>
          </a:prstGeom>
          <a:noFill/>
        </p:spPr>
        <p:txBody>
          <a:bodyPr wrap="square" rtlCol="0">
            <a:spAutoFit/>
          </a:bodyPr>
          <a:lstStyle/>
          <a:p>
            <a:r>
              <a:rPr lang="zh-CN" altLang="en-US" b="1" dirty="0"/>
              <a:t>① 处理方法</a:t>
            </a:r>
            <a:r>
              <a:rPr lang="en-US" altLang="zh-CN" b="1" dirty="0"/>
              <a:t>1</a:t>
            </a:r>
            <a:r>
              <a:rPr lang="zh-CN" altLang="en-US" b="1" dirty="0"/>
              <a:t>：概率的角度</a:t>
            </a:r>
          </a:p>
        </p:txBody>
      </p:sp>
      <p:sp>
        <p:nvSpPr>
          <p:cNvPr id="37" name="矩形 36"/>
          <p:cNvSpPr/>
          <p:nvPr/>
        </p:nvSpPr>
        <p:spPr>
          <a:xfrm>
            <a:off x="1286950" y="2524360"/>
            <a:ext cx="4369722" cy="369332"/>
          </a:xfrm>
          <a:prstGeom prst="rect">
            <a:avLst/>
          </a:prstGeom>
        </p:spPr>
        <p:txBody>
          <a:bodyPr wrap="none">
            <a:spAutoFit/>
          </a:bodyPr>
          <a:lstStyle/>
          <a:p>
            <a:r>
              <a:rPr lang="zh-CN" altLang="en-US" b="1" dirty="0"/>
              <a:t>对于多分类，可以推广到输出为“</a:t>
            </a:r>
            <a:r>
              <a:rPr lang="en-US" altLang="zh-CN" b="1" dirty="0" err="1"/>
              <a:t>i</a:t>
            </a:r>
            <a:r>
              <a:rPr lang="zh-CN" altLang="en-US" b="1" dirty="0"/>
              <a:t>”的概率</a:t>
            </a:r>
            <a:endParaRPr lang="en-US" altLang="zh-CN" b="1" dirty="0"/>
          </a:p>
        </p:txBody>
      </p:sp>
      <p:graphicFrame>
        <p:nvGraphicFramePr>
          <p:cNvPr id="43" name="对象 42">
            <a:extLst>
              <a:ext uri="{FF2B5EF4-FFF2-40B4-BE49-F238E27FC236}">
                <a16:creationId xmlns:a16="http://schemas.microsoft.com/office/drawing/2014/main" id="{CF796419-9983-4CB7-B436-22D6DA59EE34}"/>
              </a:ext>
            </a:extLst>
          </p:cNvPr>
          <p:cNvGraphicFramePr>
            <a:graphicFrameLocks noChangeAspect="1"/>
          </p:cNvGraphicFramePr>
          <p:nvPr>
            <p:extLst>
              <p:ext uri="{D42A27DB-BD31-4B8C-83A1-F6EECF244321}">
                <p14:modId xmlns:p14="http://schemas.microsoft.com/office/powerpoint/2010/main" val="590100945"/>
              </p:ext>
            </p:extLst>
          </p:nvPr>
        </p:nvGraphicFramePr>
        <p:xfrm>
          <a:off x="1469073" y="3045655"/>
          <a:ext cx="3660775" cy="1519238"/>
        </p:xfrm>
        <a:graphic>
          <a:graphicData uri="http://schemas.openxmlformats.org/presentationml/2006/ole">
            <mc:AlternateContent xmlns:mc="http://schemas.openxmlformats.org/markup-compatibility/2006">
              <mc:Choice xmlns:v="urn:schemas-microsoft-com:vml" Requires="v">
                <p:oleObj name="Equation" r:id="rId2" imgW="1663560" imgH="698400" progId="Equation.DSMT4">
                  <p:embed/>
                </p:oleObj>
              </mc:Choice>
              <mc:Fallback>
                <p:oleObj name="Equation" r:id="rId2" imgW="1663560" imgH="698400" progId="Equation.DSMT4">
                  <p:embed/>
                  <p:pic>
                    <p:nvPicPr>
                      <p:cNvPr id="30" name="对象 29">
                        <a:extLst>
                          <a:ext uri="{FF2B5EF4-FFF2-40B4-BE49-F238E27FC236}">
                            <a16:creationId xmlns:a16="http://schemas.microsoft.com/office/drawing/2014/main" id="{CF796419-9983-4CB7-B436-22D6DA59EE34}"/>
                          </a:ext>
                        </a:extLst>
                      </p:cNvPr>
                      <p:cNvPicPr>
                        <a:picLocks noChangeAspect="1" noChangeArrowheads="1"/>
                      </p:cNvPicPr>
                      <p:nvPr/>
                    </p:nvPicPr>
                    <p:blipFill>
                      <a:blip r:embed="rId3"/>
                      <a:srcRect/>
                      <a:stretch>
                        <a:fillRect/>
                      </a:stretch>
                    </p:blipFill>
                    <p:spPr bwMode="auto">
                      <a:xfrm>
                        <a:off x="1469073" y="3045655"/>
                        <a:ext cx="3660775" cy="1519238"/>
                      </a:xfrm>
                      <a:prstGeom prst="rect">
                        <a:avLst/>
                      </a:prstGeom>
                      <a:noFill/>
                    </p:spPr>
                  </p:pic>
                </p:oleObj>
              </mc:Fallback>
            </mc:AlternateContent>
          </a:graphicData>
        </a:graphic>
      </p:graphicFrame>
      <p:sp>
        <p:nvSpPr>
          <p:cNvPr id="44" name="矩形 43"/>
          <p:cNvSpPr/>
          <p:nvPr/>
        </p:nvSpPr>
        <p:spPr>
          <a:xfrm>
            <a:off x="3328697" y="3693810"/>
            <a:ext cx="389863" cy="899885"/>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1386245" y="4716856"/>
            <a:ext cx="4233851" cy="369332"/>
          </a:xfrm>
          <a:prstGeom prst="rect">
            <a:avLst/>
          </a:prstGeom>
        </p:spPr>
        <p:txBody>
          <a:bodyPr wrap="none">
            <a:spAutoFit/>
          </a:bodyPr>
          <a:lstStyle/>
          <a:p>
            <a:r>
              <a:rPr lang="zh-CN" altLang="en-US" b="1" dirty="0"/>
              <a:t>备注：因为有</a:t>
            </a:r>
            <a:r>
              <a:rPr lang="en-US" altLang="zh-CN" b="1" dirty="0"/>
              <a:t>3</a:t>
            </a:r>
            <a:r>
              <a:rPr lang="zh-CN" altLang="en-US" b="1" dirty="0"/>
              <a:t>种，所以种类是标签</a:t>
            </a:r>
            <a:r>
              <a:rPr lang="en-US" altLang="zh-CN" b="1" dirty="0"/>
              <a:t>0,1,2</a:t>
            </a:r>
            <a:endParaRPr lang="zh-CN" altLang="en-US" dirty="0"/>
          </a:p>
        </p:txBody>
      </p:sp>
      <p:sp>
        <p:nvSpPr>
          <p:cNvPr id="48" name="矩形 47"/>
          <p:cNvSpPr/>
          <p:nvPr/>
        </p:nvSpPr>
        <p:spPr>
          <a:xfrm>
            <a:off x="1386245" y="5200522"/>
            <a:ext cx="10068265" cy="1477328"/>
          </a:xfrm>
          <a:prstGeom prst="rect">
            <a:avLst/>
          </a:prstGeom>
        </p:spPr>
        <p:txBody>
          <a:bodyPr wrap="square">
            <a:spAutoFit/>
          </a:bodyPr>
          <a:lstStyle/>
          <a:p>
            <a:r>
              <a:rPr lang="zh-CN" altLang="en-US" b="1" dirty="0"/>
              <a:t>这个分布叫作</a:t>
            </a:r>
            <a:r>
              <a:rPr lang="zh-CN" altLang="en-US" b="1" dirty="0">
                <a:solidFill>
                  <a:srgbClr val="C00000"/>
                </a:solidFill>
              </a:rPr>
              <a:t>玻尔兹曼分布</a:t>
            </a:r>
            <a:r>
              <a:rPr lang="en-US" altLang="zh-CN" b="1" dirty="0">
                <a:solidFill>
                  <a:srgbClr val="C00000"/>
                </a:solidFill>
              </a:rPr>
              <a:t>Maxwell–Boltzmann distribution </a:t>
            </a:r>
            <a:r>
              <a:rPr lang="zh-CN" altLang="en-US" b="1" dirty="0">
                <a:solidFill>
                  <a:srgbClr val="C00000"/>
                </a:solidFill>
              </a:rPr>
              <a:t>，</a:t>
            </a:r>
            <a:r>
              <a:rPr lang="zh-CN" altLang="en-US" b="1" dirty="0"/>
              <a:t>是一个热力学的概念，在考虑保守力（例如重力）的情况下，处在热平衡状态的粒子，自身</a:t>
            </a:r>
            <a:r>
              <a:rPr lang="zh-CN" altLang="en-US" b="1" dirty="0">
                <a:solidFill>
                  <a:srgbClr val="C00000"/>
                </a:solidFill>
              </a:rPr>
              <a:t>能量</a:t>
            </a:r>
            <a:r>
              <a:rPr lang="zh-CN" altLang="en-US" b="1" dirty="0"/>
              <a:t>的分布规律。</a:t>
            </a:r>
            <a:endParaRPr lang="en-US" altLang="zh-CN" b="1" dirty="0"/>
          </a:p>
          <a:p>
            <a:endParaRPr lang="en-US" altLang="zh-CN" b="1" dirty="0"/>
          </a:p>
          <a:p>
            <a:r>
              <a:rPr lang="zh-CN" altLang="en-US" b="1" dirty="0"/>
              <a:t>这个分布函数，在机器学习领域，被称为</a:t>
            </a:r>
            <a:r>
              <a:rPr lang="en-US" altLang="zh-CN" b="1" dirty="0">
                <a:solidFill>
                  <a:srgbClr val="C00000"/>
                </a:solidFill>
              </a:rPr>
              <a:t>soft-max</a:t>
            </a:r>
            <a:r>
              <a:rPr lang="zh-CN" altLang="en-US" b="1" dirty="0">
                <a:solidFill>
                  <a:srgbClr val="C00000"/>
                </a:solidFill>
              </a:rPr>
              <a:t> </a:t>
            </a:r>
            <a:r>
              <a:rPr lang="en-US" altLang="zh-CN" b="1" dirty="0">
                <a:solidFill>
                  <a:srgbClr val="C00000"/>
                </a:solidFill>
              </a:rPr>
              <a:t>function</a:t>
            </a:r>
          </a:p>
          <a:p>
            <a:endParaRPr lang="zh-CN" altLang="en-US" dirty="0"/>
          </a:p>
        </p:txBody>
      </p:sp>
      <p:pic>
        <p:nvPicPr>
          <p:cNvPr id="49" name="图片 4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0921" y="2543206"/>
            <a:ext cx="2113171" cy="2301207"/>
          </a:xfrm>
          <a:prstGeom prst="rect">
            <a:avLst/>
          </a:prstGeom>
        </p:spPr>
      </p:pic>
    </p:spTree>
    <p:extLst>
      <p:ext uri="{BB962C8B-B14F-4D97-AF65-F5344CB8AC3E}">
        <p14:creationId xmlns:p14="http://schemas.microsoft.com/office/powerpoint/2010/main" val="31303763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63</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096000" y="2241585"/>
            <a:ext cx="5757672" cy="338554"/>
          </a:xfrm>
          <a:prstGeom prst="rect">
            <a:avLst/>
          </a:prstGeom>
          <a:noFill/>
        </p:spPr>
        <p:txBody>
          <a:bodyPr wrap="square" rtlCol="0">
            <a:spAutoFit/>
          </a:bodyPr>
          <a:lstStyle/>
          <a:p>
            <a:r>
              <a:rPr lang="zh-CN" altLang="en-US" sz="1600" b="1" dirty="0"/>
              <a:t>② 处理方法</a:t>
            </a:r>
            <a:r>
              <a:rPr lang="en-US" altLang="zh-CN" sz="1600" b="1" dirty="0"/>
              <a:t>2</a:t>
            </a:r>
            <a:r>
              <a:rPr lang="zh-CN" altLang="en-US" sz="1600" b="1" dirty="0"/>
              <a:t>：强行看成二分类，建立</a:t>
            </a:r>
            <a:r>
              <a:rPr lang="zh-CN" altLang="en-US" sz="1600" b="1" dirty="0">
                <a:solidFill>
                  <a:srgbClr val="C00000"/>
                </a:solidFill>
              </a:rPr>
              <a:t>多个</a:t>
            </a:r>
            <a:r>
              <a:rPr lang="zh-CN" altLang="en-US" sz="1600" b="1" dirty="0"/>
              <a:t>分类器，然后</a:t>
            </a:r>
            <a:r>
              <a:rPr lang="zh-CN" altLang="en-US" sz="1600" b="1" dirty="0">
                <a:solidFill>
                  <a:srgbClr val="C00000"/>
                </a:solidFill>
              </a:rPr>
              <a:t>投票</a:t>
            </a:r>
          </a:p>
        </p:txBody>
      </p:sp>
      <p:grpSp>
        <p:nvGrpSpPr>
          <p:cNvPr id="37" name="组合 36"/>
          <p:cNvGrpSpPr/>
          <p:nvPr/>
        </p:nvGrpSpPr>
        <p:grpSpPr>
          <a:xfrm>
            <a:off x="6096000" y="2602260"/>
            <a:ext cx="6096000" cy="1323439"/>
            <a:chOff x="5749763" y="2498042"/>
            <a:chExt cx="6096000" cy="1323439"/>
          </a:xfrm>
        </p:grpSpPr>
        <p:sp>
          <p:nvSpPr>
            <p:cNvPr id="43" name="AutoShape 8">
              <a:extLst>
                <a:ext uri="{FF2B5EF4-FFF2-40B4-BE49-F238E27FC236}">
                  <a16:creationId xmlns:a16="http://schemas.microsoft.com/office/drawing/2014/main" id="{0FF656AC-30E4-4D2F-8A26-B7F6E0565C83}"/>
                </a:ext>
              </a:extLst>
            </p:cNvPr>
            <p:cNvSpPr>
              <a:spLocks noChangeAspect="1" noChangeArrowheads="1"/>
            </p:cNvSpPr>
            <p:nvPr/>
          </p:nvSpPr>
          <p:spPr bwMode="auto">
            <a:xfrm>
              <a:off x="5840565" y="2617692"/>
              <a:ext cx="68071" cy="680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矩形 43"/>
            <p:cNvSpPr/>
            <p:nvPr/>
          </p:nvSpPr>
          <p:spPr>
            <a:xfrm>
              <a:off x="5749763" y="2498042"/>
              <a:ext cx="6096000" cy="1323439"/>
            </a:xfrm>
            <a:prstGeom prst="rect">
              <a:avLst/>
            </a:prstGeom>
          </p:spPr>
          <p:txBody>
            <a:bodyPr>
              <a:spAutoFit/>
            </a:bodyPr>
            <a:lstStyle/>
            <a:p>
              <a:pPr marL="342900" indent="-342900">
                <a:buFont typeface="Arial" panose="020B0604020202020204" pitchFamily="34" charset="0"/>
                <a:buChar char="•"/>
              </a:pPr>
              <a:r>
                <a:rPr lang="zh-CN" altLang="en-US" sz="1600" b="1" dirty="0"/>
                <a:t>建立</a:t>
              </a:r>
              <a:r>
                <a:rPr lang="en-US" altLang="zh-CN" sz="1600" b="1" dirty="0"/>
                <a:t>3</a:t>
              </a:r>
              <a:r>
                <a:rPr lang="zh-CN" altLang="en-US" sz="1600" b="1" dirty="0"/>
                <a:t>个二分类器</a:t>
              </a:r>
              <a:endParaRPr lang="en-US" altLang="zh-CN" sz="1600" b="1" dirty="0"/>
            </a:p>
            <a:p>
              <a:pPr lvl="1"/>
              <a:r>
                <a:rPr lang="zh-CN" altLang="en-US" sz="1600" dirty="0"/>
                <a:t>（</a:t>
              </a:r>
              <a:r>
                <a:rPr lang="en-US" altLang="zh-CN" sz="1600" dirty="0"/>
                <a:t>A</a:t>
              </a:r>
              <a:r>
                <a:rPr lang="zh-CN" altLang="en-US" sz="1600" dirty="0"/>
                <a:t>）</a:t>
              </a:r>
              <a:r>
                <a:rPr lang="en-US" altLang="zh-CN" sz="1600" dirty="0"/>
                <a:t> </a:t>
              </a:r>
              <a:r>
                <a:rPr lang="zh-CN" altLang="en-US" sz="1600" b="1" dirty="0">
                  <a:solidFill>
                    <a:srgbClr val="C00000"/>
                  </a:solidFill>
                </a:rPr>
                <a:t>狗</a:t>
              </a:r>
              <a:r>
                <a:rPr lang="en-US" altLang="zh-CN" sz="1600" b="1" dirty="0">
                  <a:solidFill>
                    <a:srgbClr val="C00000"/>
                  </a:solidFill>
                </a:rPr>
                <a:t>vs</a:t>
              </a:r>
              <a:r>
                <a:rPr lang="zh-CN" altLang="en-US" sz="1600" b="1" dirty="0">
                  <a:solidFill>
                    <a:srgbClr val="C00000"/>
                  </a:solidFill>
                </a:rPr>
                <a:t>不是狗</a:t>
              </a:r>
              <a:endParaRPr lang="en-US" altLang="zh-CN" sz="1600" b="1" dirty="0">
                <a:solidFill>
                  <a:srgbClr val="C00000"/>
                </a:solidFill>
              </a:endParaRPr>
            </a:p>
            <a:p>
              <a:pPr lvl="1"/>
              <a:r>
                <a:rPr lang="zh-CN" altLang="en-US" sz="1600" dirty="0"/>
                <a:t>（</a:t>
              </a:r>
              <a:r>
                <a:rPr lang="en-US" altLang="zh-CN" sz="1600" dirty="0"/>
                <a:t>B</a:t>
              </a:r>
              <a:r>
                <a:rPr lang="zh-CN" altLang="en-US" sz="1600" dirty="0"/>
                <a:t>）</a:t>
              </a:r>
              <a:r>
                <a:rPr lang="en-US" altLang="zh-CN" sz="1600" dirty="0"/>
                <a:t> </a:t>
              </a:r>
              <a:r>
                <a:rPr lang="zh-CN" altLang="en-US" sz="1600" dirty="0"/>
                <a:t>猫</a:t>
              </a:r>
              <a:r>
                <a:rPr lang="en-US" altLang="zh-CN" sz="1600" dirty="0"/>
                <a:t>vs</a:t>
              </a:r>
              <a:r>
                <a:rPr lang="zh-CN" altLang="en-US" sz="1600" dirty="0"/>
                <a:t>不是猫</a:t>
              </a:r>
              <a:endParaRPr lang="en-US" altLang="zh-CN" sz="1600" dirty="0"/>
            </a:p>
            <a:p>
              <a:pPr lvl="1"/>
              <a:r>
                <a:rPr lang="zh-CN" altLang="en-US" sz="1600" dirty="0"/>
                <a:t>（</a:t>
              </a:r>
              <a:r>
                <a:rPr lang="en-US" altLang="zh-CN" sz="1600" dirty="0"/>
                <a:t>C</a:t>
              </a:r>
              <a:r>
                <a:rPr lang="zh-CN" altLang="en-US" sz="1600" dirty="0"/>
                <a:t>）</a:t>
              </a:r>
              <a:r>
                <a:rPr lang="en-US" altLang="zh-CN" sz="1600" dirty="0"/>
                <a:t> </a:t>
              </a:r>
              <a:r>
                <a:rPr lang="zh-CN" altLang="en-US" sz="1600" dirty="0"/>
                <a:t>鼠</a:t>
              </a:r>
              <a:r>
                <a:rPr lang="en-US" altLang="zh-CN" sz="1600" dirty="0"/>
                <a:t>vs</a:t>
              </a:r>
              <a:r>
                <a:rPr lang="zh-CN" altLang="en-US" sz="1600" dirty="0"/>
                <a:t>不是鼠</a:t>
              </a:r>
              <a:endParaRPr lang="en-US" altLang="zh-CN" sz="1600" dirty="0"/>
            </a:p>
            <a:p>
              <a:pPr lvl="1"/>
              <a:r>
                <a:rPr lang="zh-CN" altLang="en-US" sz="1600" b="1" dirty="0"/>
                <a:t>最后再组合判定输出</a:t>
              </a:r>
              <a:endParaRPr lang="en-US" altLang="zh-CN" sz="1600" b="1" dirty="0"/>
            </a:p>
          </p:txBody>
        </p:sp>
        <p:graphicFrame>
          <p:nvGraphicFramePr>
            <p:cNvPr id="45" name="对象 44"/>
            <p:cNvGraphicFramePr>
              <a:graphicFrameLocks noChangeAspect="1"/>
            </p:cNvGraphicFramePr>
            <p:nvPr/>
          </p:nvGraphicFramePr>
          <p:xfrm>
            <a:off x="7920846" y="2783999"/>
            <a:ext cx="196096" cy="261462"/>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45" name="对象 44"/>
                        <p:cNvPicPr/>
                        <p:nvPr/>
                      </p:nvPicPr>
                      <p:blipFill>
                        <a:blip r:embed="rId12"/>
                        <a:stretch>
                          <a:fillRect/>
                        </a:stretch>
                      </p:blipFill>
                      <p:spPr>
                        <a:xfrm>
                          <a:off x="7920846" y="2783999"/>
                          <a:ext cx="196096" cy="261462"/>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7945364" y="3082632"/>
            <a:ext cx="144463" cy="211138"/>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48" name="对象 47"/>
                        <p:cNvPicPr/>
                        <p:nvPr/>
                      </p:nvPicPr>
                      <p:blipFill>
                        <a:blip r:embed="rId14"/>
                        <a:stretch>
                          <a:fillRect/>
                        </a:stretch>
                      </p:blipFill>
                      <p:spPr>
                        <a:xfrm>
                          <a:off x="7945364" y="3082632"/>
                          <a:ext cx="144463" cy="211138"/>
                        </a:xfrm>
                        <a:prstGeom prst="rect">
                          <a:avLst/>
                        </a:prstGeom>
                      </p:spPr>
                    </p:pic>
                  </p:oleObj>
                </mc:Fallback>
              </mc:AlternateContent>
            </a:graphicData>
          </a:graphic>
        </p:graphicFrame>
        <p:graphicFrame>
          <p:nvGraphicFramePr>
            <p:cNvPr id="49" name="对象 48"/>
            <p:cNvGraphicFramePr>
              <a:graphicFrameLocks noChangeAspect="1"/>
            </p:cNvGraphicFramePr>
            <p:nvPr/>
          </p:nvGraphicFramePr>
          <p:xfrm>
            <a:off x="7945364" y="3313650"/>
            <a:ext cx="131762" cy="228600"/>
          </p:xfrm>
          <a:graphic>
            <a:graphicData uri="http://schemas.openxmlformats.org/presentationml/2006/ole">
              <mc:AlternateContent xmlns:mc="http://schemas.openxmlformats.org/markup-compatibility/2006">
                <mc:Choice xmlns:v="urn:schemas-microsoft-com:vml" Requires="v">
                  <p:oleObj name="Equation" r:id="rId15" imgW="126720" imgH="177480" progId="Equation.DSMT4">
                    <p:embed/>
                  </p:oleObj>
                </mc:Choice>
                <mc:Fallback>
                  <p:oleObj name="Equation" r:id="rId15" imgW="126720" imgH="177480" progId="Equation.DSMT4">
                    <p:embed/>
                    <p:pic>
                      <p:nvPicPr>
                        <p:cNvPr id="49" name="对象 48"/>
                        <p:cNvPicPr/>
                        <p:nvPr/>
                      </p:nvPicPr>
                      <p:blipFill>
                        <a:blip r:embed="rId16"/>
                        <a:stretch>
                          <a:fillRect/>
                        </a:stretch>
                      </p:blipFill>
                      <p:spPr>
                        <a:xfrm>
                          <a:off x="7945364" y="3313650"/>
                          <a:ext cx="131762" cy="228600"/>
                        </a:xfrm>
                        <a:prstGeom prst="rect">
                          <a:avLst/>
                        </a:prstGeom>
                      </p:spPr>
                    </p:pic>
                  </p:oleObj>
                </mc:Fallback>
              </mc:AlternateContent>
            </a:graphicData>
          </a:graphic>
        </p:graphicFrame>
      </p:grpSp>
    </p:spTree>
    <p:extLst>
      <p:ext uri="{BB962C8B-B14F-4D97-AF65-F5344CB8AC3E}">
        <p14:creationId xmlns:p14="http://schemas.microsoft.com/office/powerpoint/2010/main" val="26430265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64</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096000" y="2241585"/>
            <a:ext cx="5757672" cy="338554"/>
          </a:xfrm>
          <a:prstGeom prst="rect">
            <a:avLst/>
          </a:prstGeom>
          <a:noFill/>
        </p:spPr>
        <p:txBody>
          <a:bodyPr wrap="square" rtlCol="0">
            <a:spAutoFit/>
          </a:bodyPr>
          <a:lstStyle/>
          <a:p>
            <a:r>
              <a:rPr lang="zh-CN" altLang="en-US" sz="1600" b="1" dirty="0"/>
              <a:t>② 处理方法</a:t>
            </a:r>
            <a:r>
              <a:rPr lang="en-US" altLang="zh-CN" sz="1600" b="1" dirty="0"/>
              <a:t>2</a:t>
            </a:r>
            <a:r>
              <a:rPr lang="zh-CN" altLang="en-US" sz="1600" b="1" dirty="0"/>
              <a:t>：强行看成二分类，建立</a:t>
            </a:r>
            <a:r>
              <a:rPr lang="zh-CN" altLang="en-US" sz="1600" b="1" dirty="0">
                <a:solidFill>
                  <a:srgbClr val="C00000"/>
                </a:solidFill>
              </a:rPr>
              <a:t>多个</a:t>
            </a:r>
            <a:r>
              <a:rPr lang="zh-CN" altLang="en-US" sz="1600" b="1" dirty="0"/>
              <a:t>分类器，然后</a:t>
            </a:r>
            <a:r>
              <a:rPr lang="zh-CN" altLang="en-US" sz="1600" b="1" dirty="0">
                <a:solidFill>
                  <a:srgbClr val="C00000"/>
                </a:solidFill>
              </a:rPr>
              <a:t>投票</a:t>
            </a:r>
          </a:p>
        </p:txBody>
      </p:sp>
      <p:grpSp>
        <p:nvGrpSpPr>
          <p:cNvPr id="37" name="组合 36"/>
          <p:cNvGrpSpPr/>
          <p:nvPr/>
        </p:nvGrpSpPr>
        <p:grpSpPr>
          <a:xfrm>
            <a:off x="6096000" y="2602260"/>
            <a:ext cx="6096000" cy="1323439"/>
            <a:chOff x="5749763" y="2498042"/>
            <a:chExt cx="6096000" cy="1323439"/>
          </a:xfrm>
        </p:grpSpPr>
        <p:sp>
          <p:nvSpPr>
            <p:cNvPr id="43" name="AutoShape 8">
              <a:extLst>
                <a:ext uri="{FF2B5EF4-FFF2-40B4-BE49-F238E27FC236}">
                  <a16:creationId xmlns:a16="http://schemas.microsoft.com/office/drawing/2014/main" id="{0FF656AC-30E4-4D2F-8A26-B7F6E0565C83}"/>
                </a:ext>
              </a:extLst>
            </p:cNvPr>
            <p:cNvSpPr>
              <a:spLocks noChangeAspect="1" noChangeArrowheads="1"/>
            </p:cNvSpPr>
            <p:nvPr/>
          </p:nvSpPr>
          <p:spPr bwMode="auto">
            <a:xfrm>
              <a:off x="5840565" y="2617692"/>
              <a:ext cx="68071" cy="680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矩形 43"/>
            <p:cNvSpPr/>
            <p:nvPr/>
          </p:nvSpPr>
          <p:spPr>
            <a:xfrm>
              <a:off x="5749763" y="2498042"/>
              <a:ext cx="6096000" cy="1323439"/>
            </a:xfrm>
            <a:prstGeom prst="rect">
              <a:avLst/>
            </a:prstGeom>
          </p:spPr>
          <p:txBody>
            <a:bodyPr>
              <a:spAutoFit/>
            </a:bodyPr>
            <a:lstStyle/>
            <a:p>
              <a:pPr marL="342900" indent="-342900">
                <a:buFont typeface="Arial" panose="020B0604020202020204" pitchFamily="34" charset="0"/>
                <a:buChar char="•"/>
              </a:pPr>
              <a:r>
                <a:rPr lang="zh-CN" altLang="en-US" sz="1600" b="1" dirty="0"/>
                <a:t>建立</a:t>
              </a:r>
              <a:r>
                <a:rPr lang="en-US" altLang="zh-CN" sz="1600" b="1" dirty="0"/>
                <a:t>3</a:t>
              </a:r>
              <a:r>
                <a:rPr lang="zh-CN" altLang="en-US" sz="1600" b="1" dirty="0"/>
                <a:t>个二分类器</a:t>
              </a:r>
              <a:endParaRPr lang="en-US" altLang="zh-CN" sz="1600" b="1" dirty="0"/>
            </a:p>
            <a:p>
              <a:pPr lvl="1"/>
              <a:r>
                <a:rPr lang="zh-CN" altLang="en-US" sz="1600" dirty="0"/>
                <a:t>（</a:t>
              </a:r>
              <a:r>
                <a:rPr lang="en-US" altLang="zh-CN" sz="1600" dirty="0"/>
                <a:t>A</a:t>
              </a:r>
              <a:r>
                <a:rPr lang="zh-CN" altLang="en-US" sz="1600" dirty="0"/>
                <a:t>）</a:t>
              </a:r>
              <a:r>
                <a:rPr lang="en-US" altLang="zh-CN" sz="1600" dirty="0"/>
                <a:t> </a:t>
              </a:r>
              <a:r>
                <a:rPr lang="zh-CN" altLang="en-US" sz="1600" b="1" dirty="0">
                  <a:solidFill>
                    <a:srgbClr val="C00000"/>
                  </a:solidFill>
                </a:rPr>
                <a:t>狗</a:t>
              </a:r>
              <a:r>
                <a:rPr lang="en-US" altLang="zh-CN" sz="1600" b="1" dirty="0">
                  <a:solidFill>
                    <a:srgbClr val="C00000"/>
                  </a:solidFill>
                </a:rPr>
                <a:t>vs</a:t>
              </a:r>
              <a:r>
                <a:rPr lang="zh-CN" altLang="en-US" sz="1600" b="1" dirty="0">
                  <a:solidFill>
                    <a:srgbClr val="C00000"/>
                  </a:solidFill>
                </a:rPr>
                <a:t>不是狗</a:t>
              </a:r>
              <a:endParaRPr lang="en-US" altLang="zh-CN" sz="1600" b="1" dirty="0">
                <a:solidFill>
                  <a:srgbClr val="C00000"/>
                </a:solidFill>
              </a:endParaRPr>
            </a:p>
            <a:p>
              <a:pPr lvl="1"/>
              <a:r>
                <a:rPr lang="zh-CN" altLang="en-US" sz="1600" dirty="0"/>
                <a:t>（</a:t>
              </a:r>
              <a:r>
                <a:rPr lang="en-US" altLang="zh-CN" sz="1600" dirty="0"/>
                <a:t>B</a:t>
              </a:r>
              <a:r>
                <a:rPr lang="zh-CN" altLang="en-US" sz="1600" dirty="0"/>
                <a:t>）</a:t>
              </a:r>
              <a:r>
                <a:rPr lang="en-US" altLang="zh-CN" sz="1600" dirty="0"/>
                <a:t> </a:t>
              </a:r>
              <a:r>
                <a:rPr lang="zh-CN" altLang="en-US" sz="1600" dirty="0"/>
                <a:t>猫</a:t>
              </a:r>
              <a:r>
                <a:rPr lang="en-US" altLang="zh-CN" sz="1600" dirty="0"/>
                <a:t>vs</a:t>
              </a:r>
              <a:r>
                <a:rPr lang="zh-CN" altLang="en-US" sz="1600" dirty="0"/>
                <a:t>不是猫</a:t>
              </a:r>
              <a:endParaRPr lang="en-US" altLang="zh-CN" sz="1600" dirty="0"/>
            </a:p>
            <a:p>
              <a:pPr lvl="1"/>
              <a:r>
                <a:rPr lang="zh-CN" altLang="en-US" sz="1600" dirty="0"/>
                <a:t>（</a:t>
              </a:r>
              <a:r>
                <a:rPr lang="en-US" altLang="zh-CN" sz="1600" dirty="0"/>
                <a:t>C</a:t>
              </a:r>
              <a:r>
                <a:rPr lang="zh-CN" altLang="en-US" sz="1600" dirty="0"/>
                <a:t>）</a:t>
              </a:r>
              <a:r>
                <a:rPr lang="en-US" altLang="zh-CN" sz="1600" dirty="0"/>
                <a:t> </a:t>
              </a:r>
              <a:r>
                <a:rPr lang="zh-CN" altLang="en-US" sz="1600" dirty="0"/>
                <a:t>鼠</a:t>
              </a:r>
              <a:r>
                <a:rPr lang="en-US" altLang="zh-CN" sz="1600" dirty="0"/>
                <a:t>vs</a:t>
              </a:r>
              <a:r>
                <a:rPr lang="zh-CN" altLang="en-US" sz="1600" dirty="0"/>
                <a:t>不是鼠</a:t>
              </a:r>
              <a:endParaRPr lang="en-US" altLang="zh-CN" sz="1600" dirty="0"/>
            </a:p>
            <a:p>
              <a:pPr lvl="1"/>
              <a:r>
                <a:rPr lang="zh-CN" altLang="en-US" sz="1600" b="1" dirty="0"/>
                <a:t>最后再组合判定输出</a:t>
              </a:r>
              <a:endParaRPr lang="en-US" altLang="zh-CN" sz="1600" b="1" dirty="0"/>
            </a:p>
          </p:txBody>
        </p:sp>
        <p:graphicFrame>
          <p:nvGraphicFramePr>
            <p:cNvPr id="45" name="对象 44"/>
            <p:cNvGraphicFramePr>
              <a:graphicFrameLocks noChangeAspect="1"/>
            </p:cNvGraphicFramePr>
            <p:nvPr>
              <p:extLst>
                <p:ext uri="{D42A27DB-BD31-4B8C-83A1-F6EECF244321}">
                  <p14:modId xmlns:p14="http://schemas.microsoft.com/office/powerpoint/2010/main" val="1509221768"/>
                </p:ext>
              </p:extLst>
            </p:nvPr>
          </p:nvGraphicFramePr>
          <p:xfrm>
            <a:off x="7920846" y="2783999"/>
            <a:ext cx="196096" cy="261462"/>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7" name="对象 6"/>
                        <p:cNvPicPr/>
                        <p:nvPr/>
                      </p:nvPicPr>
                      <p:blipFill>
                        <a:blip r:embed="rId12"/>
                        <a:stretch>
                          <a:fillRect/>
                        </a:stretch>
                      </p:blipFill>
                      <p:spPr>
                        <a:xfrm>
                          <a:off x="7920846" y="2783999"/>
                          <a:ext cx="196096" cy="261462"/>
                        </a:xfrm>
                        <a:prstGeom prst="rect">
                          <a:avLst/>
                        </a:prstGeom>
                      </p:spPr>
                    </p:pic>
                  </p:oleObj>
                </mc:Fallback>
              </mc:AlternateContent>
            </a:graphicData>
          </a:graphic>
        </p:graphicFrame>
        <p:graphicFrame>
          <p:nvGraphicFramePr>
            <p:cNvPr id="48" name="对象 47"/>
            <p:cNvGraphicFramePr>
              <a:graphicFrameLocks noChangeAspect="1"/>
            </p:cNvGraphicFramePr>
            <p:nvPr>
              <p:extLst>
                <p:ext uri="{D42A27DB-BD31-4B8C-83A1-F6EECF244321}">
                  <p14:modId xmlns:p14="http://schemas.microsoft.com/office/powerpoint/2010/main" val="2233825047"/>
                </p:ext>
              </p:extLst>
            </p:nvPr>
          </p:nvGraphicFramePr>
          <p:xfrm>
            <a:off x="7945364" y="3082632"/>
            <a:ext cx="144463" cy="211138"/>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18" name="对象 17"/>
                        <p:cNvPicPr/>
                        <p:nvPr/>
                      </p:nvPicPr>
                      <p:blipFill>
                        <a:blip r:embed="rId14"/>
                        <a:stretch>
                          <a:fillRect/>
                        </a:stretch>
                      </p:blipFill>
                      <p:spPr>
                        <a:xfrm>
                          <a:off x="7945364" y="3082632"/>
                          <a:ext cx="144463" cy="211138"/>
                        </a:xfrm>
                        <a:prstGeom prst="rect">
                          <a:avLst/>
                        </a:prstGeom>
                      </p:spPr>
                    </p:pic>
                  </p:oleObj>
                </mc:Fallback>
              </mc:AlternateContent>
            </a:graphicData>
          </a:graphic>
        </p:graphicFrame>
        <p:graphicFrame>
          <p:nvGraphicFramePr>
            <p:cNvPr id="49" name="对象 48"/>
            <p:cNvGraphicFramePr>
              <a:graphicFrameLocks noChangeAspect="1"/>
            </p:cNvGraphicFramePr>
            <p:nvPr>
              <p:extLst>
                <p:ext uri="{D42A27DB-BD31-4B8C-83A1-F6EECF244321}">
                  <p14:modId xmlns:p14="http://schemas.microsoft.com/office/powerpoint/2010/main" val="4050946769"/>
                </p:ext>
              </p:extLst>
            </p:nvPr>
          </p:nvGraphicFramePr>
          <p:xfrm>
            <a:off x="7945364" y="3313650"/>
            <a:ext cx="131762" cy="228600"/>
          </p:xfrm>
          <a:graphic>
            <a:graphicData uri="http://schemas.openxmlformats.org/presentationml/2006/ole">
              <mc:AlternateContent xmlns:mc="http://schemas.openxmlformats.org/markup-compatibility/2006">
                <mc:Choice xmlns:v="urn:schemas-microsoft-com:vml" Requires="v">
                  <p:oleObj name="Equation" r:id="rId15" imgW="126720" imgH="177480" progId="Equation.DSMT4">
                    <p:embed/>
                  </p:oleObj>
                </mc:Choice>
                <mc:Fallback>
                  <p:oleObj name="Equation" r:id="rId15" imgW="126720" imgH="177480" progId="Equation.DSMT4">
                    <p:embed/>
                    <p:pic>
                      <p:nvPicPr>
                        <p:cNvPr id="19" name="对象 18"/>
                        <p:cNvPicPr/>
                        <p:nvPr/>
                      </p:nvPicPr>
                      <p:blipFill>
                        <a:blip r:embed="rId16"/>
                        <a:stretch>
                          <a:fillRect/>
                        </a:stretch>
                      </p:blipFill>
                      <p:spPr>
                        <a:xfrm>
                          <a:off x="7945364" y="3313650"/>
                          <a:ext cx="131762" cy="228600"/>
                        </a:xfrm>
                        <a:prstGeom prst="rect">
                          <a:avLst/>
                        </a:prstGeom>
                      </p:spPr>
                    </p:pic>
                  </p:oleObj>
                </mc:Fallback>
              </mc:AlternateContent>
            </a:graphicData>
          </a:graphic>
        </p:graphicFrame>
      </p:grpSp>
      <p:pic>
        <p:nvPicPr>
          <p:cNvPr id="50"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440489" y="4590480"/>
            <a:ext cx="886182" cy="60635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1" name="对象 50"/>
          <p:cNvGraphicFramePr>
            <a:graphicFrameLocks noChangeAspect="1"/>
          </p:cNvGraphicFramePr>
          <p:nvPr>
            <p:extLst>
              <p:ext uri="{D42A27DB-BD31-4B8C-83A1-F6EECF244321}">
                <p14:modId xmlns:p14="http://schemas.microsoft.com/office/powerpoint/2010/main" val="3287702543"/>
              </p:ext>
            </p:extLst>
          </p:nvPr>
        </p:nvGraphicFramePr>
        <p:xfrm>
          <a:off x="7848333" y="4251481"/>
          <a:ext cx="270347" cy="360464"/>
        </p:xfrm>
        <a:graphic>
          <a:graphicData uri="http://schemas.openxmlformats.org/presentationml/2006/ole">
            <mc:AlternateContent xmlns:mc="http://schemas.openxmlformats.org/markup-compatibility/2006">
              <mc:Choice xmlns:v="urn:schemas-microsoft-com:vml" Requires="v">
                <p:oleObj name="Equation" r:id="rId18" imgW="152280" imgH="203040" progId="Equation.DSMT4">
                  <p:embed/>
                </p:oleObj>
              </mc:Choice>
              <mc:Fallback>
                <p:oleObj name="Equation" r:id="rId18" imgW="152280" imgH="203040" progId="Equation.DSMT4">
                  <p:embed/>
                  <p:pic>
                    <p:nvPicPr>
                      <p:cNvPr id="24" name="对象 23"/>
                      <p:cNvPicPr/>
                      <p:nvPr/>
                    </p:nvPicPr>
                    <p:blipFill>
                      <a:blip r:embed="rId12"/>
                      <a:stretch>
                        <a:fillRect/>
                      </a:stretch>
                    </p:blipFill>
                    <p:spPr>
                      <a:xfrm>
                        <a:off x="7848333" y="4251481"/>
                        <a:ext cx="270347" cy="360464"/>
                      </a:xfrm>
                      <a:prstGeom prst="rect">
                        <a:avLst/>
                      </a:prstGeom>
                    </p:spPr>
                  </p:pic>
                </p:oleObj>
              </mc:Fallback>
            </mc:AlternateContent>
          </a:graphicData>
        </a:graphic>
      </p:graphicFrame>
      <p:graphicFrame>
        <p:nvGraphicFramePr>
          <p:cNvPr id="52" name="对象 51"/>
          <p:cNvGraphicFramePr>
            <a:graphicFrameLocks noChangeAspect="1"/>
          </p:cNvGraphicFramePr>
          <p:nvPr>
            <p:extLst>
              <p:ext uri="{D42A27DB-BD31-4B8C-83A1-F6EECF244321}">
                <p14:modId xmlns:p14="http://schemas.microsoft.com/office/powerpoint/2010/main" val="414589223"/>
              </p:ext>
            </p:extLst>
          </p:nvPr>
        </p:nvGraphicFramePr>
        <p:xfrm>
          <a:off x="7952195" y="4795575"/>
          <a:ext cx="190715" cy="278738"/>
        </p:xfrm>
        <a:graphic>
          <a:graphicData uri="http://schemas.openxmlformats.org/presentationml/2006/ole">
            <mc:AlternateContent xmlns:mc="http://schemas.openxmlformats.org/markup-compatibility/2006">
              <mc:Choice xmlns:v="urn:schemas-microsoft-com:vml" Requires="v">
                <p:oleObj name="Equation" r:id="rId19" imgW="139680" imgH="164880" progId="Equation.DSMT4">
                  <p:embed/>
                </p:oleObj>
              </mc:Choice>
              <mc:Fallback>
                <p:oleObj name="Equation" r:id="rId19" imgW="139680" imgH="164880" progId="Equation.DSMT4">
                  <p:embed/>
                  <p:pic>
                    <p:nvPicPr>
                      <p:cNvPr id="25" name="对象 24"/>
                      <p:cNvPicPr/>
                      <p:nvPr/>
                    </p:nvPicPr>
                    <p:blipFill>
                      <a:blip r:embed="rId14"/>
                      <a:stretch>
                        <a:fillRect/>
                      </a:stretch>
                    </p:blipFill>
                    <p:spPr>
                      <a:xfrm>
                        <a:off x="7952195" y="4795575"/>
                        <a:ext cx="190715" cy="278738"/>
                      </a:xfrm>
                      <a:prstGeom prst="rect">
                        <a:avLst/>
                      </a:prstGeom>
                    </p:spPr>
                  </p:pic>
                </p:oleObj>
              </mc:Fallback>
            </mc:AlternateContent>
          </a:graphicData>
        </a:graphic>
      </p:graphicFrame>
      <p:graphicFrame>
        <p:nvGraphicFramePr>
          <p:cNvPr id="53" name="对象 52"/>
          <p:cNvGraphicFramePr>
            <a:graphicFrameLocks noChangeAspect="1"/>
          </p:cNvGraphicFramePr>
          <p:nvPr>
            <p:extLst>
              <p:ext uri="{D42A27DB-BD31-4B8C-83A1-F6EECF244321}">
                <p14:modId xmlns:p14="http://schemas.microsoft.com/office/powerpoint/2010/main" val="301513402"/>
              </p:ext>
            </p:extLst>
          </p:nvPr>
        </p:nvGraphicFramePr>
        <p:xfrm>
          <a:off x="7888761" y="5202843"/>
          <a:ext cx="200277" cy="347470"/>
        </p:xfrm>
        <a:graphic>
          <a:graphicData uri="http://schemas.openxmlformats.org/presentationml/2006/ole">
            <mc:AlternateContent xmlns:mc="http://schemas.openxmlformats.org/markup-compatibility/2006">
              <mc:Choice xmlns:v="urn:schemas-microsoft-com:vml" Requires="v">
                <p:oleObj name="Equation" r:id="rId20" imgW="126720" imgH="177480" progId="Equation.DSMT4">
                  <p:embed/>
                </p:oleObj>
              </mc:Choice>
              <mc:Fallback>
                <p:oleObj name="Equation" r:id="rId20" imgW="126720" imgH="177480" progId="Equation.DSMT4">
                  <p:embed/>
                  <p:pic>
                    <p:nvPicPr>
                      <p:cNvPr id="29" name="对象 28"/>
                      <p:cNvPicPr/>
                      <p:nvPr/>
                    </p:nvPicPr>
                    <p:blipFill>
                      <a:blip r:embed="rId16"/>
                      <a:stretch>
                        <a:fillRect/>
                      </a:stretch>
                    </p:blipFill>
                    <p:spPr>
                      <a:xfrm>
                        <a:off x="7888761" y="5202843"/>
                        <a:ext cx="200277" cy="347470"/>
                      </a:xfrm>
                      <a:prstGeom prst="rect">
                        <a:avLst/>
                      </a:prstGeom>
                    </p:spPr>
                  </p:pic>
                </p:oleObj>
              </mc:Fallback>
            </mc:AlternateContent>
          </a:graphicData>
        </a:graphic>
      </p:graphicFrame>
      <p:cxnSp>
        <p:nvCxnSpPr>
          <p:cNvPr id="54" name="直接箭头连接符 53"/>
          <p:cNvCxnSpPr/>
          <p:nvPr/>
        </p:nvCxnSpPr>
        <p:spPr>
          <a:xfrm flipV="1">
            <a:off x="7308780" y="4437360"/>
            <a:ext cx="557444" cy="219598"/>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7326671" y="4893655"/>
            <a:ext cx="625524"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7302290" y="5113458"/>
            <a:ext cx="563450" cy="26312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8151443" y="4432422"/>
            <a:ext cx="1150579"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9315140" y="4278267"/>
            <a:ext cx="1413164" cy="338554"/>
          </a:xfrm>
          <a:prstGeom prst="rect">
            <a:avLst/>
          </a:prstGeom>
          <a:noFill/>
        </p:spPr>
        <p:txBody>
          <a:bodyPr wrap="square" rtlCol="0">
            <a:spAutoFit/>
          </a:bodyPr>
          <a:lstStyle/>
          <a:p>
            <a:r>
              <a:rPr lang="en-US" altLang="zh-CN" sz="1600" dirty="0">
                <a:solidFill>
                  <a:schemeClr val="tx1">
                    <a:lumMod val="85000"/>
                    <a:lumOff val="15000"/>
                  </a:schemeClr>
                </a:solidFill>
              </a:rPr>
              <a:t>“1”</a:t>
            </a:r>
            <a:r>
              <a:rPr lang="zh-CN" altLang="en-US" sz="1600" dirty="0">
                <a:solidFill>
                  <a:schemeClr val="tx1">
                    <a:lumMod val="85000"/>
                    <a:lumOff val="15000"/>
                  </a:schemeClr>
                </a:solidFill>
              </a:rPr>
              <a:t>，是狗</a:t>
            </a:r>
          </a:p>
        </p:txBody>
      </p:sp>
      <p:cxnSp>
        <p:nvCxnSpPr>
          <p:cNvPr id="59" name="直接箭头连接符 58"/>
          <p:cNvCxnSpPr/>
          <p:nvPr/>
        </p:nvCxnSpPr>
        <p:spPr>
          <a:xfrm>
            <a:off x="8164561" y="4893655"/>
            <a:ext cx="1150579"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9278904" y="4739074"/>
            <a:ext cx="1413164" cy="338554"/>
          </a:xfrm>
          <a:prstGeom prst="rect">
            <a:avLst/>
          </a:prstGeom>
          <a:noFill/>
        </p:spPr>
        <p:txBody>
          <a:bodyPr wrap="square" rtlCol="0">
            <a:spAutoFit/>
          </a:bodyPr>
          <a:lstStyle/>
          <a:p>
            <a:r>
              <a:rPr lang="en-US" altLang="zh-CN" sz="1600" dirty="0">
                <a:solidFill>
                  <a:schemeClr val="tx1">
                    <a:lumMod val="85000"/>
                    <a:lumOff val="15000"/>
                  </a:schemeClr>
                </a:solidFill>
              </a:rPr>
              <a:t>“0”</a:t>
            </a:r>
            <a:r>
              <a:rPr lang="zh-CN" altLang="en-US" sz="1600" dirty="0">
                <a:solidFill>
                  <a:schemeClr val="tx1">
                    <a:lumMod val="85000"/>
                    <a:lumOff val="15000"/>
                  </a:schemeClr>
                </a:solidFill>
              </a:rPr>
              <a:t>，不是猫</a:t>
            </a:r>
          </a:p>
        </p:txBody>
      </p:sp>
      <p:cxnSp>
        <p:nvCxnSpPr>
          <p:cNvPr id="61" name="直接箭头连接符 60"/>
          <p:cNvCxnSpPr/>
          <p:nvPr/>
        </p:nvCxnSpPr>
        <p:spPr>
          <a:xfrm>
            <a:off x="8142910" y="5376578"/>
            <a:ext cx="1150579"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9315140" y="5243318"/>
            <a:ext cx="1413164" cy="338554"/>
          </a:xfrm>
          <a:prstGeom prst="rect">
            <a:avLst/>
          </a:prstGeom>
          <a:noFill/>
        </p:spPr>
        <p:txBody>
          <a:bodyPr wrap="square" rtlCol="0">
            <a:spAutoFit/>
          </a:bodyPr>
          <a:lstStyle/>
          <a:p>
            <a:r>
              <a:rPr lang="en-US" altLang="zh-CN" sz="1600" dirty="0">
                <a:solidFill>
                  <a:schemeClr val="tx1">
                    <a:lumMod val="85000"/>
                    <a:lumOff val="15000"/>
                  </a:schemeClr>
                </a:solidFill>
              </a:rPr>
              <a:t>“0”</a:t>
            </a:r>
            <a:r>
              <a:rPr lang="zh-CN" altLang="en-US" sz="1600" dirty="0">
                <a:solidFill>
                  <a:schemeClr val="tx1">
                    <a:lumMod val="85000"/>
                    <a:lumOff val="15000"/>
                  </a:schemeClr>
                </a:solidFill>
              </a:rPr>
              <a:t>，不是鼠</a:t>
            </a:r>
          </a:p>
        </p:txBody>
      </p:sp>
      <p:cxnSp>
        <p:nvCxnSpPr>
          <p:cNvPr id="63" name="直接箭头连接符 62"/>
          <p:cNvCxnSpPr/>
          <p:nvPr/>
        </p:nvCxnSpPr>
        <p:spPr>
          <a:xfrm>
            <a:off x="10387584" y="4454430"/>
            <a:ext cx="795349" cy="23475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V="1">
            <a:off x="10473555" y="5124118"/>
            <a:ext cx="709378" cy="288478"/>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10473555" y="4908351"/>
            <a:ext cx="730268" cy="26593"/>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1169179" y="4754786"/>
            <a:ext cx="781548" cy="369332"/>
          </a:xfrm>
          <a:prstGeom prst="rect">
            <a:avLst/>
          </a:prstGeom>
          <a:noFill/>
        </p:spPr>
        <p:txBody>
          <a:bodyPr wrap="square" rtlCol="0">
            <a:spAutoFit/>
          </a:bodyPr>
          <a:lstStyle/>
          <a:p>
            <a:r>
              <a:rPr lang="zh-CN" altLang="en-US" dirty="0">
                <a:solidFill>
                  <a:schemeClr val="tx1">
                    <a:lumMod val="85000"/>
                    <a:lumOff val="15000"/>
                  </a:schemeClr>
                </a:solidFill>
              </a:rPr>
              <a:t>是狗</a:t>
            </a:r>
          </a:p>
        </p:txBody>
      </p:sp>
    </p:spTree>
    <p:extLst>
      <p:ext uri="{BB962C8B-B14F-4D97-AF65-F5344CB8AC3E}">
        <p14:creationId xmlns:p14="http://schemas.microsoft.com/office/powerpoint/2010/main" val="41302942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65</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096000" y="2241585"/>
            <a:ext cx="5757672" cy="338554"/>
          </a:xfrm>
          <a:prstGeom prst="rect">
            <a:avLst/>
          </a:prstGeom>
          <a:noFill/>
        </p:spPr>
        <p:txBody>
          <a:bodyPr wrap="square" rtlCol="0">
            <a:spAutoFit/>
          </a:bodyPr>
          <a:lstStyle/>
          <a:p>
            <a:r>
              <a:rPr lang="zh-CN" altLang="en-US" sz="1600" b="1" dirty="0"/>
              <a:t>② 处理方法</a:t>
            </a:r>
            <a:r>
              <a:rPr lang="en-US" altLang="zh-CN" sz="1600" b="1" dirty="0"/>
              <a:t>2</a:t>
            </a:r>
            <a:r>
              <a:rPr lang="zh-CN" altLang="en-US" sz="1600" b="1" dirty="0"/>
              <a:t>：强行看成二分类，建立</a:t>
            </a:r>
            <a:r>
              <a:rPr lang="zh-CN" altLang="en-US" sz="1600" b="1" dirty="0">
                <a:solidFill>
                  <a:srgbClr val="C00000"/>
                </a:solidFill>
              </a:rPr>
              <a:t>多个</a:t>
            </a:r>
            <a:r>
              <a:rPr lang="zh-CN" altLang="en-US" sz="1600" b="1" dirty="0"/>
              <a:t>分类器，然后</a:t>
            </a:r>
            <a:r>
              <a:rPr lang="zh-CN" altLang="en-US" sz="1600" b="1" dirty="0">
                <a:solidFill>
                  <a:srgbClr val="C00000"/>
                </a:solidFill>
              </a:rPr>
              <a:t>投票</a:t>
            </a:r>
          </a:p>
        </p:txBody>
      </p:sp>
      <p:grpSp>
        <p:nvGrpSpPr>
          <p:cNvPr id="37" name="组合 36"/>
          <p:cNvGrpSpPr/>
          <p:nvPr/>
        </p:nvGrpSpPr>
        <p:grpSpPr>
          <a:xfrm>
            <a:off x="6096000" y="2602260"/>
            <a:ext cx="6096000" cy="1354217"/>
            <a:chOff x="5749763" y="2498042"/>
            <a:chExt cx="6096000" cy="1354217"/>
          </a:xfrm>
        </p:grpSpPr>
        <p:sp>
          <p:nvSpPr>
            <p:cNvPr id="43" name="AutoShape 8">
              <a:extLst>
                <a:ext uri="{FF2B5EF4-FFF2-40B4-BE49-F238E27FC236}">
                  <a16:creationId xmlns:a16="http://schemas.microsoft.com/office/drawing/2014/main" id="{0FF656AC-30E4-4D2F-8A26-B7F6E0565C83}"/>
                </a:ext>
              </a:extLst>
            </p:cNvPr>
            <p:cNvSpPr>
              <a:spLocks noChangeAspect="1" noChangeArrowheads="1"/>
            </p:cNvSpPr>
            <p:nvPr/>
          </p:nvSpPr>
          <p:spPr bwMode="auto">
            <a:xfrm>
              <a:off x="5840565" y="2617692"/>
              <a:ext cx="68071" cy="680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矩形 43"/>
            <p:cNvSpPr/>
            <p:nvPr/>
          </p:nvSpPr>
          <p:spPr>
            <a:xfrm>
              <a:off x="5749763" y="2498042"/>
              <a:ext cx="6096000" cy="1354217"/>
            </a:xfrm>
            <a:prstGeom prst="rect">
              <a:avLst/>
            </a:prstGeom>
          </p:spPr>
          <p:txBody>
            <a:bodyPr>
              <a:spAutoFit/>
            </a:bodyPr>
            <a:lstStyle/>
            <a:p>
              <a:pPr marL="342900" indent="-342900">
                <a:buFont typeface="Arial" panose="020B0604020202020204" pitchFamily="34" charset="0"/>
                <a:buChar char="•"/>
              </a:pPr>
              <a:r>
                <a:rPr lang="zh-CN" altLang="en-US" sz="1600" b="1" dirty="0"/>
                <a:t>建立</a:t>
              </a:r>
              <a:r>
                <a:rPr lang="en-US" altLang="zh-CN" sz="1600" b="1" dirty="0"/>
                <a:t>3</a:t>
              </a:r>
              <a:r>
                <a:rPr lang="zh-CN" altLang="en-US" sz="1600" b="1" dirty="0"/>
                <a:t>个二分类器，</a:t>
              </a:r>
              <a:r>
                <a:rPr lang="zh-CN" altLang="en-US" sz="1600" b="1" dirty="0">
                  <a:solidFill>
                    <a:srgbClr val="C00000"/>
                  </a:solidFill>
                </a:rPr>
                <a:t>强行默认</a:t>
              </a:r>
              <a:r>
                <a:rPr lang="zh-CN" altLang="en-US" sz="1600" b="1" dirty="0"/>
                <a:t>样本只含有两类</a:t>
              </a:r>
              <a:endParaRPr lang="en-US" altLang="zh-CN" sz="1600" b="1" dirty="0"/>
            </a:p>
            <a:p>
              <a:pPr lvl="1"/>
              <a:r>
                <a:rPr lang="zh-CN" altLang="en-US" sz="1600" dirty="0"/>
                <a:t>（</a:t>
              </a:r>
              <a:r>
                <a:rPr lang="en-US" altLang="zh-CN" sz="1600" dirty="0"/>
                <a:t>A</a:t>
              </a:r>
              <a:r>
                <a:rPr lang="zh-CN" altLang="en-US" sz="1600" dirty="0"/>
                <a:t>）</a:t>
              </a:r>
              <a:r>
                <a:rPr lang="en-US" altLang="zh-CN" sz="1600" dirty="0"/>
                <a:t> </a:t>
              </a:r>
              <a:r>
                <a:rPr lang="zh-CN" altLang="en-US" sz="1600" b="1" dirty="0">
                  <a:solidFill>
                    <a:srgbClr val="C00000"/>
                  </a:solidFill>
                </a:rPr>
                <a:t>狗</a:t>
              </a:r>
              <a:r>
                <a:rPr lang="en-US" altLang="zh-CN" sz="1600" b="1" dirty="0">
                  <a:solidFill>
                    <a:srgbClr val="C00000"/>
                  </a:solidFill>
                </a:rPr>
                <a:t>vs</a:t>
              </a:r>
              <a:r>
                <a:rPr lang="zh-CN" altLang="en-US" sz="1600" b="1" dirty="0">
                  <a:solidFill>
                    <a:srgbClr val="C00000"/>
                  </a:solidFill>
                </a:rPr>
                <a:t>猫</a:t>
              </a:r>
              <a:endParaRPr lang="en-US" altLang="zh-CN" sz="1600" b="1" dirty="0">
                <a:solidFill>
                  <a:srgbClr val="C00000"/>
                </a:solidFill>
              </a:endParaRPr>
            </a:p>
            <a:p>
              <a:pPr lvl="1"/>
              <a:r>
                <a:rPr lang="zh-CN" altLang="en-US" sz="1600" dirty="0"/>
                <a:t>（</a:t>
              </a:r>
              <a:r>
                <a:rPr lang="en-US" altLang="zh-CN" sz="1600" dirty="0"/>
                <a:t>B</a:t>
              </a:r>
              <a:r>
                <a:rPr lang="zh-CN" altLang="en-US" sz="1600" dirty="0"/>
                <a:t>）</a:t>
              </a:r>
              <a:r>
                <a:rPr lang="en-US" altLang="zh-CN" sz="1600" dirty="0"/>
                <a:t> </a:t>
              </a:r>
              <a:r>
                <a:rPr lang="zh-CN" altLang="en-US" sz="1600" dirty="0"/>
                <a:t>猫</a:t>
              </a:r>
              <a:r>
                <a:rPr lang="en-US" altLang="zh-CN" sz="1600" dirty="0"/>
                <a:t>vs</a:t>
              </a:r>
              <a:r>
                <a:rPr lang="zh-CN" altLang="en-US" sz="1600" dirty="0"/>
                <a:t>鼠</a:t>
              </a:r>
              <a:endParaRPr lang="en-US" altLang="zh-CN" sz="1600" dirty="0"/>
            </a:p>
            <a:p>
              <a:pPr lvl="1"/>
              <a:r>
                <a:rPr lang="zh-CN" altLang="en-US" sz="1600" dirty="0"/>
                <a:t>（</a:t>
              </a:r>
              <a:r>
                <a:rPr lang="en-US" altLang="zh-CN" sz="1600" dirty="0"/>
                <a:t>C</a:t>
              </a:r>
              <a:r>
                <a:rPr lang="zh-CN" altLang="en-US" sz="1600" dirty="0"/>
                <a:t>）</a:t>
              </a:r>
              <a:r>
                <a:rPr lang="en-US" altLang="zh-CN" sz="1600" dirty="0"/>
                <a:t> </a:t>
              </a:r>
              <a:r>
                <a:rPr lang="zh-CN" altLang="en-US" sz="1600" dirty="0"/>
                <a:t>鼠</a:t>
              </a:r>
              <a:r>
                <a:rPr lang="en-US" altLang="zh-CN" sz="1600" dirty="0"/>
                <a:t>vs</a:t>
              </a:r>
              <a:r>
                <a:rPr lang="zh-CN" altLang="en-US" sz="1600" dirty="0"/>
                <a:t>狗</a:t>
              </a:r>
              <a:endParaRPr lang="en-US" altLang="zh-CN" sz="1600" dirty="0"/>
            </a:p>
            <a:p>
              <a:pPr lvl="1"/>
              <a:r>
                <a:rPr lang="zh-CN" altLang="en-US" sz="1600" b="1" dirty="0"/>
                <a:t>最后再组合判定输出</a:t>
              </a:r>
              <a:endParaRPr lang="en-US" altLang="zh-CN" sz="1600" b="1" dirty="0"/>
            </a:p>
          </p:txBody>
        </p:sp>
        <p:graphicFrame>
          <p:nvGraphicFramePr>
            <p:cNvPr id="45" name="对象 44"/>
            <p:cNvGraphicFramePr>
              <a:graphicFrameLocks noChangeAspect="1"/>
            </p:cNvGraphicFramePr>
            <p:nvPr/>
          </p:nvGraphicFramePr>
          <p:xfrm>
            <a:off x="7920846" y="2783999"/>
            <a:ext cx="196096" cy="261462"/>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45" name="对象 44"/>
                        <p:cNvPicPr/>
                        <p:nvPr/>
                      </p:nvPicPr>
                      <p:blipFill>
                        <a:blip r:embed="rId12"/>
                        <a:stretch>
                          <a:fillRect/>
                        </a:stretch>
                      </p:blipFill>
                      <p:spPr>
                        <a:xfrm>
                          <a:off x="7920846" y="2783999"/>
                          <a:ext cx="196096" cy="261462"/>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7945364" y="3082632"/>
            <a:ext cx="144463" cy="211138"/>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48" name="对象 47"/>
                        <p:cNvPicPr/>
                        <p:nvPr/>
                      </p:nvPicPr>
                      <p:blipFill>
                        <a:blip r:embed="rId14"/>
                        <a:stretch>
                          <a:fillRect/>
                        </a:stretch>
                      </p:blipFill>
                      <p:spPr>
                        <a:xfrm>
                          <a:off x="7945364" y="3082632"/>
                          <a:ext cx="144463" cy="211138"/>
                        </a:xfrm>
                        <a:prstGeom prst="rect">
                          <a:avLst/>
                        </a:prstGeom>
                      </p:spPr>
                    </p:pic>
                  </p:oleObj>
                </mc:Fallback>
              </mc:AlternateContent>
            </a:graphicData>
          </a:graphic>
        </p:graphicFrame>
        <p:graphicFrame>
          <p:nvGraphicFramePr>
            <p:cNvPr id="49" name="对象 48"/>
            <p:cNvGraphicFramePr>
              <a:graphicFrameLocks noChangeAspect="1"/>
            </p:cNvGraphicFramePr>
            <p:nvPr/>
          </p:nvGraphicFramePr>
          <p:xfrm>
            <a:off x="7945364" y="3313650"/>
            <a:ext cx="131762" cy="228600"/>
          </p:xfrm>
          <a:graphic>
            <a:graphicData uri="http://schemas.openxmlformats.org/presentationml/2006/ole">
              <mc:AlternateContent xmlns:mc="http://schemas.openxmlformats.org/markup-compatibility/2006">
                <mc:Choice xmlns:v="urn:schemas-microsoft-com:vml" Requires="v">
                  <p:oleObj name="Equation" r:id="rId15" imgW="126720" imgH="177480" progId="Equation.DSMT4">
                    <p:embed/>
                  </p:oleObj>
                </mc:Choice>
                <mc:Fallback>
                  <p:oleObj name="Equation" r:id="rId15" imgW="126720" imgH="177480" progId="Equation.DSMT4">
                    <p:embed/>
                    <p:pic>
                      <p:nvPicPr>
                        <p:cNvPr id="49" name="对象 48"/>
                        <p:cNvPicPr/>
                        <p:nvPr/>
                      </p:nvPicPr>
                      <p:blipFill>
                        <a:blip r:embed="rId16"/>
                        <a:stretch>
                          <a:fillRect/>
                        </a:stretch>
                      </p:blipFill>
                      <p:spPr>
                        <a:xfrm>
                          <a:off x="7945364" y="3313650"/>
                          <a:ext cx="131762" cy="228600"/>
                        </a:xfrm>
                        <a:prstGeom prst="rect">
                          <a:avLst/>
                        </a:prstGeom>
                      </p:spPr>
                    </p:pic>
                  </p:oleObj>
                </mc:Fallback>
              </mc:AlternateContent>
            </a:graphicData>
          </a:graphic>
        </p:graphicFrame>
      </p:grpSp>
    </p:spTree>
    <p:extLst>
      <p:ext uri="{BB962C8B-B14F-4D97-AF65-F5344CB8AC3E}">
        <p14:creationId xmlns:p14="http://schemas.microsoft.com/office/powerpoint/2010/main" val="17056112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66</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096000" y="2241585"/>
            <a:ext cx="5757672" cy="338554"/>
          </a:xfrm>
          <a:prstGeom prst="rect">
            <a:avLst/>
          </a:prstGeom>
          <a:noFill/>
        </p:spPr>
        <p:txBody>
          <a:bodyPr wrap="square" rtlCol="0">
            <a:spAutoFit/>
          </a:bodyPr>
          <a:lstStyle/>
          <a:p>
            <a:r>
              <a:rPr lang="zh-CN" altLang="en-US" sz="1600" b="1" dirty="0"/>
              <a:t>② 处理方法</a:t>
            </a:r>
            <a:r>
              <a:rPr lang="en-US" altLang="zh-CN" sz="1600" b="1" dirty="0"/>
              <a:t>2</a:t>
            </a:r>
            <a:r>
              <a:rPr lang="zh-CN" altLang="en-US" sz="1600" b="1" dirty="0"/>
              <a:t>：强行看成二分类，建立</a:t>
            </a:r>
            <a:r>
              <a:rPr lang="zh-CN" altLang="en-US" sz="1600" b="1" dirty="0">
                <a:solidFill>
                  <a:srgbClr val="C00000"/>
                </a:solidFill>
              </a:rPr>
              <a:t>多个</a:t>
            </a:r>
            <a:r>
              <a:rPr lang="zh-CN" altLang="en-US" sz="1600" b="1" dirty="0"/>
              <a:t>分类器，然后</a:t>
            </a:r>
            <a:r>
              <a:rPr lang="zh-CN" altLang="en-US" sz="1600" b="1" dirty="0">
                <a:solidFill>
                  <a:srgbClr val="C00000"/>
                </a:solidFill>
              </a:rPr>
              <a:t>投票</a:t>
            </a:r>
          </a:p>
        </p:txBody>
      </p:sp>
      <p:grpSp>
        <p:nvGrpSpPr>
          <p:cNvPr id="37" name="组合 36"/>
          <p:cNvGrpSpPr/>
          <p:nvPr/>
        </p:nvGrpSpPr>
        <p:grpSpPr>
          <a:xfrm>
            <a:off x="6096000" y="2602260"/>
            <a:ext cx="6096000" cy="1354217"/>
            <a:chOff x="5749763" y="2498042"/>
            <a:chExt cx="6096000" cy="1354217"/>
          </a:xfrm>
        </p:grpSpPr>
        <p:sp>
          <p:nvSpPr>
            <p:cNvPr id="43" name="AutoShape 8">
              <a:extLst>
                <a:ext uri="{FF2B5EF4-FFF2-40B4-BE49-F238E27FC236}">
                  <a16:creationId xmlns:a16="http://schemas.microsoft.com/office/drawing/2014/main" id="{0FF656AC-30E4-4D2F-8A26-B7F6E0565C83}"/>
                </a:ext>
              </a:extLst>
            </p:cNvPr>
            <p:cNvSpPr>
              <a:spLocks noChangeAspect="1" noChangeArrowheads="1"/>
            </p:cNvSpPr>
            <p:nvPr/>
          </p:nvSpPr>
          <p:spPr bwMode="auto">
            <a:xfrm>
              <a:off x="5840565" y="2617692"/>
              <a:ext cx="68071" cy="680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矩形 43"/>
            <p:cNvSpPr/>
            <p:nvPr/>
          </p:nvSpPr>
          <p:spPr>
            <a:xfrm>
              <a:off x="5749763" y="2498042"/>
              <a:ext cx="6096000" cy="1354217"/>
            </a:xfrm>
            <a:prstGeom prst="rect">
              <a:avLst/>
            </a:prstGeom>
          </p:spPr>
          <p:txBody>
            <a:bodyPr>
              <a:spAutoFit/>
            </a:bodyPr>
            <a:lstStyle/>
            <a:p>
              <a:pPr marL="342900" indent="-342900">
                <a:buFont typeface="Arial" panose="020B0604020202020204" pitchFamily="34" charset="0"/>
                <a:buChar char="•"/>
              </a:pPr>
              <a:r>
                <a:rPr lang="zh-CN" altLang="en-US" sz="1600" b="1" dirty="0"/>
                <a:t>建立</a:t>
              </a:r>
              <a:r>
                <a:rPr lang="en-US" altLang="zh-CN" sz="1600" b="1" dirty="0"/>
                <a:t>3</a:t>
              </a:r>
              <a:r>
                <a:rPr lang="zh-CN" altLang="en-US" sz="1600" b="1" dirty="0"/>
                <a:t>个二分类器，</a:t>
              </a:r>
              <a:r>
                <a:rPr lang="zh-CN" altLang="en-US" sz="1600" b="1" dirty="0">
                  <a:solidFill>
                    <a:srgbClr val="C00000"/>
                  </a:solidFill>
                </a:rPr>
                <a:t>强行默认</a:t>
              </a:r>
              <a:r>
                <a:rPr lang="zh-CN" altLang="en-US" sz="1600" b="1" dirty="0"/>
                <a:t>样本只含有两类</a:t>
              </a:r>
              <a:endParaRPr lang="en-US" altLang="zh-CN" sz="1600" b="1" dirty="0"/>
            </a:p>
            <a:p>
              <a:pPr lvl="1"/>
              <a:r>
                <a:rPr lang="zh-CN" altLang="en-US" sz="1600" dirty="0"/>
                <a:t>（</a:t>
              </a:r>
              <a:r>
                <a:rPr lang="en-US" altLang="zh-CN" sz="1600" dirty="0"/>
                <a:t>A</a:t>
              </a:r>
              <a:r>
                <a:rPr lang="zh-CN" altLang="en-US" sz="1600" dirty="0"/>
                <a:t>）</a:t>
              </a:r>
              <a:r>
                <a:rPr lang="en-US" altLang="zh-CN" sz="1600" dirty="0"/>
                <a:t> </a:t>
              </a:r>
              <a:r>
                <a:rPr lang="zh-CN" altLang="en-US" sz="1600" b="1" dirty="0">
                  <a:solidFill>
                    <a:srgbClr val="C00000"/>
                  </a:solidFill>
                </a:rPr>
                <a:t>狗</a:t>
              </a:r>
              <a:r>
                <a:rPr lang="en-US" altLang="zh-CN" sz="1600" b="1" dirty="0">
                  <a:solidFill>
                    <a:srgbClr val="C00000"/>
                  </a:solidFill>
                </a:rPr>
                <a:t>vs</a:t>
              </a:r>
              <a:r>
                <a:rPr lang="zh-CN" altLang="en-US" sz="1600" b="1" dirty="0">
                  <a:solidFill>
                    <a:srgbClr val="C00000"/>
                  </a:solidFill>
                </a:rPr>
                <a:t>猫</a:t>
              </a:r>
              <a:endParaRPr lang="en-US" altLang="zh-CN" sz="1600" b="1" dirty="0">
                <a:solidFill>
                  <a:srgbClr val="C00000"/>
                </a:solidFill>
              </a:endParaRPr>
            </a:p>
            <a:p>
              <a:pPr lvl="1"/>
              <a:r>
                <a:rPr lang="zh-CN" altLang="en-US" sz="1600" dirty="0"/>
                <a:t>（</a:t>
              </a:r>
              <a:r>
                <a:rPr lang="en-US" altLang="zh-CN" sz="1600" dirty="0"/>
                <a:t>B</a:t>
              </a:r>
              <a:r>
                <a:rPr lang="zh-CN" altLang="en-US" sz="1600" dirty="0"/>
                <a:t>）</a:t>
              </a:r>
              <a:r>
                <a:rPr lang="en-US" altLang="zh-CN" sz="1600" dirty="0"/>
                <a:t> </a:t>
              </a:r>
              <a:r>
                <a:rPr lang="zh-CN" altLang="en-US" sz="1600" dirty="0"/>
                <a:t>猫</a:t>
              </a:r>
              <a:r>
                <a:rPr lang="en-US" altLang="zh-CN" sz="1600" dirty="0"/>
                <a:t>vs</a:t>
              </a:r>
              <a:r>
                <a:rPr lang="zh-CN" altLang="en-US" sz="1600" dirty="0"/>
                <a:t>鼠</a:t>
              </a:r>
              <a:endParaRPr lang="en-US" altLang="zh-CN" sz="1600" dirty="0"/>
            </a:p>
            <a:p>
              <a:pPr lvl="1"/>
              <a:r>
                <a:rPr lang="zh-CN" altLang="en-US" sz="1600" dirty="0"/>
                <a:t>（</a:t>
              </a:r>
              <a:r>
                <a:rPr lang="en-US" altLang="zh-CN" sz="1600" dirty="0"/>
                <a:t>C</a:t>
              </a:r>
              <a:r>
                <a:rPr lang="zh-CN" altLang="en-US" sz="1600" dirty="0"/>
                <a:t>）</a:t>
              </a:r>
              <a:r>
                <a:rPr lang="en-US" altLang="zh-CN" sz="1600" dirty="0"/>
                <a:t> </a:t>
              </a:r>
              <a:r>
                <a:rPr lang="zh-CN" altLang="en-US" sz="1600" dirty="0"/>
                <a:t>鼠</a:t>
              </a:r>
              <a:r>
                <a:rPr lang="en-US" altLang="zh-CN" sz="1600" dirty="0"/>
                <a:t>vs</a:t>
              </a:r>
              <a:r>
                <a:rPr lang="zh-CN" altLang="en-US" sz="1600" dirty="0"/>
                <a:t>狗</a:t>
              </a:r>
              <a:endParaRPr lang="en-US" altLang="zh-CN" sz="1600" dirty="0"/>
            </a:p>
            <a:p>
              <a:pPr lvl="1"/>
              <a:r>
                <a:rPr lang="zh-CN" altLang="en-US" sz="1600" b="1" dirty="0"/>
                <a:t>最后再组合判定输出</a:t>
              </a:r>
              <a:endParaRPr lang="en-US" altLang="zh-CN" sz="1600" b="1" dirty="0"/>
            </a:p>
          </p:txBody>
        </p:sp>
        <p:graphicFrame>
          <p:nvGraphicFramePr>
            <p:cNvPr id="45" name="对象 44"/>
            <p:cNvGraphicFramePr>
              <a:graphicFrameLocks noChangeAspect="1"/>
            </p:cNvGraphicFramePr>
            <p:nvPr/>
          </p:nvGraphicFramePr>
          <p:xfrm>
            <a:off x="7920846" y="2783999"/>
            <a:ext cx="196096" cy="261462"/>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45" name="对象 44"/>
                        <p:cNvPicPr/>
                        <p:nvPr/>
                      </p:nvPicPr>
                      <p:blipFill>
                        <a:blip r:embed="rId12"/>
                        <a:stretch>
                          <a:fillRect/>
                        </a:stretch>
                      </p:blipFill>
                      <p:spPr>
                        <a:xfrm>
                          <a:off x="7920846" y="2783999"/>
                          <a:ext cx="196096" cy="261462"/>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7945364" y="3082632"/>
            <a:ext cx="144463" cy="211138"/>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48" name="对象 47"/>
                        <p:cNvPicPr/>
                        <p:nvPr/>
                      </p:nvPicPr>
                      <p:blipFill>
                        <a:blip r:embed="rId14"/>
                        <a:stretch>
                          <a:fillRect/>
                        </a:stretch>
                      </p:blipFill>
                      <p:spPr>
                        <a:xfrm>
                          <a:off x="7945364" y="3082632"/>
                          <a:ext cx="144463" cy="211138"/>
                        </a:xfrm>
                        <a:prstGeom prst="rect">
                          <a:avLst/>
                        </a:prstGeom>
                      </p:spPr>
                    </p:pic>
                  </p:oleObj>
                </mc:Fallback>
              </mc:AlternateContent>
            </a:graphicData>
          </a:graphic>
        </p:graphicFrame>
        <p:graphicFrame>
          <p:nvGraphicFramePr>
            <p:cNvPr id="49" name="对象 48"/>
            <p:cNvGraphicFramePr>
              <a:graphicFrameLocks noChangeAspect="1"/>
            </p:cNvGraphicFramePr>
            <p:nvPr/>
          </p:nvGraphicFramePr>
          <p:xfrm>
            <a:off x="7945364" y="3313650"/>
            <a:ext cx="131762" cy="228600"/>
          </p:xfrm>
          <a:graphic>
            <a:graphicData uri="http://schemas.openxmlformats.org/presentationml/2006/ole">
              <mc:AlternateContent xmlns:mc="http://schemas.openxmlformats.org/markup-compatibility/2006">
                <mc:Choice xmlns:v="urn:schemas-microsoft-com:vml" Requires="v">
                  <p:oleObj name="Equation" r:id="rId15" imgW="126720" imgH="177480" progId="Equation.DSMT4">
                    <p:embed/>
                  </p:oleObj>
                </mc:Choice>
                <mc:Fallback>
                  <p:oleObj name="Equation" r:id="rId15" imgW="126720" imgH="177480" progId="Equation.DSMT4">
                    <p:embed/>
                    <p:pic>
                      <p:nvPicPr>
                        <p:cNvPr id="49" name="对象 48"/>
                        <p:cNvPicPr/>
                        <p:nvPr/>
                      </p:nvPicPr>
                      <p:blipFill>
                        <a:blip r:embed="rId16"/>
                        <a:stretch>
                          <a:fillRect/>
                        </a:stretch>
                      </p:blipFill>
                      <p:spPr>
                        <a:xfrm>
                          <a:off x="7945364" y="3313650"/>
                          <a:ext cx="131762" cy="228600"/>
                        </a:xfrm>
                        <a:prstGeom prst="rect">
                          <a:avLst/>
                        </a:prstGeom>
                      </p:spPr>
                    </p:pic>
                  </p:oleObj>
                </mc:Fallback>
              </mc:AlternateContent>
            </a:graphicData>
          </a:graphic>
        </p:graphicFrame>
      </p:grpSp>
      <p:pic>
        <p:nvPicPr>
          <p:cNvPr id="50"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440489" y="4590480"/>
            <a:ext cx="886182" cy="60635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1" name="对象 50"/>
          <p:cNvGraphicFramePr>
            <a:graphicFrameLocks noChangeAspect="1"/>
          </p:cNvGraphicFramePr>
          <p:nvPr/>
        </p:nvGraphicFramePr>
        <p:xfrm>
          <a:off x="7848333" y="4251481"/>
          <a:ext cx="270347" cy="360464"/>
        </p:xfrm>
        <a:graphic>
          <a:graphicData uri="http://schemas.openxmlformats.org/presentationml/2006/ole">
            <mc:AlternateContent xmlns:mc="http://schemas.openxmlformats.org/markup-compatibility/2006">
              <mc:Choice xmlns:v="urn:schemas-microsoft-com:vml" Requires="v">
                <p:oleObj name="Equation" r:id="rId18" imgW="152280" imgH="203040" progId="Equation.DSMT4">
                  <p:embed/>
                </p:oleObj>
              </mc:Choice>
              <mc:Fallback>
                <p:oleObj name="Equation" r:id="rId18" imgW="152280" imgH="203040" progId="Equation.DSMT4">
                  <p:embed/>
                  <p:pic>
                    <p:nvPicPr>
                      <p:cNvPr id="51" name="对象 50"/>
                      <p:cNvPicPr/>
                      <p:nvPr/>
                    </p:nvPicPr>
                    <p:blipFill>
                      <a:blip r:embed="rId12"/>
                      <a:stretch>
                        <a:fillRect/>
                      </a:stretch>
                    </p:blipFill>
                    <p:spPr>
                      <a:xfrm>
                        <a:off x="7848333" y="4251481"/>
                        <a:ext cx="270347" cy="360464"/>
                      </a:xfrm>
                      <a:prstGeom prst="rect">
                        <a:avLst/>
                      </a:prstGeom>
                    </p:spPr>
                  </p:pic>
                </p:oleObj>
              </mc:Fallback>
            </mc:AlternateContent>
          </a:graphicData>
        </a:graphic>
      </p:graphicFrame>
      <p:graphicFrame>
        <p:nvGraphicFramePr>
          <p:cNvPr id="52" name="对象 51"/>
          <p:cNvGraphicFramePr>
            <a:graphicFrameLocks noChangeAspect="1"/>
          </p:cNvGraphicFramePr>
          <p:nvPr/>
        </p:nvGraphicFramePr>
        <p:xfrm>
          <a:off x="7952195" y="4795575"/>
          <a:ext cx="190715" cy="278738"/>
        </p:xfrm>
        <a:graphic>
          <a:graphicData uri="http://schemas.openxmlformats.org/presentationml/2006/ole">
            <mc:AlternateContent xmlns:mc="http://schemas.openxmlformats.org/markup-compatibility/2006">
              <mc:Choice xmlns:v="urn:schemas-microsoft-com:vml" Requires="v">
                <p:oleObj name="Equation" r:id="rId19" imgW="139680" imgH="164880" progId="Equation.DSMT4">
                  <p:embed/>
                </p:oleObj>
              </mc:Choice>
              <mc:Fallback>
                <p:oleObj name="Equation" r:id="rId19" imgW="139680" imgH="164880" progId="Equation.DSMT4">
                  <p:embed/>
                  <p:pic>
                    <p:nvPicPr>
                      <p:cNvPr id="52" name="对象 51"/>
                      <p:cNvPicPr/>
                      <p:nvPr/>
                    </p:nvPicPr>
                    <p:blipFill>
                      <a:blip r:embed="rId14"/>
                      <a:stretch>
                        <a:fillRect/>
                      </a:stretch>
                    </p:blipFill>
                    <p:spPr>
                      <a:xfrm>
                        <a:off x="7952195" y="4795575"/>
                        <a:ext cx="190715" cy="278738"/>
                      </a:xfrm>
                      <a:prstGeom prst="rect">
                        <a:avLst/>
                      </a:prstGeom>
                    </p:spPr>
                  </p:pic>
                </p:oleObj>
              </mc:Fallback>
            </mc:AlternateContent>
          </a:graphicData>
        </a:graphic>
      </p:graphicFrame>
      <p:graphicFrame>
        <p:nvGraphicFramePr>
          <p:cNvPr id="53" name="对象 52"/>
          <p:cNvGraphicFramePr>
            <a:graphicFrameLocks noChangeAspect="1"/>
          </p:cNvGraphicFramePr>
          <p:nvPr/>
        </p:nvGraphicFramePr>
        <p:xfrm>
          <a:off x="7888761" y="5202843"/>
          <a:ext cx="200277" cy="347470"/>
        </p:xfrm>
        <a:graphic>
          <a:graphicData uri="http://schemas.openxmlformats.org/presentationml/2006/ole">
            <mc:AlternateContent xmlns:mc="http://schemas.openxmlformats.org/markup-compatibility/2006">
              <mc:Choice xmlns:v="urn:schemas-microsoft-com:vml" Requires="v">
                <p:oleObj name="Equation" r:id="rId20" imgW="126720" imgH="177480" progId="Equation.DSMT4">
                  <p:embed/>
                </p:oleObj>
              </mc:Choice>
              <mc:Fallback>
                <p:oleObj name="Equation" r:id="rId20" imgW="126720" imgH="177480" progId="Equation.DSMT4">
                  <p:embed/>
                  <p:pic>
                    <p:nvPicPr>
                      <p:cNvPr id="53" name="对象 52"/>
                      <p:cNvPicPr/>
                      <p:nvPr/>
                    </p:nvPicPr>
                    <p:blipFill>
                      <a:blip r:embed="rId16"/>
                      <a:stretch>
                        <a:fillRect/>
                      </a:stretch>
                    </p:blipFill>
                    <p:spPr>
                      <a:xfrm>
                        <a:off x="7888761" y="5202843"/>
                        <a:ext cx="200277" cy="347470"/>
                      </a:xfrm>
                      <a:prstGeom prst="rect">
                        <a:avLst/>
                      </a:prstGeom>
                    </p:spPr>
                  </p:pic>
                </p:oleObj>
              </mc:Fallback>
            </mc:AlternateContent>
          </a:graphicData>
        </a:graphic>
      </p:graphicFrame>
      <p:cxnSp>
        <p:nvCxnSpPr>
          <p:cNvPr id="54" name="直接箭头连接符 53"/>
          <p:cNvCxnSpPr/>
          <p:nvPr/>
        </p:nvCxnSpPr>
        <p:spPr>
          <a:xfrm flipV="1">
            <a:off x="7308780" y="4437360"/>
            <a:ext cx="557444" cy="219598"/>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7326671" y="4893655"/>
            <a:ext cx="625524"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7302290" y="5113458"/>
            <a:ext cx="563450" cy="26312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8151443" y="4432422"/>
            <a:ext cx="1150579"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9315140" y="4278267"/>
            <a:ext cx="1413164" cy="338554"/>
          </a:xfrm>
          <a:prstGeom prst="rect">
            <a:avLst/>
          </a:prstGeom>
          <a:noFill/>
        </p:spPr>
        <p:txBody>
          <a:bodyPr wrap="square" rtlCol="0">
            <a:spAutoFit/>
          </a:bodyPr>
          <a:lstStyle/>
          <a:p>
            <a:r>
              <a:rPr lang="en-US" altLang="zh-CN" sz="1600" dirty="0">
                <a:solidFill>
                  <a:schemeClr val="tx1">
                    <a:lumMod val="85000"/>
                    <a:lumOff val="15000"/>
                  </a:schemeClr>
                </a:solidFill>
              </a:rPr>
              <a:t>“1”</a:t>
            </a:r>
            <a:r>
              <a:rPr lang="zh-CN" altLang="en-US" sz="1600" dirty="0">
                <a:solidFill>
                  <a:schemeClr val="tx1">
                    <a:lumMod val="85000"/>
                    <a:lumOff val="15000"/>
                  </a:schemeClr>
                </a:solidFill>
              </a:rPr>
              <a:t>，是狗</a:t>
            </a:r>
          </a:p>
        </p:txBody>
      </p:sp>
      <p:cxnSp>
        <p:nvCxnSpPr>
          <p:cNvPr id="59" name="直接箭头连接符 58"/>
          <p:cNvCxnSpPr/>
          <p:nvPr/>
        </p:nvCxnSpPr>
        <p:spPr>
          <a:xfrm>
            <a:off x="8164561" y="4893655"/>
            <a:ext cx="1150579"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9315140" y="4737865"/>
            <a:ext cx="1413164" cy="338554"/>
          </a:xfrm>
          <a:prstGeom prst="rect">
            <a:avLst/>
          </a:prstGeom>
          <a:noFill/>
        </p:spPr>
        <p:txBody>
          <a:bodyPr wrap="square" rtlCol="0">
            <a:spAutoFit/>
          </a:bodyPr>
          <a:lstStyle/>
          <a:p>
            <a:r>
              <a:rPr lang="en-US" altLang="zh-CN" sz="1600" dirty="0">
                <a:solidFill>
                  <a:schemeClr val="tx1">
                    <a:lumMod val="85000"/>
                    <a:lumOff val="15000"/>
                  </a:schemeClr>
                </a:solidFill>
              </a:rPr>
              <a:t>“1”</a:t>
            </a:r>
            <a:r>
              <a:rPr lang="zh-CN" altLang="en-US" sz="1600" dirty="0">
                <a:solidFill>
                  <a:schemeClr val="tx1">
                    <a:lumMod val="85000"/>
                    <a:lumOff val="15000"/>
                  </a:schemeClr>
                </a:solidFill>
              </a:rPr>
              <a:t>，是猫</a:t>
            </a:r>
          </a:p>
        </p:txBody>
      </p:sp>
      <p:cxnSp>
        <p:nvCxnSpPr>
          <p:cNvPr id="61" name="直接箭头连接符 60"/>
          <p:cNvCxnSpPr/>
          <p:nvPr/>
        </p:nvCxnSpPr>
        <p:spPr>
          <a:xfrm>
            <a:off x="8142910" y="5376578"/>
            <a:ext cx="1150579" cy="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9315140" y="5243318"/>
            <a:ext cx="1413164" cy="338554"/>
          </a:xfrm>
          <a:prstGeom prst="rect">
            <a:avLst/>
          </a:prstGeom>
          <a:noFill/>
        </p:spPr>
        <p:txBody>
          <a:bodyPr wrap="square" rtlCol="0">
            <a:spAutoFit/>
          </a:bodyPr>
          <a:lstStyle/>
          <a:p>
            <a:r>
              <a:rPr lang="en-US" altLang="zh-CN" sz="1600" dirty="0">
                <a:solidFill>
                  <a:schemeClr val="tx1">
                    <a:lumMod val="85000"/>
                    <a:lumOff val="15000"/>
                  </a:schemeClr>
                </a:solidFill>
              </a:rPr>
              <a:t>“0”</a:t>
            </a:r>
            <a:r>
              <a:rPr lang="zh-CN" altLang="en-US" sz="1600" dirty="0">
                <a:solidFill>
                  <a:schemeClr val="tx1">
                    <a:lumMod val="85000"/>
                    <a:lumOff val="15000"/>
                  </a:schemeClr>
                </a:solidFill>
              </a:rPr>
              <a:t>，是狗</a:t>
            </a:r>
          </a:p>
        </p:txBody>
      </p:sp>
      <p:cxnSp>
        <p:nvCxnSpPr>
          <p:cNvPr id="63" name="直接箭头连接符 62"/>
          <p:cNvCxnSpPr/>
          <p:nvPr/>
        </p:nvCxnSpPr>
        <p:spPr>
          <a:xfrm>
            <a:off x="10387584" y="4454430"/>
            <a:ext cx="795349" cy="234750"/>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V="1">
            <a:off x="10473555" y="5124118"/>
            <a:ext cx="709378" cy="288478"/>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10473555" y="4908351"/>
            <a:ext cx="730268" cy="26593"/>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1169179" y="4754786"/>
            <a:ext cx="781548" cy="369332"/>
          </a:xfrm>
          <a:prstGeom prst="rect">
            <a:avLst/>
          </a:prstGeom>
          <a:noFill/>
        </p:spPr>
        <p:txBody>
          <a:bodyPr wrap="square" rtlCol="0">
            <a:spAutoFit/>
          </a:bodyPr>
          <a:lstStyle/>
          <a:p>
            <a:r>
              <a:rPr lang="zh-CN" altLang="en-US" dirty="0">
                <a:solidFill>
                  <a:schemeClr val="tx1">
                    <a:lumMod val="85000"/>
                    <a:lumOff val="15000"/>
                  </a:schemeClr>
                </a:solidFill>
              </a:rPr>
              <a:t>是狗</a:t>
            </a:r>
          </a:p>
        </p:txBody>
      </p:sp>
      <p:sp>
        <p:nvSpPr>
          <p:cNvPr id="3" name="矩形 2"/>
          <p:cNvSpPr/>
          <p:nvPr/>
        </p:nvSpPr>
        <p:spPr>
          <a:xfrm>
            <a:off x="9790176" y="4737865"/>
            <a:ext cx="597408" cy="37559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19387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67</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26" name="矩形 25"/>
          <p:cNvSpPr/>
          <p:nvPr/>
        </p:nvSpPr>
        <p:spPr>
          <a:xfrm>
            <a:off x="388481" y="1640959"/>
            <a:ext cx="10536382" cy="369332"/>
          </a:xfrm>
          <a:prstGeom prst="rect">
            <a:avLst/>
          </a:prstGeom>
        </p:spPr>
        <p:txBody>
          <a:bodyPr wrap="square">
            <a:spAutoFit/>
          </a:bodyPr>
          <a:lstStyle/>
          <a:p>
            <a:pPr lvl="1"/>
            <a:r>
              <a:rPr lang="zh-CN" altLang="en-US" b="1" dirty="0"/>
              <a:t>问题三：样本的种类，或者说</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有</a:t>
            </a:r>
            <a:r>
              <a:rPr lang="zh-CN" altLang="en-US" b="1" dirty="0">
                <a:solidFill>
                  <a:srgbClr val="C00000"/>
                </a:solidFill>
              </a:rPr>
              <a:t>超过两种</a:t>
            </a:r>
            <a:r>
              <a:rPr lang="zh-CN" altLang="en-US" b="1" dirty="0"/>
              <a:t>，怎么办？</a:t>
            </a:r>
            <a:endParaRPr lang="en-US" altLang="zh-CN" b="1" dirty="0"/>
          </a:p>
        </p:txBody>
      </p:sp>
      <p:pic>
        <p:nvPicPr>
          <p:cNvPr id="27" name="Picture 2">
            <a:extLst>
              <a:ext uri="{FF2B5EF4-FFF2-40B4-BE49-F238E27FC236}">
                <a16:creationId xmlns:a16="http://schemas.microsoft.com/office/drawing/2014/main" id="{B5F751B0-C2DD-49AA-82FD-3A05374033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0156" y="2492855"/>
            <a:ext cx="1356682" cy="95584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811B931E-0FF7-44F4-8754-FDE5C28407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2841" y="2492855"/>
            <a:ext cx="1214003" cy="9250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79BA5AAF-771C-421A-BA4C-D3482EA675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2840" y="3681856"/>
            <a:ext cx="1214003" cy="83065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FC3968F3-8335-4C21-9477-F934E83568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7950" y="3724579"/>
            <a:ext cx="1332145" cy="775309"/>
          </a:xfrm>
          <a:prstGeom prst="rect">
            <a:avLst/>
          </a:prstGeom>
          <a:noFill/>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3BB69D57-CD69-48B9-BAE7-496A5176E667}"/>
              </a:ext>
            </a:extLst>
          </p:cNvPr>
          <p:cNvPicPr>
            <a:picLocks noChangeAspect="1"/>
          </p:cNvPicPr>
          <p:nvPr/>
        </p:nvPicPr>
        <p:blipFill>
          <a:blip r:embed="rId6"/>
          <a:stretch>
            <a:fillRect/>
          </a:stretch>
        </p:blipFill>
        <p:spPr>
          <a:xfrm>
            <a:off x="3406393" y="2517120"/>
            <a:ext cx="937432" cy="937432"/>
          </a:xfrm>
          <a:prstGeom prst="rect">
            <a:avLst/>
          </a:prstGeom>
        </p:spPr>
      </p:pic>
      <p:pic>
        <p:nvPicPr>
          <p:cNvPr id="32" name="Picture 4">
            <a:extLst>
              <a:ext uri="{FF2B5EF4-FFF2-40B4-BE49-F238E27FC236}">
                <a16:creationId xmlns:a16="http://schemas.microsoft.com/office/drawing/2014/main" id="{48C7A45F-D210-408E-BDF3-E27FC8218F5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6393" y="367119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93BB537B-7A94-4D85-B4FC-BABDDAFA8F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70156" y="4976174"/>
            <a:ext cx="1123833" cy="8728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a:extLst>
              <a:ext uri="{FF2B5EF4-FFF2-40B4-BE49-F238E27FC236}">
                <a16:creationId xmlns:a16="http://schemas.microsoft.com/office/drawing/2014/main" id="{99F61418-DEAB-478B-99FE-39790D8BED8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06393" y="4943880"/>
            <a:ext cx="937432" cy="93743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a:extLst>
              <a:ext uri="{FF2B5EF4-FFF2-40B4-BE49-F238E27FC236}">
                <a16:creationId xmlns:a16="http://schemas.microsoft.com/office/drawing/2014/main" id="{E0BF9996-B24E-411A-A289-07BF61849BB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17873" y="4943880"/>
            <a:ext cx="1168970" cy="88558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096000" y="2241585"/>
            <a:ext cx="5757672" cy="338554"/>
          </a:xfrm>
          <a:prstGeom prst="rect">
            <a:avLst/>
          </a:prstGeom>
          <a:noFill/>
        </p:spPr>
        <p:txBody>
          <a:bodyPr wrap="square" rtlCol="0">
            <a:spAutoFit/>
          </a:bodyPr>
          <a:lstStyle/>
          <a:p>
            <a:r>
              <a:rPr lang="zh-CN" altLang="en-US" sz="1600" b="1" dirty="0"/>
              <a:t>② 处理方法</a:t>
            </a:r>
            <a:r>
              <a:rPr lang="en-US" altLang="zh-CN" sz="1600" b="1" dirty="0"/>
              <a:t>2</a:t>
            </a:r>
            <a:r>
              <a:rPr lang="zh-CN" altLang="en-US" sz="1600" b="1" dirty="0"/>
              <a:t>：强行看成二分类，建立</a:t>
            </a:r>
            <a:r>
              <a:rPr lang="zh-CN" altLang="en-US" sz="1600" b="1" dirty="0">
                <a:solidFill>
                  <a:srgbClr val="C00000"/>
                </a:solidFill>
              </a:rPr>
              <a:t>多个</a:t>
            </a:r>
            <a:r>
              <a:rPr lang="zh-CN" altLang="en-US" sz="1600" b="1" dirty="0"/>
              <a:t>分类器，然后</a:t>
            </a:r>
            <a:r>
              <a:rPr lang="zh-CN" altLang="en-US" sz="1600" b="1" dirty="0">
                <a:solidFill>
                  <a:srgbClr val="C00000"/>
                </a:solidFill>
              </a:rPr>
              <a:t>投票</a:t>
            </a:r>
          </a:p>
        </p:txBody>
      </p:sp>
      <p:grpSp>
        <p:nvGrpSpPr>
          <p:cNvPr id="37" name="组合 36"/>
          <p:cNvGrpSpPr/>
          <p:nvPr/>
        </p:nvGrpSpPr>
        <p:grpSpPr>
          <a:xfrm>
            <a:off x="6177417" y="4016429"/>
            <a:ext cx="6096000" cy="1354217"/>
            <a:chOff x="5749763" y="2498042"/>
            <a:chExt cx="6096000" cy="1354217"/>
          </a:xfrm>
        </p:grpSpPr>
        <p:sp>
          <p:nvSpPr>
            <p:cNvPr id="43" name="AutoShape 8">
              <a:extLst>
                <a:ext uri="{FF2B5EF4-FFF2-40B4-BE49-F238E27FC236}">
                  <a16:creationId xmlns:a16="http://schemas.microsoft.com/office/drawing/2014/main" id="{0FF656AC-30E4-4D2F-8A26-B7F6E0565C83}"/>
                </a:ext>
              </a:extLst>
            </p:cNvPr>
            <p:cNvSpPr>
              <a:spLocks noChangeAspect="1" noChangeArrowheads="1"/>
            </p:cNvSpPr>
            <p:nvPr/>
          </p:nvSpPr>
          <p:spPr bwMode="auto">
            <a:xfrm>
              <a:off x="5840565" y="2617692"/>
              <a:ext cx="68071" cy="680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矩形 43"/>
            <p:cNvSpPr/>
            <p:nvPr/>
          </p:nvSpPr>
          <p:spPr>
            <a:xfrm>
              <a:off x="5749763" y="2498042"/>
              <a:ext cx="6096000" cy="1354217"/>
            </a:xfrm>
            <a:prstGeom prst="rect">
              <a:avLst/>
            </a:prstGeom>
          </p:spPr>
          <p:txBody>
            <a:bodyPr>
              <a:spAutoFit/>
            </a:bodyPr>
            <a:lstStyle/>
            <a:p>
              <a:pPr marL="342900" indent="-342900">
                <a:buFont typeface="Arial" panose="020B0604020202020204" pitchFamily="34" charset="0"/>
                <a:buChar char="•"/>
              </a:pPr>
              <a:r>
                <a:rPr lang="zh-CN" altLang="en-US" sz="1600" b="1" dirty="0"/>
                <a:t>建立</a:t>
              </a:r>
              <a:r>
                <a:rPr lang="en-US" altLang="zh-CN" sz="1600" b="1" dirty="0"/>
                <a:t>3</a:t>
              </a:r>
              <a:r>
                <a:rPr lang="zh-CN" altLang="en-US" sz="1600" b="1" dirty="0"/>
                <a:t>个二分类器，</a:t>
              </a:r>
              <a:r>
                <a:rPr lang="zh-CN" altLang="en-US" sz="1600" b="1" dirty="0">
                  <a:solidFill>
                    <a:srgbClr val="C00000"/>
                  </a:solidFill>
                </a:rPr>
                <a:t>强行默认</a:t>
              </a:r>
              <a:r>
                <a:rPr lang="zh-CN" altLang="en-US" sz="1600" b="1" dirty="0"/>
                <a:t>样本只含有两类</a:t>
              </a:r>
              <a:endParaRPr lang="en-US" altLang="zh-CN" sz="1600" b="1" dirty="0"/>
            </a:p>
            <a:p>
              <a:pPr lvl="1"/>
              <a:r>
                <a:rPr lang="zh-CN" altLang="en-US" sz="1600" dirty="0"/>
                <a:t>（</a:t>
              </a:r>
              <a:r>
                <a:rPr lang="en-US" altLang="zh-CN" sz="1600" dirty="0"/>
                <a:t>A</a:t>
              </a:r>
              <a:r>
                <a:rPr lang="zh-CN" altLang="en-US" sz="1600" dirty="0"/>
                <a:t>）</a:t>
              </a:r>
              <a:r>
                <a:rPr lang="en-US" altLang="zh-CN" sz="1600" dirty="0"/>
                <a:t> </a:t>
              </a:r>
              <a:r>
                <a:rPr lang="zh-CN" altLang="en-US" sz="1600" b="1" dirty="0">
                  <a:solidFill>
                    <a:srgbClr val="C00000"/>
                  </a:solidFill>
                </a:rPr>
                <a:t>狗</a:t>
              </a:r>
              <a:r>
                <a:rPr lang="en-US" altLang="zh-CN" sz="1600" b="1" dirty="0">
                  <a:solidFill>
                    <a:srgbClr val="C00000"/>
                  </a:solidFill>
                </a:rPr>
                <a:t>vs</a:t>
              </a:r>
              <a:r>
                <a:rPr lang="zh-CN" altLang="en-US" sz="1600" b="1" dirty="0">
                  <a:solidFill>
                    <a:srgbClr val="C00000"/>
                  </a:solidFill>
                </a:rPr>
                <a:t>猫</a:t>
              </a:r>
              <a:endParaRPr lang="en-US" altLang="zh-CN" sz="1600" b="1" dirty="0">
                <a:solidFill>
                  <a:srgbClr val="C00000"/>
                </a:solidFill>
              </a:endParaRPr>
            </a:p>
            <a:p>
              <a:pPr lvl="1"/>
              <a:r>
                <a:rPr lang="zh-CN" altLang="en-US" sz="1600" dirty="0"/>
                <a:t>（</a:t>
              </a:r>
              <a:r>
                <a:rPr lang="en-US" altLang="zh-CN" sz="1600" dirty="0"/>
                <a:t>B</a:t>
              </a:r>
              <a:r>
                <a:rPr lang="zh-CN" altLang="en-US" sz="1600" dirty="0"/>
                <a:t>）</a:t>
              </a:r>
              <a:r>
                <a:rPr lang="en-US" altLang="zh-CN" sz="1600" dirty="0"/>
                <a:t> </a:t>
              </a:r>
              <a:r>
                <a:rPr lang="zh-CN" altLang="en-US" sz="1600" dirty="0"/>
                <a:t>猫</a:t>
              </a:r>
              <a:r>
                <a:rPr lang="en-US" altLang="zh-CN" sz="1600" dirty="0"/>
                <a:t>vs</a:t>
              </a:r>
              <a:r>
                <a:rPr lang="zh-CN" altLang="en-US" sz="1600" dirty="0"/>
                <a:t>鼠</a:t>
              </a:r>
              <a:endParaRPr lang="en-US" altLang="zh-CN" sz="1600" dirty="0"/>
            </a:p>
            <a:p>
              <a:pPr lvl="1"/>
              <a:r>
                <a:rPr lang="zh-CN" altLang="en-US" sz="1600" dirty="0"/>
                <a:t>（</a:t>
              </a:r>
              <a:r>
                <a:rPr lang="en-US" altLang="zh-CN" sz="1600" dirty="0"/>
                <a:t>C</a:t>
              </a:r>
              <a:r>
                <a:rPr lang="zh-CN" altLang="en-US" sz="1600" dirty="0"/>
                <a:t>）</a:t>
              </a:r>
              <a:r>
                <a:rPr lang="en-US" altLang="zh-CN" sz="1600" dirty="0"/>
                <a:t> </a:t>
              </a:r>
              <a:r>
                <a:rPr lang="zh-CN" altLang="en-US" sz="1600" dirty="0"/>
                <a:t>鼠</a:t>
              </a:r>
              <a:r>
                <a:rPr lang="en-US" altLang="zh-CN" sz="1600" dirty="0"/>
                <a:t>vs</a:t>
              </a:r>
              <a:r>
                <a:rPr lang="zh-CN" altLang="en-US" sz="1600" dirty="0"/>
                <a:t>狗</a:t>
              </a:r>
              <a:endParaRPr lang="en-US" altLang="zh-CN" sz="1600" dirty="0"/>
            </a:p>
            <a:p>
              <a:pPr lvl="1"/>
              <a:r>
                <a:rPr lang="zh-CN" altLang="en-US" sz="1600" b="1" dirty="0"/>
                <a:t>最后再组合判定输出</a:t>
              </a:r>
              <a:endParaRPr lang="en-US" altLang="zh-CN" sz="1600" b="1" dirty="0"/>
            </a:p>
          </p:txBody>
        </p:sp>
        <p:graphicFrame>
          <p:nvGraphicFramePr>
            <p:cNvPr id="45" name="对象 44"/>
            <p:cNvGraphicFramePr>
              <a:graphicFrameLocks noChangeAspect="1"/>
            </p:cNvGraphicFramePr>
            <p:nvPr/>
          </p:nvGraphicFramePr>
          <p:xfrm>
            <a:off x="7920846" y="2783999"/>
            <a:ext cx="196096" cy="261462"/>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45" name="对象 44"/>
                        <p:cNvPicPr/>
                        <p:nvPr/>
                      </p:nvPicPr>
                      <p:blipFill>
                        <a:blip r:embed="rId12"/>
                        <a:stretch>
                          <a:fillRect/>
                        </a:stretch>
                      </p:blipFill>
                      <p:spPr>
                        <a:xfrm>
                          <a:off x="7920846" y="2783999"/>
                          <a:ext cx="196096" cy="261462"/>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7945364" y="3082632"/>
            <a:ext cx="144463" cy="211138"/>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48" name="对象 47"/>
                        <p:cNvPicPr/>
                        <p:nvPr/>
                      </p:nvPicPr>
                      <p:blipFill>
                        <a:blip r:embed="rId14"/>
                        <a:stretch>
                          <a:fillRect/>
                        </a:stretch>
                      </p:blipFill>
                      <p:spPr>
                        <a:xfrm>
                          <a:off x="7945364" y="3082632"/>
                          <a:ext cx="144463" cy="211138"/>
                        </a:xfrm>
                        <a:prstGeom prst="rect">
                          <a:avLst/>
                        </a:prstGeom>
                      </p:spPr>
                    </p:pic>
                  </p:oleObj>
                </mc:Fallback>
              </mc:AlternateContent>
            </a:graphicData>
          </a:graphic>
        </p:graphicFrame>
        <p:graphicFrame>
          <p:nvGraphicFramePr>
            <p:cNvPr id="49" name="对象 48"/>
            <p:cNvGraphicFramePr>
              <a:graphicFrameLocks noChangeAspect="1"/>
            </p:cNvGraphicFramePr>
            <p:nvPr/>
          </p:nvGraphicFramePr>
          <p:xfrm>
            <a:off x="7945364" y="3313650"/>
            <a:ext cx="131762" cy="228600"/>
          </p:xfrm>
          <a:graphic>
            <a:graphicData uri="http://schemas.openxmlformats.org/presentationml/2006/ole">
              <mc:AlternateContent xmlns:mc="http://schemas.openxmlformats.org/markup-compatibility/2006">
                <mc:Choice xmlns:v="urn:schemas-microsoft-com:vml" Requires="v">
                  <p:oleObj name="Equation" r:id="rId15" imgW="126720" imgH="177480" progId="Equation.DSMT4">
                    <p:embed/>
                  </p:oleObj>
                </mc:Choice>
                <mc:Fallback>
                  <p:oleObj name="Equation" r:id="rId15" imgW="126720" imgH="177480" progId="Equation.DSMT4">
                    <p:embed/>
                    <p:pic>
                      <p:nvPicPr>
                        <p:cNvPr id="49" name="对象 48"/>
                        <p:cNvPicPr/>
                        <p:nvPr/>
                      </p:nvPicPr>
                      <p:blipFill>
                        <a:blip r:embed="rId16"/>
                        <a:stretch>
                          <a:fillRect/>
                        </a:stretch>
                      </p:blipFill>
                      <p:spPr>
                        <a:xfrm>
                          <a:off x="7945364" y="3313650"/>
                          <a:ext cx="131762" cy="228600"/>
                        </a:xfrm>
                        <a:prstGeom prst="rect">
                          <a:avLst/>
                        </a:prstGeom>
                      </p:spPr>
                    </p:pic>
                  </p:oleObj>
                </mc:Fallback>
              </mc:AlternateContent>
            </a:graphicData>
          </a:graphic>
        </p:graphicFrame>
      </p:grpSp>
      <p:grpSp>
        <p:nvGrpSpPr>
          <p:cNvPr id="39" name="组合 38"/>
          <p:cNvGrpSpPr/>
          <p:nvPr/>
        </p:nvGrpSpPr>
        <p:grpSpPr>
          <a:xfrm>
            <a:off x="6155651" y="2630700"/>
            <a:ext cx="6096000" cy="1323439"/>
            <a:chOff x="5749763" y="2498042"/>
            <a:chExt cx="6096000" cy="1323439"/>
          </a:xfrm>
        </p:grpSpPr>
        <p:sp>
          <p:nvSpPr>
            <p:cNvPr id="40" name="AutoShape 8">
              <a:extLst>
                <a:ext uri="{FF2B5EF4-FFF2-40B4-BE49-F238E27FC236}">
                  <a16:creationId xmlns:a16="http://schemas.microsoft.com/office/drawing/2014/main" id="{0FF656AC-30E4-4D2F-8A26-B7F6E0565C83}"/>
                </a:ext>
              </a:extLst>
            </p:cNvPr>
            <p:cNvSpPr>
              <a:spLocks noChangeAspect="1" noChangeArrowheads="1"/>
            </p:cNvSpPr>
            <p:nvPr/>
          </p:nvSpPr>
          <p:spPr bwMode="auto">
            <a:xfrm>
              <a:off x="5840565" y="2617692"/>
              <a:ext cx="68071" cy="680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矩形 40"/>
            <p:cNvSpPr/>
            <p:nvPr/>
          </p:nvSpPr>
          <p:spPr>
            <a:xfrm>
              <a:off x="5749763" y="2498042"/>
              <a:ext cx="6096000" cy="1323439"/>
            </a:xfrm>
            <a:prstGeom prst="rect">
              <a:avLst/>
            </a:prstGeom>
          </p:spPr>
          <p:txBody>
            <a:bodyPr>
              <a:spAutoFit/>
            </a:bodyPr>
            <a:lstStyle/>
            <a:p>
              <a:pPr marL="342900" indent="-342900">
                <a:buFont typeface="Arial" panose="020B0604020202020204" pitchFamily="34" charset="0"/>
                <a:buChar char="•"/>
              </a:pPr>
              <a:r>
                <a:rPr lang="zh-CN" altLang="en-US" sz="1600" b="1" dirty="0"/>
                <a:t>建立</a:t>
              </a:r>
              <a:r>
                <a:rPr lang="en-US" altLang="zh-CN" sz="1600" b="1" dirty="0"/>
                <a:t>3</a:t>
              </a:r>
              <a:r>
                <a:rPr lang="zh-CN" altLang="en-US" sz="1600" b="1" dirty="0"/>
                <a:t>个二分类器</a:t>
              </a:r>
              <a:endParaRPr lang="en-US" altLang="zh-CN" sz="1600" b="1" dirty="0"/>
            </a:p>
            <a:p>
              <a:pPr lvl="1"/>
              <a:r>
                <a:rPr lang="zh-CN" altLang="en-US" sz="1600" dirty="0"/>
                <a:t>（</a:t>
              </a:r>
              <a:r>
                <a:rPr lang="en-US" altLang="zh-CN" sz="1600" dirty="0"/>
                <a:t>A</a:t>
              </a:r>
              <a:r>
                <a:rPr lang="zh-CN" altLang="en-US" sz="1600" dirty="0"/>
                <a:t>）</a:t>
              </a:r>
              <a:r>
                <a:rPr lang="en-US" altLang="zh-CN" sz="1600" dirty="0"/>
                <a:t> </a:t>
              </a:r>
              <a:r>
                <a:rPr lang="zh-CN" altLang="en-US" sz="1600" b="1" dirty="0">
                  <a:solidFill>
                    <a:srgbClr val="C00000"/>
                  </a:solidFill>
                </a:rPr>
                <a:t>狗</a:t>
              </a:r>
              <a:r>
                <a:rPr lang="en-US" altLang="zh-CN" sz="1600" b="1" dirty="0">
                  <a:solidFill>
                    <a:srgbClr val="C00000"/>
                  </a:solidFill>
                </a:rPr>
                <a:t>vs</a:t>
              </a:r>
              <a:r>
                <a:rPr lang="zh-CN" altLang="en-US" sz="1600" b="1" dirty="0">
                  <a:solidFill>
                    <a:srgbClr val="C00000"/>
                  </a:solidFill>
                </a:rPr>
                <a:t>不是狗</a:t>
              </a:r>
              <a:endParaRPr lang="en-US" altLang="zh-CN" sz="1600" b="1" dirty="0">
                <a:solidFill>
                  <a:srgbClr val="C00000"/>
                </a:solidFill>
              </a:endParaRPr>
            </a:p>
            <a:p>
              <a:pPr lvl="1"/>
              <a:r>
                <a:rPr lang="zh-CN" altLang="en-US" sz="1600" dirty="0"/>
                <a:t>（</a:t>
              </a:r>
              <a:r>
                <a:rPr lang="en-US" altLang="zh-CN" sz="1600" dirty="0"/>
                <a:t>B</a:t>
              </a:r>
              <a:r>
                <a:rPr lang="zh-CN" altLang="en-US" sz="1600" dirty="0"/>
                <a:t>）</a:t>
              </a:r>
              <a:r>
                <a:rPr lang="en-US" altLang="zh-CN" sz="1600" dirty="0"/>
                <a:t> </a:t>
              </a:r>
              <a:r>
                <a:rPr lang="zh-CN" altLang="en-US" sz="1600" dirty="0"/>
                <a:t>猫</a:t>
              </a:r>
              <a:r>
                <a:rPr lang="en-US" altLang="zh-CN" sz="1600" dirty="0"/>
                <a:t>vs</a:t>
              </a:r>
              <a:r>
                <a:rPr lang="zh-CN" altLang="en-US" sz="1600" dirty="0"/>
                <a:t>不是猫</a:t>
              </a:r>
              <a:endParaRPr lang="en-US" altLang="zh-CN" sz="1600" dirty="0"/>
            </a:p>
            <a:p>
              <a:pPr lvl="1"/>
              <a:r>
                <a:rPr lang="zh-CN" altLang="en-US" sz="1600" dirty="0"/>
                <a:t>（</a:t>
              </a:r>
              <a:r>
                <a:rPr lang="en-US" altLang="zh-CN" sz="1600" dirty="0"/>
                <a:t>C</a:t>
              </a:r>
              <a:r>
                <a:rPr lang="zh-CN" altLang="en-US" sz="1600" dirty="0"/>
                <a:t>）</a:t>
              </a:r>
              <a:r>
                <a:rPr lang="en-US" altLang="zh-CN" sz="1600" dirty="0"/>
                <a:t> </a:t>
              </a:r>
              <a:r>
                <a:rPr lang="zh-CN" altLang="en-US" sz="1600" dirty="0"/>
                <a:t>鼠</a:t>
              </a:r>
              <a:r>
                <a:rPr lang="en-US" altLang="zh-CN" sz="1600" dirty="0"/>
                <a:t>vs</a:t>
              </a:r>
              <a:r>
                <a:rPr lang="zh-CN" altLang="en-US" sz="1600" dirty="0"/>
                <a:t>不是鼠</a:t>
              </a:r>
              <a:endParaRPr lang="en-US" altLang="zh-CN" sz="1600" dirty="0"/>
            </a:p>
            <a:p>
              <a:pPr lvl="1"/>
              <a:r>
                <a:rPr lang="zh-CN" altLang="en-US" sz="1600" b="1" dirty="0"/>
                <a:t>最后再组合判定输出</a:t>
              </a:r>
              <a:endParaRPr lang="en-US" altLang="zh-CN" sz="1600" b="1" dirty="0"/>
            </a:p>
          </p:txBody>
        </p:sp>
        <p:graphicFrame>
          <p:nvGraphicFramePr>
            <p:cNvPr id="42" name="对象 41"/>
            <p:cNvGraphicFramePr>
              <a:graphicFrameLocks noChangeAspect="1"/>
            </p:cNvGraphicFramePr>
            <p:nvPr>
              <p:extLst>
                <p:ext uri="{D42A27DB-BD31-4B8C-83A1-F6EECF244321}">
                  <p14:modId xmlns:p14="http://schemas.microsoft.com/office/powerpoint/2010/main" val="470766678"/>
                </p:ext>
              </p:extLst>
            </p:nvPr>
          </p:nvGraphicFramePr>
          <p:xfrm>
            <a:off x="7920846" y="2783999"/>
            <a:ext cx="196096" cy="261462"/>
          </p:xfrm>
          <a:graphic>
            <a:graphicData uri="http://schemas.openxmlformats.org/presentationml/2006/ole">
              <mc:AlternateContent xmlns:mc="http://schemas.openxmlformats.org/markup-compatibility/2006">
                <mc:Choice xmlns:v="urn:schemas-microsoft-com:vml" Requires="v">
                  <p:oleObj name="Equation" r:id="rId11" imgW="152280" imgH="203040" progId="Equation.DSMT4">
                    <p:embed/>
                  </p:oleObj>
                </mc:Choice>
                <mc:Fallback>
                  <p:oleObj name="Equation" r:id="rId11" imgW="152280" imgH="203040" progId="Equation.DSMT4">
                    <p:embed/>
                    <p:pic>
                      <p:nvPicPr>
                        <p:cNvPr id="45" name="对象 44"/>
                        <p:cNvPicPr/>
                        <p:nvPr/>
                      </p:nvPicPr>
                      <p:blipFill>
                        <a:blip r:embed="rId12"/>
                        <a:stretch>
                          <a:fillRect/>
                        </a:stretch>
                      </p:blipFill>
                      <p:spPr>
                        <a:xfrm>
                          <a:off x="7920846" y="2783999"/>
                          <a:ext cx="196096" cy="261462"/>
                        </a:xfrm>
                        <a:prstGeom prst="rect">
                          <a:avLst/>
                        </a:prstGeom>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2511393954"/>
                </p:ext>
              </p:extLst>
            </p:nvPr>
          </p:nvGraphicFramePr>
          <p:xfrm>
            <a:off x="7945364" y="3082632"/>
            <a:ext cx="144463" cy="211138"/>
          </p:xfrm>
          <a:graphic>
            <a:graphicData uri="http://schemas.openxmlformats.org/presentationml/2006/ole">
              <mc:AlternateContent xmlns:mc="http://schemas.openxmlformats.org/markup-compatibility/2006">
                <mc:Choice xmlns:v="urn:schemas-microsoft-com:vml" Requires="v">
                  <p:oleObj name="Equation" r:id="rId13" imgW="139680" imgH="164880" progId="Equation.DSMT4">
                    <p:embed/>
                  </p:oleObj>
                </mc:Choice>
                <mc:Fallback>
                  <p:oleObj name="Equation" r:id="rId13" imgW="139680" imgH="164880" progId="Equation.DSMT4">
                    <p:embed/>
                    <p:pic>
                      <p:nvPicPr>
                        <p:cNvPr id="48" name="对象 47"/>
                        <p:cNvPicPr/>
                        <p:nvPr/>
                      </p:nvPicPr>
                      <p:blipFill>
                        <a:blip r:embed="rId14"/>
                        <a:stretch>
                          <a:fillRect/>
                        </a:stretch>
                      </p:blipFill>
                      <p:spPr>
                        <a:xfrm>
                          <a:off x="7945364" y="3082632"/>
                          <a:ext cx="144463" cy="211138"/>
                        </a:xfrm>
                        <a:prstGeom prst="rect">
                          <a:avLst/>
                        </a:prstGeom>
                      </p:spPr>
                    </p:pic>
                  </p:oleObj>
                </mc:Fallback>
              </mc:AlternateContent>
            </a:graphicData>
          </a:graphic>
        </p:graphicFrame>
        <p:graphicFrame>
          <p:nvGraphicFramePr>
            <p:cNvPr id="47" name="对象 46"/>
            <p:cNvGraphicFramePr>
              <a:graphicFrameLocks noChangeAspect="1"/>
            </p:cNvGraphicFramePr>
            <p:nvPr>
              <p:extLst>
                <p:ext uri="{D42A27DB-BD31-4B8C-83A1-F6EECF244321}">
                  <p14:modId xmlns:p14="http://schemas.microsoft.com/office/powerpoint/2010/main" val="3994364502"/>
                </p:ext>
              </p:extLst>
            </p:nvPr>
          </p:nvGraphicFramePr>
          <p:xfrm>
            <a:off x="7945364" y="3313650"/>
            <a:ext cx="131762" cy="228600"/>
          </p:xfrm>
          <a:graphic>
            <a:graphicData uri="http://schemas.openxmlformats.org/presentationml/2006/ole">
              <mc:AlternateContent xmlns:mc="http://schemas.openxmlformats.org/markup-compatibility/2006">
                <mc:Choice xmlns:v="urn:schemas-microsoft-com:vml" Requires="v">
                  <p:oleObj name="Equation" r:id="rId15" imgW="126720" imgH="177480" progId="Equation.DSMT4">
                    <p:embed/>
                  </p:oleObj>
                </mc:Choice>
                <mc:Fallback>
                  <p:oleObj name="Equation" r:id="rId15" imgW="126720" imgH="177480" progId="Equation.DSMT4">
                    <p:embed/>
                    <p:pic>
                      <p:nvPicPr>
                        <p:cNvPr id="49" name="对象 48"/>
                        <p:cNvPicPr/>
                        <p:nvPr/>
                      </p:nvPicPr>
                      <p:blipFill>
                        <a:blip r:embed="rId16"/>
                        <a:stretch>
                          <a:fillRect/>
                        </a:stretch>
                      </p:blipFill>
                      <p:spPr>
                        <a:xfrm>
                          <a:off x="7945364" y="3313650"/>
                          <a:ext cx="131762" cy="228600"/>
                        </a:xfrm>
                        <a:prstGeom prst="rect">
                          <a:avLst/>
                        </a:prstGeom>
                      </p:spPr>
                    </p:pic>
                  </p:oleObj>
                </mc:Fallback>
              </mc:AlternateContent>
            </a:graphicData>
          </a:graphic>
        </p:graphicFrame>
      </p:grpSp>
      <p:sp>
        <p:nvSpPr>
          <p:cNvPr id="67" name="矩形 66"/>
          <p:cNvSpPr/>
          <p:nvPr/>
        </p:nvSpPr>
        <p:spPr>
          <a:xfrm>
            <a:off x="8764522" y="3085220"/>
            <a:ext cx="2816797" cy="369332"/>
          </a:xfrm>
          <a:prstGeom prst="rect">
            <a:avLst/>
          </a:prstGeom>
        </p:spPr>
        <p:txBody>
          <a:bodyPr wrap="none">
            <a:spAutoFit/>
          </a:bodyPr>
          <a:lstStyle/>
          <a:p>
            <a:r>
              <a:rPr lang="en-US" altLang="zh-CN" b="1" dirty="0">
                <a:highlight>
                  <a:srgbClr val="FFFF00"/>
                </a:highlight>
              </a:rPr>
              <a:t>One versus Rest </a:t>
            </a:r>
            <a:r>
              <a:rPr lang="zh-CN" altLang="en-US" b="1" dirty="0">
                <a:highlight>
                  <a:srgbClr val="FFFF00"/>
                </a:highlight>
              </a:rPr>
              <a:t>（</a:t>
            </a:r>
            <a:r>
              <a:rPr lang="en-US" altLang="zh-CN" b="1" dirty="0" err="1">
                <a:highlight>
                  <a:srgbClr val="FFFF00"/>
                </a:highlight>
              </a:rPr>
              <a:t>OvR</a:t>
            </a:r>
            <a:r>
              <a:rPr lang="zh-CN" altLang="en-US" b="1" dirty="0">
                <a:highlight>
                  <a:srgbClr val="FFFF00"/>
                </a:highlight>
              </a:rPr>
              <a:t>）</a:t>
            </a:r>
            <a:endParaRPr lang="zh-CN" altLang="en-US" b="1" dirty="0"/>
          </a:p>
        </p:txBody>
      </p:sp>
      <p:sp>
        <p:nvSpPr>
          <p:cNvPr id="68" name="矩形 67"/>
          <p:cNvSpPr/>
          <p:nvPr/>
        </p:nvSpPr>
        <p:spPr>
          <a:xfrm>
            <a:off x="8766040" y="4647371"/>
            <a:ext cx="2829621" cy="369332"/>
          </a:xfrm>
          <a:prstGeom prst="rect">
            <a:avLst/>
          </a:prstGeom>
        </p:spPr>
        <p:txBody>
          <a:bodyPr wrap="none">
            <a:spAutoFit/>
          </a:bodyPr>
          <a:lstStyle/>
          <a:p>
            <a:r>
              <a:rPr lang="en-US" altLang="zh-CN" b="1" dirty="0">
                <a:highlight>
                  <a:srgbClr val="FFFF00"/>
                </a:highlight>
              </a:rPr>
              <a:t>One versus One </a:t>
            </a:r>
            <a:r>
              <a:rPr lang="zh-CN" altLang="en-US" b="1" dirty="0">
                <a:highlight>
                  <a:srgbClr val="FFFF00"/>
                </a:highlight>
              </a:rPr>
              <a:t>（</a:t>
            </a:r>
            <a:r>
              <a:rPr lang="en-US" altLang="zh-CN" b="1" dirty="0" err="1">
                <a:highlight>
                  <a:srgbClr val="FFFF00"/>
                </a:highlight>
              </a:rPr>
              <a:t>OvO</a:t>
            </a:r>
            <a:r>
              <a:rPr lang="zh-CN" altLang="en-US" b="1" dirty="0">
                <a:highlight>
                  <a:srgbClr val="FFFF00"/>
                </a:highlight>
              </a:rPr>
              <a:t>）</a:t>
            </a:r>
            <a:endParaRPr lang="zh-CN" altLang="en-US" b="1" dirty="0"/>
          </a:p>
        </p:txBody>
      </p:sp>
    </p:spTree>
    <p:extLst>
      <p:ext uri="{BB962C8B-B14F-4D97-AF65-F5344CB8AC3E}">
        <p14:creationId xmlns:p14="http://schemas.microsoft.com/office/powerpoint/2010/main" val="37457723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68</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36" name="矩形 35"/>
          <p:cNvSpPr/>
          <p:nvPr/>
        </p:nvSpPr>
        <p:spPr>
          <a:xfrm>
            <a:off x="400673" y="1594792"/>
            <a:ext cx="10536382" cy="369332"/>
          </a:xfrm>
          <a:prstGeom prst="rect">
            <a:avLst/>
          </a:prstGeom>
        </p:spPr>
        <p:txBody>
          <a:bodyPr wrap="square">
            <a:spAutoFit/>
          </a:bodyPr>
          <a:lstStyle/>
          <a:p>
            <a:pPr lvl="1"/>
            <a:r>
              <a:rPr lang="zh-CN" altLang="en-US" b="1" dirty="0"/>
              <a:t>问题四：样本没有</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就不能建立模型进行分类了么？</a:t>
            </a:r>
            <a:endParaRPr lang="en-US" altLang="zh-CN" b="1" dirty="0"/>
          </a:p>
        </p:txBody>
      </p:sp>
      <p:pic>
        <p:nvPicPr>
          <p:cNvPr id="38" name="图片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156" y="2026227"/>
            <a:ext cx="4617381" cy="3445658"/>
          </a:xfrm>
          <a:prstGeom prst="rect">
            <a:avLst/>
          </a:prstGeom>
        </p:spPr>
      </p:pic>
      <p:sp>
        <p:nvSpPr>
          <p:cNvPr id="50" name="文本框 49"/>
          <p:cNvSpPr txBox="1"/>
          <p:nvPr/>
        </p:nvSpPr>
        <p:spPr>
          <a:xfrm>
            <a:off x="5704609" y="2119994"/>
            <a:ext cx="5881254" cy="1384995"/>
          </a:xfrm>
          <a:prstGeom prst="rect">
            <a:avLst/>
          </a:prstGeom>
          <a:noFill/>
        </p:spPr>
        <p:txBody>
          <a:bodyPr wrap="square" rtlCol="0">
            <a:spAutoFit/>
          </a:bodyPr>
          <a:lstStyle/>
          <a:p>
            <a:r>
              <a:rPr lang="zh-CN" altLang="en-US" b="1" dirty="0"/>
              <a:t>事实上，当我们看到这九张图的时候，我们会</a:t>
            </a:r>
            <a:r>
              <a:rPr lang="zh-CN" altLang="en-US" b="1" dirty="0">
                <a:solidFill>
                  <a:srgbClr val="C00000"/>
                </a:solidFill>
              </a:rPr>
              <a:t>倾向于把“长的像”的归为一类</a:t>
            </a:r>
            <a:r>
              <a:rPr lang="zh-CN" altLang="en-US" b="1" dirty="0"/>
              <a:t>，即使我们不知道他们叫什么。</a:t>
            </a:r>
            <a:endParaRPr lang="en-US" altLang="zh-CN" b="1" dirty="0"/>
          </a:p>
          <a:p>
            <a:endParaRPr lang="en-US" altLang="zh-CN" sz="2400" b="1" dirty="0"/>
          </a:p>
          <a:p>
            <a:endParaRPr lang="zh-CN" altLang="en-US" sz="2400" b="1" dirty="0"/>
          </a:p>
        </p:txBody>
      </p:sp>
    </p:spTree>
    <p:extLst>
      <p:ext uri="{BB962C8B-B14F-4D97-AF65-F5344CB8AC3E}">
        <p14:creationId xmlns:p14="http://schemas.microsoft.com/office/powerpoint/2010/main" val="37477489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69</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36" name="矩形 35"/>
          <p:cNvSpPr/>
          <p:nvPr/>
        </p:nvSpPr>
        <p:spPr>
          <a:xfrm>
            <a:off x="400673" y="1594792"/>
            <a:ext cx="10536382" cy="369332"/>
          </a:xfrm>
          <a:prstGeom prst="rect">
            <a:avLst/>
          </a:prstGeom>
        </p:spPr>
        <p:txBody>
          <a:bodyPr wrap="square">
            <a:spAutoFit/>
          </a:bodyPr>
          <a:lstStyle/>
          <a:p>
            <a:pPr lvl="1"/>
            <a:r>
              <a:rPr lang="zh-CN" altLang="en-US" b="1" dirty="0"/>
              <a:t>问题四：样本没有</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就不能建立模型进行分类了么？</a:t>
            </a:r>
            <a:endParaRPr lang="en-US" altLang="zh-CN" b="1" dirty="0"/>
          </a:p>
        </p:txBody>
      </p:sp>
      <p:pic>
        <p:nvPicPr>
          <p:cNvPr id="38" name="图片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156" y="2026227"/>
            <a:ext cx="4617381" cy="3445658"/>
          </a:xfrm>
          <a:prstGeom prst="rect">
            <a:avLst/>
          </a:prstGeom>
        </p:spPr>
      </p:pic>
      <p:sp>
        <p:nvSpPr>
          <p:cNvPr id="50" name="文本框 49"/>
          <p:cNvSpPr txBox="1"/>
          <p:nvPr/>
        </p:nvSpPr>
        <p:spPr>
          <a:xfrm>
            <a:off x="5704609" y="2119994"/>
            <a:ext cx="5881254" cy="1384995"/>
          </a:xfrm>
          <a:prstGeom prst="rect">
            <a:avLst/>
          </a:prstGeom>
          <a:noFill/>
        </p:spPr>
        <p:txBody>
          <a:bodyPr wrap="square" rtlCol="0">
            <a:spAutoFit/>
          </a:bodyPr>
          <a:lstStyle/>
          <a:p>
            <a:r>
              <a:rPr lang="zh-CN" altLang="en-US" b="1" dirty="0"/>
              <a:t>事实上，当我们看到这九张图的时候，我们会</a:t>
            </a:r>
            <a:r>
              <a:rPr lang="zh-CN" altLang="en-US" b="1" dirty="0">
                <a:solidFill>
                  <a:srgbClr val="C00000"/>
                </a:solidFill>
              </a:rPr>
              <a:t>倾向于把“长的像”的归为一类</a:t>
            </a:r>
            <a:r>
              <a:rPr lang="zh-CN" altLang="en-US" b="1" dirty="0"/>
              <a:t>，即使我们不知道他们叫什么。</a:t>
            </a:r>
            <a:endParaRPr lang="en-US" altLang="zh-CN" b="1" dirty="0"/>
          </a:p>
          <a:p>
            <a:endParaRPr lang="en-US" altLang="zh-CN" sz="2400" b="1" dirty="0"/>
          </a:p>
          <a:p>
            <a:endParaRPr lang="zh-CN" altLang="en-US" sz="2400" b="1" dirty="0"/>
          </a:p>
        </p:txBody>
      </p:sp>
      <p:graphicFrame>
        <p:nvGraphicFramePr>
          <p:cNvPr id="51" name="对象 50">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6280439" y="3566510"/>
          <a:ext cx="835025" cy="457200"/>
        </p:xfrm>
        <a:graphic>
          <a:graphicData uri="http://schemas.openxmlformats.org/presentationml/2006/ole">
            <mc:AlternateContent xmlns:mc="http://schemas.openxmlformats.org/markup-compatibility/2006">
              <mc:Choice xmlns:v="urn:schemas-microsoft-com:vml" Requires="v">
                <p:oleObj name="Equation" r:id="rId3" imgW="457200" imgH="253800" progId="Equation.DSMT4">
                  <p:embed/>
                </p:oleObj>
              </mc:Choice>
              <mc:Fallback>
                <p:oleObj name="Equation" r:id="rId3" imgW="457200" imgH="253800" progId="Equation.DSMT4">
                  <p:embed/>
                  <p:pic>
                    <p:nvPicPr>
                      <p:cNvPr id="51" name="对象 50">
                        <a:extLst>
                          <a:ext uri="{FF2B5EF4-FFF2-40B4-BE49-F238E27FC236}">
                            <a16:creationId xmlns:a16="http://schemas.microsoft.com/office/drawing/2014/main" id="{CF796419-9983-4CB7-B436-22D6DA59EE34}"/>
                          </a:ext>
                        </a:extLst>
                      </p:cNvPr>
                      <p:cNvPicPr>
                        <a:picLocks noChangeAspect="1" noChangeArrowheads="1"/>
                      </p:cNvPicPr>
                      <p:nvPr/>
                    </p:nvPicPr>
                    <p:blipFill>
                      <a:blip r:embed="rId4"/>
                      <a:srcRect/>
                      <a:stretch>
                        <a:fillRect/>
                      </a:stretch>
                    </p:blipFill>
                    <p:spPr bwMode="auto">
                      <a:xfrm>
                        <a:off x="6280439" y="3566510"/>
                        <a:ext cx="835025" cy="457200"/>
                      </a:xfrm>
                      <a:prstGeom prst="rect">
                        <a:avLst/>
                      </a:prstGeom>
                      <a:noFill/>
                    </p:spPr>
                  </p:pic>
                </p:oleObj>
              </mc:Fallback>
            </mc:AlternateContent>
          </a:graphicData>
        </a:graphic>
      </p:graphicFrame>
      <p:sp>
        <p:nvSpPr>
          <p:cNvPr id="52" name="矩形 51"/>
          <p:cNvSpPr/>
          <p:nvPr/>
        </p:nvSpPr>
        <p:spPr>
          <a:xfrm>
            <a:off x="5704609" y="3101533"/>
            <a:ext cx="6141874" cy="369332"/>
          </a:xfrm>
          <a:prstGeom prst="rect">
            <a:avLst/>
          </a:prstGeom>
        </p:spPr>
        <p:txBody>
          <a:bodyPr wrap="none">
            <a:spAutoFit/>
          </a:bodyPr>
          <a:lstStyle/>
          <a:p>
            <a:r>
              <a:rPr lang="zh-CN" altLang="en-US" b="1" dirty="0">
                <a:solidFill>
                  <a:srgbClr val="C00000"/>
                </a:solidFill>
              </a:rPr>
              <a:t>监督学习（</a:t>
            </a:r>
            <a:r>
              <a:rPr lang="en-US" altLang="zh-CN" b="1" dirty="0">
                <a:solidFill>
                  <a:srgbClr val="C00000"/>
                </a:solidFill>
              </a:rPr>
              <a:t>Supervised Learning</a:t>
            </a:r>
            <a:r>
              <a:rPr lang="zh-CN" altLang="en-US" b="1" dirty="0">
                <a:solidFill>
                  <a:srgbClr val="C00000"/>
                </a:solidFill>
              </a:rPr>
              <a:t>）：</a:t>
            </a:r>
            <a:r>
              <a:rPr lang="zh-CN" altLang="en-US" b="1" dirty="0"/>
              <a:t>给定的样本有标签（</a:t>
            </a:r>
            <a:r>
              <a:rPr lang="en-US" altLang="zh-CN" b="1" dirty="0"/>
              <a:t>y</a:t>
            </a:r>
            <a:r>
              <a:rPr lang="zh-CN" altLang="en-US" b="1" dirty="0"/>
              <a:t>）</a:t>
            </a:r>
            <a:endParaRPr lang="en-US" altLang="zh-CN" b="1" dirty="0">
              <a:solidFill>
                <a:srgbClr val="C00000"/>
              </a:solidFill>
            </a:endParaRPr>
          </a:p>
        </p:txBody>
      </p:sp>
      <p:graphicFrame>
        <p:nvGraphicFramePr>
          <p:cNvPr id="53" name="对象 52">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8026260" y="3564217"/>
          <a:ext cx="805320" cy="496320"/>
        </p:xfrm>
        <a:graphic>
          <a:graphicData uri="http://schemas.openxmlformats.org/presentationml/2006/ole">
            <mc:AlternateContent xmlns:mc="http://schemas.openxmlformats.org/markup-compatibility/2006">
              <mc:Choice xmlns:v="urn:schemas-microsoft-com:vml" Requires="v">
                <p:oleObj name="Equation" r:id="rId5" imgW="406080" imgH="253800" progId="Equation.DSMT4">
                  <p:embed/>
                </p:oleObj>
              </mc:Choice>
              <mc:Fallback>
                <p:oleObj name="Equation" r:id="rId5" imgW="406080" imgH="253800" progId="Equation.DSMT4">
                  <p:embed/>
                  <p:pic>
                    <p:nvPicPr>
                      <p:cNvPr id="53" name="对象 52">
                        <a:extLst>
                          <a:ext uri="{FF2B5EF4-FFF2-40B4-BE49-F238E27FC236}">
                            <a16:creationId xmlns:a16="http://schemas.microsoft.com/office/drawing/2014/main" id="{CF796419-9983-4CB7-B436-22D6DA59EE34}"/>
                          </a:ext>
                        </a:extLst>
                      </p:cNvPr>
                      <p:cNvPicPr>
                        <a:picLocks noChangeAspect="1" noChangeArrowheads="1"/>
                      </p:cNvPicPr>
                      <p:nvPr/>
                    </p:nvPicPr>
                    <p:blipFill>
                      <a:blip r:embed="rId6"/>
                      <a:srcRect/>
                      <a:stretch>
                        <a:fillRect/>
                      </a:stretch>
                    </p:blipFill>
                    <p:spPr bwMode="auto">
                      <a:xfrm>
                        <a:off x="8026260" y="3564217"/>
                        <a:ext cx="805320" cy="496320"/>
                      </a:xfrm>
                      <a:prstGeom prst="rect">
                        <a:avLst/>
                      </a:prstGeom>
                      <a:noFill/>
                    </p:spPr>
                  </p:pic>
                </p:oleObj>
              </mc:Fallback>
            </mc:AlternateContent>
          </a:graphicData>
        </a:graphic>
      </p:graphicFrame>
      <p:cxnSp>
        <p:nvCxnSpPr>
          <p:cNvPr id="54" name="直接箭头连接符 53"/>
          <p:cNvCxnSpPr/>
          <p:nvPr/>
        </p:nvCxnSpPr>
        <p:spPr>
          <a:xfrm flipV="1">
            <a:off x="7115464" y="3782672"/>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1618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70</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36" name="矩形 35"/>
          <p:cNvSpPr/>
          <p:nvPr/>
        </p:nvSpPr>
        <p:spPr>
          <a:xfrm>
            <a:off x="400673" y="1594792"/>
            <a:ext cx="10536382" cy="369332"/>
          </a:xfrm>
          <a:prstGeom prst="rect">
            <a:avLst/>
          </a:prstGeom>
        </p:spPr>
        <p:txBody>
          <a:bodyPr wrap="square">
            <a:spAutoFit/>
          </a:bodyPr>
          <a:lstStyle/>
          <a:p>
            <a:pPr lvl="1"/>
            <a:r>
              <a:rPr lang="zh-CN" altLang="en-US" b="1" dirty="0"/>
              <a:t>问题四：样本没有</a:t>
            </a:r>
            <a:r>
              <a:rPr lang="zh-CN" altLang="en-US" b="1" dirty="0">
                <a:solidFill>
                  <a:srgbClr val="C00000"/>
                </a:solidFill>
              </a:rPr>
              <a:t>标签（</a:t>
            </a:r>
            <a:r>
              <a:rPr lang="en-US" altLang="zh-CN" b="1" dirty="0">
                <a:solidFill>
                  <a:srgbClr val="C00000"/>
                </a:solidFill>
              </a:rPr>
              <a:t>Label</a:t>
            </a:r>
            <a:r>
              <a:rPr lang="zh-CN" altLang="en-US" b="1" dirty="0">
                <a:solidFill>
                  <a:srgbClr val="C00000"/>
                </a:solidFill>
              </a:rPr>
              <a:t>），</a:t>
            </a:r>
            <a:r>
              <a:rPr lang="zh-CN" altLang="en-US" b="1" dirty="0"/>
              <a:t>就不能建立模型进行分类了么？</a:t>
            </a:r>
            <a:endParaRPr lang="en-US" altLang="zh-CN" b="1" dirty="0"/>
          </a:p>
        </p:txBody>
      </p:sp>
      <p:pic>
        <p:nvPicPr>
          <p:cNvPr id="38" name="图片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156" y="2026227"/>
            <a:ext cx="4617381" cy="3445658"/>
          </a:xfrm>
          <a:prstGeom prst="rect">
            <a:avLst/>
          </a:prstGeom>
        </p:spPr>
      </p:pic>
      <p:sp>
        <p:nvSpPr>
          <p:cNvPr id="50" name="文本框 49"/>
          <p:cNvSpPr txBox="1"/>
          <p:nvPr/>
        </p:nvSpPr>
        <p:spPr>
          <a:xfrm>
            <a:off x="5704609" y="2119994"/>
            <a:ext cx="5881254" cy="1384995"/>
          </a:xfrm>
          <a:prstGeom prst="rect">
            <a:avLst/>
          </a:prstGeom>
          <a:noFill/>
        </p:spPr>
        <p:txBody>
          <a:bodyPr wrap="square" rtlCol="0">
            <a:spAutoFit/>
          </a:bodyPr>
          <a:lstStyle/>
          <a:p>
            <a:r>
              <a:rPr lang="zh-CN" altLang="en-US" b="1" dirty="0"/>
              <a:t>事实上，当我们看到这九张图的时候，我们会</a:t>
            </a:r>
            <a:r>
              <a:rPr lang="zh-CN" altLang="en-US" b="1" dirty="0">
                <a:solidFill>
                  <a:srgbClr val="C00000"/>
                </a:solidFill>
              </a:rPr>
              <a:t>倾向于把“长的像”的归为一类</a:t>
            </a:r>
            <a:r>
              <a:rPr lang="zh-CN" altLang="en-US" b="1" dirty="0"/>
              <a:t>，即使我们不知道他们叫什么。</a:t>
            </a:r>
            <a:endParaRPr lang="en-US" altLang="zh-CN" b="1" dirty="0"/>
          </a:p>
          <a:p>
            <a:endParaRPr lang="en-US" altLang="zh-CN" sz="2400" b="1" dirty="0"/>
          </a:p>
          <a:p>
            <a:endParaRPr lang="zh-CN" altLang="en-US" sz="2400" b="1" dirty="0"/>
          </a:p>
        </p:txBody>
      </p:sp>
      <p:graphicFrame>
        <p:nvGraphicFramePr>
          <p:cNvPr id="51" name="对象 50">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6280439" y="3566510"/>
          <a:ext cx="835025" cy="457200"/>
        </p:xfrm>
        <a:graphic>
          <a:graphicData uri="http://schemas.openxmlformats.org/presentationml/2006/ole">
            <mc:AlternateContent xmlns:mc="http://schemas.openxmlformats.org/markup-compatibility/2006">
              <mc:Choice xmlns:v="urn:schemas-microsoft-com:vml" Requires="v">
                <p:oleObj name="Equation" r:id="rId3" imgW="457200" imgH="253800" progId="Equation.DSMT4">
                  <p:embed/>
                </p:oleObj>
              </mc:Choice>
              <mc:Fallback>
                <p:oleObj name="Equation" r:id="rId3" imgW="457200" imgH="253800" progId="Equation.DSMT4">
                  <p:embed/>
                  <p:pic>
                    <p:nvPicPr>
                      <p:cNvPr id="51" name="对象 50">
                        <a:extLst>
                          <a:ext uri="{FF2B5EF4-FFF2-40B4-BE49-F238E27FC236}">
                            <a16:creationId xmlns:a16="http://schemas.microsoft.com/office/drawing/2014/main" id="{CF796419-9983-4CB7-B436-22D6DA59EE34}"/>
                          </a:ext>
                        </a:extLst>
                      </p:cNvPr>
                      <p:cNvPicPr>
                        <a:picLocks noChangeAspect="1" noChangeArrowheads="1"/>
                      </p:cNvPicPr>
                      <p:nvPr/>
                    </p:nvPicPr>
                    <p:blipFill>
                      <a:blip r:embed="rId4"/>
                      <a:srcRect/>
                      <a:stretch>
                        <a:fillRect/>
                      </a:stretch>
                    </p:blipFill>
                    <p:spPr bwMode="auto">
                      <a:xfrm>
                        <a:off x="6280439" y="3566510"/>
                        <a:ext cx="835025" cy="457200"/>
                      </a:xfrm>
                      <a:prstGeom prst="rect">
                        <a:avLst/>
                      </a:prstGeom>
                      <a:noFill/>
                    </p:spPr>
                  </p:pic>
                </p:oleObj>
              </mc:Fallback>
            </mc:AlternateContent>
          </a:graphicData>
        </a:graphic>
      </p:graphicFrame>
      <p:sp>
        <p:nvSpPr>
          <p:cNvPr id="52" name="矩形 51"/>
          <p:cNvSpPr/>
          <p:nvPr/>
        </p:nvSpPr>
        <p:spPr>
          <a:xfrm>
            <a:off x="5704609" y="3101533"/>
            <a:ext cx="6141874" cy="369332"/>
          </a:xfrm>
          <a:prstGeom prst="rect">
            <a:avLst/>
          </a:prstGeom>
        </p:spPr>
        <p:txBody>
          <a:bodyPr wrap="none">
            <a:spAutoFit/>
          </a:bodyPr>
          <a:lstStyle/>
          <a:p>
            <a:r>
              <a:rPr lang="zh-CN" altLang="en-US" b="1" dirty="0">
                <a:solidFill>
                  <a:srgbClr val="C00000"/>
                </a:solidFill>
              </a:rPr>
              <a:t>监督学习（</a:t>
            </a:r>
            <a:r>
              <a:rPr lang="en-US" altLang="zh-CN" b="1" dirty="0">
                <a:solidFill>
                  <a:srgbClr val="C00000"/>
                </a:solidFill>
              </a:rPr>
              <a:t>Supervised Learning</a:t>
            </a:r>
            <a:r>
              <a:rPr lang="zh-CN" altLang="en-US" b="1" dirty="0">
                <a:solidFill>
                  <a:srgbClr val="C00000"/>
                </a:solidFill>
              </a:rPr>
              <a:t>）：</a:t>
            </a:r>
            <a:r>
              <a:rPr lang="zh-CN" altLang="en-US" b="1" dirty="0"/>
              <a:t>给定的样本有标签（</a:t>
            </a:r>
            <a:r>
              <a:rPr lang="en-US" altLang="zh-CN" b="1" dirty="0"/>
              <a:t>y</a:t>
            </a:r>
            <a:r>
              <a:rPr lang="zh-CN" altLang="en-US" b="1" dirty="0"/>
              <a:t>）</a:t>
            </a:r>
            <a:endParaRPr lang="en-US" altLang="zh-CN" b="1" dirty="0">
              <a:solidFill>
                <a:srgbClr val="C00000"/>
              </a:solidFill>
            </a:endParaRPr>
          </a:p>
        </p:txBody>
      </p:sp>
      <p:graphicFrame>
        <p:nvGraphicFramePr>
          <p:cNvPr id="53" name="对象 52">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8026260" y="3564217"/>
          <a:ext cx="805320" cy="496320"/>
        </p:xfrm>
        <a:graphic>
          <a:graphicData uri="http://schemas.openxmlformats.org/presentationml/2006/ole">
            <mc:AlternateContent xmlns:mc="http://schemas.openxmlformats.org/markup-compatibility/2006">
              <mc:Choice xmlns:v="urn:schemas-microsoft-com:vml" Requires="v">
                <p:oleObj name="Equation" r:id="rId5" imgW="406080" imgH="253800" progId="Equation.DSMT4">
                  <p:embed/>
                </p:oleObj>
              </mc:Choice>
              <mc:Fallback>
                <p:oleObj name="Equation" r:id="rId5" imgW="406080" imgH="253800" progId="Equation.DSMT4">
                  <p:embed/>
                  <p:pic>
                    <p:nvPicPr>
                      <p:cNvPr id="53" name="对象 52">
                        <a:extLst>
                          <a:ext uri="{FF2B5EF4-FFF2-40B4-BE49-F238E27FC236}">
                            <a16:creationId xmlns:a16="http://schemas.microsoft.com/office/drawing/2014/main" id="{CF796419-9983-4CB7-B436-22D6DA59EE34}"/>
                          </a:ext>
                        </a:extLst>
                      </p:cNvPr>
                      <p:cNvPicPr>
                        <a:picLocks noChangeAspect="1" noChangeArrowheads="1"/>
                      </p:cNvPicPr>
                      <p:nvPr/>
                    </p:nvPicPr>
                    <p:blipFill>
                      <a:blip r:embed="rId6"/>
                      <a:srcRect/>
                      <a:stretch>
                        <a:fillRect/>
                      </a:stretch>
                    </p:blipFill>
                    <p:spPr bwMode="auto">
                      <a:xfrm>
                        <a:off x="8026260" y="3564217"/>
                        <a:ext cx="805320" cy="496320"/>
                      </a:xfrm>
                      <a:prstGeom prst="rect">
                        <a:avLst/>
                      </a:prstGeom>
                      <a:noFill/>
                    </p:spPr>
                  </p:pic>
                </p:oleObj>
              </mc:Fallback>
            </mc:AlternateContent>
          </a:graphicData>
        </a:graphic>
      </p:graphicFrame>
      <p:cxnSp>
        <p:nvCxnSpPr>
          <p:cNvPr id="54" name="直接箭头连接符 53"/>
          <p:cNvCxnSpPr/>
          <p:nvPr/>
        </p:nvCxnSpPr>
        <p:spPr>
          <a:xfrm flipV="1">
            <a:off x="7115464" y="3782672"/>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5704609" y="4334071"/>
            <a:ext cx="6058518" cy="369332"/>
          </a:xfrm>
          <a:prstGeom prst="rect">
            <a:avLst/>
          </a:prstGeom>
        </p:spPr>
        <p:txBody>
          <a:bodyPr wrap="none">
            <a:spAutoFit/>
          </a:bodyPr>
          <a:lstStyle/>
          <a:p>
            <a:r>
              <a:rPr lang="zh-CN" altLang="en-US" b="1" dirty="0">
                <a:solidFill>
                  <a:srgbClr val="C00000"/>
                </a:solidFill>
              </a:rPr>
              <a:t>无监督学习（</a:t>
            </a:r>
            <a:r>
              <a:rPr lang="en-US" altLang="zh-CN" b="1" dirty="0">
                <a:solidFill>
                  <a:srgbClr val="C00000"/>
                </a:solidFill>
              </a:rPr>
              <a:t>Unsupervised Learning</a:t>
            </a:r>
            <a:r>
              <a:rPr lang="zh-CN" altLang="en-US" b="1" dirty="0">
                <a:solidFill>
                  <a:srgbClr val="C00000"/>
                </a:solidFill>
              </a:rPr>
              <a:t>）：</a:t>
            </a:r>
            <a:r>
              <a:rPr lang="zh-CN" altLang="en-US" b="1" dirty="0"/>
              <a:t>给定的样本无标签</a:t>
            </a:r>
            <a:endParaRPr lang="en-US" altLang="zh-CN" b="1" dirty="0">
              <a:solidFill>
                <a:srgbClr val="C00000"/>
              </a:solidFill>
            </a:endParaRPr>
          </a:p>
        </p:txBody>
      </p:sp>
      <p:graphicFrame>
        <p:nvGraphicFramePr>
          <p:cNvPr id="56" name="对象 55">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6280438" y="4855494"/>
          <a:ext cx="835025" cy="457200"/>
        </p:xfrm>
        <a:graphic>
          <a:graphicData uri="http://schemas.openxmlformats.org/presentationml/2006/ole">
            <mc:AlternateContent xmlns:mc="http://schemas.openxmlformats.org/markup-compatibility/2006">
              <mc:Choice xmlns:v="urn:schemas-microsoft-com:vml" Requires="v">
                <p:oleObj name="Equation" r:id="rId7" imgW="457200" imgH="253800" progId="Equation.DSMT4">
                  <p:embed/>
                </p:oleObj>
              </mc:Choice>
              <mc:Fallback>
                <p:oleObj name="Equation" r:id="rId7" imgW="457200" imgH="253800" progId="Equation.DSMT4">
                  <p:embed/>
                  <p:pic>
                    <p:nvPicPr>
                      <p:cNvPr id="56" name="对象 55">
                        <a:extLst>
                          <a:ext uri="{FF2B5EF4-FFF2-40B4-BE49-F238E27FC236}">
                            <a16:creationId xmlns:a16="http://schemas.microsoft.com/office/drawing/2014/main" id="{CF796419-9983-4CB7-B436-22D6DA59EE34}"/>
                          </a:ext>
                        </a:extLst>
                      </p:cNvPr>
                      <p:cNvPicPr>
                        <a:picLocks noChangeAspect="1" noChangeArrowheads="1"/>
                      </p:cNvPicPr>
                      <p:nvPr/>
                    </p:nvPicPr>
                    <p:blipFill>
                      <a:blip r:embed="rId8"/>
                      <a:srcRect/>
                      <a:stretch>
                        <a:fillRect/>
                      </a:stretch>
                    </p:blipFill>
                    <p:spPr bwMode="auto">
                      <a:xfrm>
                        <a:off x="6280438" y="4855494"/>
                        <a:ext cx="835025" cy="457200"/>
                      </a:xfrm>
                      <a:prstGeom prst="rect">
                        <a:avLst/>
                      </a:prstGeom>
                      <a:noFill/>
                    </p:spPr>
                  </p:pic>
                </p:oleObj>
              </mc:Fallback>
            </mc:AlternateContent>
          </a:graphicData>
        </a:graphic>
      </p:graphicFrame>
      <p:sp>
        <p:nvSpPr>
          <p:cNvPr id="57" name="乘号 56"/>
          <p:cNvSpPr/>
          <p:nvPr/>
        </p:nvSpPr>
        <p:spPr>
          <a:xfrm>
            <a:off x="6621749" y="4840614"/>
            <a:ext cx="417513" cy="486960"/>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箭头连接符 57"/>
          <p:cNvCxnSpPr/>
          <p:nvPr/>
        </p:nvCxnSpPr>
        <p:spPr>
          <a:xfrm flipV="1">
            <a:off x="7129071" y="5084137"/>
            <a:ext cx="797031" cy="1"/>
          </a:xfrm>
          <a:prstGeom prst="straightConnector1">
            <a:avLst/>
          </a:prstGeom>
          <a:ln w="412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9" name="对象 58">
            <a:extLst>
              <a:ext uri="{FF2B5EF4-FFF2-40B4-BE49-F238E27FC236}">
                <a16:creationId xmlns:a16="http://schemas.microsoft.com/office/drawing/2014/main" id="{CF796419-9983-4CB7-B436-22D6DA59EE34}"/>
              </a:ext>
            </a:extLst>
          </p:cNvPr>
          <p:cNvGraphicFramePr>
            <a:graphicFrameLocks noChangeAspect="1"/>
          </p:cNvGraphicFramePr>
          <p:nvPr/>
        </p:nvGraphicFramePr>
        <p:xfrm>
          <a:off x="8014387" y="4855494"/>
          <a:ext cx="805320" cy="496320"/>
        </p:xfrm>
        <a:graphic>
          <a:graphicData uri="http://schemas.openxmlformats.org/presentationml/2006/ole">
            <mc:AlternateContent xmlns:mc="http://schemas.openxmlformats.org/markup-compatibility/2006">
              <mc:Choice xmlns:v="urn:schemas-microsoft-com:vml" Requires="v">
                <p:oleObj name="Equation" r:id="rId9" imgW="406080" imgH="253800" progId="Equation.DSMT4">
                  <p:embed/>
                </p:oleObj>
              </mc:Choice>
              <mc:Fallback>
                <p:oleObj name="Equation" r:id="rId9" imgW="406080" imgH="253800" progId="Equation.DSMT4">
                  <p:embed/>
                  <p:pic>
                    <p:nvPicPr>
                      <p:cNvPr id="59" name="对象 58">
                        <a:extLst>
                          <a:ext uri="{FF2B5EF4-FFF2-40B4-BE49-F238E27FC236}">
                            <a16:creationId xmlns:a16="http://schemas.microsoft.com/office/drawing/2014/main" id="{CF796419-9983-4CB7-B436-22D6DA59EE34}"/>
                          </a:ext>
                        </a:extLst>
                      </p:cNvPr>
                      <p:cNvPicPr>
                        <a:picLocks noChangeAspect="1" noChangeArrowheads="1"/>
                      </p:cNvPicPr>
                      <p:nvPr/>
                    </p:nvPicPr>
                    <p:blipFill>
                      <a:blip r:embed="rId6"/>
                      <a:srcRect/>
                      <a:stretch>
                        <a:fillRect/>
                      </a:stretch>
                    </p:blipFill>
                    <p:spPr bwMode="auto">
                      <a:xfrm>
                        <a:off x="8014387" y="4855494"/>
                        <a:ext cx="805320" cy="496320"/>
                      </a:xfrm>
                      <a:prstGeom prst="rect">
                        <a:avLst/>
                      </a:prstGeom>
                      <a:noFill/>
                    </p:spPr>
                  </p:pic>
                </p:oleObj>
              </mc:Fallback>
            </mc:AlternateContent>
          </a:graphicData>
        </a:graphic>
      </p:graphicFrame>
      <p:sp>
        <p:nvSpPr>
          <p:cNvPr id="60" name="矩形 59"/>
          <p:cNvSpPr/>
          <p:nvPr/>
        </p:nvSpPr>
        <p:spPr>
          <a:xfrm>
            <a:off x="8894585" y="4918478"/>
            <a:ext cx="1800493" cy="369332"/>
          </a:xfrm>
          <a:prstGeom prst="rect">
            <a:avLst/>
          </a:prstGeom>
        </p:spPr>
        <p:txBody>
          <a:bodyPr wrap="none">
            <a:spAutoFit/>
          </a:bodyPr>
          <a:lstStyle/>
          <a:p>
            <a:r>
              <a:rPr lang="zh-CN" altLang="en-US" b="1" dirty="0"/>
              <a:t>自动学出来类别</a:t>
            </a:r>
            <a:endParaRPr lang="en-US" altLang="zh-CN" b="1" dirty="0">
              <a:solidFill>
                <a:srgbClr val="C00000"/>
              </a:solidFill>
            </a:endParaRPr>
          </a:p>
        </p:txBody>
      </p:sp>
    </p:spTree>
    <p:extLst>
      <p:ext uri="{BB962C8B-B14F-4D97-AF65-F5344CB8AC3E}">
        <p14:creationId xmlns:p14="http://schemas.microsoft.com/office/powerpoint/2010/main" val="9844746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71</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18" name="矩形 17"/>
          <p:cNvSpPr/>
          <p:nvPr/>
        </p:nvSpPr>
        <p:spPr>
          <a:xfrm>
            <a:off x="425057" y="2639084"/>
            <a:ext cx="9950336" cy="923330"/>
          </a:xfrm>
          <a:prstGeom prst="rect">
            <a:avLst/>
          </a:prstGeom>
        </p:spPr>
        <p:txBody>
          <a:bodyPr wrap="square">
            <a:spAutoFit/>
          </a:bodyPr>
          <a:lstStyle/>
          <a:p>
            <a:pPr lvl="1"/>
            <a:r>
              <a:rPr lang="zh-CN" altLang="en-US" b="1" dirty="0"/>
              <a:t>问题二：每个样本特征（</a:t>
            </a:r>
            <a:r>
              <a:rPr lang="en-US" altLang="zh-CN" b="1" dirty="0"/>
              <a:t>Feature</a:t>
            </a:r>
            <a:r>
              <a:rPr lang="zh-CN" altLang="en-US" b="1" dirty="0"/>
              <a:t>），也就是模型中的</a:t>
            </a:r>
            <a:r>
              <a:rPr lang="en-US" altLang="zh-CN" b="1" dirty="0"/>
              <a:t>x</a:t>
            </a:r>
            <a:r>
              <a:rPr lang="zh-CN" altLang="en-US" b="1" dirty="0"/>
              <a:t>，必须是一个数么？ </a:t>
            </a:r>
            <a:endParaRPr lang="zh-CN" altLang="en-US" b="1" dirty="0">
              <a:solidFill>
                <a:srgbClr val="C00000"/>
              </a:solidFill>
            </a:endParaRPr>
          </a:p>
          <a:p>
            <a:pPr lvl="1"/>
            <a:endParaRPr lang="en-US" altLang="zh-CN" b="1" dirty="0"/>
          </a:p>
          <a:p>
            <a:pPr lvl="1"/>
            <a:endParaRPr lang="en-US" altLang="zh-CN" b="1" dirty="0"/>
          </a:p>
        </p:txBody>
      </p:sp>
      <p:sp>
        <p:nvSpPr>
          <p:cNvPr id="19" name="矩形 18"/>
          <p:cNvSpPr/>
          <p:nvPr/>
        </p:nvSpPr>
        <p:spPr>
          <a:xfrm>
            <a:off x="425058" y="3322348"/>
            <a:ext cx="9645088" cy="369332"/>
          </a:xfrm>
          <a:prstGeom prst="rect">
            <a:avLst/>
          </a:prstGeom>
        </p:spPr>
        <p:txBody>
          <a:bodyPr wrap="square">
            <a:spAutoFit/>
          </a:bodyPr>
          <a:lstStyle/>
          <a:p>
            <a:pPr lvl="1"/>
            <a:r>
              <a:rPr lang="zh-CN" altLang="en-US" b="1" dirty="0"/>
              <a:t>问题三：样本的种类，或者说标签（</a:t>
            </a:r>
            <a:r>
              <a:rPr lang="en-US" altLang="zh-CN" b="1" dirty="0"/>
              <a:t>Label</a:t>
            </a:r>
            <a:r>
              <a:rPr lang="zh-CN" altLang="en-US" b="1" dirty="0"/>
              <a:t>），有超过两种，怎么办？ </a:t>
            </a:r>
            <a:endParaRPr lang="en-US" altLang="zh-CN" b="1" dirty="0">
              <a:solidFill>
                <a:srgbClr val="C00000"/>
              </a:solidFill>
            </a:endParaRPr>
          </a:p>
        </p:txBody>
      </p:sp>
      <p:sp>
        <p:nvSpPr>
          <p:cNvPr id="20" name="矩形 19"/>
          <p:cNvSpPr/>
          <p:nvPr/>
        </p:nvSpPr>
        <p:spPr>
          <a:xfrm>
            <a:off x="425057" y="4047502"/>
            <a:ext cx="9367845" cy="369332"/>
          </a:xfrm>
          <a:prstGeom prst="rect">
            <a:avLst/>
          </a:prstGeom>
        </p:spPr>
        <p:txBody>
          <a:bodyPr wrap="square">
            <a:spAutoFit/>
          </a:bodyPr>
          <a:lstStyle/>
          <a:p>
            <a:pPr lvl="1"/>
            <a:r>
              <a:rPr lang="zh-CN" altLang="en-US" b="1" dirty="0"/>
              <a:t>问题四：样本没有标签（</a:t>
            </a:r>
            <a:r>
              <a:rPr lang="en-US" altLang="zh-CN" b="1" dirty="0"/>
              <a:t>Label</a:t>
            </a:r>
            <a:r>
              <a:rPr lang="zh-CN" altLang="en-US" b="1" dirty="0"/>
              <a:t>），就不能建立模型进行分类了么？</a:t>
            </a:r>
            <a:endParaRPr lang="en-US" altLang="zh-CN" b="1" dirty="0">
              <a:solidFill>
                <a:srgbClr val="C00000"/>
              </a:solidFill>
            </a:endParaRPr>
          </a:p>
        </p:txBody>
      </p:sp>
      <p:sp>
        <p:nvSpPr>
          <p:cNvPr id="21" name="矩形 20"/>
          <p:cNvSpPr/>
          <p:nvPr/>
        </p:nvSpPr>
        <p:spPr>
          <a:xfrm>
            <a:off x="425057" y="1969330"/>
            <a:ext cx="8809349" cy="369332"/>
          </a:xfrm>
          <a:prstGeom prst="rect">
            <a:avLst/>
          </a:prstGeom>
        </p:spPr>
        <p:txBody>
          <a:bodyPr wrap="square">
            <a:spAutoFit/>
          </a:bodyPr>
          <a:lstStyle/>
          <a:p>
            <a:pPr lvl="1"/>
            <a:r>
              <a:rPr lang="zh-CN" altLang="en-US" b="1" dirty="0"/>
              <a:t>问题一：衡量模型进行分类好坏的指标是什么？</a:t>
            </a:r>
            <a:endParaRPr lang="en-US" altLang="zh-CN" b="1" dirty="0">
              <a:solidFill>
                <a:srgbClr val="C00000"/>
              </a:solidFill>
            </a:endParaRPr>
          </a:p>
        </p:txBody>
      </p:sp>
    </p:spTree>
    <p:extLst>
      <p:ext uri="{BB962C8B-B14F-4D97-AF65-F5344CB8AC3E}">
        <p14:creationId xmlns:p14="http://schemas.microsoft.com/office/powerpoint/2010/main" val="41840883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72</a:t>
            </a:fld>
            <a:endParaRPr lang="zh-CN" altLang="en-US"/>
          </a:p>
        </p:txBody>
      </p:sp>
      <p:sp>
        <p:nvSpPr>
          <p:cNvPr id="5" name="标题 1"/>
          <p:cNvSpPr txBox="1">
            <a:spLocks/>
          </p:cNvSpPr>
          <p:nvPr/>
        </p:nvSpPr>
        <p:spPr>
          <a:xfrm>
            <a:off x="83820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关于分类问题的讨论</a:t>
            </a:r>
            <a:r>
              <a:rPr lang="en-US" altLang="zh-CN" sz="3600" b="1" dirty="0"/>
              <a:t> Discussions on Classification</a:t>
            </a:r>
            <a:endParaRPr lang="zh-CN" altLang="en-US" sz="3600" b="1" dirty="0"/>
          </a:p>
        </p:txBody>
      </p:sp>
      <p:sp>
        <p:nvSpPr>
          <p:cNvPr id="18" name="矩形 17"/>
          <p:cNvSpPr/>
          <p:nvPr/>
        </p:nvSpPr>
        <p:spPr>
          <a:xfrm>
            <a:off x="425057" y="2639084"/>
            <a:ext cx="9950336" cy="923330"/>
          </a:xfrm>
          <a:prstGeom prst="rect">
            <a:avLst/>
          </a:prstGeom>
        </p:spPr>
        <p:txBody>
          <a:bodyPr wrap="square">
            <a:spAutoFit/>
          </a:bodyPr>
          <a:lstStyle/>
          <a:p>
            <a:pPr lvl="1"/>
            <a:r>
              <a:rPr lang="zh-CN" altLang="en-US" b="1" dirty="0"/>
              <a:t>问题二：每个样本特征（</a:t>
            </a:r>
            <a:r>
              <a:rPr lang="en-US" altLang="zh-CN" b="1" dirty="0"/>
              <a:t>Feature</a:t>
            </a:r>
            <a:r>
              <a:rPr lang="zh-CN" altLang="en-US" b="1" dirty="0"/>
              <a:t>），也就是模型中的</a:t>
            </a:r>
            <a:r>
              <a:rPr lang="en-US" altLang="zh-CN" b="1" dirty="0"/>
              <a:t>x</a:t>
            </a:r>
            <a:r>
              <a:rPr lang="zh-CN" altLang="en-US" b="1" dirty="0"/>
              <a:t>，必须是一个数么？ </a:t>
            </a:r>
            <a:r>
              <a:rPr lang="zh-CN" altLang="en-US" b="1" dirty="0">
                <a:solidFill>
                  <a:srgbClr val="C00000"/>
                </a:solidFill>
              </a:rPr>
              <a:t>不一定</a:t>
            </a:r>
          </a:p>
          <a:p>
            <a:pPr lvl="1"/>
            <a:endParaRPr lang="en-US" altLang="zh-CN" b="1" dirty="0"/>
          </a:p>
          <a:p>
            <a:pPr lvl="1"/>
            <a:endParaRPr lang="en-US" altLang="zh-CN" b="1" dirty="0"/>
          </a:p>
        </p:txBody>
      </p:sp>
      <p:sp>
        <p:nvSpPr>
          <p:cNvPr id="19" name="矩形 18"/>
          <p:cNvSpPr/>
          <p:nvPr/>
        </p:nvSpPr>
        <p:spPr>
          <a:xfrm>
            <a:off x="425058" y="3322348"/>
            <a:ext cx="9645088" cy="369332"/>
          </a:xfrm>
          <a:prstGeom prst="rect">
            <a:avLst/>
          </a:prstGeom>
        </p:spPr>
        <p:txBody>
          <a:bodyPr wrap="square">
            <a:spAutoFit/>
          </a:bodyPr>
          <a:lstStyle/>
          <a:p>
            <a:pPr lvl="1"/>
            <a:r>
              <a:rPr lang="zh-CN" altLang="en-US" b="1" dirty="0"/>
              <a:t>问题三：样本的种类，或者说标签（</a:t>
            </a:r>
            <a:r>
              <a:rPr lang="en-US" altLang="zh-CN" b="1" dirty="0"/>
              <a:t>Label</a:t>
            </a:r>
            <a:r>
              <a:rPr lang="zh-CN" altLang="en-US" b="1" dirty="0"/>
              <a:t>），有超过两种，怎么办？ </a:t>
            </a:r>
            <a:r>
              <a:rPr lang="zh-CN" altLang="en-US" b="1" dirty="0">
                <a:solidFill>
                  <a:srgbClr val="C00000"/>
                </a:solidFill>
              </a:rPr>
              <a:t>概率</a:t>
            </a:r>
            <a:r>
              <a:rPr lang="en-US" altLang="zh-CN" b="1" dirty="0">
                <a:solidFill>
                  <a:srgbClr val="C00000"/>
                </a:solidFill>
              </a:rPr>
              <a:t>or</a:t>
            </a:r>
            <a:r>
              <a:rPr lang="zh-CN" altLang="en-US" b="1" dirty="0">
                <a:solidFill>
                  <a:srgbClr val="C00000"/>
                </a:solidFill>
              </a:rPr>
              <a:t>投票</a:t>
            </a:r>
            <a:endParaRPr lang="en-US" altLang="zh-CN" b="1" dirty="0">
              <a:solidFill>
                <a:srgbClr val="C00000"/>
              </a:solidFill>
            </a:endParaRPr>
          </a:p>
        </p:txBody>
      </p:sp>
      <p:sp>
        <p:nvSpPr>
          <p:cNvPr id="20" name="矩形 19"/>
          <p:cNvSpPr/>
          <p:nvPr/>
        </p:nvSpPr>
        <p:spPr>
          <a:xfrm>
            <a:off x="425057" y="4047502"/>
            <a:ext cx="9367845" cy="369332"/>
          </a:xfrm>
          <a:prstGeom prst="rect">
            <a:avLst/>
          </a:prstGeom>
        </p:spPr>
        <p:txBody>
          <a:bodyPr wrap="square">
            <a:spAutoFit/>
          </a:bodyPr>
          <a:lstStyle/>
          <a:p>
            <a:pPr lvl="1"/>
            <a:r>
              <a:rPr lang="zh-CN" altLang="en-US" b="1" dirty="0"/>
              <a:t>问题四：样本没有标签（</a:t>
            </a:r>
            <a:r>
              <a:rPr lang="en-US" altLang="zh-CN" b="1" dirty="0"/>
              <a:t>Label</a:t>
            </a:r>
            <a:r>
              <a:rPr lang="zh-CN" altLang="en-US" b="1" dirty="0"/>
              <a:t>），就不能建立模型进行分类了么？</a:t>
            </a:r>
            <a:r>
              <a:rPr lang="zh-CN" altLang="en-US" b="1" dirty="0">
                <a:solidFill>
                  <a:srgbClr val="C00000"/>
                </a:solidFill>
              </a:rPr>
              <a:t>无监督学习</a:t>
            </a:r>
            <a:endParaRPr lang="en-US" altLang="zh-CN" b="1" dirty="0">
              <a:solidFill>
                <a:srgbClr val="C00000"/>
              </a:solidFill>
            </a:endParaRPr>
          </a:p>
        </p:txBody>
      </p:sp>
      <p:sp>
        <p:nvSpPr>
          <p:cNvPr id="21" name="矩形 20"/>
          <p:cNvSpPr/>
          <p:nvPr/>
        </p:nvSpPr>
        <p:spPr>
          <a:xfrm>
            <a:off x="425057" y="1969330"/>
            <a:ext cx="8809349" cy="369332"/>
          </a:xfrm>
          <a:prstGeom prst="rect">
            <a:avLst/>
          </a:prstGeom>
        </p:spPr>
        <p:txBody>
          <a:bodyPr wrap="square">
            <a:spAutoFit/>
          </a:bodyPr>
          <a:lstStyle/>
          <a:p>
            <a:pPr lvl="1"/>
            <a:r>
              <a:rPr lang="zh-CN" altLang="en-US" b="1" dirty="0"/>
              <a:t>问题一：衡量模型进行分类好坏的指标是什么？</a:t>
            </a:r>
            <a:r>
              <a:rPr lang="zh-CN" altLang="en-US" b="1" dirty="0">
                <a:solidFill>
                  <a:srgbClr val="C00000"/>
                </a:solidFill>
              </a:rPr>
              <a:t>准确率</a:t>
            </a:r>
            <a:r>
              <a:rPr lang="en-US" altLang="zh-CN" b="1" dirty="0">
                <a:solidFill>
                  <a:srgbClr val="C00000"/>
                </a:solidFill>
              </a:rPr>
              <a:t>Accuracy</a:t>
            </a:r>
          </a:p>
        </p:txBody>
      </p:sp>
    </p:spTree>
    <p:extLst>
      <p:ext uri="{BB962C8B-B14F-4D97-AF65-F5344CB8AC3E}">
        <p14:creationId xmlns:p14="http://schemas.microsoft.com/office/powerpoint/2010/main" val="41532750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b="1" dirty="0"/>
              <a:t>机器学习的基本流程 </a:t>
            </a:r>
            <a:r>
              <a:rPr lang="en-US" altLang="zh-CN" sz="3600" b="1" dirty="0"/>
              <a:t>Process of</a:t>
            </a:r>
            <a:r>
              <a:rPr lang="zh-CN" altLang="en-US" sz="3600" b="1" dirty="0"/>
              <a:t> </a:t>
            </a:r>
            <a:r>
              <a:rPr lang="en-US" altLang="zh-CN" sz="3600" b="1" dirty="0"/>
              <a:t>Machine Learning</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73</a:t>
            </a:fld>
            <a:endParaRPr lang="zh-CN" altLang="en-US"/>
          </a:p>
        </p:txBody>
      </p:sp>
      <p:sp>
        <p:nvSpPr>
          <p:cNvPr id="6" name="流程图: 磁盘 5"/>
          <p:cNvSpPr/>
          <p:nvPr/>
        </p:nvSpPr>
        <p:spPr>
          <a:xfrm>
            <a:off x="1736978" y="440963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流程图: 磁盘 6"/>
          <p:cNvSpPr/>
          <p:nvPr/>
        </p:nvSpPr>
        <p:spPr>
          <a:xfrm>
            <a:off x="1736978" y="424337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流程图: 磁盘 7"/>
          <p:cNvSpPr/>
          <p:nvPr/>
        </p:nvSpPr>
        <p:spPr>
          <a:xfrm>
            <a:off x="1736978" y="407712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流程图: 磁盘 8"/>
          <p:cNvSpPr/>
          <p:nvPr/>
        </p:nvSpPr>
        <p:spPr>
          <a:xfrm>
            <a:off x="1736978" y="391086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0" name="流程图: 磁盘 9"/>
          <p:cNvSpPr/>
          <p:nvPr/>
        </p:nvSpPr>
        <p:spPr>
          <a:xfrm>
            <a:off x="1736978" y="374461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流程图: 磁盘 10"/>
          <p:cNvSpPr/>
          <p:nvPr/>
        </p:nvSpPr>
        <p:spPr>
          <a:xfrm>
            <a:off x="1736978" y="357835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2" name="流程图: 磁盘 11"/>
          <p:cNvSpPr/>
          <p:nvPr/>
        </p:nvSpPr>
        <p:spPr>
          <a:xfrm>
            <a:off x="1736978" y="341210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3" name="流程图: 磁盘 12"/>
          <p:cNvSpPr/>
          <p:nvPr/>
        </p:nvSpPr>
        <p:spPr>
          <a:xfrm>
            <a:off x="1736978" y="324584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4" name="流程图: 磁盘 13"/>
          <p:cNvSpPr/>
          <p:nvPr/>
        </p:nvSpPr>
        <p:spPr>
          <a:xfrm>
            <a:off x="1736978" y="3079593"/>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5" name="流程图: 磁盘 14"/>
          <p:cNvSpPr/>
          <p:nvPr/>
        </p:nvSpPr>
        <p:spPr>
          <a:xfrm>
            <a:off x="1736978" y="2913338"/>
            <a:ext cx="1213658" cy="166255"/>
          </a:xfrm>
          <a:prstGeom prst="flowChartMagneticDisk">
            <a:avLst/>
          </a:prstGeom>
          <a:solidFill>
            <a:schemeClr val="accent6">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矩形 15"/>
          <p:cNvSpPr/>
          <p:nvPr/>
        </p:nvSpPr>
        <p:spPr>
          <a:xfrm>
            <a:off x="1936607" y="4647249"/>
            <a:ext cx="673582" cy="646331"/>
          </a:xfrm>
          <a:prstGeom prst="rect">
            <a:avLst/>
          </a:prstGeom>
        </p:spPr>
        <p:txBody>
          <a:bodyPr wrap="none">
            <a:spAutoFit/>
          </a:bodyPr>
          <a:lstStyle/>
          <a:p>
            <a:pPr algn="ctr"/>
            <a:r>
              <a:rPr lang="zh-CN" altLang="en-US" b="1" dirty="0"/>
              <a:t>数据</a:t>
            </a:r>
            <a:endParaRPr lang="en-US" altLang="zh-CN" b="1" dirty="0"/>
          </a:p>
          <a:p>
            <a:pPr algn="ctr"/>
            <a:r>
              <a:rPr lang="en-US" altLang="zh-CN" b="1" dirty="0"/>
              <a:t>Data</a:t>
            </a:r>
            <a:endParaRPr lang="zh-CN" altLang="en-US" dirty="0"/>
          </a:p>
        </p:txBody>
      </p:sp>
      <p:sp>
        <p:nvSpPr>
          <p:cNvPr id="19" name="矩形 18"/>
          <p:cNvSpPr/>
          <p:nvPr/>
        </p:nvSpPr>
        <p:spPr>
          <a:xfrm>
            <a:off x="7013276" y="4910858"/>
            <a:ext cx="712054" cy="646331"/>
          </a:xfrm>
          <a:prstGeom prst="rect">
            <a:avLst/>
          </a:prstGeom>
        </p:spPr>
        <p:txBody>
          <a:bodyPr wrap="none">
            <a:spAutoFit/>
          </a:bodyPr>
          <a:lstStyle/>
          <a:p>
            <a:pPr algn="ctr"/>
            <a:r>
              <a:rPr lang="zh-CN" altLang="en-US" b="1" dirty="0"/>
              <a:t>训练</a:t>
            </a:r>
            <a:endParaRPr lang="en-US" altLang="zh-CN" b="1" dirty="0"/>
          </a:p>
          <a:p>
            <a:pPr algn="ctr"/>
            <a:r>
              <a:rPr lang="en-US" altLang="zh-CN" b="1" dirty="0"/>
              <a:t>Train</a:t>
            </a:r>
            <a:endParaRPr lang="zh-CN" altLang="en-US" dirty="0"/>
          </a:p>
        </p:txBody>
      </p:sp>
      <p:grpSp>
        <p:nvGrpSpPr>
          <p:cNvPr id="62" name="组合 61"/>
          <p:cNvGrpSpPr/>
          <p:nvPr/>
        </p:nvGrpSpPr>
        <p:grpSpPr>
          <a:xfrm>
            <a:off x="8102623" y="2871214"/>
            <a:ext cx="2159635" cy="2304610"/>
            <a:chOff x="4449907" y="3191494"/>
            <a:chExt cx="2159635" cy="2304610"/>
          </a:xfrm>
        </p:grpSpPr>
        <p:grpSp>
          <p:nvGrpSpPr>
            <p:cNvPr id="18" name="组合 17"/>
            <p:cNvGrpSpPr/>
            <p:nvPr/>
          </p:nvGrpSpPr>
          <p:grpSpPr>
            <a:xfrm>
              <a:off x="4449907" y="3191494"/>
              <a:ext cx="2159635" cy="1905240"/>
              <a:chOff x="7411085" y="4840845"/>
              <a:chExt cx="2159635" cy="1905240"/>
            </a:xfrm>
          </p:grpSpPr>
          <p:sp>
            <p:nvSpPr>
              <p:cNvPr id="27" name="椭圆 26"/>
              <p:cNvSpPr/>
              <p:nvPr/>
            </p:nvSpPr>
            <p:spPr>
              <a:xfrm>
                <a:off x="7947660" y="5070873"/>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947660" y="5532836"/>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947660" y="5994799"/>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8488680" y="4840845"/>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8488680" y="5299473"/>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8488680" y="57661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8488680" y="6223399"/>
                <a:ext cx="228600" cy="228600"/>
              </a:xfrm>
              <a:prstGeom prst="ellipse">
                <a:avLst/>
              </a:prstGeom>
              <a:solidFill>
                <a:srgbClr val="00B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9029700" y="5528073"/>
                <a:ext cx="228600" cy="228600"/>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箭头连接符 34"/>
              <p:cNvCxnSpPr>
                <a:endCxn id="27" idx="2"/>
              </p:cNvCxnSpPr>
              <p:nvPr/>
            </p:nvCxnSpPr>
            <p:spPr>
              <a:xfrm>
                <a:off x="7415530" y="51851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7415530" y="5642373"/>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7415530" y="6109099"/>
                <a:ext cx="53213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27" idx="2"/>
              </p:cNvCxnSpPr>
              <p:nvPr/>
            </p:nvCxnSpPr>
            <p:spPr>
              <a:xfrm flipV="1">
                <a:off x="7415530" y="5185173"/>
                <a:ext cx="532130" cy="9239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28" idx="2"/>
              </p:cNvCxnSpPr>
              <p:nvPr/>
            </p:nvCxnSpPr>
            <p:spPr>
              <a:xfrm flipV="1">
                <a:off x="7411085" y="5647136"/>
                <a:ext cx="536575" cy="446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endCxn id="28" idx="2"/>
              </p:cNvCxnSpPr>
              <p:nvPr/>
            </p:nvCxnSpPr>
            <p:spPr>
              <a:xfrm>
                <a:off x="7415530" y="5188348"/>
                <a:ext cx="532130" cy="4587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29" idx="2"/>
              </p:cNvCxnSpPr>
              <p:nvPr/>
            </p:nvCxnSpPr>
            <p:spPr>
              <a:xfrm>
                <a:off x="7411085" y="5201050"/>
                <a:ext cx="536575" cy="9080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endCxn id="27" idx="2"/>
              </p:cNvCxnSpPr>
              <p:nvPr/>
            </p:nvCxnSpPr>
            <p:spPr>
              <a:xfrm flipV="1">
                <a:off x="7415530" y="5185173"/>
                <a:ext cx="532130" cy="4572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endCxn id="29" idx="2"/>
              </p:cNvCxnSpPr>
              <p:nvPr/>
            </p:nvCxnSpPr>
            <p:spPr>
              <a:xfrm>
                <a:off x="7411085" y="5658249"/>
                <a:ext cx="536575" cy="4508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7" idx="6"/>
                <a:endCxn id="30" idx="2"/>
              </p:cNvCxnSpPr>
              <p:nvPr/>
            </p:nvCxnSpPr>
            <p:spPr>
              <a:xfrm flipV="1">
                <a:off x="8176260" y="4955145"/>
                <a:ext cx="312420" cy="230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27" idx="6"/>
                <a:endCxn id="31" idx="2"/>
              </p:cNvCxnSpPr>
              <p:nvPr/>
            </p:nvCxnSpPr>
            <p:spPr>
              <a:xfrm>
                <a:off x="8176260" y="51851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7" idx="6"/>
                <a:endCxn id="32" idx="2"/>
              </p:cNvCxnSpPr>
              <p:nvPr/>
            </p:nvCxnSpPr>
            <p:spPr>
              <a:xfrm>
                <a:off x="8176260" y="51851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27" idx="6"/>
                <a:endCxn id="33" idx="2"/>
              </p:cNvCxnSpPr>
              <p:nvPr/>
            </p:nvCxnSpPr>
            <p:spPr>
              <a:xfrm>
                <a:off x="8176260" y="5185173"/>
                <a:ext cx="312420" cy="11525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8" idx="6"/>
                <a:endCxn id="30" idx="2"/>
              </p:cNvCxnSpPr>
              <p:nvPr/>
            </p:nvCxnSpPr>
            <p:spPr>
              <a:xfrm flipV="1">
                <a:off x="8176260" y="4955145"/>
                <a:ext cx="312420" cy="6919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28" idx="6"/>
                <a:endCxn id="31" idx="2"/>
              </p:cNvCxnSpPr>
              <p:nvPr/>
            </p:nvCxnSpPr>
            <p:spPr>
              <a:xfrm flipV="1">
                <a:off x="8176260" y="5413773"/>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28" idx="6"/>
                <a:endCxn id="32" idx="2"/>
              </p:cNvCxnSpPr>
              <p:nvPr/>
            </p:nvCxnSpPr>
            <p:spPr>
              <a:xfrm>
                <a:off x="8176260" y="5647136"/>
                <a:ext cx="312420" cy="2333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28" idx="6"/>
                <a:endCxn id="33" idx="2"/>
              </p:cNvCxnSpPr>
              <p:nvPr/>
            </p:nvCxnSpPr>
            <p:spPr>
              <a:xfrm>
                <a:off x="8176260" y="5647136"/>
                <a:ext cx="312420" cy="6905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9" idx="6"/>
                <a:endCxn id="30" idx="2"/>
              </p:cNvCxnSpPr>
              <p:nvPr/>
            </p:nvCxnSpPr>
            <p:spPr>
              <a:xfrm flipV="1">
                <a:off x="8176260" y="4955145"/>
                <a:ext cx="312420" cy="1153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29" idx="6"/>
                <a:endCxn id="31" idx="2"/>
              </p:cNvCxnSpPr>
              <p:nvPr/>
            </p:nvCxnSpPr>
            <p:spPr>
              <a:xfrm flipV="1">
                <a:off x="8176260" y="5413773"/>
                <a:ext cx="312420" cy="6953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29" idx="6"/>
                <a:endCxn id="32" idx="2"/>
              </p:cNvCxnSpPr>
              <p:nvPr/>
            </p:nvCxnSpPr>
            <p:spPr>
              <a:xfrm flipV="1">
                <a:off x="8176260" y="5880499"/>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endCxn id="33" idx="2"/>
              </p:cNvCxnSpPr>
              <p:nvPr/>
            </p:nvCxnSpPr>
            <p:spPr>
              <a:xfrm>
                <a:off x="8176260" y="6113863"/>
                <a:ext cx="312420" cy="223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33" idx="6"/>
                <a:endCxn id="34" idx="3"/>
              </p:cNvCxnSpPr>
              <p:nvPr/>
            </p:nvCxnSpPr>
            <p:spPr>
              <a:xfrm flipV="1">
                <a:off x="8717280" y="5723195"/>
                <a:ext cx="345898" cy="614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32" idx="6"/>
                <a:endCxn id="34" idx="2"/>
              </p:cNvCxnSpPr>
              <p:nvPr/>
            </p:nvCxnSpPr>
            <p:spPr>
              <a:xfrm flipV="1">
                <a:off x="8717280" y="5642373"/>
                <a:ext cx="312420" cy="2381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31" idx="6"/>
                <a:endCxn id="34" idx="2"/>
              </p:cNvCxnSpPr>
              <p:nvPr/>
            </p:nvCxnSpPr>
            <p:spPr>
              <a:xfrm>
                <a:off x="8717280" y="5413773"/>
                <a:ext cx="312420" cy="228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0" idx="6"/>
                <a:endCxn id="34" idx="1"/>
              </p:cNvCxnSpPr>
              <p:nvPr/>
            </p:nvCxnSpPr>
            <p:spPr>
              <a:xfrm>
                <a:off x="8717280" y="4955145"/>
                <a:ext cx="345898" cy="606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34" idx="6"/>
              </p:cNvCxnSpPr>
              <p:nvPr/>
            </p:nvCxnSpPr>
            <p:spPr>
              <a:xfrm>
                <a:off x="9258300" y="5642373"/>
                <a:ext cx="31242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7981656" y="6438308"/>
                <a:ext cx="184731" cy="307777"/>
              </a:xfrm>
              <a:prstGeom prst="rect">
                <a:avLst/>
              </a:prstGeom>
            </p:spPr>
            <p:txBody>
              <a:bodyPr wrap="none">
                <a:spAutoFit/>
              </a:bodyPr>
              <a:lstStyle/>
              <a:p>
                <a:endParaRPr lang="zh-CN" altLang="en-US" sz="1400" dirty="0">
                  <a:solidFill>
                    <a:schemeClr val="accent6">
                      <a:lumMod val="75000"/>
                    </a:schemeClr>
                  </a:solidFill>
                </a:endParaRPr>
              </a:p>
            </p:txBody>
          </p:sp>
        </p:grpSp>
        <p:sp>
          <p:nvSpPr>
            <p:cNvPr id="20" name="矩形 19"/>
            <p:cNvSpPr/>
            <p:nvPr/>
          </p:nvSpPr>
          <p:spPr>
            <a:xfrm>
              <a:off x="4912744" y="4849773"/>
              <a:ext cx="859531" cy="646331"/>
            </a:xfrm>
            <a:prstGeom prst="rect">
              <a:avLst/>
            </a:prstGeom>
          </p:spPr>
          <p:txBody>
            <a:bodyPr wrap="none">
              <a:spAutoFit/>
            </a:bodyPr>
            <a:lstStyle/>
            <a:p>
              <a:pPr algn="ctr"/>
              <a:r>
                <a:rPr lang="zh-CN" altLang="en-US" b="1" dirty="0"/>
                <a:t>模型</a:t>
              </a:r>
              <a:endParaRPr lang="en-US" altLang="zh-CN" b="1" dirty="0"/>
            </a:p>
            <a:p>
              <a:pPr algn="ctr"/>
              <a:r>
                <a:rPr lang="en-US" altLang="zh-CN" b="1" dirty="0"/>
                <a:t>Model</a:t>
              </a:r>
              <a:endParaRPr lang="zh-CN" altLang="en-US" dirty="0"/>
            </a:p>
          </p:txBody>
        </p:sp>
      </p:grpSp>
      <p:sp>
        <p:nvSpPr>
          <p:cNvPr id="22" name="矩形 21"/>
          <p:cNvSpPr/>
          <p:nvPr/>
        </p:nvSpPr>
        <p:spPr>
          <a:xfrm>
            <a:off x="7078999" y="1957785"/>
            <a:ext cx="646331" cy="646331"/>
          </a:xfrm>
          <a:prstGeom prst="rect">
            <a:avLst/>
          </a:prstGeom>
        </p:spPr>
        <p:txBody>
          <a:bodyPr wrap="none">
            <a:spAutoFit/>
          </a:bodyPr>
          <a:lstStyle/>
          <a:p>
            <a:pPr algn="ctr"/>
            <a:r>
              <a:rPr lang="zh-CN" altLang="en-US" b="1" dirty="0"/>
              <a:t>测试</a:t>
            </a:r>
            <a:endParaRPr lang="en-US" altLang="zh-CN" b="1" dirty="0"/>
          </a:p>
          <a:p>
            <a:pPr algn="ctr"/>
            <a:r>
              <a:rPr lang="en-US" altLang="zh-CN" b="1" dirty="0"/>
              <a:t>Test</a:t>
            </a:r>
            <a:endParaRPr lang="zh-CN" altLang="en-US" dirty="0"/>
          </a:p>
        </p:txBody>
      </p:sp>
      <p:sp>
        <p:nvSpPr>
          <p:cNvPr id="23" name="流程图: 磁盘 22"/>
          <p:cNvSpPr/>
          <p:nvPr/>
        </p:nvSpPr>
        <p:spPr>
          <a:xfrm>
            <a:off x="4959488" y="231868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4" name="流程图: 磁盘 23"/>
          <p:cNvSpPr/>
          <p:nvPr/>
        </p:nvSpPr>
        <p:spPr>
          <a:xfrm>
            <a:off x="4959488" y="2152428"/>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5" name="流程图: 磁盘 24"/>
          <p:cNvSpPr/>
          <p:nvPr/>
        </p:nvSpPr>
        <p:spPr>
          <a:xfrm>
            <a:off x="4959488" y="1986173"/>
            <a:ext cx="1213658" cy="166255"/>
          </a:xfrm>
          <a:prstGeom prst="flowChartMagneticDisk">
            <a:avLst/>
          </a:prstGeom>
          <a:solidFill>
            <a:schemeClr val="accent2">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3" name="流程图: 磁盘 62"/>
          <p:cNvSpPr/>
          <p:nvPr/>
        </p:nvSpPr>
        <p:spPr>
          <a:xfrm>
            <a:off x="4959488" y="574208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4" name="流程图: 磁盘 63"/>
          <p:cNvSpPr/>
          <p:nvPr/>
        </p:nvSpPr>
        <p:spPr>
          <a:xfrm>
            <a:off x="4959488" y="557582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5" name="流程图: 磁盘 64"/>
          <p:cNvSpPr/>
          <p:nvPr/>
        </p:nvSpPr>
        <p:spPr>
          <a:xfrm>
            <a:off x="4959488" y="540957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6" name="流程图: 磁盘 65"/>
          <p:cNvSpPr/>
          <p:nvPr/>
        </p:nvSpPr>
        <p:spPr>
          <a:xfrm>
            <a:off x="4959488" y="524331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7" name="流程图: 磁盘 66"/>
          <p:cNvSpPr/>
          <p:nvPr/>
        </p:nvSpPr>
        <p:spPr>
          <a:xfrm>
            <a:off x="4959488" y="507706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8" name="流程图: 磁盘 67"/>
          <p:cNvSpPr/>
          <p:nvPr/>
        </p:nvSpPr>
        <p:spPr>
          <a:xfrm>
            <a:off x="4959488" y="4910807"/>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69" name="流程图: 磁盘 68"/>
          <p:cNvSpPr/>
          <p:nvPr/>
        </p:nvSpPr>
        <p:spPr>
          <a:xfrm>
            <a:off x="4959488" y="4744552"/>
            <a:ext cx="1213658" cy="166255"/>
          </a:xfrm>
          <a:prstGeom prst="flowChartMagneticDisk">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3" name="右箭头 72"/>
          <p:cNvSpPr/>
          <p:nvPr/>
        </p:nvSpPr>
        <p:spPr>
          <a:xfrm rot="20218143">
            <a:off x="3261924" y="2675200"/>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2907276" y="1746134"/>
            <a:ext cx="1768433" cy="646331"/>
          </a:xfrm>
          <a:prstGeom prst="rect">
            <a:avLst/>
          </a:prstGeom>
        </p:spPr>
        <p:txBody>
          <a:bodyPr wrap="none">
            <a:spAutoFit/>
          </a:bodyPr>
          <a:lstStyle/>
          <a:p>
            <a:pPr algn="ctr"/>
            <a:r>
              <a:rPr lang="zh-CN" altLang="en-US" b="1" dirty="0"/>
              <a:t>假装的“新数据”</a:t>
            </a:r>
            <a:endParaRPr lang="en-US" altLang="zh-CN" b="1" dirty="0"/>
          </a:p>
          <a:p>
            <a:pPr algn="ctr"/>
            <a:r>
              <a:rPr lang="en-US" altLang="zh-CN" b="1" dirty="0"/>
              <a:t>Fake New Data</a:t>
            </a:r>
            <a:endParaRPr lang="zh-CN" altLang="en-US" dirty="0"/>
          </a:p>
        </p:txBody>
      </p:sp>
      <p:sp>
        <p:nvSpPr>
          <p:cNvPr id="76" name="矩形 75"/>
          <p:cNvSpPr/>
          <p:nvPr/>
        </p:nvSpPr>
        <p:spPr>
          <a:xfrm>
            <a:off x="4892093" y="2581585"/>
            <a:ext cx="1348447" cy="646331"/>
          </a:xfrm>
          <a:prstGeom prst="rect">
            <a:avLst/>
          </a:prstGeom>
        </p:spPr>
        <p:txBody>
          <a:bodyPr wrap="none">
            <a:spAutoFit/>
          </a:bodyPr>
          <a:lstStyle/>
          <a:p>
            <a:pPr algn="ctr"/>
            <a:r>
              <a:rPr lang="zh-CN" altLang="en-US" b="1" dirty="0"/>
              <a:t>测试集</a:t>
            </a:r>
            <a:endParaRPr lang="en-US" altLang="zh-CN" b="1" dirty="0"/>
          </a:p>
          <a:p>
            <a:pPr algn="ctr"/>
            <a:r>
              <a:rPr lang="en-US" altLang="zh-CN" b="1" dirty="0"/>
              <a:t>Testing Set</a:t>
            </a:r>
            <a:endParaRPr lang="zh-CN" altLang="en-US" dirty="0"/>
          </a:p>
        </p:txBody>
      </p:sp>
      <p:sp>
        <p:nvSpPr>
          <p:cNvPr id="77" name="矩形 76"/>
          <p:cNvSpPr/>
          <p:nvPr/>
        </p:nvSpPr>
        <p:spPr>
          <a:xfrm>
            <a:off x="4844804" y="5997284"/>
            <a:ext cx="1443024" cy="646331"/>
          </a:xfrm>
          <a:prstGeom prst="rect">
            <a:avLst/>
          </a:prstGeom>
        </p:spPr>
        <p:txBody>
          <a:bodyPr wrap="none">
            <a:spAutoFit/>
          </a:bodyPr>
          <a:lstStyle/>
          <a:p>
            <a:pPr algn="ctr"/>
            <a:r>
              <a:rPr lang="zh-CN" altLang="en-US" b="1" dirty="0"/>
              <a:t>训练集</a:t>
            </a:r>
            <a:endParaRPr lang="en-US" altLang="zh-CN" b="1" dirty="0"/>
          </a:p>
          <a:p>
            <a:pPr algn="ctr"/>
            <a:r>
              <a:rPr lang="en-US" altLang="zh-CN" b="1" dirty="0"/>
              <a:t>Training Set</a:t>
            </a:r>
            <a:endParaRPr lang="zh-CN" altLang="en-US" dirty="0"/>
          </a:p>
        </p:txBody>
      </p:sp>
      <p:sp>
        <p:nvSpPr>
          <p:cNvPr id="78" name="矩形 77"/>
          <p:cNvSpPr/>
          <p:nvPr/>
        </p:nvSpPr>
        <p:spPr>
          <a:xfrm>
            <a:off x="2907276" y="5006452"/>
            <a:ext cx="1768433" cy="646331"/>
          </a:xfrm>
          <a:prstGeom prst="rect">
            <a:avLst/>
          </a:prstGeom>
        </p:spPr>
        <p:txBody>
          <a:bodyPr wrap="none">
            <a:spAutoFit/>
          </a:bodyPr>
          <a:lstStyle/>
          <a:p>
            <a:pPr algn="ctr"/>
            <a:r>
              <a:rPr lang="zh-CN" altLang="en-US" b="1" dirty="0"/>
              <a:t>剩下的“老数据”</a:t>
            </a:r>
            <a:endParaRPr lang="en-US" altLang="zh-CN" b="1" dirty="0"/>
          </a:p>
          <a:p>
            <a:pPr algn="ctr"/>
            <a:r>
              <a:rPr lang="en-US" altLang="zh-CN" b="1" dirty="0"/>
              <a:t>Rest Old Data</a:t>
            </a:r>
            <a:endParaRPr lang="zh-CN" altLang="en-US" dirty="0"/>
          </a:p>
        </p:txBody>
      </p:sp>
      <p:sp>
        <p:nvSpPr>
          <p:cNvPr id="79" name="右箭头 78"/>
          <p:cNvSpPr/>
          <p:nvPr/>
        </p:nvSpPr>
        <p:spPr>
          <a:xfrm rot="1641280">
            <a:off x="3262989" y="4510312"/>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右箭头 79"/>
          <p:cNvSpPr/>
          <p:nvPr/>
        </p:nvSpPr>
        <p:spPr>
          <a:xfrm rot="20218143">
            <a:off x="6589844" y="4550189"/>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rot="12384537">
            <a:off x="6578310" y="2706208"/>
            <a:ext cx="1332897" cy="194120"/>
          </a:xfrm>
          <a:prstGeom prst="rightArrow">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604689" y="2743200"/>
            <a:ext cx="3977967" cy="290958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213567" y="5187857"/>
            <a:ext cx="1243942" cy="369332"/>
          </a:xfrm>
          <a:prstGeom prst="rect">
            <a:avLst/>
          </a:prstGeom>
          <a:noFill/>
        </p:spPr>
        <p:txBody>
          <a:bodyPr wrap="square" rtlCol="0">
            <a:spAutoFit/>
          </a:bodyPr>
          <a:lstStyle/>
          <a:p>
            <a:r>
              <a:rPr lang="zh-CN" altLang="en-US" b="1" dirty="0">
                <a:solidFill>
                  <a:srgbClr val="C00000"/>
                </a:solidFill>
              </a:rPr>
              <a:t>怎么训练？</a:t>
            </a:r>
          </a:p>
        </p:txBody>
      </p:sp>
    </p:spTree>
    <p:extLst>
      <p:ext uri="{BB962C8B-B14F-4D97-AF65-F5344CB8AC3E}">
        <p14:creationId xmlns:p14="http://schemas.microsoft.com/office/powerpoint/2010/main" val="41983018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74</a:t>
            </a:fld>
            <a:endParaRPr lang="zh-CN" altLang="en-US"/>
          </a:p>
        </p:txBody>
      </p:sp>
      <p:sp>
        <p:nvSpPr>
          <p:cNvPr id="81" name="标题 1"/>
          <p:cNvSpPr txBox="1">
            <a:spLocks/>
          </p:cNvSpPr>
          <p:nvPr/>
        </p:nvSpPr>
        <p:spPr>
          <a:xfrm>
            <a:off x="915346" y="3875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机器学习的数学范式 </a:t>
            </a:r>
            <a:r>
              <a:rPr lang="en-US" altLang="zh-CN" sz="3600" dirty="0">
                <a:latin typeface="+mn-lt"/>
              </a:rPr>
              <a:t>Mathematical Paradigm</a:t>
            </a:r>
          </a:p>
          <a:p>
            <a:endParaRPr lang="zh-CN" altLang="en-US" sz="360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060" y="2077070"/>
            <a:ext cx="5352587" cy="2917643"/>
          </a:xfrm>
          <a:prstGeom prst="rect">
            <a:avLst/>
          </a:prstGeom>
        </p:spPr>
      </p:pic>
      <p:sp>
        <p:nvSpPr>
          <p:cNvPr id="83" name="文本框 82"/>
          <p:cNvSpPr txBox="1"/>
          <p:nvPr/>
        </p:nvSpPr>
        <p:spPr>
          <a:xfrm>
            <a:off x="6021938" y="1728068"/>
            <a:ext cx="5977230" cy="954107"/>
          </a:xfrm>
          <a:prstGeom prst="rect">
            <a:avLst/>
          </a:prstGeom>
          <a:noFill/>
        </p:spPr>
        <p:txBody>
          <a:bodyPr wrap="square" rtlCol="0">
            <a:spAutoFit/>
          </a:bodyPr>
          <a:lstStyle/>
          <a:p>
            <a:r>
              <a:rPr lang="zh-CN" altLang="en-US" b="1" dirty="0"/>
              <a:t>① 选择一个模型的基本形式</a:t>
            </a:r>
            <a:endParaRPr lang="en-US" altLang="zh-CN" b="1" dirty="0"/>
          </a:p>
          <a:p>
            <a:r>
              <a:rPr lang="en-US" altLang="zh-CN" b="1" dirty="0"/>
              <a:t>    </a:t>
            </a:r>
            <a:r>
              <a:rPr lang="zh-CN" altLang="en-US" b="1" dirty="0"/>
              <a:t> </a:t>
            </a:r>
            <a:r>
              <a:rPr lang="en-US" altLang="zh-CN" b="1" dirty="0"/>
              <a:t>Find a basic form of model</a:t>
            </a:r>
          </a:p>
          <a:p>
            <a:r>
              <a:rPr lang="en-US" altLang="zh-CN" sz="2000" b="1" dirty="0"/>
              <a:t>     </a:t>
            </a:r>
            <a:endParaRPr lang="zh-CN" altLang="en-US" sz="2000" b="1" dirty="0">
              <a:solidFill>
                <a:srgbClr val="C00000"/>
              </a:solidFill>
            </a:endParaRPr>
          </a:p>
        </p:txBody>
      </p:sp>
      <p:graphicFrame>
        <p:nvGraphicFramePr>
          <p:cNvPr id="84" name="对象 83"/>
          <p:cNvGraphicFramePr>
            <a:graphicFrameLocks noChangeAspect="1"/>
          </p:cNvGraphicFramePr>
          <p:nvPr/>
        </p:nvGraphicFramePr>
        <p:xfrm>
          <a:off x="6418416" y="2301188"/>
          <a:ext cx="1814513" cy="491773"/>
        </p:xfrm>
        <a:graphic>
          <a:graphicData uri="http://schemas.openxmlformats.org/presentationml/2006/ole">
            <mc:AlternateContent xmlns:mc="http://schemas.openxmlformats.org/markup-compatibility/2006">
              <mc:Choice xmlns:v="urn:schemas-microsoft-com:vml" Requires="v">
                <p:oleObj name="Equation" r:id="rId3" imgW="1015920" imgH="253800" progId="Equation.DSMT4">
                  <p:embed/>
                </p:oleObj>
              </mc:Choice>
              <mc:Fallback>
                <p:oleObj name="Equation" r:id="rId3" imgW="1015920" imgH="253800" progId="Equation.DSMT4">
                  <p:embed/>
                  <p:pic>
                    <p:nvPicPr>
                      <p:cNvPr id="84" name="对象 83"/>
                      <p:cNvPicPr/>
                      <p:nvPr/>
                    </p:nvPicPr>
                    <p:blipFill>
                      <a:blip r:embed="rId4"/>
                      <a:stretch>
                        <a:fillRect/>
                      </a:stretch>
                    </p:blipFill>
                    <p:spPr>
                      <a:xfrm>
                        <a:off x="6418416" y="2301188"/>
                        <a:ext cx="1814513" cy="491773"/>
                      </a:xfrm>
                      <a:prstGeom prst="rect">
                        <a:avLst/>
                      </a:prstGeom>
                    </p:spPr>
                  </p:pic>
                </p:oleObj>
              </mc:Fallback>
            </mc:AlternateContent>
          </a:graphicData>
        </a:graphic>
      </p:graphicFrame>
      <p:sp>
        <p:nvSpPr>
          <p:cNvPr id="85" name="文本框 84"/>
          <p:cNvSpPr txBox="1"/>
          <p:nvPr/>
        </p:nvSpPr>
        <p:spPr>
          <a:xfrm>
            <a:off x="5966993" y="2857560"/>
            <a:ext cx="5840261" cy="923330"/>
          </a:xfrm>
          <a:prstGeom prst="rect">
            <a:avLst/>
          </a:prstGeom>
          <a:noFill/>
        </p:spPr>
        <p:txBody>
          <a:bodyPr wrap="square" rtlCol="0">
            <a:spAutoFit/>
          </a:bodyPr>
          <a:lstStyle/>
          <a:p>
            <a:r>
              <a:rPr lang="zh-CN" altLang="en-US" b="1" dirty="0"/>
              <a:t>② 定义拟合好坏的判定函数（距离远近）</a:t>
            </a:r>
            <a:endParaRPr lang="en-US" altLang="zh-CN" b="1" dirty="0"/>
          </a:p>
          <a:p>
            <a:r>
              <a:rPr lang="en-US" altLang="zh-CN" b="1" dirty="0"/>
              <a:t>     Define the judgment function of good or bad fitting (the distance between training data and model)</a:t>
            </a:r>
            <a:r>
              <a:rPr lang="zh-CN" altLang="en-US" b="1" dirty="0">
                <a:solidFill>
                  <a:srgbClr val="C00000"/>
                </a:solidFill>
              </a:rPr>
              <a:t>    </a:t>
            </a:r>
          </a:p>
        </p:txBody>
      </p:sp>
      <p:sp>
        <p:nvSpPr>
          <p:cNvPr id="86" name="矩形 85"/>
          <p:cNvSpPr/>
          <p:nvPr/>
        </p:nvSpPr>
        <p:spPr>
          <a:xfrm>
            <a:off x="8326792" y="2385832"/>
            <a:ext cx="3102131" cy="369332"/>
          </a:xfrm>
          <a:prstGeom prst="rect">
            <a:avLst/>
          </a:prstGeom>
        </p:spPr>
        <p:txBody>
          <a:bodyPr wrap="none">
            <a:spAutoFit/>
          </a:bodyPr>
          <a:lstStyle/>
          <a:p>
            <a:r>
              <a:rPr lang="zh-CN" altLang="en-US" b="1" dirty="0">
                <a:solidFill>
                  <a:srgbClr val="C00000"/>
                </a:solidFill>
              </a:rPr>
              <a:t>决策函数 </a:t>
            </a:r>
            <a:r>
              <a:rPr lang="en-US" altLang="zh-CN" b="1" dirty="0">
                <a:solidFill>
                  <a:srgbClr val="C00000"/>
                </a:solidFill>
              </a:rPr>
              <a:t>Decision Function</a:t>
            </a:r>
            <a:r>
              <a:rPr lang="zh-CN" altLang="en-US" b="1" dirty="0">
                <a:solidFill>
                  <a:srgbClr val="C00000"/>
                </a:solidFill>
              </a:rPr>
              <a:t> </a:t>
            </a:r>
            <a:endParaRPr lang="zh-CN" altLang="en-US" dirty="0"/>
          </a:p>
        </p:txBody>
      </p:sp>
      <p:sp>
        <p:nvSpPr>
          <p:cNvPr id="87" name="矩形 86"/>
          <p:cNvSpPr/>
          <p:nvPr/>
        </p:nvSpPr>
        <p:spPr>
          <a:xfrm>
            <a:off x="9211672" y="3853879"/>
            <a:ext cx="2595582" cy="369332"/>
          </a:xfrm>
          <a:prstGeom prst="rect">
            <a:avLst/>
          </a:prstGeom>
        </p:spPr>
        <p:txBody>
          <a:bodyPr wrap="none">
            <a:spAutoFit/>
          </a:bodyPr>
          <a:lstStyle/>
          <a:p>
            <a:r>
              <a:rPr lang="zh-CN" altLang="en-US" b="1" dirty="0">
                <a:solidFill>
                  <a:srgbClr val="C00000"/>
                </a:solidFill>
              </a:rPr>
              <a:t>损失函数 </a:t>
            </a:r>
            <a:r>
              <a:rPr lang="en-US" altLang="zh-CN" b="1" dirty="0">
                <a:solidFill>
                  <a:srgbClr val="C00000"/>
                </a:solidFill>
              </a:rPr>
              <a:t>Loss Function</a:t>
            </a:r>
            <a:endParaRPr lang="zh-CN" altLang="en-US" b="1" dirty="0">
              <a:solidFill>
                <a:srgbClr val="C00000"/>
              </a:solidFill>
            </a:endParaRPr>
          </a:p>
        </p:txBody>
      </p:sp>
      <p:graphicFrame>
        <p:nvGraphicFramePr>
          <p:cNvPr id="88" name="对象 87"/>
          <p:cNvGraphicFramePr>
            <a:graphicFrameLocks noChangeAspect="1"/>
          </p:cNvGraphicFramePr>
          <p:nvPr/>
        </p:nvGraphicFramePr>
        <p:xfrm>
          <a:off x="6273210" y="3712229"/>
          <a:ext cx="2938462" cy="504672"/>
        </p:xfrm>
        <a:graphic>
          <a:graphicData uri="http://schemas.openxmlformats.org/presentationml/2006/ole">
            <mc:AlternateContent xmlns:mc="http://schemas.openxmlformats.org/markup-compatibility/2006">
              <mc:Choice xmlns:v="urn:schemas-microsoft-com:vml" Requires="v">
                <p:oleObj name="Equation" r:id="rId5" imgW="1688760" imgH="291960" progId="Equation.DSMT4">
                  <p:embed/>
                </p:oleObj>
              </mc:Choice>
              <mc:Fallback>
                <p:oleObj name="Equation" r:id="rId5" imgW="1688760" imgH="291960" progId="Equation.DSMT4">
                  <p:embed/>
                  <p:pic>
                    <p:nvPicPr>
                      <p:cNvPr id="88" name="对象 87"/>
                      <p:cNvPicPr/>
                      <p:nvPr/>
                    </p:nvPicPr>
                    <p:blipFill>
                      <a:blip r:embed="rId6"/>
                      <a:stretch>
                        <a:fillRect/>
                      </a:stretch>
                    </p:blipFill>
                    <p:spPr>
                      <a:xfrm>
                        <a:off x="6273210" y="3712229"/>
                        <a:ext cx="2938462" cy="504672"/>
                      </a:xfrm>
                      <a:prstGeom prst="rect">
                        <a:avLst/>
                      </a:prstGeom>
                    </p:spPr>
                  </p:pic>
                </p:oleObj>
              </mc:Fallback>
            </mc:AlternateContent>
          </a:graphicData>
        </a:graphic>
      </p:graphicFrame>
      <p:sp>
        <p:nvSpPr>
          <p:cNvPr id="89" name="文本框 88"/>
          <p:cNvSpPr txBox="1"/>
          <p:nvPr/>
        </p:nvSpPr>
        <p:spPr>
          <a:xfrm>
            <a:off x="5966995" y="4362376"/>
            <a:ext cx="5666724" cy="646331"/>
          </a:xfrm>
          <a:prstGeom prst="rect">
            <a:avLst/>
          </a:prstGeom>
          <a:noFill/>
        </p:spPr>
        <p:txBody>
          <a:bodyPr wrap="square" rtlCol="0">
            <a:spAutoFit/>
          </a:bodyPr>
          <a:lstStyle/>
          <a:p>
            <a:r>
              <a:rPr lang="zh-CN" altLang="en-US" b="1" dirty="0"/>
              <a:t>③ 参数确定：</a:t>
            </a:r>
            <a:r>
              <a:rPr lang="zh-CN" altLang="en-US" b="1" dirty="0">
                <a:solidFill>
                  <a:srgbClr val="C00000"/>
                </a:solidFill>
              </a:rPr>
              <a:t>最小化损失和</a:t>
            </a:r>
            <a:endParaRPr lang="en-US" altLang="zh-CN" b="1" dirty="0">
              <a:solidFill>
                <a:srgbClr val="C00000"/>
              </a:solidFill>
            </a:endParaRPr>
          </a:p>
          <a:p>
            <a:r>
              <a:rPr lang="en-US" altLang="zh-CN" b="1" dirty="0"/>
              <a:t>     Objective</a:t>
            </a:r>
            <a:r>
              <a:rPr lang="zh-CN" altLang="en-US" b="1" dirty="0"/>
              <a:t>：</a:t>
            </a:r>
            <a:r>
              <a:rPr lang="en-US" altLang="zh-CN" b="1" dirty="0"/>
              <a:t>minimize the sum loss of the data</a:t>
            </a:r>
            <a:endParaRPr lang="zh-CN" altLang="en-US" b="1" dirty="0">
              <a:solidFill>
                <a:srgbClr val="C00000"/>
              </a:solidFill>
            </a:endParaRPr>
          </a:p>
        </p:txBody>
      </p:sp>
      <p:graphicFrame>
        <p:nvGraphicFramePr>
          <p:cNvPr id="90" name="对象 89"/>
          <p:cNvGraphicFramePr>
            <a:graphicFrameLocks noChangeAspect="1"/>
          </p:cNvGraphicFramePr>
          <p:nvPr/>
        </p:nvGraphicFramePr>
        <p:xfrm>
          <a:off x="6399755" y="4994713"/>
          <a:ext cx="2276475" cy="746529"/>
        </p:xfrm>
        <a:graphic>
          <a:graphicData uri="http://schemas.openxmlformats.org/presentationml/2006/ole">
            <mc:AlternateContent xmlns:mc="http://schemas.openxmlformats.org/markup-compatibility/2006">
              <mc:Choice xmlns:v="urn:schemas-microsoft-com:vml" Requires="v">
                <p:oleObj name="Equation" r:id="rId7" imgW="1307880" imgH="431640" progId="Equation.DSMT4">
                  <p:embed/>
                </p:oleObj>
              </mc:Choice>
              <mc:Fallback>
                <p:oleObj name="Equation" r:id="rId7" imgW="1307880" imgH="431640" progId="Equation.DSMT4">
                  <p:embed/>
                  <p:pic>
                    <p:nvPicPr>
                      <p:cNvPr id="90" name="对象 89"/>
                      <p:cNvPicPr/>
                      <p:nvPr/>
                    </p:nvPicPr>
                    <p:blipFill>
                      <a:blip r:embed="rId8"/>
                      <a:stretch>
                        <a:fillRect/>
                      </a:stretch>
                    </p:blipFill>
                    <p:spPr>
                      <a:xfrm>
                        <a:off x="6399755" y="4994713"/>
                        <a:ext cx="2276475" cy="746529"/>
                      </a:xfrm>
                      <a:prstGeom prst="rect">
                        <a:avLst/>
                      </a:prstGeom>
                    </p:spPr>
                  </p:pic>
                </p:oleObj>
              </mc:Fallback>
            </mc:AlternateContent>
          </a:graphicData>
        </a:graphic>
      </p:graphicFrame>
      <p:sp>
        <p:nvSpPr>
          <p:cNvPr id="91" name="右箭头 90"/>
          <p:cNvSpPr/>
          <p:nvPr/>
        </p:nvSpPr>
        <p:spPr>
          <a:xfrm>
            <a:off x="8801125" y="5255038"/>
            <a:ext cx="821094" cy="233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2" name="对象 91"/>
          <p:cNvGraphicFramePr>
            <a:graphicFrameLocks noChangeAspect="1"/>
          </p:cNvGraphicFramePr>
          <p:nvPr/>
        </p:nvGraphicFramePr>
        <p:xfrm>
          <a:off x="9747114" y="5152309"/>
          <a:ext cx="1082675" cy="438565"/>
        </p:xfrm>
        <a:graphic>
          <a:graphicData uri="http://schemas.openxmlformats.org/presentationml/2006/ole">
            <mc:AlternateContent xmlns:mc="http://schemas.openxmlformats.org/markup-compatibility/2006">
              <mc:Choice xmlns:v="urn:schemas-microsoft-com:vml" Requires="v">
                <p:oleObj name="Equation" r:id="rId9" imgW="622080" imgH="253800" progId="Equation.DSMT4">
                  <p:embed/>
                </p:oleObj>
              </mc:Choice>
              <mc:Fallback>
                <p:oleObj name="Equation" r:id="rId9" imgW="622080" imgH="253800" progId="Equation.DSMT4">
                  <p:embed/>
                  <p:pic>
                    <p:nvPicPr>
                      <p:cNvPr id="92" name="对象 91"/>
                      <p:cNvPicPr/>
                      <p:nvPr/>
                    </p:nvPicPr>
                    <p:blipFill>
                      <a:blip r:embed="rId10"/>
                      <a:stretch>
                        <a:fillRect/>
                      </a:stretch>
                    </p:blipFill>
                    <p:spPr>
                      <a:xfrm>
                        <a:off x="9747114" y="5152309"/>
                        <a:ext cx="1082675" cy="438565"/>
                      </a:xfrm>
                      <a:prstGeom prst="rect">
                        <a:avLst/>
                      </a:prstGeom>
                    </p:spPr>
                  </p:pic>
                </p:oleObj>
              </mc:Fallback>
            </mc:AlternateContent>
          </a:graphicData>
        </a:graphic>
      </p:graphicFrame>
    </p:spTree>
    <p:extLst>
      <p:ext uri="{BB962C8B-B14F-4D97-AF65-F5344CB8AC3E}">
        <p14:creationId xmlns:p14="http://schemas.microsoft.com/office/powerpoint/2010/main" val="12679205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04D5434-05AA-4028-98DA-4ABF0C3BEA2A}" type="slidenum">
              <a:rPr lang="zh-CN" altLang="en-US" smtClean="0"/>
              <a:t>75</a:t>
            </a:fld>
            <a:endParaRPr lang="zh-CN" altLang="en-US"/>
          </a:p>
        </p:txBody>
      </p:sp>
      <p:sp>
        <p:nvSpPr>
          <p:cNvPr id="5" name="文本框 4"/>
          <p:cNvSpPr txBox="1"/>
          <p:nvPr/>
        </p:nvSpPr>
        <p:spPr>
          <a:xfrm>
            <a:off x="4865914" y="2307771"/>
            <a:ext cx="2826657" cy="830997"/>
          </a:xfrm>
          <a:prstGeom prst="rect">
            <a:avLst/>
          </a:prstGeom>
          <a:noFill/>
        </p:spPr>
        <p:txBody>
          <a:bodyPr wrap="square" rtlCol="0">
            <a:spAutoFit/>
          </a:bodyPr>
          <a:lstStyle/>
          <a:p>
            <a:r>
              <a:rPr lang="en-US" altLang="zh-CN" sz="4800" b="1" dirty="0"/>
              <a:t>Thanks</a:t>
            </a:r>
            <a:r>
              <a:rPr lang="zh-CN" altLang="en-US" sz="4800" b="1" dirty="0"/>
              <a:t>！</a:t>
            </a:r>
          </a:p>
        </p:txBody>
      </p:sp>
    </p:spTree>
    <p:extLst>
      <p:ext uri="{BB962C8B-B14F-4D97-AF65-F5344CB8AC3E}">
        <p14:creationId xmlns:p14="http://schemas.microsoft.com/office/powerpoint/2010/main" val="31076198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附录：体温检测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76</a:t>
            </a:fld>
            <a:endParaRPr lang="zh-CN" altLang="en-US"/>
          </a:p>
        </p:txBody>
      </p:sp>
      <p:grpSp>
        <p:nvGrpSpPr>
          <p:cNvPr id="8" name="组合 7"/>
          <p:cNvGrpSpPr/>
          <p:nvPr/>
        </p:nvGrpSpPr>
        <p:grpSpPr>
          <a:xfrm>
            <a:off x="8417664" y="1571258"/>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60120" y="1571258"/>
          <a:ext cx="800100" cy="449262"/>
        </p:xfrm>
        <a:graphic>
          <a:graphicData uri="http://schemas.openxmlformats.org/presentationml/2006/ole">
            <mc:AlternateContent xmlns:mc="http://schemas.openxmlformats.org/markup-compatibility/2006">
              <mc:Choice xmlns:v="urn:schemas-microsoft-com:vml" Requires="v">
                <p:oleObj name="Equation" r:id="rId3" imgW="444240" imgH="253800" progId="Equation.DSMT4">
                  <p:embed/>
                </p:oleObj>
              </mc:Choice>
              <mc:Fallback>
                <p:oleObj name="Equation" r:id="rId3"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4"/>
                      <a:srcRect/>
                      <a:stretch>
                        <a:fillRect/>
                      </a:stretch>
                    </p:blipFill>
                    <p:spPr bwMode="auto">
                      <a:xfrm>
                        <a:off x="960120" y="1571258"/>
                        <a:ext cx="800100" cy="449262"/>
                      </a:xfrm>
                      <a:prstGeom prst="rect">
                        <a:avLst/>
                      </a:prstGeom>
                      <a:noFill/>
                    </p:spPr>
                  </p:pic>
                </p:oleObj>
              </mc:Fallback>
            </mc:AlternateContent>
          </a:graphicData>
        </a:graphic>
      </p:graphicFrame>
      <p:sp>
        <p:nvSpPr>
          <p:cNvPr id="5" name="矩形 4"/>
          <p:cNvSpPr/>
          <p:nvPr/>
        </p:nvSpPr>
        <p:spPr>
          <a:xfrm>
            <a:off x="1674329" y="1626071"/>
            <a:ext cx="2492990" cy="369332"/>
          </a:xfrm>
          <a:prstGeom prst="rect">
            <a:avLst/>
          </a:prstGeom>
        </p:spPr>
        <p:txBody>
          <a:bodyPr wrap="none">
            <a:spAutoFit/>
          </a:bodyPr>
          <a:lstStyle/>
          <a:p>
            <a:r>
              <a:rPr lang="zh-CN" altLang="en-US" b="1" dirty="0"/>
              <a:t>：模型预测的得病概率</a:t>
            </a:r>
            <a:endParaRPr lang="zh-CN" altLang="en-US" dirty="0"/>
          </a:p>
        </p:txBody>
      </p:sp>
      <p:sp>
        <p:nvSpPr>
          <p:cNvPr id="40" name="文本框 39">
            <a:extLst>
              <a:ext uri="{FF2B5EF4-FFF2-40B4-BE49-F238E27FC236}">
                <a16:creationId xmlns:a16="http://schemas.microsoft.com/office/drawing/2014/main" id="{70297C91-AFB3-4754-9D77-C7A0B3193931}"/>
              </a:ext>
            </a:extLst>
          </p:cNvPr>
          <p:cNvSpPr txBox="1"/>
          <p:nvPr/>
        </p:nvSpPr>
        <p:spPr>
          <a:xfrm>
            <a:off x="911473" y="2154533"/>
            <a:ext cx="3944714" cy="369332"/>
          </a:xfrm>
          <a:prstGeom prst="rect">
            <a:avLst/>
          </a:prstGeom>
          <a:noFill/>
        </p:spPr>
        <p:txBody>
          <a:bodyPr wrap="square">
            <a:spAutoFit/>
          </a:bodyPr>
          <a:lstStyle/>
          <a:p>
            <a:r>
              <a:rPr lang="zh-CN" altLang="en-US" b="1" dirty="0"/>
              <a:t>综上所述，对任何一类样本</a:t>
            </a:r>
            <a:r>
              <a:rPr lang="zh-CN" altLang="en-US" b="1" dirty="0">
                <a:solidFill>
                  <a:srgbClr val="C00000"/>
                </a:solidFill>
              </a:rPr>
              <a:t>都是</a:t>
            </a:r>
            <a:endParaRPr lang="zh-CN" altLang="en-US" sz="1100" b="1" dirty="0">
              <a:solidFill>
                <a:srgbClr val="C00000"/>
              </a:solidFill>
            </a:endParaRPr>
          </a:p>
        </p:txBody>
      </p:sp>
      <p:graphicFrame>
        <p:nvGraphicFramePr>
          <p:cNvPr id="45" name="对象 4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318937" y="2047892"/>
          <a:ext cx="3382725" cy="601775"/>
        </p:xfrm>
        <a:graphic>
          <a:graphicData uri="http://schemas.openxmlformats.org/presentationml/2006/ole">
            <mc:AlternateContent xmlns:mc="http://schemas.openxmlformats.org/markup-compatibility/2006">
              <mc:Choice xmlns:v="urn:schemas-microsoft-com:vml" Requires="v">
                <p:oleObj name="Equation" r:id="rId5" imgW="1815840" imgH="330120" progId="Equation.DSMT4">
                  <p:embed/>
                </p:oleObj>
              </mc:Choice>
              <mc:Fallback>
                <p:oleObj name="Equation" r:id="rId5" imgW="1815840" imgH="330120" progId="Equation.DSMT4">
                  <p:embed/>
                  <p:pic>
                    <p:nvPicPr>
                      <p:cNvPr id="45" name="对象 44">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4318937" y="2047892"/>
                        <a:ext cx="3382725" cy="601775"/>
                      </a:xfrm>
                      <a:prstGeom prst="rect">
                        <a:avLst/>
                      </a:prstGeom>
                      <a:noFill/>
                    </p:spPr>
                  </p:pic>
                </p:oleObj>
              </mc:Fallback>
            </mc:AlternateContent>
          </a:graphicData>
        </a:graphic>
      </p:graphicFrame>
    </p:spTree>
    <p:extLst>
      <p:ext uri="{BB962C8B-B14F-4D97-AF65-F5344CB8AC3E}">
        <p14:creationId xmlns:p14="http://schemas.microsoft.com/office/powerpoint/2010/main" val="14098304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附录：体温检测 </a:t>
            </a:r>
            <a:r>
              <a:rPr lang="en-US" altLang="zh-CN" sz="3600" dirty="0"/>
              <a:t>Temperature Detection</a:t>
            </a:r>
            <a:endParaRPr lang="zh-CN" altLang="en-US" sz="3600" dirty="0"/>
          </a:p>
        </p:txBody>
      </p:sp>
      <p:sp>
        <p:nvSpPr>
          <p:cNvPr id="4" name="灯片编号占位符 3"/>
          <p:cNvSpPr>
            <a:spLocks noGrp="1"/>
          </p:cNvSpPr>
          <p:nvPr>
            <p:ph type="sldNum" sz="quarter" idx="12"/>
          </p:nvPr>
        </p:nvSpPr>
        <p:spPr/>
        <p:txBody>
          <a:bodyPr/>
          <a:lstStyle/>
          <a:p>
            <a:fld id="{C04D5434-05AA-4028-98DA-4ABF0C3BEA2A}" type="slidenum">
              <a:rPr lang="zh-CN" altLang="en-US" smtClean="0"/>
              <a:t>77</a:t>
            </a:fld>
            <a:endParaRPr lang="zh-CN" altLang="en-US"/>
          </a:p>
        </p:txBody>
      </p:sp>
      <p:grpSp>
        <p:nvGrpSpPr>
          <p:cNvPr id="8" name="组合 7"/>
          <p:cNvGrpSpPr/>
          <p:nvPr/>
        </p:nvGrpSpPr>
        <p:grpSpPr>
          <a:xfrm>
            <a:off x="8540418" y="1697570"/>
            <a:ext cx="2691462" cy="1766374"/>
            <a:chOff x="7308850" y="2640649"/>
            <a:chExt cx="4394852" cy="2983034"/>
          </a:xfrm>
        </p:grpSpPr>
        <p:pic>
          <p:nvPicPr>
            <p:cNvPr id="9" name="图片 8">
              <a:extLst>
                <a:ext uri="{FF2B5EF4-FFF2-40B4-BE49-F238E27FC236}">
                  <a16:creationId xmlns:a16="http://schemas.microsoft.com/office/drawing/2014/main" id="{55C751B8-E6E9-4A8F-A612-318749357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850" y="2640649"/>
              <a:ext cx="4394852" cy="2983034"/>
            </a:xfrm>
            <a:prstGeom prst="rect">
              <a:avLst/>
            </a:prstGeom>
          </p:spPr>
        </p:pic>
        <p:cxnSp>
          <p:nvCxnSpPr>
            <p:cNvPr id="10" name="直接连接符 9"/>
            <p:cNvCxnSpPr/>
            <p:nvPr/>
          </p:nvCxnSpPr>
          <p:spPr>
            <a:xfrm flipV="1">
              <a:off x="9272736" y="2665102"/>
              <a:ext cx="58058" cy="256998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H="1" flipV="1">
              <a:off x="7823200" y="3294745"/>
              <a:ext cx="3825460" cy="14513"/>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9272736" y="3220278"/>
              <a:ext cx="58058" cy="989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0" name="对象 19">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960120" y="1571258"/>
          <a:ext cx="800100" cy="449262"/>
        </p:xfrm>
        <a:graphic>
          <a:graphicData uri="http://schemas.openxmlformats.org/presentationml/2006/ole">
            <mc:AlternateContent xmlns:mc="http://schemas.openxmlformats.org/markup-compatibility/2006">
              <mc:Choice xmlns:v="urn:schemas-microsoft-com:vml" Requires="v">
                <p:oleObj name="Equation" r:id="rId3" imgW="444240" imgH="253800" progId="Equation.DSMT4">
                  <p:embed/>
                </p:oleObj>
              </mc:Choice>
              <mc:Fallback>
                <p:oleObj name="Equation" r:id="rId3" imgW="444240" imgH="253800" progId="Equation.DSMT4">
                  <p:embed/>
                  <p:pic>
                    <p:nvPicPr>
                      <p:cNvPr id="20" name="对象 19">
                        <a:extLst>
                          <a:ext uri="{FF2B5EF4-FFF2-40B4-BE49-F238E27FC236}">
                            <a16:creationId xmlns:a16="http://schemas.microsoft.com/office/drawing/2014/main" id="{7E56E43C-2107-47ED-A78E-FA29EA22A516}"/>
                          </a:ext>
                        </a:extLst>
                      </p:cNvPr>
                      <p:cNvPicPr>
                        <a:picLocks noChangeAspect="1" noChangeArrowheads="1"/>
                      </p:cNvPicPr>
                      <p:nvPr/>
                    </p:nvPicPr>
                    <p:blipFill>
                      <a:blip r:embed="rId4"/>
                      <a:srcRect/>
                      <a:stretch>
                        <a:fillRect/>
                      </a:stretch>
                    </p:blipFill>
                    <p:spPr bwMode="auto">
                      <a:xfrm>
                        <a:off x="960120" y="1571258"/>
                        <a:ext cx="800100" cy="449262"/>
                      </a:xfrm>
                      <a:prstGeom prst="rect">
                        <a:avLst/>
                      </a:prstGeom>
                      <a:noFill/>
                    </p:spPr>
                  </p:pic>
                </p:oleObj>
              </mc:Fallback>
            </mc:AlternateContent>
          </a:graphicData>
        </a:graphic>
      </p:graphicFrame>
      <p:sp>
        <p:nvSpPr>
          <p:cNvPr id="5" name="矩形 4"/>
          <p:cNvSpPr/>
          <p:nvPr/>
        </p:nvSpPr>
        <p:spPr>
          <a:xfrm>
            <a:off x="1674329" y="1626071"/>
            <a:ext cx="2492990" cy="369332"/>
          </a:xfrm>
          <a:prstGeom prst="rect">
            <a:avLst/>
          </a:prstGeom>
        </p:spPr>
        <p:txBody>
          <a:bodyPr wrap="none">
            <a:spAutoFit/>
          </a:bodyPr>
          <a:lstStyle/>
          <a:p>
            <a:r>
              <a:rPr lang="zh-CN" altLang="en-US" b="1" dirty="0"/>
              <a:t>：模型预测的得病概率</a:t>
            </a:r>
            <a:endParaRPr lang="zh-CN" altLang="en-US" dirty="0"/>
          </a:p>
        </p:txBody>
      </p:sp>
      <p:sp>
        <p:nvSpPr>
          <p:cNvPr id="40" name="文本框 39">
            <a:extLst>
              <a:ext uri="{FF2B5EF4-FFF2-40B4-BE49-F238E27FC236}">
                <a16:creationId xmlns:a16="http://schemas.microsoft.com/office/drawing/2014/main" id="{70297C91-AFB3-4754-9D77-C7A0B3193931}"/>
              </a:ext>
            </a:extLst>
          </p:cNvPr>
          <p:cNvSpPr txBox="1"/>
          <p:nvPr/>
        </p:nvSpPr>
        <p:spPr>
          <a:xfrm>
            <a:off x="911473" y="2154533"/>
            <a:ext cx="3944714" cy="369332"/>
          </a:xfrm>
          <a:prstGeom prst="rect">
            <a:avLst/>
          </a:prstGeom>
          <a:noFill/>
        </p:spPr>
        <p:txBody>
          <a:bodyPr wrap="square">
            <a:spAutoFit/>
          </a:bodyPr>
          <a:lstStyle/>
          <a:p>
            <a:r>
              <a:rPr lang="zh-CN" altLang="en-US" b="1" dirty="0"/>
              <a:t>综上所述，对任何一类样本</a:t>
            </a:r>
            <a:r>
              <a:rPr lang="zh-CN" altLang="en-US" b="1" dirty="0">
                <a:solidFill>
                  <a:srgbClr val="C00000"/>
                </a:solidFill>
              </a:rPr>
              <a:t>都是</a:t>
            </a:r>
            <a:endParaRPr lang="zh-CN" altLang="en-US" sz="1100" b="1" dirty="0">
              <a:solidFill>
                <a:srgbClr val="C00000"/>
              </a:solidFill>
            </a:endParaRPr>
          </a:p>
        </p:txBody>
      </p:sp>
      <p:graphicFrame>
        <p:nvGraphicFramePr>
          <p:cNvPr id="45" name="对象 4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4318937" y="2047892"/>
          <a:ext cx="3382725" cy="601775"/>
        </p:xfrm>
        <a:graphic>
          <a:graphicData uri="http://schemas.openxmlformats.org/presentationml/2006/ole">
            <mc:AlternateContent xmlns:mc="http://schemas.openxmlformats.org/markup-compatibility/2006">
              <mc:Choice xmlns:v="urn:schemas-microsoft-com:vml" Requires="v">
                <p:oleObj name="Equation" r:id="rId5" imgW="1815840" imgH="330120" progId="Equation.DSMT4">
                  <p:embed/>
                </p:oleObj>
              </mc:Choice>
              <mc:Fallback>
                <p:oleObj name="Equation" r:id="rId5" imgW="1815840" imgH="330120" progId="Equation.DSMT4">
                  <p:embed/>
                  <p:pic>
                    <p:nvPicPr>
                      <p:cNvPr id="45" name="对象 44">
                        <a:extLst>
                          <a:ext uri="{FF2B5EF4-FFF2-40B4-BE49-F238E27FC236}">
                            <a16:creationId xmlns:a16="http://schemas.microsoft.com/office/drawing/2014/main" id="{7E56E43C-2107-47ED-A78E-FA29EA22A516}"/>
                          </a:ext>
                        </a:extLst>
                      </p:cNvPr>
                      <p:cNvPicPr>
                        <a:picLocks noChangeAspect="1" noChangeArrowheads="1"/>
                      </p:cNvPicPr>
                      <p:nvPr/>
                    </p:nvPicPr>
                    <p:blipFill>
                      <a:blip r:embed="rId6"/>
                      <a:srcRect/>
                      <a:stretch>
                        <a:fillRect/>
                      </a:stretch>
                    </p:blipFill>
                    <p:spPr bwMode="auto">
                      <a:xfrm>
                        <a:off x="4318937" y="2047892"/>
                        <a:ext cx="3382725" cy="601775"/>
                      </a:xfrm>
                      <a:prstGeom prst="rect">
                        <a:avLst/>
                      </a:prstGeom>
                      <a:noFill/>
                    </p:spPr>
                  </p:pic>
                </p:oleObj>
              </mc:Fallback>
            </mc:AlternateContent>
          </a:graphicData>
        </a:graphic>
      </p:graphicFrame>
      <p:sp>
        <p:nvSpPr>
          <p:cNvPr id="3" name="文本框 2"/>
          <p:cNvSpPr txBox="1"/>
          <p:nvPr/>
        </p:nvSpPr>
        <p:spPr>
          <a:xfrm>
            <a:off x="911473" y="2847278"/>
            <a:ext cx="2292096" cy="369332"/>
          </a:xfrm>
          <a:prstGeom prst="rect">
            <a:avLst/>
          </a:prstGeom>
          <a:noFill/>
        </p:spPr>
        <p:txBody>
          <a:bodyPr wrap="square" rtlCol="0">
            <a:spAutoFit/>
          </a:bodyPr>
          <a:lstStyle/>
          <a:p>
            <a:r>
              <a:rPr lang="zh-CN" altLang="en-US" b="1" dirty="0"/>
              <a:t>联想：</a:t>
            </a:r>
          </a:p>
        </p:txBody>
      </p:sp>
      <p:graphicFrame>
        <p:nvGraphicFramePr>
          <p:cNvPr id="14" name="对象 13">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674329" y="2630506"/>
          <a:ext cx="2341562" cy="833438"/>
        </p:xfrm>
        <a:graphic>
          <a:graphicData uri="http://schemas.openxmlformats.org/presentationml/2006/ole">
            <mc:AlternateContent xmlns:mc="http://schemas.openxmlformats.org/markup-compatibility/2006">
              <mc:Choice xmlns:v="urn:schemas-microsoft-com:vml" Requires="v">
                <p:oleObj name="Equation" r:id="rId7" imgW="1257120" imgH="457200" progId="Equation.DSMT4">
                  <p:embed/>
                </p:oleObj>
              </mc:Choice>
              <mc:Fallback>
                <p:oleObj name="Equation" r:id="rId7" imgW="1257120" imgH="457200" progId="Equation.DSMT4">
                  <p:embed/>
                  <p:pic>
                    <p:nvPicPr>
                      <p:cNvPr id="14" name="对象 13">
                        <a:extLst>
                          <a:ext uri="{FF2B5EF4-FFF2-40B4-BE49-F238E27FC236}">
                            <a16:creationId xmlns:a16="http://schemas.microsoft.com/office/drawing/2014/main" id="{7E56E43C-2107-47ED-A78E-FA29EA22A516}"/>
                          </a:ext>
                        </a:extLst>
                      </p:cNvPr>
                      <p:cNvPicPr>
                        <a:picLocks noChangeAspect="1" noChangeArrowheads="1"/>
                      </p:cNvPicPr>
                      <p:nvPr/>
                    </p:nvPicPr>
                    <p:blipFill>
                      <a:blip r:embed="rId8"/>
                      <a:srcRect/>
                      <a:stretch>
                        <a:fillRect/>
                      </a:stretch>
                    </p:blipFill>
                    <p:spPr bwMode="auto">
                      <a:xfrm>
                        <a:off x="1674329" y="2630506"/>
                        <a:ext cx="2341562" cy="833438"/>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674329" y="3680716"/>
          <a:ext cx="2813050" cy="877888"/>
        </p:xfrm>
        <a:graphic>
          <a:graphicData uri="http://schemas.openxmlformats.org/presentationml/2006/ole">
            <mc:AlternateContent xmlns:mc="http://schemas.openxmlformats.org/markup-compatibility/2006">
              <mc:Choice xmlns:v="urn:schemas-microsoft-com:vml" Requires="v">
                <p:oleObj name="Equation" r:id="rId9" imgW="1511280" imgH="482400" progId="Equation.DSMT4">
                  <p:embed/>
                </p:oleObj>
              </mc:Choice>
              <mc:Fallback>
                <p:oleObj name="Equation" r:id="rId9" imgW="1511280" imgH="482400" progId="Equation.DSMT4">
                  <p:embed/>
                  <p:pic>
                    <p:nvPicPr>
                      <p:cNvPr id="15" name="对象 14">
                        <a:extLst>
                          <a:ext uri="{FF2B5EF4-FFF2-40B4-BE49-F238E27FC236}">
                            <a16:creationId xmlns:a16="http://schemas.microsoft.com/office/drawing/2014/main" id="{7E56E43C-2107-47ED-A78E-FA29EA22A516}"/>
                          </a:ext>
                        </a:extLst>
                      </p:cNvPr>
                      <p:cNvPicPr>
                        <a:picLocks noChangeAspect="1" noChangeArrowheads="1"/>
                      </p:cNvPicPr>
                      <p:nvPr/>
                    </p:nvPicPr>
                    <p:blipFill>
                      <a:blip r:embed="rId10"/>
                      <a:srcRect/>
                      <a:stretch>
                        <a:fillRect/>
                      </a:stretch>
                    </p:blipFill>
                    <p:spPr bwMode="auto">
                      <a:xfrm>
                        <a:off x="1674329" y="3680716"/>
                        <a:ext cx="2813050" cy="877888"/>
                      </a:xfrm>
                      <a:prstGeom prst="rect">
                        <a:avLst/>
                      </a:prstGeom>
                      <a:noFill/>
                    </p:spPr>
                  </p:pic>
                </p:oleObj>
              </mc:Fallback>
            </mc:AlternateContent>
          </a:graphicData>
        </a:graphic>
      </p:graphicFrame>
      <p:sp>
        <p:nvSpPr>
          <p:cNvPr id="6" name="右箭头 5"/>
          <p:cNvSpPr/>
          <p:nvPr/>
        </p:nvSpPr>
        <p:spPr>
          <a:xfrm>
            <a:off x="4167319" y="2939611"/>
            <a:ext cx="104851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对象 17">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5888101" y="2816243"/>
          <a:ext cx="1608138" cy="461963"/>
        </p:xfrm>
        <a:graphic>
          <a:graphicData uri="http://schemas.openxmlformats.org/presentationml/2006/ole">
            <mc:AlternateContent xmlns:mc="http://schemas.openxmlformats.org/markup-compatibility/2006">
              <mc:Choice xmlns:v="urn:schemas-microsoft-com:vml" Requires="v">
                <p:oleObj name="Equation" r:id="rId11" imgW="863280" imgH="253800" progId="Equation.DSMT4">
                  <p:embed/>
                </p:oleObj>
              </mc:Choice>
              <mc:Fallback>
                <p:oleObj name="Equation" r:id="rId11" imgW="863280" imgH="253800" progId="Equation.DSMT4">
                  <p:embed/>
                  <p:pic>
                    <p:nvPicPr>
                      <p:cNvPr id="18" name="对象 17">
                        <a:extLst>
                          <a:ext uri="{FF2B5EF4-FFF2-40B4-BE49-F238E27FC236}">
                            <a16:creationId xmlns:a16="http://schemas.microsoft.com/office/drawing/2014/main" id="{7E56E43C-2107-47ED-A78E-FA29EA22A516}"/>
                          </a:ext>
                        </a:extLst>
                      </p:cNvPr>
                      <p:cNvPicPr>
                        <a:picLocks noChangeAspect="1" noChangeArrowheads="1"/>
                      </p:cNvPicPr>
                      <p:nvPr/>
                    </p:nvPicPr>
                    <p:blipFill>
                      <a:blip r:embed="rId12"/>
                      <a:srcRect/>
                      <a:stretch>
                        <a:fillRect/>
                      </a:stretch>
                    </p:blipFill>
                    <p:spPr bwMode="auto">
                      <a:xfrm>
                        <a:off x="5888101" y="2816243"/>
                        <a:ext cx="1608138" cy="461963"/>
                      </a:xfrm>
                      <a:prstGeom prst="rect">
                        <a:avLst/>
                      </a:prstGeom>
                      <a:noFill/>
                    </p:spPr>
                  </p:pic>
                </p:oleObj>
              </mc:Fallback>
            </mc:AlternateContent>
          </a:graphicData>
        </a:graphic>
      </p:graphicFrame>
      <p:sp>
        <p:nvSpPr>
          <p:cNvPr id="19" name="右箭头 18"/>
          <p:cNvSpPr/>
          <p:nvPr/>
        </p:nvSpPr>
        <p:spPr>
          <a:xfrm>
            <a:off x="4600135" y="4027327"/>
            <a:ext cx="104851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1" name="对象 20">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5903913" y="3762375"/>
          <a:ext cx="1560512" cy="715963"/>
        </p:xfrm>
        <a:graphic>
          <a:graphicData uri="http://schemas.openxmlformats.org/presentationml/2006/ole">
            <mc:AlternateContent xmlns:mc="http://schemas.openxmlformats.org/markup-compatibility/2006">
              <mc:Choice xmlns:v="urn:schemas-microsoft-com:vml" Requires="v">
                <p:oleObj name="Equation" r:id="rId13" imgW="838080" imgH="393480" progId="Equation.DSMT4">
                  <p:embed/>
                </p:oleObj>
              </mc:Choice>
              <mc:Fallback>
                <p:oleObj name="Equation" r:id="rId13" imgW="838080" imgH="393480" progId="Equation.DSMT4">
                  <p:embed/>
                  <p:pic>
                    <p:nvPicPr>
                      <p:cNvPr id="21" name="对象 20">
                        <a:extLst>
                          <a:ext uri="{FF2B5EF4-FFF2-40B4-BE49-F238E27FC236}">
                            <a16:creationId xmlns:a16="http://schemas.microsoft.com/office/drawing/2014/main" id="{7E56E43C-2107-47ED-A78E-FA29EA22A516}"/>
                          </a:ext>
                        </a:extLst>
                      </p:cNvPr>
                      <p:cNvPicPr>
                        <a:picLocks noChangeAspect="1" noChangeArrowheads="1"/>
                      </p:cNvPicPr>
                      <p:nvPr/>
                    </p:nvPicPr>
                    <p:blipFill>
                      <a:blip r:embed="rId14"/>
                      <a:srcRect/>
                      <a:stretch>
                        <a:fillRect/>
                      </a:stretch>
                    </p:blipFill>
                    <p:spPr bwMode="auto">
                      <a:xfrm>
                        <a:off x="5903913" y="3762375"/>
                        <a:ext cx="1560512" cy="715963"/>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7E56E43C-2107-47ED-A78E-FA29EA22A516}"/>
              </a:ext>
            </a:extLst>
          </p:cNvPr>
          <p:cNvGraphicFramePr>
            <a:graphicFrameLocks noChangeAspect="1"/>
          </p:cNvGraphicFramePr>
          <p:nvPr/>
        </p:nvGraphicFramePr>
        <p:xfrm>
          <a:off x="1760220" y="5001155"/>
          <a:ext cx="312420" cy="227775"/>
        </p:xfrm>
        <a:graphic>
          <a:graphicData uri="http://schemas.openxmlformats.org/presentationml/2006/ole">
            <mc:AlternateContent xmlns:mc="http://schemas.openxmlformats.org/markup-compatibility/2006">
              <mc:Choice xmlns:v="urn:schemas-microsoft-com:vml" Requires="v">
                <p:oleObj name="Equation" r:id="rId15" imgW="139680" imgH="75960" progId="Equation.DSMT4">
                  <p:embed/>
                </p:oleObj>
              </mc:Choice>
              <mc:Fallback>
                <p:oleObj name="Equation" r:id="rId15" imgW="139680" imgH="75960" progId="Equation.DSMT4">
                  <p:embed/>
                  <p:pic>
                    <p:nvPicPr>
                      <p:cNvPr id="22" name="对象 21">
                        <a:extLst>
                          <a:ext uri="{FF2B5EF4-FFF2-40B4-BE49-F238E27FC236}">
                            <a16:creationId xmlns:a16="http://schemas.microsoft.com/office/drawing/2014/main" id="{7E56E43C-2107-47ED-A78E-FA29EA22A516}"/>
                          </a:ext>
                        </a:extLst>
                      </p:cNvPr>
                      <p:cNvPicPr>
                        <a:picLocks noChangeAspect="1" noChangeArrowheads="1"/>
                      </p:cNvPicPr>
                      <p:nvPr/>
                    </p:nvPicPr>
                    <p:blipFill>
                      <a:blip r:embed="rId16"/>
                      <a:srcRect/>
                      <a:stretch>
                        <a:fillRect/>
                      </a:stretch>
                    </p:blipFill>
                    <p:spPr bwMode="auto">
                      <a:xfrm>
                        <a:off x="1760220" y="5001155"/>
                        <a:ext cx="312420" cy="227775"/>
                      </a:xfrm>
                      <a:prstGeom prst="rect">
                        <a:avLst/>
                      </a:prstGeom>
                      <a:noFill/>
                    </p:spPr>
                  </p:pic>
                </p:oleObj>
              </mc:Fallback>
            </mc:AlternateContent>
          </a:graphicData>
        </a:graphic>
      </p:graphicFrame>
      <p:sp>
        <p:nvSpPr>
          <p:cNvPr id="23" name="文本框 22"/>
          <p:cNvSpPr txBox="1"/>
          <p:nvPr/>
        </p:nvSpPr>
        <p:spPr>
          <a:xfrm>
            <a:off x="960120" y="5276988"/>
            <a:ext cx="8545494" cy="369332"/>
          </a:xfrm>
          <a:prstGeom prst="rect">
            <a:avLst/>
          </a:prstGeom>
          <a:noFill/>
        </p:spPr>
        <p:txBody>
          <a:bodyPr wrap="square" rtlCol="0">
            <a:spAutoFit/>
          </a:bodyPr>
          <a:lstStyle/>
          <a:p>
            <a:r>
              <a:rPr lang="zh-CN" altLang="en-US" b="1" dirty="0">
                <a:solidFill>
                  <a:srgbClr val="C00000"/>
                </a:solidFill>
              </a:rPr>
              <a:t>能根据问题的需求联想初等函数的性质，并构造解析式</a:t>
            </a:r>
          </a:p>
        </p:txBody>
      </p:sp>
      <p:sp>
        <p:nvSpPr>
          <p:cNvPr id="24" name="右箭头 23"/>
          <p:cNvSpPr/>
          <p:nvPr/>
        </p:nvSpPr>
        <p:spPr>
          <a:xfrm>
            <a:off x="6653150" y="5369321"/>
            <a:ext cx="1048512"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818808" y="5276988"/>
            <a:ext cx="3885512" cy="369332"/>
          </a:xfrm>
          <a:prstGeom prst="rect">
            <a:avLst/>
          </a:prstGeom>
        </p:spPr>
        <p:txBody>
          <a:bodyPr wrap="square">
            <a:spAutoFit/>
          </a:bodyPr>
          <a:lstStyle/>
          <a:p>
            <a:r>
              <a:rPr lang="zh-CN" altLang="en-US" b="1" dirty="0">
                <a:solidFill>
                  <a:srgbClr val="C00000"/>
                </a:solidFill>
              </a:rPr>
              <a:t>应该去培养却没被培养的能力</a:t>
            </a:r>
          </a:p>
        </p:txBody>
      </p:sp>
    </p:spTree>
    <p:extLst>
      <p:ext uri="{BB962C8B-B14F-4D97-AF65-F5344CB8AC3E}">
        <p14:creationId xmlns:p14="http://schemas.microsoft.com/office/powerpoint/2010/main" val="7257240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3027</TotalTime>
  <Words>4737</Words>
  <Application>Microsoft Office PowerPoint</Application>
  <PresentationFormat>宽屏</PresentationFormat>
  <Paragraphs>682</Paragraphs>
  <Slides>77</Slides>
  <Notes>9</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84" baseType="lpstr">
      <vt:lpstr>等线</vt:lpstr>
      <vt:lpstr>等线 Light</vt:lpstr>
      <vt:lpstr>Arial</vt:lpstr>
      <vt:lpstr>Arial</vt:lpstr>
      <vt:lpstr>Times New Roman</vt:lpstr>
      <vt:lpstr>Office 主题​​</vt:lpstr>
      <vt:lpstr>Equation</vt:lpstr>
      <vt:lpstr>第六讲 监督学习 与逻辑斯蒂回归</vt:lpstr>
      <vt:lpstr>机器学习的基本流程 Process of Machine Learning</vt:lpstr>
      <vt:lpstr>机器学习的基本流程 Process of Machine Learning</vt:lpstr>
      <vt:lpstr>机器学习的基本流程 Process of Machine Learning</vt:lpstr>
      <vt:lpstr>机器学习的基本流程 Process of Machine Learning</vt:lpstr>
      <vt:lpstr>机器学习的基本流程 Process of Machine Learning</vt:lpstr>
      <vt:lpstr>典型的回归问题 Typical Regression Problem</vt:lpstr>
      <vt:lpstr>PowerPoint 演示文稿</vt:lpstr>
      <vt:lpstr>典型的回归问题 Typical Regression Problem</vt:lpstr>
      <vt:lpstr>典型的分类问题 Typical Classification Problem</vt:lpstr>
      <vt:lpstr>典型的分类问题 Typical Classification Problem</vt:lpstr>
      <vt:lpstr>回归与分类 Regression &amp; Classification</vt:lpstr>
      <vt:lpstr>回归与分类 Regression &amp; Classification</vt:lpstr>
      <vt:lpstr>目录 Content</vt:lpstr>
      <vt:lpstr>分类问题举例 Classification Problem</vt:lpstr>
      <vt:lpstr>分类问题举例 Classification Problem</vt:lpstr>
      <vt:lpstr>分类问题举例 Classification Problem</vt:lpstr>
      <vt:lpstr>分类问题举例 Classification Problem</vt:lpstr>
      <vt:lpstr>分类问题举例 Classification Problem</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体温检测 Temperature Detection</vt:lpstr>
      <vt:lpstr>回归与分类 Regression &amp; Classification</vt:lpstr>
      <vt:lpstr>回归与分类 Regression &amp; Classification</vt:lpstr>
      <vt:lpstr>目录 Content</vt:lpstr>
      <vt:lpstr>关于分类问题的讨论 Discussions on Classification</vt:lpstr>
      <vt:lpstr>关于分类问题的讨论 Discussions on Classification</vt:lpstr>
      <vt:lpstr>关于分类问题的讨论 Discussions on Classification</vt:lpstr>
      <vt:lpstr>关于分类问题的讨论 Discussions on Classification</vt:lpstr>
      <vt:lpstr>关于分类问题的讨论 Discussions on Classification</vt:lpstr>
      <vt:lpstr>关于分类问题的讨论 Discussions on Classification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机器学习的基本流程 Process of Machine Learning</vt:lpstr>
      <vt:lpstr>PowerPoint 演示文稿</vt:lpstr>
      <vt:lpstr>PowerPoint 演示文稿</vt:lpstr>
      <vt:lpstr>附录：体温检测 Temperature Detection</vt:lpstr>
      <vt:lpstr>附录：体温检测 Temperature Detection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NING MEI</dc:creator>
  <cp:lastModifiedBy>郑 子杰</cp:lastModifiedBy>
  <cp:revision>639</cp:revision>
  <dcterms:created xsi:type="dcterms:W3CDTF">2021-12-09T06:18:18Z</dcterms:created>
  <dcterms:modified xsi:type="dcterms:W3CDTF">2023-08-01T06:35:48Z</dcterms:modified>
</cp:coreProperties>
</file>